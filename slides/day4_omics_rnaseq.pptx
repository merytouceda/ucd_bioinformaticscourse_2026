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2"/>
  </p:notesMasterIdLst>
  <p:sldIdLst>
    <p:sldId id="256" r:id="rId2"/>
    <p:sldId id="258" r:id="rId3"/>
    <p:sldId id="336" r:id="rId4"/>
    <p:sldId id="318" r:id="rId5"/>
    <p:sldId id="259" r:id="rId6"/>
    <p:sldId id="337" r:id="rId7"/>
    <p:sldId id="319" r:id="rId8"/>
    <p:sldId id="321" r:id="rId9"/>
    <p:sldId id="261" r:id="rId10"/>
    <p:sldId id="338" r:id="rId11"/>
    <p:sldId id="320" r:id="rId12"/>
    <p:sldId id="262" r:id="rId13"/>
    <p:sldId id="317" r:id="rId14"/>
    <p:sldId id="308" r:id="rId15"/>
    <p:sldId id="309" r:id="rId16"/>
    <p:sldId id="310" r:id="rId17"/>
    <p:sldId id="311" r:id="rId18"/>
    <p:sldId id="312" r:id="rId19"/>
    <p:sldId id="313" r:id="rId20"/>
    <p:sldId id="273" r:id="rId21"/>
    <p:sldId id="324" r:id="rId22"/>
    <p:sldId id="333" r:id="rId23"/>
    <p:sldId id="265" r:id="rId24"/>
    <p:sldId id="326" r:id="rId25"/>
    <p:sldId id="327" r:id="rId26"/>
    <p:sldId id="328" r:id="rId27"/>
    <p:sldId id="330" r:id="rId28"/>
    <p:sldId id="329" r:id="rId29"/>
    <p:sldId id="331" r:id="rId30"/>
    <p:sldId id="332" r:id="rId31"/>
    <p:sldId id="303" r:id="rId32"/>
    <p:sldId id="305" r:id="rId33"/>
    <p:sldId id="314" r:id="rId34"/>
    <p:sldId id="339" r:id="rId35"/>
    <p:sldId id="306" r:id="rId36"/>
    <p:sldId id="315" r:id="rId37"/>
    <p:sldId id="316" r:id="rId38"/>
    <p:sldId id="340" r:id="rId39"/>
    <p:sldId id="342" r:id="rId40"/>
    <p:sldId id="301" r:id="rId41"/>
    <p:sldId id="341" r:id="rId42"/>
    <p:sldId id="325" r:id="rId43"/>
    <p:sldId id="266" r:id="rId44"/>
    <p:sldId id="284" r:id="rId45"/>
    <p:sldId id="278" r:id="rId46"/>
    <p:sldId id="304" r:id="rId47"/>
    <p:sldId id="289" r:id="rId48"/>
    <p:sldId id="288" r:id="rId49"/>
    <p:sldId id="322" r:id="rId50"/>
    <p:sldId id="267" r:id="rId51"/>
    <p:sldId id="285" r:id="rId52"/>
    <p:sldId id="323" r:id="rId53"/>
    <p:sldId id="290" r:id="rId54"/>
    <p:sldId id="269" r:id="rId55"/>
    <p:sldId id="291" r:id="rId56"/>
    <p:sldId id="275" r:id="rId57"/>
    <p:sldId id="292" r:id="rId58"/>
    <p:sldId id="302" r:id="rId59"/>
    <p:sldId id="268" r:id="rId60"/>
    <p:sldId id="293" r:id="rId61"/>
    <p:sldId id="294" r:id="rId62"/>
    <p:sldId id="295" r:id="rId63"/>
    <p:sldId id="298" r:id="rId64"/>
    <p:sldId id="297" r:id="rId65"/>
    <p:sldId id="300" r:id="rId66"/>
    <p:sldId id="299" r:id="rId67"/>
    <p:sldId id="281" r:id="rId68"/>
    <p:sldId id="282" r:id="rId69"/>
    <p:sldId id="263" r:id="rId70"/>
    <p:sldId id="260" r:id="rId71"/>
  </p:sldIdLst>
  <p:sldSz cx="9144000" cy="5143500" type="screen16x9"/>
  <p:notesSz cx="6858000" cy="9144000"/>
  <p:embeddedFontLst>
    <p:embeddedFont>
      <p:font typeface="BM DoHyeon OTF" panose="020B0600000101010101" pitchFamily="34" charset="-127"/>
      <p:regular r:id="rId73"/>
    </p:embeddedFont>
    <p:embeddedFont>
      <p:font typeface="Roboto" panose="02000000000000000000" pitchFamily="2" charset="0"/>
      <p:regular r:id="rId74"/>
      <p:bold r:id="rId75"/>
      <p:italic r:id="rId76"/>
      <p:boldItalic r:id="rId7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9554C"/>
    <a:srgbClr val="F3534D"/>
    <a:srgbClr val="FDCD0F"/>
    <a:srgbClr val="83CB99"/>
    <a:srgbClr val="001E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1E8DE8F-3FD5-44BD-BD6F-004C10B1D515}">
  <a:tblStyle styleId="{D1E8DE8F-3FD5-44BD-BD6F-004C10B1D51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D3F9014-CA5D-48AC-B3F2-2935F201A6B0}"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33"/>
    <p:restoredTop sz="87943"/>
  </p:normalViewPr>
  <p:slideViewPr>
    <p:cSldViewPr snapToGrid="0">
      <p:cViewPr varScale="1">
        <p:scale>
          <a:sx n="265" d="100"/>
          <a:sy n="265" d="100"/>
        </p:scale>
        <p:origin x="1560"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2.fntdata"/><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d3fdaaa8f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d3fdaaa8f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d4ddec1e47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79FC5B47-4737-AAD0-3958-A3F28F048372}"/>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E99FE15A-C5A4-834E-9684-36974D224E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32394C7F-6A11-1FAB-248E-D9C0249762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64943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EAFCCF71-7D73-5B01-87D1-CA7F9DCF2033}"/>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67F96C9D-A345-9127-7C57-37294E19AD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71E0A2FB-D3D4-778F-1657-FE243A51FF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pmc.ncbi.nlm.nih.gov</a:t>
            </a:r>
            <a:r>
              <a:rPr lang="en-US" dirty="0"/>
              <a:t>/articles/PMC12256404/</a:t>
            </a:r>
            <a:endParaRPr dirty="0"/>
          </a:p>
        </p:txBody>
      </p:sp>
    </p:spTree>
    <p:extLst>
      <p:ext uri="{BB962C8B-B14F-4D97-AF65-F5344CB8AC3E}">
        <p14:creationId xmlns:p14="http://schemas.microsoft.com/office/powerpoint/2010/main" val="796617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d4ddec1e47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d4ddec1e47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Bulk </a:t>
            </a:r>
            <a:r>
              <a:rPr lang="en" dirty="0" err="1"/>
              <a:t>rnaseq</a:t>
            </a:r>
            <a:r>
              <a:rPr lang="en" dirty="0"/>
              <a:t>: </a:t>
            </a:r>
            <a:r>
              <a:rPr lang="en" dirty="0">
                <a:solidFill>
                  <a:schemeClr val="dk1"/>
                </a:solidFill>
              </a:rPr>
              <a:t>A tumor sample, for instance, contains cancer cells, immune cells, stromal cells, and endothelial cells all mixed together.</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1E86FC5B-22C1-0F21-B1F1-E270BF06D63B}"/>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A7B47DD1-6142-730C-72AE-24230E4F8D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D7B72E30-CC06-42B2-23EE-B78049B834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0490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D9FD24F7-5772-5A47-116A-2F7D5A6C7A99}"/>
            </a:ext>
          </a:extLst>
        </p:cNvPr>
        <p:cNvGrpSpPr/>
        <p:nvPr/>
      </p:nvGrpSpPr>
      <p:grpSpPr>
        <a:xfrm>
          <a:off x="0" y="0"/>
          <a:ext cx="0" cy="0"/>
          <a:chOff x="0" y="0"/>
          <a:chExt cx="0" cy="0"/>
        </a:xfrm>
      </p:grpSpPr>
      <p:sp>
        <p:nvSpPr>
          <p:cNvPr id="92" name="Google Shape;92;g3d4ddec1e47_0_104:notes">
            <a:extLst>
              <a:ext uri="{FF2B5EF4-FFF2-40B4-BE49-F238E27FC236}">
                <a16:creationId xmlns:a16="http://schemas.microsoft.com/office/drawing/2014/main" id="{9DA34310-6869-5822-FC5F-93E58C7675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d4ddec1e47_0_104:notes">
            <a:extLst>
              <a:ext uri="{FF2B5EF4-FFF2-40B4-BE49-F238E27FC236}">
                <a16:creationId xmlns:a16="http://schemas.microsoft.com/office/drawing/2014/main" id="{3557EFD7-3156-F7FC-5666-8D632BCBD1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www.frontiersin.org</a:t>
            </a:r>
            <a:r>
              <a:rPr lang="en-US" dirty="0"/>
              <a:t>/journals/immunology/articles/10.3389/fimmu.2023.1162700/full</a:t>
            </a:r>
          </a:p>
          <a:p>
            <a:pPr marL="0" lvl="0" indent="0" algn="l" rtl="0">
              <a:spcBef>
                <a:spcPts val="0"/>
              </a:spcBef>
              <a:spcAft>
                <a:spcPts val="0"/>
              </a:spcAft>
              <a:buNone/>
            </a:pPr>
            <a:endParaRPr lang="en-US" dirty="0"/>
          </a:p>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Unsupervised clustering reveals 42 unique cell populations in healthy dog leukocytes. </a:t>
            </a:r>
            <a:r>
              <a:rPr lang="en-US" sz="1100" b="1" i="0" u="none" strike="noStrike" cap="none" dirty="0">
                <a:solidFill>
                  <a:srgbClr val="000000"/>
                </a:solidFill>
                <a:effectLst/>
                <a:latin typeface="Arial"/>
                <a:ea typeface="Arial"/>
                <a:cs typeface="Arial"/>
                <a:sym typeface="Arial"/>
              </a:rPr>
              <a:t>(A)</a:t>
            </a:r>
            <a:r>
              <a:rPr lang="en-US" sz="1100" b="0" i="0" u="none" strike="noStrike" cap="none" dirty="0">
                <a:solidFill>
                  <a:srgbClr val="000000"/>
                </a:solidFill>
                <a:effectLst/>
                <a:latin typeface="Arial"/>
                <a:ea typeface="Arial"/>
                <a:cs typeface="Arial"/>
                <a:sym typeface="Arial"/>
              </a:rPr>
              <a:t> UMAP representation depicting the unsupervised clustering results of 32,028 leukocytes from 7 healthy dogs. Major immune cell populations are labeled on the plot (CD34+ </a:t>
            </a:r>
            <a:r>
              <a:rPr lang="en-US" sz="1100" b="0" i="0" u="none" strike="noStrike" cap="none" dirty="0" err="1">
                <a:solidFill>
                  <a:srgbClr val="000000"/>
                </a:solidFill>
                <a:effectLst/>
                <a:latin typeface="Arial"/>
                <a:ea typeface="Arial"/>
                <a:cs typeface="Arial"/>
                <a:sym typeface="Arial"/>
              </a:rPr>
              <a:t>unk</a:t>
            </a:r>
            <a:r>
              <a:rPr lang="en-US" sz="1100" b="0" i="0" u="none" strike="noStrike" cap="none" dirty="0">
                <a:solidFill>
                  <a:srgbClr val="000000"/>
                </a:solidFill>
                <a:effectLst/>
                <a:latin typeface="Arial"/>
                <a:ea typeface="Arial"/>
                <a:cs typeface="Arial"/>
                <a:sym typeface="Arial"/>
              </a:rPr>
              <a:t> = CD34+ unclassified; </a:t>
            </a:r>
            <a:r>
              <a:rPr lang="en-US" sz="1100" b="0" i="0" u="none" strike="noStrike" cap="none" dirty="0" err="1">
                <a:solidFill>
                  <a:srgbClr val="000000"/>
                </a:solidFill>
                <a:effectLst/>
                <a:latin typeface="Arial"/>
                <a:ea typeface="Arial"/>
                <a:cs typeface="Arial"/>
                <a:sym typeface="Arial"/>
              </a:rPr>
              <a:t>gd</a:t>
            </a:r>
            <a:r>
              <a:rPr lang="en-US" sz="1100" b="0" i="0" u="none" strike="noStrike" cap="none" dirty="0">
                <a:solidFill>
                  <a:srgbClr val="000000"/>
                </a:solidFill>
                <a:effectLst/>
                <a:latin typeface="Arial"/>
                <a:ea typeface="Arial"/>
                <a:cs typeface="Arial"/>
                <a:sym typeface="Arial"/>
              </a:rPr>
              <a:t> = </a:t>
            </a:r>
            <a:r>
              <a:rPr lang="en-US" sz="1100" b="0" i="0" u="none" strike="noStrike" cap="none" dirty="0" err="1">
                <a:solidFill>
                  <a:srgbClr val="000000"/>
                </a:solidFill>
                <a:effectLst/>
                <a:latin typeface="Arial"/>
                <a:ea typeface="Arial"/>
                <a:cs typeface="Arial"/>
                <a:sym typeface="Arial"/>
              </a:rPr>
              <a:t>γδ</a:t>
            </a:r>
            <a:r>
              <a:rPr lang="en-US" sz="1100" b="0" i="0" u="none" strike="noStrike" cap="none" dirty="0">
                <a:solidFill>
                  <a:srgbClr val="000000"/>
                </a:solidFill>
                <a:effectLst/>
                <a:latin typeface="Arial"/>
                <a:ea typeface="Arial"/>
                <a:cs typeface="Arial"/>
                <a:sym typeface="Arial"/>
              </a:rPr>
              <a:t>) and each number corresponds to a unique cluster, with numbers increasing as cluster size becomes smaller. </a:t>
            </a:r>
            <a:r>
              <a:rPr lang="en-US" sz="1100" b="1" i="0" u="none" strike="noStrike" cap="none" dirty="0">
                <a:solidFill>
                  <a:srgbClr val="000000"/>
                </a:solidFill>
                <a:effectLst/>
                <a:latin typeface="Arial"/>
                <a:ea typeface="Arial"/>
                <a:cs typeface="Arial"/>
                <a:sym typeface="Arial"/>
              </a:rPr>
              <a:t>(B)</a:t>
            </a:r>
            <a:r>
              <a:rPr lang="en-US" sz="1100" b="0" i="0" u="none" strike="noStrike" cap="none" dirty="0">
                <a:solidFill>
                  <a:srgbClr val="000000"/>
                </a:solidFill>
                <a:effectLst/>
                <a:latin typeface="Arial"/>
                <a:ea typeface="Arial"/>
                <a:cs typeface="Arial"/>
                <a:sym typeface="Arial"/>
              </a:rPr>
              <a:t> Feature plots depicting expression of stereotypic genes used to define cell populations. </a:t>
            </a:r>
            <a:endParaRPr dirty="0"/>
          </a:p>
        </p:txBody>
      </p:sp>
    </p:spTree>
    <p:extLst>
      <p:ext uri="{BB962C8B-B14F-4D97-AF65-F5344CB8AC3E}">
        <p14:creationId xmlns:p14="http://schemas.microsoft.com/office/powerpoint/2010/main" val="2530705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5819CAB5-A00C-80CA-7049-99D071E87D22}"/>
            </a:ext>
          </a:extLst>
        </p:cNvPr>
        <p:cNvGrpSpPr/>
        <p:nvPr/>
      </p:nvGrpSpPr>
      <p:grpSpPr>
        <a:xfrm>
          <a:off x="0" y="0"/>
          <a:ext cx="0" cy="0"/>
          <a:chOff x="0" y="0"/>
          <a:chExt cx="0" cy="0"/>
        </a:xfrm>
      </p:grpSpPr>
      <p:sp>
        <p:nvSpPr>
          <p:cNvPr id="92" name="Google Shape;92;g3d4ddec1e47_0_104:notes">
            <a:extLst>
              <a:ext uri="{FF2B5EF4-FFF2-40B4-BE49-F238E27FC236}">
                <a16:creationId xmlns:a16="http://schemas.microsoft.com/office/drawing/2014/main" id="{DC0F87D2-7849-668A-41F2-D3C9F1E6BC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d4ddec1e47_0_104:notes">
            <a:extLst>
              <a:ext uri="{FF2B5EF4-FFF2-40B4-BE49-F238E27FC236}">
                <a16:creationId xmlns:a16="http://schemas.microsoft.com/office/drawing/2014/main" id="{779D7920-E460-725A-1094-BEE04374D6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www.frontiersin.org</a:t>
            </a:r>
            <a:r>
              <a:rPr lang="en-US" dirty="0"/>
              <a:t>/journals/immunology/articles/10.3389/fimmu.2023.1162700/full</a:t>
            </a:r>
          </a:p>
          <a:p>
            <a:pPr marL="0" lvl="0" indent="0" algn="l" rtl="0">
              <a:spcBef>
                <a:spcPts val="0"/>
              </a:spcBef>
              <a:spcAft>
                <a:spcPts val="0"/>
              </a:spcAft>
              <a:buNone/>
            </a:pPr>
            <a:endParaRPr lang="en-US" dirty="0"/>
          </a:p>
          <a:p>
            <a:pPr marL="0" lvl="0" indent="0" algn="l" rtl="0">
              <a:spcBef>
                <a:spcPts val="0"/>
              </a:spcBef>
              <a:spcAft>
                <a:spcPts val="0"/>
              </a:spcAft>
              <a:buNone/>
            </a:pPr>
            <a:r>
              <a:rPr lang="en-US" sz="1100" b="1" i="0" u="none" strike="noStrike" cap="none" dirty="0">
                <a:solidFill>
                  <a:srgbClr val="000000"/>
                </a:solidFill>
                <a:effectLst/>
                <a:latin typeface="Arial"/>
                <a:ea typeface="Arial"/>
                <a:cs typeface="Arial"/>
                <a:sym typeface="Arial"/>
              </a:rPr>
              <a:t>(C)</a:t>
            </a:r>
            <a:r>
              <a:rPr lang="en-US" sz="1100" b="0" i="0" u="none" strike="noStrike" cap="none" dirty="0">
                <a:solidFill>
                  <a:srgbClr val="000000"/>
                </a:solidFill>
                <a:effectLst/>
                <a:latin typeface="Arial"/>
                <a:ea typeface="Arial"/>
                <a:cs typeface="Arial"/>
                <a:sym typeface="Arial"/>
              </a:rPr>
              <a:t> Box plots quantifying changes in cell abundances between healthy and cancer dogs (Granulocyte = Eosinophil and Basophil clusters; DN T cell = Cluster 26 of CD8/NK T cell group). P values were obtained using a two-sided Wilcoxon Rank Sum test. </a:t>
            </a:r>
            <a:r>
              <a:rPr lang="en-US" sz="1100" b="1" i="0" u="none" strike="noStrike" cap="none" dirty="0">
                <a:solidFill>
                  <a:srgbClr val="000000"/>
                </a:solidFill>
                <a:effectLst/>
                <a:latin typeface="Arial"/>
                <a:ea typeface="Arial"/>
                <a:cs typeface="Arial"/>
                <a:sym typeface="Arial"/>
              </a:rPr>
              <a:t>(D)</a:t>
            </a:r>
            <a:r>
              <a:rPr lang="en-US" sz="1100" b="0" i="0" u="none" strike="noStrike" cap="none" dirty="0">
                <a:solidFill>
                  <a:srgbClr val="000000"/>
                </a:solidFill>
                <a:effectLst/>
                <a:latin typeface="Arial"/>
                <a:ea typeface="Arial"/>
                <a:cs typeface="Arial"/>
                <a:sym typeface="Arial"/>
              </a:rPr>
              <a:t> Scatter plots comparing average feature expression in osteosarcoma (y-axis) verses healthy cells (x-axis) with all (74,067) cells and 4 of the major immune cell populations, with labeled features significantly altered, as determined using a Wilcoxon Rank Sum test.</a:t>
            </a:r>
            <a:endParaRPr dirty="0"/>
          </a:p>
        </p:txBody>
      </p:sp>
    </p:spTree>
    <p:extLst>
      <p:ext uri="{BB962C8B-B14F-4D97-AF65-F5344CB8AC3E}">
        <p14:creationId xmlns:p14="http://schemas.microsoft.com/office/powerpoint/2010/main" val="25533232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86e2719753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86e2719753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https://</a:t>
            </a:r>
            <a:r>
              <a:rPr lang="en" dirty="0" err="1"/>
              <a:t>www.nature.com</a:t>
            </a:r>
            <a:r>
              <a:rPr lang="en" dirty="0"/>
              <a:t>/articles/s41586-021-03634-9</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9E46E673-8215-396C-63B5-1270F0E53CA8}"/>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89467B15-C855-347F-A0F4-DD1E7E466D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6E2BB09A-22FC-1ABC-8C1D-6C523B95A0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9930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8A6BA75-D293-3DA8-163F-7FD810A953BB}"/>
            </a:ext>
          </a:extLst>
        </p:cNvPr>
        <p:cNvGrpSpPr/>
        <p:nvPr/>
      </p:nvGrpSpPr>
      <p:grpSpPr>
        <a:xfrm>
          <a:off x="0" y="0"/>
          <a:ext cx="0" cy="0"/>
          <a:chOff x="0" y="0"/>
          <a:chExt cx="0" cy="0"/>
        </a:xfrm>
      </p:grpSpPr>
      <p:sp>
        <p:nvSpPr>
          <p:cNvPr id="105" name="Google Shape;105;g386e2719753_0_63:notes">
            <a:extLst>
              <a:ext uri="{FF2B5EF4-FFF2-40B4-BE49-F238E27FC236}">
                <a16:creationId xmlns:a16="http://schemas.microsoft.com/office/drawing/2014/main" id="{22744571-3D74-7E39-592B-850DC9FBFD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86e2719753_0_63:notes">
            <a:extLst>
              <a:ext uri="{FF2B5EF4-FFF2-40B4-BE49-F238E27FC236}">
                <a16:creationId xmlns:a16="http://schemas.microsoft.com/office/drawing/2014/main" id="{442B109A-7206-5813-B602-8613E3E17D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www.nature.com</a:t>
            </a:r>
            <a:r>
              <a:rPr lang="en-US" dirty="0"/>
              <a:t>/articles/s42003-026-10152-9</a:t>
            </a:r>
            <a:endParaRPr dirty="0"/>
          </a:p>
        </p:txBody>
      </p:sp>
    </p:spTree>
    <p:extLst>
      <p:ext uri="{BB962C8B-B14F-4D97-AF65-F5344CB8AC3E}">
        <p14:creationId xmlns:p14="http://schemas.microsoft.com/office/powerpoint/2010/main" val="3959421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86e2719753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86e2719753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https://</a:t>
            </a:r>
            <a:r>
              <a:rPr lang="en" dirty="0" err="1"/>
              <a:t>www.nature.com</a:t>
            </a:r>
            <a:r>
              <a:rPr lang="en" dirty="0"/>
              <a:t>/articles/s41586-021-03634-9</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4519F479-806C-4FB8-870E-DCE20904B035}"/>
            </a:ext>
          </a:extLst>
        </p:cNvPr>
        <p:cNvGrpSpPr/>
        <p:nvPr/>
      </p:nvGrpSpPr>
      <p:grpSpPr>
        <a:xfrm>
          <a:off x="0" y="0"/>
          <a:ext cx="0" cy="0"/>
          <a:chOff x="0" y="0"/>
          <a:chExt cx="0" cy="0"/>
        </a:xfrm>
      </p:grpSpPr>
      <p:sp>
        <p:nvSpPr>
          <p:cNvPr id="112" name="Google Shape;112;g386e2719753_0_76:notes">
            <a:extLst>
              <a:ext uri="{FF2B5EF4-FFF2-40B4-BE49-F238E27FC236}">
                <a16:creationId xmlns:a16="http://schemas.microsoft.com/office/drawing/2014/main" id="{548423B7-4586-B353-B4C5-95F8436FDB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86e2719753_0_76:notes">
            <a:extLst>
              <a:ext uri="{FF2B5EF4-FFF2-40B4-BE49-F238E27FC236}">
                <a16:creationId xmlns:a16="http://schemas.microsoft.com/office/drawing/2014/main" id="{61C94319-BF01-7902-9B84-8368758705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https://</a:t>
            </a:r>
            <a:r>
              <a:rPr lang="en" dirty="0" err="1"/>
              <a:t>www.nature.com</a:t>
            </a:r>
            <a:r>
              <a:rPr lang="en" dirty="0"/>
              <a:t>/articles/s41586-021-03634-9</a:t>
            </a:r>
            <a:endParaRPr dirty="0"/>
          </a:p>
        </p:txBody>
      </p:sp>
    </p:spTree>
    <p:extLst>
      <p:ext uri="{BB962C8B-B14F-4D97-AF65-F5344CB8AC3E}">
        <p14:creationId xmlns:p14="http://schemas.microsoft.com/office/powerpoint/2010/main" val="20654832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C34BF61F-980D-0B0C-A370-0604AB8C982A}"/>
            </a:ext>
          </a:extLst>
        </p:cNvPr>
        <p:cNvGrpSpPr/>
        <p:nvPr/>
      </p:nvGrpSpPr>
      <p:grpSpPr>
        <a:xfrm>
          <a:off x="0" y="0"/>
          <a:ext cx="0" cy="0"/>
          <a:chOff x="0" y="0"/>
          <a:chExt cx="0" cy="0"/>
        </a:xfrm>
      </p:grpSpPr>
      <p:sp>
        <p:nvSpPr>
          <p:cNvPr id="56" name="Google Shape;56;g3d4ddec1e47_0_10:notes">
            <a:extLst>
              <a:ext uri="{FF2B5EF4-FFF2-40B4-BE49-F238E27FC236}">
                <a16:creationId xmlns:a16="http://schemas.microsoft.com/office/drawing/2014/main" id="{11E37E34-D374-9F26-80F4-494520AD8B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4ddec1e47_0_10:notes">
            <a:extLst>
              <a:ext uri="{FF2B5EF4-FFF2-40B4-BE49-F238E27FC236}">
                <a16:creationId xmlns:a16="http://schemas.microsoft.com/office/drawing/2014/main" id="{37CF0B9B-2F53-9709-6E61-B662FB88B4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66878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C4DF5F73-3009-DD73-ECE4-FDA1F8E4B9B8}"/>
            </a:ext>
          </a:extLst>
        </p:cNvPr>
        <p:cNvGrpSpPr/>
        <p:nvPr/>
      </p:nvGrpSpPr>
      <p:grpSpPr>
        <a:xfrm>
          <a:off x="0" y="0"/>
          <a:ext cx="0" cy="0"/>
          <a:chOff x="0" y="0"/>
          <a:chExt cx="0" cy="0"/>
        </a:xfrm>
      </p:grpSpPr>
      <p:sp>
        <p:nvSpPr>
          <p:cNvPr id="56" name="Google Shape;56;g3d4ddec1e47_0_10:notes">
            <a:extLst>
              <a:ext uri="{FF2B5EF4-FFF2-40B4-BE49-F238E27FC236}">
                <a16:creationId xmlns:a16="http://schemas.microsoft.com/office/drawing/2014/main" id="{D666FC09-12B8-470E-0940-B261099271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4ddec1e47_0_10:notes">
            <a:extLst>
              <a:ext uri="{FF2B5EF4-FFF2-40B4-BE49-F238E27FC236}">
                <a16:creationId xmlns:a16="http://schemas.microsoft.com/office/drawing/2014/main" id="{076F7967-065A-A0A7-7E46-183161C531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23760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1D4FF54D-45F3-EC82-15EA-BDCABE1F4759}"/>
            </a:ext>
          </a:extLst>
        </p:cNvPr>
        <p:cNvGrpSpPr/>
        <p:nvPr/>
      </p:nvGrpSpPr>
      <p:grpSpPr>
        <a:xfrm>
          <a:off x="0" y="0"/>
          <a:ext cx="0" cy="0"/>
          <a:chOff x="0" y="0"/>
          <a:chExt cx="0" cy="0"/>
        </a:xfrm>
      </p:grpSpPr>
      <p:sp>
        <p:nvSpPr>
          <p:cNvPr id="56" name="Google Shape;56;g3d4ddec1e47_0_10:notes">
            <a:extLst>
              <a:ext uri="{FF2B5EF4-FFF2-40B4-BE49-F238E27FC236}">
                <a16:creationId xmlns:a16="http://schemas.microsoft.com/office/drawing/2014/main" id="{DCAA3C22-C9C9-ED67-7860-04AFBBA3E0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4ddec1e47_0_10:notes">
            <a:extLst>
              <a:ext uri="{FF2B5EF4-FFF2-40B4-BE49-F238E27FC236}">
                <a16:creationId xmlns:a16="http://schemas.microsoft.com/office/drawing/2014/main" id="{238689A4-890E-03AB-B2C1-BE2D45BC14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64726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E04411D9-CF14-147A-10A3-07CB70F13084}"/>
            </a:ext>
          </a:extLst>
        </p:cNvPr>
        <p:cNvGrpSpPr/>
        <p:nvPr/>
      </p:nvGrpSpPr>
      <p:grpSpPr>
        <a:xfrm>
          <a:off x="0" y="0"/>
          <a:ext cx="0" cy="0"/>
          <a:chOff x="0" y="0"/>
          <a:chExt cx="0" cy="0"/>
        </a:xfrm>
      </p:grpSpPr>
      <p:sp>
        <p:nvSpPr>
          <p:cNvPr id="56" name="Google Shape;56;g3d4ddec1e47_0_10:notes">
            <a:extLst>
              <a:ext uri="{FF2B5EF4-FFF2-40B4-BE49-F238E27FC236}">
                <a16:creationId xmlns:a16="http://schemas.microsoft.com/office/drawing/2014/main" id="{C6509A0F-2E95-2B33-8A89-77E74A025B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4ddec1e47_0_10:notes">
            <a:extLst>
              <a:ext uri="{FF2B5EF4-FFF2-40B4-BE49-F238E27FC236}">
                <a16:creationId xmlns:a16="http://schemas.microsoft.com/office/drawing/2014/main" id="{5C5DE556-8D0B-D8C3-AF24-432E376195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33561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87039991-6142-4013-3B98-B10B253C5825}"/>
            </a:ext>
          </a:extLst>
        </p:cNvPr>
        <p:cNvGrpSpPr/>
        <p:nvPr/>
      </p:nvGrpSpPr>
      <p:grpSpPr>
        <a:xfrm>
          <a:off x="0" y="0"/>
          <a:ext cx="0" cy="0"/>
          <a:chOff x="0" y="0"/>
          <a:chExt cx="0" cy="0"/>
        </a:xfrm>
      </p:grpSpPr>
      <p:sp>
        <p:nvSpPr>
          <p:cNvPr id="56" name="Google Shape;56;g3d4ddec1e47_0_10:notes">
            <a:extLst>
              <a:ext uri="{FF2B5EF4-FFF2-40B4-BE49-F238E27FC236}">
                <a16:creationId xmlns:a16="http://schemas.microsoft.com/office/drawing/2014/main" id="{8B160A8C-4FD8-BDFA-6B2D-BADB91FDA0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4ddec1e47_0_10:notes">
            <a:extLst>
              <a:ext uri="{FF2B5EF4-FFF2-40B4-BE49-F238E27FC236}">
                <a16:creationId xmlns:a16="http://schemas.microsoft.com/office/drawing/2014/main" id="{4804579F-908B-8AFB-F5D9-25F7E29782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65170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047B738B-255E-9842-0DF5-B028C3421754}"/>
            </a:ext>
          </a:extLst>
        </p:cNvPr>
        <p:cNvGrpSpPr/>
        <p:nvPr/>
      </p:nvGrpSpPr>
      <p:grpSpPr>
        <a:xfrm>
          <a:off x="0" y="0"/>
          <a:ext cx="0" cy="0"/>
          <a:chOff x="0" y="0"/>
          <a:chExt cx="0" cy="0"/>
        </a:xfrm>
      </p:grpSpPr>
      <p:sp>
        <p:nvSpPr>
          <p:cNvPr id="56" name="Google Shape;56;g3d4ddec1e47_0_10:notes">
            <a:extLst>
              <a:ext uri="{FF2B5EF4-FFF2-40B4-BE49-F238E27FC236}">
                <a16:creationId xmlns:a16="http://schemas.microsoft.com/office/drawing/2014/main" id="{5934250F-54F3-8E55-A336-6BD03F3EBC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d4ddec1e47_0_10:notes">
            <a:extLst>
              <a:ext uri="{FF2B5EF4-FFF2-40B4-BE49-F238E27FC236}">
                <a16:creationId xmlns:a16="http://schemas.microsoft.com/office/drawing/2014/main" id="{4670C140-55C6-41C1-45ED-223C25E455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1908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d3ecd96c6c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d3ecd96c6c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D5FC677A-A61F-07B5-95F9-AB64DCEAF81E}"/>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EC404929-A6EB-F232-6E77-0BA2AD6FC9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2FCA7ACA-ECAD-463F-A88D-5FB638FF30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87313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E9C1F08D-C39D-38C4-7098-E152EC878D16}"/>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D61386D0-C246-BD62-1DEB-9ADF68E994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C82E7112-B797-DFDB-7353-5FF845849E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92250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E5A67D51-04E2-D107-DC30-E86BA1D9761F}"/>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408D5581-74E9-418D-1842-0CFF5107CE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88BCD61B-58CD-03CC-28C1-CB5F63664D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714497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0F3172AF-272C-5832-CEEC-A5DC9187C10A}"/>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9C4C540D-1227-0A3A-261C-8D697318A7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19307F15-F282-B1F3-CD0D-439B822BF0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62854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hbctraining.github.io</a:t>
            </a:r>
            <a:r>
              <a:rPr lang="en-US"/>
              <a:t>/Intro-to-rnaseq-hpc-O2/lessons/03_alignment.html</a:t>
            </a:r>
            <a:endParaRPr lang="en-US" dirty="0"/>
          </a:p>
        </p:txBody>
      </p:sp>
    </p:spTree>
    <p:extLst>
      <p:ext uri="{BB962C8B-B14F-4D97-AF65-F5344CB8AC3E}">
        <p14:creationId xmlns:p14="http://schemas.microsoft.com/office/powerpoint/2010/main" val="2965411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E4162-529C-8AC4-0E9B-DAC7C3D736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BCEA7-25E6-9827-0FAD-18C899D676A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983875A-3731-1CC3-526D-C3DCBDCDD4DB}"/>
              </a:ext>
            </a:extLst>
          </p:cNvPr>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Seed searching</a:t>
            </a:r>
          </a:p>
          <a:p>
            <a:r>
              <a:rPr lang="en-US" sz="1100" b="0" i="0" u="none" strike="noStrike" cap="none" dirty="0">
                <a:solidFill>
                  <a:srgbClr val="000000"/>
                </a:solidFill>
                <a:effectLst/>
                <a:latin typeface="Arial"/>
                <a:ea typeface="Arial"/>
                <a:cs typeface="Arial"/>
                <a:sym typeface="Arial"/>
              </a:rPr>
              <a:t>For every read that STAR aligns, STAR will search for the longest sequence that exactly matches one or more locations on the reference genome. These longest matching sequences are called the Maximal Mappable Prefixes (MMPs):</a:t>
            </a:r>
          </a:p>
          <a:p>
            <a:pPr marL="158750" indent="0">
              <a:buNone/>
            </a:pPr>
            <a:endParaRPr lang="en-US" dirty="0"/>
          </a:p>
          <a:p>
            <a:r>
              <a:rPr lang="en-US" sz="1100" b="0" i="0" u="none" strike="noStrike" cap="none" dirty="0">
                <a:solidFill>
                  <a:srgbClr val="000000"/>
                </a:solidFill>
                <a:effectLst/>
                <a:latin typeface="Arial"/>
                <a:ea typeface="Arial"/>
                <a:cs typeface="Arial"/>
                <a:sym typeface="Arial"/>
              </a:rPr>
              <a:t>The different parts of the read that are mapped separately are called ‘seeds’. So the first MMP that is mapped to the genome is called </a:t>
            </a:r>
            <a:r>
              <a:rPr lang="en-US" sz="1100" b="0" i="1" u="none" strike="noStrike" cap="none" dirty="0">
                <a:solidFill>
                  <a:srgbClr val="000000"/>
                </a:solidFill>
                <a:effectLst/>
                <a:latin typeface="Arial"/>
                <a:ea typeface="Arial"/>
                <a:cs typeface="Arial"/>
                <a:sym typeface="Arial"/>
              </a:rPr>
              <a:t>seed1</a:t>
            </a:r>
            <a:r>
              <a:rPr lang="en-US" sz="1100" b="0" i="0" u="none" strike="noStrike" cap="none" dirty="0">
                <a:solidFill>
                  <a:srgbClr val="000000"/>
                </a:solidFill>
                <a:effectLst/>
                <a:latin typeface="Arial"/>
                <a:ea typeface="Arial"/>
                <a:cs typeface="Arial"/>
                <a:sym typeface="Arial"/>
              </a:rPr>
              <a:t>.</a:t>
            </a:r>
          </a:p>
          <a:p>
            <a:r>
              <a:rPr lang="en-US" sz="1100" b="0" i="0" u="none" strike="noStrike" cap="none" dirty="0">
                <a:solidFill>
                  <a:srgbClr val="000000"/>
                </a:solidFill>
                <a:effectLst/>
                <a:latin typeface="Arial"/>
                <a:ea typeface="Arial"/>
                <a:cs typeface="Arial"/>
                <a:sym typeface="Arial"/>
              </a:rPr>
              <a:t>STAR will then search again for only the unmapped portion of the read to find the next longest sequence that exactly matches the reference genome, or the next MMP, which will be </a:t>
            </a:r>
            <a:r>
              <a:rPr lang="en-US" sz="1100" b="0" i="1" u="none" strike="noStrike" cap="none" dirty="0">
                <a:solidFill>
                  <a:srgbClr val="000000"/>
                </a:solidFill>
                <a:effectLst/>
                <a:latin typeface="Arial"/>
                <a:ea typeface="Arial"/>
                <a:cs typeface="Arial"/>
                <a:sym typeface="Arial"/>
              </a:rPr>
              <a:t>seed2</a:t>
            </a:r>
            <a:r>
              <a:rPr lang="en-US" sz="1100" b="0" i="0" u="none" strike="noStrike" cap="none" dirty="0">
                <a:solidFill>
                  <a:srgbClr val="000000"/>
                </a:solidFill>
                <a:effectLst/>
                <a:latin typeface="Arial"/>
                <a:ea typeface="Arial"/>
                <a:cs typeface="Arial"/>
                <a:sym typeface="Arial"/>
              </a:rPr>
              <a:t>.</a:t>
            </a:r>
          </a:p>
          <a:p>
            <a:pPr marL="158750" indent="0">
              <a:buNone/>
            </a:pPr>
            <a:endParaRPr lang="en-US" dirty="0"/>
          </a:p>
          <a:p>
            <a:pPr marL="158750" indent="0">
              <a:buNone/>
            </a:pPr>
            <a:r>
              <a:rPr lang="en-US" sz="1100" b="0" i="0" u="none" strike="noStrike" cap="none" dirty="0">
                <a:solidFill>
                  <a:srgbClr val="000000"/>
                </a:solidFill>
                <a:effectLst/>
                <a:latin typeface="Arial"/>
                <a:ea typeface="Arial"/>
                <a:cs typeface="Arial"/>
                <a:sym typeface="Arial"/>
              </a:rPr>
              <a:t>This sequential searching of only the unmapped portions of reads underlies the efficiency of the STAR algorithm. STAR uses an uncompressed suffix array (SA) to efficiently search for the MMPs, this allows for quick searching against even the largest reference genomes. Other slower aligners use algorithms that often search for the entire read sequence before splitting reads and performing iterative rounds of mapping.</a:t>
            </a:r>
          </a:p>
          <a:p>
            <a:pPr marL="158750" indent="0">
              <a:buNone/>
            </a:pPr>
            <a:endParaRPr lang="en-US" sz="1100" b="0" i="0" u="none" strike="noStrike" cap="none" dirty="0">
              <a:solidFill>
                <a:srgbClr val="000000"/>
              </a:solidFill>
              <a:effectLst/>
              <a:latin typeface="Arial"/>
              <a:cs typeface="Arial"/>
              <a:sym typeface="Arial"/>
            </a:endParaRPr>
          </a:p>
          <a:p>
            <a:pPr marL="158750" indent="0">
              <a:buNone/>
            </a:pPr>
            <a:r>
              <a:rPr lang="en-US" dirty="0"/>
              <a:t>https://</a:t>
            </a:r>
            <a:r>
              <a:rPr lang="en-US" dirty="0" err="1"/>
              <a:t>hbctraining.github.io</a:t>
            </a:r>
            <a:r>
              <a:rPr lang="en-US" dirty="0"/>
              <a:t>/Intro-to-rnaseq-hpc-O2/lessons/03_alignment.html</a:t>
            </a:r>
          </a:p>
        </p:txBody>
      </p:sp>
    </p:spTree>
    <p:extLst>
      <p:ext uri="{BB962C8B-B14F-4D97-AF65-F5344CB8AC3E}">
        <p14:creationId xmlns:p14="http://schemas.microsoft.com/office/powerpoint/2010/main" val="6074751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542F7-5D8E-1072-5447-F70C97A029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A20AD-ECEA-DF8D-9025-3D6BF57E5F7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5765E70-28AE-9192-F94E-FEE221FB3E18}"/>
              </a:ext>
            </a:extLst>
          </p:cNvPr>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separate seeds are stitched together to create a complete read by first clustering the seeds together based on proximity to a set of ‘anchor’ seeds, or seeds that are not multi-mapping.</a:t>
            </a:r>
          </a:p>
          <a:p>
            <a:r>
              <a:rPr lang="en-US" sz="1100" b="0" i="0" u="none" strike="noStrike" cap="none" dirty="0">
                <a:solidFill>
                  <a:srgbClr val="000000"/>
                </a:solidFill>
                <a:effectLst/>
                <a:latin typeface="Arial"/>
                <a:ea typeface="Arial"/>
                <a:cs typeface="Arial"/>
                <a:sym typeface="Arial"/>
              </a:rPr>
              <a:t>Then the seeds are stitched together based on the best alignment for the read (scoring based on mismatches, indels, gaps, etc.).</a:t>
            </a:r>
          </a:p>
          <a:p>
            <a:endParaRPr lang="en-US" dirty="0"/>
          </a:p>
        </p:txBody>
      </p:sp>
    </p:spTree>
    <p:extLst>
      <p:ext uri="{BB962C8B-B14F-4D97-AF65-F5344CB8AC3E}">
        <p14:creationId xmlns:p14="http://schemas.microsoft.com/office/powerpoint/2010/main" val="29092291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A4101-E4DD-3795-F247-F5DC520A8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C9EC32-C83F-68EA-7271-166D6686FB7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1D21FBC-A47B-3D83-E278-45EE469B63E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747365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D7410C53-07BC-3DFC-12D6-B7292DC1C969}"/>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EBCC6452-32F5-6FBA-C4A3-D4197C7A66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B3834CCE-1E49-735A-DFB0-4BF84D9B6E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67960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4E350802-3C4E-AD8C-138C-AB5CA4BDCD19}"/>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B475D3A4-3BEC-2B0B-1F0D-B72D342D18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B5C9D924-A34E-1FB5-E71B-E411AA9EDD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98627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CA503A9B-EEA6-10E1-D218-6B96E03B215A}"/>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F27384FA-9D2A-A32A-0457-9E88F1A141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65243494-E233-1FCE-63DC-130525FEE1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3255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EF896EF-BDE2-C066-4913-A38B72E69749}"/>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DCEB2535-235E-0D45-9FF7-0CACFBB689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21780756-00EA-46B5-EBCF-EED0742D14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03216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4B8B9778-7EC3-511D-4216-4B5BAA6388BF}"/>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3BD7C3EC-483A-2E77-0EE7-56F97614A5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90A15303-C90B-A260-F4F5-33C4E303A1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61562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83619AA-767D-96CC-0CDD-816D48563386}"/>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1370C9B6-E61B-B0D6-2801-BED4B8D11B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5820B3D3-90CE-9AC1-7B30-541F94A41B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10556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A39A4B0-2643-80BC-83C3-F7E2B65A134F}"/>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9003D6E0-0DCC-DD84-1F89-99763B8035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C930EBAF-4615-BA6C-77B1-726A158883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33027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D801DB4C-ADB6-5B8A-D2F7-73A6EC5AEC7C}"/>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F96CE2E8-6245-3F4E-B7EE-72F3CBA161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BB6656D7-35F2-1DE4-76C6-2AF94000A1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05228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7B39CDD2-2601-8195-2420-EDF397CC2BF8}"/>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E649A4D0-2132-1034-6604-F8B5438623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0AF79A06-0C85-A535-6BC3-9652A494F8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57824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CFAA0AF3-8562-B5C4-6624-6854F771B902}"/>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32BC1FE0-1333-01FA-D92C-7BBC4FDA5B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D84E945E-3835-3B11-A621-BDBD53BAD7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01383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A9B6540-3A78-3DE1-C916-ECCB45AC2C37}"/>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26E243EB-0E0D-45FE-6CE2-E0A75BE18C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B0FB0018-7A0E-4747-47FC-EF27BBE268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11411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C2A7B38C-87F7-C3E3-5BD9-3474BA620DED}"/>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B04E2AB0-9C04-6705-2763-5458DE9E47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A753DA15-1EFC-CB60-EADB-7DCDD08FFF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35582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5E27AC1D-689C-F0F6-9E9F-A79B71F3EC30}"/>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2259F681-662F-CD44-9FD4-D7FA2477B6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3B3FA871-DA23-E76E-55BB-89EC13058D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Why not Poisson?</a:t>
            </a:r>
            <a:r>
              <a:rPr lang="en-US" dirty="0"/>
              <a:t> Poisson has only one parameter (</a:t>
            </a:r>
            <a:r>
              <a:rPr lang="en-US" dirty="0" err="1"/>
              <a:t>λ</a:t>
            </a:r>
            <a:r>
              <a:rPr lang="en-US" dirty="0"/>
              <a:t>), which forces variance = mean. But as we just discussed, RNA-seq counts are </a:t>
            </a:r>
            <a:r>
              <a:rPr lang="en-US" dirty="0" err="1"/>
              <a:t>overdispersed</a:t>
            </a:r>
            <a:r>
              <a:rPr lang="en-US" dirty="0"/>
              <a:t> — variance &gt; mean. Poisson systematically underestimates the spread, which makes your test statistics look more significant than they really are, inflating false positives.</a:t>
            </a:r>
          </a:p>
          <a:p>
            <a:pPr marL="0" lvl="0" indent="0" algn="l" rtl="0">
              <a:spcBef>
                <a:spcPts val="0"/>
              </a:spcBef>
              <a:spcAft>
                <a:spcPts val="0"/>
              </a:spcAft>
              <a:buNone/>
            </a:pPr>
            <a:r>
              <a:rPr lang="en-US" b="1" dirty="0"/>
              <a:t>Why not a normal/Gaussian?</a:t>
            </a:r>
            <a:r>
              <a:rPr lang="en-US" dirty="0"/>
              <a:t> Counts are discrete, bounded at zero, and right-skewed — especially at low expression levels. The normal distribution is continuous and symmetric, so it's a poor fit, particularly for lowly expressed genes.</a:t>
            </a:r>
          </a:p>
          <a:p>
            <a:pPr marL="0" lvl="0" indent="0" algn="l" rtl="0">
              <a:spcBef>
                <a:spcPts val="0"/>
              </a:spcBef>
              <a:spcAft>
                <a:spcPts val="0"/>
              </a:spcAft>
              <a:buNone/>
            </a:pPr>
            <a:r>
              <a:rPr lang="en-US" b="1" dirty="0"/>
              <a:t>Why Negative Binomial:</a:t>
            </a:r>
          </a:p>
          <a:p>
            <a:pPr marL="0" lvl="0" indent="0" algn="l" rtl="0">
              <a:spcBef>
                <a:spcPts val="0"/>
              </a:spcBef>
              <a:spcAft>
                <a:spcPts val="0"/>
              </a:spcAft>
              <a:buNone/>
            </a:pPr>
            <a:r>
              <a:rPr lang="en-US" b="1" dirty="0"/>
              <a:t>Mathematically</a:t>
            </a:r>
            <a:r>
              <a:rPr lang="en-US" dirty="0"/>
              <a:t>: it adds a second parameter (the dispersion, α) that lets variance grow faster than the mean — specifically σ² = </a:t>
            </a:r>
            <a:r>
              <a:rPr lang="en-US" dirty="0" err="1"/>
              <a:t>μ</a:t>
            </a:r>
            <a:r>
              <a:rPr lang="en-US" dirty="0"/>
              <a:t> + αμ². When α → 0, it collapses back to Poisson. So Poisson is just a special case. </a:t>
            </a:r>
            <a:r>
              <a:rPr lang="en-US" b="1" dirty="0"/>
              <a:t>Biologically</a:t>
            </a:r>
            <a:r>
              <a:rPr lang="en-US" dirty="0"/>
              <a:t>: you can think of NB as a Poisson where the rate </a:t>
            </a:r>
            <a:r>
              <a:rPr lang="en-US" dirty="0" err="1"/>
              <a:t>λ</a:t>
            </a:r>
            <a:r>
              <a:rPr lang="en-US" dirty="0"/>
              <a:t> itself varies across cells/samples according to a Gamma distribution. This Gamma noise captures biological variability between samples (e.g. cell-to-cell or sample-to-sample stochasticity in transcription), while the Poisson layer captures the technical counting noise from sequencing.</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5893756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E0921884-AAA2-E045-51A5-EEE074006521}"/>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3FC7A5DC-2665-2519-C7B8-8D00560C99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D73ED8A1-6428-252C-07B7-7F8692AD63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6538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d3ecd96c6c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d3ecd96c6c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88DECD45-72EE-F7CD-E7E3-D8DDB057A0F7}"/>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CC3C0C99-9890-94B1-6D08-307C805447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F9B2D9A0-2E06-83A5-8886-B6CD6F184C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www.nature.com</a:t>
            </a:r>
            <a:r>
              <a:rPr lang="en-US" dirty="0"/>
              <a:t>/articles/s41467-024-48261-w</a:t>
            </a:r>
            <a:endParaRPr dirty="0"/>
          </a:p>
        </p:txBody>
      </p:sp>
    </p:spTree>
    <p:extLst>
      <p:ext uri="{BB962C8B-B14F-4D97-AF65-F5344CB8AC3E}">
        <p14:creationId xmlns:p14="http://schemas.microsoft.com/office/powerpoint/2010/main" val="15116174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543368BD-D542-0248-FDF5-DB2181809639}"/>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C2081D15-EA19-8BD4-77FB-4263DD952A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F017316B-2E6C-CF6F-85F9-5C4EDADD54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573346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d4c49a7890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d4c49a7890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72BD2657-83A7-D66F-A40C-D1C4DC3C8ED4}"/>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B6B542C0-259D-56EF-730A-554A3A4D42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DDDFF7B1-BE21-7E91-5252-156E532084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637699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9B5F14CC-E715-ACAE-C9E3-CEA73D8129A3}"/>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44F6CFEF-EB5D-962B-30DA-8076BF1697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A9B86E79-F9BB-111B-0EA7-0C3E9DDB18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230397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C69E42F5-D30C-4D70-79A0-C516F294277A}"/>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5BDF6F64-D17F-DC18-55E6-98F0F8D9F2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21F5E53F-40A7-0B54-D0CE-E543995F59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How to read the pattern in this heatmap:</a:t>
            </a:r>
            <a:endParaRPr lang="en-US" dirty="0"/>
          </a:p>
          <a:p>
            <a:r>
              <a:rPr lang="en-US" dirty="0"/>
              <a:t>The D0 samples (green bar) cluster together and show a distinct expression profile from D7 and D14</a:t>
            </a:r>
          </a:p>
          <a:p>
            <a:r>
              <a:rPr lang="en-US" dirty="0"/>
              <a:t>A large block of genes is </a:t>
            </a:r>
            <a:r>
              <a:rPr lang="en-US" b="1" dirty="0"/>
              <a:t>highly expressed at D0</a:t>
            </a:r>
            <a:r>
              <a:rPr lang="en-US" dirty="0"/>
              <a:t> and </a:t>
            </a:r>
            <a:r>
              <a:rPr lang="en-US" b="1" dirty="0"/>
              <a:t>downregulated by D7/D14</a:t>
            </a:r>
            <a:r>
              <a:rPr lang="en-US" dirty="0"/>
              <a:t> (top cluster, red → blue left to right)</a:t>
            </a:r>
          </a:p>
          <a:p>
            <a:r>
              <a:rPr lang="en-US" dirty="0"/>
              <a:t>A second block shows the </a:t>
            </a:r>
            <a:r>
              <a:rPr lang="en-US" b="1" dirty="0"/>
              <a:t>opposite pattern</a:t>
            </a:r>
            <a:r>
              <a:rPr lang="en-US" dirty="0"/>
              <a:t> — low at D0, higher at D7/D14 (middle cluster, blue → orange)</a:t>
            </a:r>
          </a:p>
          <a:p>
            <a:r>
              <a:rPr lang="en-US" dirty="0"/>
              <a:t>This suggests a coordinated transcriptional shift occurring between Day 0 and Day 7</a:t>
            </a:r>
          </a:p>
          <a:p>
            <a:r>
              <a:rPr lang="en-US" b="1" dirty="0"/>
              <a:t>Key genes to highlight (from this heatmap):</a:t>
            </a:r>
            <a:endParaRPr lang="en-US" dirty="0"/>
          </a:p>
          <a:p>
            <a:r>
              <a:rPr lang="en-US" dirty="0"/>
              <a:t>Strongly upregulated at D0: </a:t>
            </a:r>
            <a:r>
              <a:rPr lang="en-US" i="1" dirty="0"/>
              <a:t>KLHDC8B, ABCA7, NOXA1, FASTK</a:t>
            </a:r>
            <a:endParaRPr lang="en-US" dirty="0"/>
          </a:p>
          <a:p>
            <a:r>
              <a:rPr lang="en-US" dirty="0"/>
              <a:t>Strongly upregulated at D7/D14: </a:t>
            </a:r>
            <a:r>
              <a:rPr lang="en-US" i="1" dirty="0"/>
              <a:t>SLC2A2, TACC1, APOB, SLC16A10</a:t>
            </a: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22605877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17C0A23-C960-7271-C380-301DA661D066}"/>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2E089B52-4A57-C1D6-F85D-6969CEAA50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4B94C976-2C4F-5102-A79B-20B8C4BC8F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How to read the pattern in this heatmap:</a:t>
            </a:r>
            <a:endParaRPr lang="en-US" dirty="0"/>
          </a:p>
          <a:p>
            <a:r>
              <a:rPr lang="en-US" dirty="0"/>
              <a:t>The D0 samples (green bar) cluster together and show a distinct expression profile from D7 and D14</a:t>
            </a:r>
          </a:p>
          <a:p>
            <a:r>
              <a:rPr lang="en-US" dirty="0"/>
              <a:t>A large block of genes is </a:t>
            </a:r>
            <a:r>
              <a:rPr lang="en-US" b="1" dirty="0"/>
              <a:t>highly expressed at D0</a:t>
            </a:r>
            <a:r>
              <a:rPr lang="en-US" dirty="0"/>
              <a:t> and </a:t>
            </a:r>
            <a:r>
              <a:rPr lang="en-US" b="1" dirty="0"/>
              <a:t>downregulated by D7/D14</a:t>
            </a:r>
            <a:r>
              <a:rPr lang="en-US" dirty="0"/>
              <a:t> (top cluster, red → blue left to right)</a:t>
            </a:r>
          </a:p>
          <a:p>
            <a:r>
              <a:rPr lang="en-US" dirty="0"/>
              <a:t>A second block shows the </a:t>
            </a:r>
            <a:r>
              <a:rPr lang="en-US" b="1" dirty="0"/>
              <a:t>opposite pattern</a:t>
            </a:r>
            <a:r>
              <a:rPr lang="en-US" dirty="0"/>
              <a:t> — low at D0, higher at D7/D14 (middle cluster, blue → orange)</a:t>
            </a:r>
          </a:p>
          <a:p>
            <a:r>
              <a:rPr lang="en-US" dirty="0"/>
              <a:t>This suggests a coordinated transcriptional shift occurring between Day 0 and Day 7</a:t>
            </a:r>
          </a:p>
          <a:p>
            <a:r>
              <a:rPr lang="en-US" b="1" dirty="0"/>
              <a:t>Key genes to highlight (from this heatmap):</a:t>
            </a:r>
            <a:endParaRPr lang="en-US" dirty="0"/>
          </a:p>
          <a:p>
            <a:r>
              <a:rPr lang="en-US" dirty="0"/>
              <a:t>Strongly upregulated at D0: </a:t>
            </a:r>
            <a:r>
              <a:rPr lang="en-US" i="1" dirty="0"/>
              <a:t>KLHDC8B, ABCA7, NOXA1, FASTK</a:t>
            </a:r>
            <a:endParaRPr lang="en-US" dirty="0"/>
          </a:p>
          <a:p>
            <a:r>
              <a:rPr lang="en-US" dirty="0"/>
              <a:t>Strongly upregulated at D7/D14: </a:t>
            </a:r>
            <a:r>
              <a:rPr lang="en-US" i="1" dirty="0"/>
              <a:t>SLC2A2, TACC1, APOB, SLC16A10</a:t>
            </a: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417206475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a:extLst>
            <a:ext uri="{FF2B5EF4-FFF2-40B4-BE49-F238E27FC236}">
              <a16:creationId xmlns:a16="http://schemas.microsoft.com/office/drawing/2014/main" id="{4AA33B5A-F8C1-0304-959A-D1179FFD689C}"/>
            </a:ext>
          </a:extLst>
        </p:cNvPr>
        <p:cNvGrpSpPr/>
        <p:nvPr/>
      </p:nvGrpSpPr>
      <p:grpSpPr>
        <a:xfrm>
          <a:off x="0" y="0"/>
          <a:ext cx="0" cy="0"/>
          <a:chOff x="0" y="0"/>
          <a:chExt cx="0" cy="0"/>
        </a:xfrm>
      </p:grpSpPr>
      <p:sp>
        <p:nvSpPr>
          <p:cNvPr id="183" name="Google Shape;183;g3d3ecd96c6c_0_68:notes">
            <a:extLst>
              <a:ext uri="{FF2B5EF4-FFF2-40B4-BE49-F238E27FC236}">
                <a16:creationId xmlns:a16="http://schemas.microsoft.com/office/drawing/2014/main" id="{A1D020CC-A435-22C7-B1EC-A35A150E4205}"/>
              </a:ext>
            </a:extLst>
          </p:cNvPr>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d3ecd96c6c_0_68:notes">
            <a:extLst>
              <a:ext uri="{FF2B5EF4-FFF2-40B4-BE49-F238E27FC236}">
                <a16:creationId xmlns:a16="http://schemas.microsoft.com/office/drawing/2014/main" id="{95260191-8D19-76B2-08C1-881D3147BC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92126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Review networks in microbial ecology: https://</a:t>
            </a:r>
            <a:r>
              <a:rPr lang="en-US" dirty="0" err="1"/>
              <a:t>journals.asm.org</a:t>
            </a:r>
            <a:r>
              <a:rPr lang="en-US" dirty="0"/>
              <a:t>/</a:t>
            </a:r>
            <a:r>
              <a:rPr lang="en-US" dirty="0" err="1"/>
              <a:t>doi</a:t>
            </a:r>
            <a:r>
              <a:rPr lang="en-US" dirty="0"/>
              <a:t>/full/10.1128/mSystems.00124-19</a:t>
            </a:r>
          </a:p>
          <a:p>
            <a:endParaRPr lang="en-US" dirty="0"/>
          </a:p>
          <a:p>
            <a:r>
              <a:rPr lang="en-US" dirty="0"/>
              <a:t>Newman: https://</a:t>
            </a:r>
            <a:r>
              <a:rPr lang="en-US" dirty="0" err="1"/>
              <a:t>drive.google.com</a:t>
            </a:r>
            <a:r>
              <a:rPr lang="en-US" dirty="0"/>
              <a:t>/file/d/1vuwIeIfuOCN-xcKxeBnubP0Bg9GQG95z/</a:t>
            </a:r>
            <a:r>
              <a:rPr lang="en-US" dirty="0" err="1"/>
              <a:t>view?ts</a:t>
            </a:r>
            <a:r>
              <a:rPr lang="en-US" dirty="0"/>
              <a:t>=63b49e85</a:t>
            </a:r>
          </a:p>
          <a:p>
            <a:endParaRPr lang="en-US" dirty="0"/>
          </a:p>
          <a:p>
            <a:endParaRPr lang="en-US" dirty="0"/>
          </a:p>
          <a:p>
            <a:r>
              <a:rPr lang="en-US" dirty="0"/>
              <a:t>FIGURE BRUDER: </a:t>
            </a:r>
          </a:p>
          <a:p>
            <a:r>
              <a:rPr lang="en-US" b="0" i="0" dirty="0">
                <a:solidFill>
                  <a:srgbClr val="282828"/>
                </a:solidFill>
                <a:effectLst/>
                <a:latin typeface="MuseoSans"/>
              </a:rPr>
              <a:t>A simplified representation of biotic interactions in a stream food web based on leaf litter (left-hand pathway) and periphyton (right-hand pathway), and affected by multiple stressors (represented by stressors S1 and S2). Black arrows </a:t>
            </a:r>
            <a:r>
              <a:rPr lang="en-US" b="0" i="0" cap="all" dirty="0">
                <a:solidFill>
                  <a:srgbClr val="282828"/>
                </a:solidFill>
                <a:effectLst/>
                <a:latin typeface="MuseoSans"/>
              </a:rPr>
              <a:t>(A,B)</a:t>
            </a:r>
            <a:r>
              <a:rPr lang="en-US" b="0" i="0" dirty="0">
                <a:solidFill>
                  <a:srgbClr val="282828"/>
                </a:solidFill>
                <a:effectLst/>
                <a:latin typeface="MuseoSans"/>
              </a:rPr>
              <a:t> represent trophic interactions with top-down effects on resources, with </a:t>
            </a:r>
            <a:r>
              <a:rPr lang="en-US" b="0" i="0" cap="all" dirty="0">
                <a:solidFill>
                  <a:srgbClr val="282828"/>
                </a:solidFill>
                <a:effectLst/>
                <a:latin typeface="MuseoSans"/>
              </a:rPr>
              <a:t>(B)</a:t>
            </a:r>
            <a:r>
              <a:rPr lang="en-US" b="0" i="0" dirty="0">
                <a:solidFill>
                  <a:srgbClr val="282828"/>
                </a:solidFill>
                <a:effectLst/>
                <a:latin typeface="MuseoSans"/>
              </a:rPr>
              <a:t> showing the use of a secondary resource by a consumer with a certain degree of </a:t>
            </a:r>
            <a:r>
              <a:rPr lang="en-US" b="0" i="0" dirty="0" err="1">
                <a:solidFill>
                  <a:srgbClr val="282828"/>
                </a:solidFill>
                <a:effectLst/>
                <a:latin typeface="MuseoSans"/>
              </a:rPr>
              <a:t>omnivory</a:t>
            </a:r>
            <a:r>
              <a:rPr lang="en-US" b="0" i="0" dirty="0">
                <a:solidFill>
                  <a:srgbClr val="282828"/>
                </a:solidFill>
                <a:effectLst/>
                <a:latin typeface="MuseoSans"/>
              </a:rPr>
              <a:t>. The blue arrow </a:t>
            </a:r>
            <a:r>
              <a:rPr lang="en-US" b="0" i="0" cap="all" dirty="0">
                <a:solidFill>
                  <a:srgbClr val="282828"/>
                </a:solidFill>
                <a:effectLst/>
                <a:latin typeface="MuseoSans"/>
              </a:rPr>
              <a:t>(C)</a:t>
            </a:r>
            <a:r>
              <a:rPr lang="en-US" b="0" i="0" dirty="0">
                <a:solidFill>
                  <a:srgbClr val="282828"/>
                </a:solidFill>
                <a:effectLst/>
                <a:latin typeface="MuseoSans"/>
              </a:rPr>
              <a:t> represents a trophic interaction with bottom-up effects on the consumer. The orange arrow </a:t>
            </a:r>
            <a:r>
              <a:rPr lang="en-US" b="0" i="0" cap="all" dirty="0">
                <a:solidFill>
                  <a:srgbClr val="282828"/>
                </a:solidFill>
                <a:effectLst/>
                <a:latin typeface="MuseoSans"/>
              </a:rPr>
              <a:t>(D)</a:t>
            </a:r>
            <a:r>
              <a:rPr lang="en-US" b="0" i="0" dirty="0">
                <a:solidFill>
                  <a:srgbClr val="282828"/>
                </a:solidFill>
                <a:effectLst/>
                <a:latin typeface="MuseoSans"/>
              </a:rPr>
              <a:t> represents an indirect consequence of trophic interactions, e.g., cascading effects or trait-mediated effects, whereas the green arrow </a:t>
            </a:r>
            <a:r>
              <a:rPr lang="en-US" b="0" i="0" cap="all" dirty="0">
                <a:solidFill>
                  <a:srgbClr val="282828"/>
                </a:solidFill>
                <a:effectLst/>
                <a:latin typeface="MuseoSans"/>
              </a:rPr>
              <a:t>(E)</a:t>
            </a:r>
            <a:r>
              <a:rPr lang="en-US" b="0" i="0" dirty="0">
                <a:solidFill>
                  <a:srgbClr val="282828"/>
                </a:solidFill>
                <a:effectLst/>
                <a:latin typeface="MuseoSans"/>
              </a:rPr>
              <a:t> represents non-trophic interactions, e.g., competition/facilitation among species in the same trophic level. Purple arrows represent multiple stressors (S1 and S2) with effects on organism groups (</a:t>
            </a:r>
            <a:r>
              <a:rPr lang="en-US" b="0" i="0" dirty="0" err="1">
                <a:solidFill>
                  <a:srgbClr val="282828"/>
                </a:solidFill>
                <a:effectLst/>
                <a:latin typeface="MuseoSans"/>
              </a:rPr>
              <a:t>i</a:t>
            </a:r>
            <a:r>
              <a:rPr lang="en-US" b="0" i="0" dirty="0">
                <a:solidFill>
                  <a:srgbClr val="282828"/>
                </a:solidFill>
                <a:effectLst/>
                <a:latin typeface="MuseoSans"/>
              </a:rPr>
              <a:t>) and on interactions (ii), e.g., due to changes in foraging activity. The inset shows the complete network of species at the site of which the large scheme is an extract or simplification as shown by the dotted box. Blue nodes (trophic level 1) in the inset represent basal resources including autotroph and heterotroph microorganisms (e.g., fungi), green nodes (trophic level 2) represent invertebrates, and orange (trophic level 3), and red nodes (trophic level 4) represent fish. Trophic interactions in the network are exemplified by continuous lines and non-trophic interactions by the dashed lines.</a:t>
            </a:r>
          </a:p>
          <a:p>
            <a:endParaRPr lang="en-US" b="0" i="0" dirty="0">
              <a:solidFill>
                <a:srgbClr val="282828"/>
              </a:solidFill>
              <a:effectLst/>
              <a:latin typeface="MuseoSans"/>
            </a:endParaRPr>
          </a:p>
          <a:p>
            <a:r>
              <a:rPr lang="en-US" b="0" i="0" dirty="0">
                <a:solidFill>
                  <a:srgbClr val="282828"/>
                </a:solidFill>
                <a:effectLst/>
                <a:latin typeface="MuseoSans"/>
              </a:rPr>
              <a:t>NATURE ECOLOGICAL NETWORKS: https://</a:t>
            </a:r>
            <a:r>
              <a:rPr lang="en-US" b="0" i="0" dirty="0" err="1">
                <a:solidFill>
                  <a:srgbClr val="282828"/>
                </a:solidFill>
                <a:effectLst/>
                <a:latin typeface="MuseoSans"/>
              </a:rPr>
              <a:t>www.nature.com</a:t>
            </a:r>
            <a:r>
              <a:rPr lang="en-US" b="0" i="0" dirty="0">
                <a:solidFill>
                  <a:srgbClr val="282828"/>
                </a:solidFill>
                <a:effectLst/>
                <a:latin typeface="MuseoSans"/>
              </a:rPr>
              <a:t>/subjects/ecological-networks#:~:text=Definition,interest%20include%20stability%20and%20structure.</a:t>
            </a:r>
          </a:p>
          <a:p>
            <a:r>
              <a:rPr lang="en-US" b="0" i="0" dirty="0">
                <a:solidFill>
                  <a:srgbClr val="282828"/>
                </a:solidFill>
                <a:effectLst/>
                <a:latin typeface="MuseoSans"/>
              </a:rPr>
              <a:t>(To see the importance and advances that networks contribute with in ecology)</a:t>
            </a:r>
            <a:endParaRPr lang="en-US" dirty="0"/>
          </a:p>
        </p:txBody>
      </p:sp>
      <p:sp>
        <p:nvSpPr>
          <p:cNvPr id="4" name="Slide Number Placeholder 3"/>
          <p:cNvSpPr>
            <a:spLocks noGrp="1"/>
          </p:cNvSpPr>
          <p:nvPr>
            <p:ph type="sldNum" sz="quarter" idx="5"/>
          </p:nvPr>
        </p:nvSpPr>
        <p:spPr/>
        <p:txBody>
          <a:bodyPr/>
          <a:lstStyle/>
          <a:p>
            <a:fld id="{0589E34A-1528-F44F-A99F-1F5CF2CDCBCD}" type="slidenum">
              <a:rPr lang="en-US" smtClean="0"/>
              <a:t>54</a:t>
            </a:fld>
            <a:endParaRPr lang="en-US"/>
          </a:p>
        </p:txBody>
      </p:sp>
    </p:spTree>
    <p:extLst>
      <p:ext uri="{BB962C8B-B14F-4D97-AF65-F5344CB8AC3E}">
        <p14:creationId xmlns:p14="http://schemas.microsoft.com/office/powerpoint/2010/main" val="32420384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a:t>
            </a:r>
            <a:r>
              <a:rPr lang="en-US" dirty="0" err="1"/>
              <a:t>www.youtube.com</a:t>
            </a:r>
            <a:r>
              <a:rPr lang="en-US" dirty="0"/>
              <a:t>/</a:t>
            </a:r>
            <a:r>
              <a:rPr lang="en-US" dirty="0" err="1"/>
              <a:t>watch?v</a:t>
            </a:r>
            <a:r>
              <a:rPr lang="en-US" dirty="0"/>
              <a:t>=pYMsI-8GsxI</a:t>
            </a:r>
          </a:p>
          <a:p>
            <a:endParaRPr lang="en-US" dirty="0"/>
          </a:p>
          <a:p>
            <a:r>
              <a:rPr lang="en-US" dirty="0"/>
              <a:t>http://social-</a:t>
            </a:r>
            <a:r>
              <a:rPr lang="en-US" dirty="0" err="1"/>
              <a:t>dynamics.org</a:t>
            </a:r>
            <a:r>
              <a:rPr lang="en-US" dirty="0"/>
              <a:t>/scale-free-network/</a:t>
            </a:r>
          </a:p>
          <a:p>
            <a:endParaRPr lang="en-US" dirty="0"/>
          </a:p>
          <a:p>
            <a:r>
              <a:rPr lang="en-US" dirty="0"/>
              <a:t>photo reference: http://</a:t>
            </a:r>
            <a:r>
              <a:rPr lang="en-US" dirty="0" err="1"/>
              <a:t>www.network-science.org</a:t>
            </a:r>
            <a:r>
              <a:rPr lang="en-US" dirty="0"/>
              <a:t>/</a:t>
            </a:r>
            <a:r>
              <a:rPr lang="en-US" dirty="0" err="1"/>
              <a:t>powerlaw_scalefree_node_degree_distribution.html</a:t>
            </a:r>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589E34A-1528-F44F-A99F-1F5CF2CDCBCD}" type="slidenum">
              <a:rPr lang="en-US" smtClean="0"/>
              <a:t>57</a:t>
            </a:fld>
            <a:endParaRPr lang="en-US"/>
          </a:p>
        </p:txBody>
      </p:sp>
    </p:spTree>
    <p:extLst>
      <p:ext uri="{BB962C8B-B14F-4D97-AF65-F5344CB8AC3E}">
        <p14:creationId xmlns:p14="http://schemas.microsoft.com/office/powerpoint/2010/main" val="31751048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89275-034B-C519-CE06-6EE75EA93A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CB823-800C-997A-0B69-9FF8F517B32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D52DFBA-34B9-73DE-193C-6728F4CA8AAC}"/>
              </a:ext>
            </a:extLst>
          </p:cNvPr>
          <p:cNvSpPr>
            <a:spLocks noGrp="1"/>
          </p:cNvSpPr>
          <p:nvPr>
            <p:ph type="body" idx="1"/>
          </p:nvPr>
        </p:nvSpPr>
        <p:spPr/>
        <p:txBody>
          <a:bodyPr/>
          <a:lstStyle/>
          <a:p>
            <a:r>
              <a:rPr lang="en-US" dirty="0"/>
              <a:t>https://</a:t>
            </a:r>
            <a:r>
              <a:rPr lang="en-US" dirty="0" err="1"/>
              <a:t>www.youtube.com</a:t>
            </a:r>
            <a:r>
              <a:rPr lang="en-US" dirty="0"/>
              <a:t>/</a:t>
            </a:r>
            <a:r>
              <a:rPr lang="en-US" dirty="0" err="1"/>
              <a:t>watch?v</a:t>
            </a:r>
            <a:r>
              <a:rPr lang="en-US" dirty="0"/>
              <a:t>=pYMsI-8GsxI</a:t>
            </a:r>
          </a:p>
          <a:p>
            <a:endParaRPr lang="en-US" dirty="0"/>
          </a:p>
          <a:p>
            <a:r>
              <a:rPr lang="en-US" dirty="0"/>
              <a:t>http://social-</a:t>
            </a:r>
            <a:r>
              <a:rPr lang="en-US" dirty="0" err="1"/>
              <a:t>dynamics.org</a:t>
            </a:r>
            <a:r>
              <a:rPr lang="en-US" dirty="0"/>
              <a:t>/scale-free-network/</a:t>
            </a:r>
          </a:p>
          <a:p>
            <a:endParaRPr lang="en-US" dirty="0"/>
          </a:p>
          <a:p>
            <a:r>
              <a:rPr lang="en-US" dirty="0"/>
              <a:t>photo reference: http://</a:t>
            </a:r>
            <a:r>
              <a:rPr lang="en-US" dirty="0" err="1"/>
              <a:t>www.network-science.org</a:t>
            </a:r>
            <a:r>
              <a:rPr lang="en-US" dirty="0"/>
              <a:t>/</a:t>
            </a:r>
            <a:r>
              <a:rPr lang="en-US" dirty="0" err="1"/>
              <a:t>powerlaw_scalefree_node_degree_distribution.html</a:t>
            </a: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027BA8A-5BE7-771A-9009-5E13428C9EBE}"/>
              </a:ext>
            </a:extLst>
          </p:cNvPr>
          <p:cNvSpPr>
            <a:spLocks noGrp="1"/>
          </p:cNvSpPr>
          <p:nvPr>
            <p:ph type="sldNum" sz="quarter" idx="5"/>
          </p:nvPr>
        </p:nvSpPr>
        <p:spPr/>
        <p:txBody>
          <a:bodyPr/>
          <a:lstStyle/>
          <a:p>
            <a:fld id="{0589E34A-1528-F44F-A99F-1F5CF2CDCBCD}" type="slidenum">
              <a:rPr lang="en-US" smtClean="0"/>
              <a:t>58</a:t>
            </a:fld>
            <a:endParaRPr lang="en-US"/>
          </a:p>
        </p:txBody>
      </p:sp>
    </p:spTree>
    <p:extLst>
      <p:ext uri="{BB962C8B-B14F-4D97-AF65-F5344CB8AC3E}">
        <p14:creationId xmlns:p14="http://schemas.microsoft.com/office/powerpoint/2010/main" val="366314861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2657B801-3439-DCA9-D125-01ABBB43B51C}"/>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13B8D55A-B46D-6692-E4D1-5C3273D9D9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D6EF31CC-172C-9882-B0F1-F00DB2AF04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9044644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928E639C-6514-D678-FFB3-CC171BD56B05}"/>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9D3AC5A8-85A7-CFFF-C5A4-A7E87948F9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8896073F-1D24-4458-9330-00D15F54E9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4293210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DC2F3AC7-1E23-2480-17B2-10FBDB648705}"/>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87205E65-2FC2-0B2F-6213-81F4DFDF8C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A0E65DCC-6DDE-6B39-0F6A-3034E6DF3B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dirty="0"/>
              <a:t>Why VST: </a:t>
            </a:r>
            <a:r>
              <a:rPr lang="en-US" b="1" dirty="0"/>
              <a:t>Heteroscedasticity</a:t>
            </a:r>
            <a:r>
              <a:rPr lang="en-US" dirty="0"/>
              <a:t> — in RNA-seq, highly expressed genes naturally show much larger absolute count differences between samples than lowly expressed genes, even if their </a:t>
            </a:r>
            <a:r>
              <a:rPr lang="en-US" i="1" dirty="0"/>
              <a:t>relative</a:t>
            </a:r>
            <a:r>
              <a:rPr lang="en-US" dirty="0"/>
              <a:t> variation is the same. Pearson correlation is distorted by this.</a:t>
            </a:r>
          </a:p>
          <a:p>
            <a:r>
              <a:rPr lang="en-US" b="1" dirty="0"/>
              <a:t>Skewed distributions</a:t>
            </a:r>
            <a:r>
              <a:rPr lang="en-US" dirty="0"/>
              <a:t> — raw counts are right-skewed integers; correlation assumes approximately continuous, roughly symmetric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38450825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B82AACCB-040E-9F9B-4444-F35D26647B8D}"/>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57A00149-85C1-EAEA-0242-D9D6274720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6334C15A-5E3C-09A8-D042-2AD1B96A55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dirty="0"/>
              <a:t>Why VST: </a:t>
            </a:r>
            <a:r>
              <a:rPr lang="en-US" b="1" dirty="0"/>
              <a:t>Heteroscedasticity</a:t>
            </a:r>
            <a:r>
              <a:rPr lang="en-US" dirty="0"/>
              <a:t> — in RNA-seq, highly expressed genes naturally show much larger absolute count differences between samples than lowly expressed genes, even if their </a:t>
            </a:r>
            <a:r>
              <a:rPr lang="en-US" i="1" dirty="0"/>
              <a:t>relative</a:t>
            </a:r>
            <a:r>
              <a:rPr lang="en-US" dirty="0"/>
              <a:t> variation is the same. Pearson correlation is distorted by this.</a:t>
            </a:r>
          </a:p>
          <a:p>
            <a:r>
              <a:rPr lang="en-US" b="1" dirty="0"/>
              <a:t>Skewed distributions</a:t>
            </a:r>
            <a:r>
              <a:rPr lang="en-US" dirty="0"/>
              <a:t> — raw counts are right-skewed integers; correlation assumes approximately continuous, roughly symmetric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9924628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0232E8C0-DE7A-0A35-EEA5-E540388CE3AB}"/>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AE417F41-4AAE-8CD4-453E-ACC3B833ED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E05777DA-3829-3355-FD34-08F3641E93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dirty="0"/>
              <a:t>Why VST: </a:t>
            </a:r>
            <a:r>
              <a:rPr lang="en-US" b="1" dirty="0"/>
              <a:t>Heteroscedasticity</a:t>
            </a:r>
            <a:r>
              <a:rPr lang="en-US" dirty="0"/>
              <a:t> — in RNA-seq, highly expressed genes naturally show much larger absolute count differences between samples than lowly expressed genes, even if their </a:t>
            </a:r>
            <a:r>
              <a:rPr lang="en-US" i="1" dirty="0"/>
              <a:t>relative</a:t>
            </a:r>
            <a:r>
              <a:rPr lang="en-US" dirty="0"/>
              <a:t> variation is the same. Pearson correlation is distorted by this.</a:t>
            </a:r>
          </a:p>
          <a:p>
            <a:r>
              <a:rPr lang="en-US" b="1" dirty="0"/>
              <a:t>Skewed distributions</a:t>
            </a:r>
            <a:r>
              <a:rPr lang="en-US" dirty="0"/>
              <a:t> — raw counts are right-skewed integers; correlation assumes approximately continuous, roughly symmetric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26973127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06978365-EE5B-8228-0FE4-EB99C7E87349}"/>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A3B5A5A9-FB16-D82D-54C3-4F8EE3D648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113E9342-C3E0-25F4-E8A9-9CE253BF0B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dirty="0"/>
              <a:t>Why VST: </a:t>
            </a:r>
            <a:r>
              <a:rPr lang="en-US" b="1" dirty="0"/>
              <a:t>Heteroscedasticity</a:t>
            </a:r>
            <a:r>
              <a:rPr lang="en-US" dirty="0"/>
              <a:t> — in RNA-seq, highly expressed genes naturally show much larger absolute count differences between samples than lowly expressed genes, even if their </a:t>
            </a:r>
            <a:r>
              <a:rPr lang="en-US" i="1" dirty="0"/>
              <a:t>relative</a:t>
            </a:r>
            <a:r>
              <a:rPr lang="en-US" dirty="0"/>
              <a:t> variation is the same. Pearson correlation is distorted by this.</a:t>
            </a:r>
          </a:p>
          <a:p>
            <a:r>
              <a:rPr lang="en-US" b="1" dirty="0"/>
              <a:t>Skewed distributions</a:t>
            </a:r>
            <a:r>
              <a:rPr lang="en-US" dirty="0"/>
              <a:t> — raw counts are right-skewed integers; correlation assumes approximately continuous, roughly symmetric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405220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1DCF9A79-DB94-C7C4-9E18-1E8EB52738E3}"/>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D6911A48-EA49-53E1-B5C4-F41B584521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64582FB9-5362-4196-0413-8BCF2C6DE4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dirty="0"/>
              <a:t>Why VST: </a:t>
            </a:r>
            <a:r>
              <a:rPr lang="en-US" b="1" dirty="0"/>
              <a:t>Heteroscedasticity</a:t>
            </a:r>
            <a:r>
              <a:rPr lang="en-US" dirty="0"/>
              <a:t> — in RNA-seq, highly expressed genes naturally show much larger absolute count differences between samples than lowly expressed genes, even if their </a:t>
            </a:r>
            <a:r>
              <a:rPr lang="en-US" i="1" dirty="0"/>
              <a:t>relative</a:t>
            </a:r>
            <a:r>
              <a:rPr lang="en-US" dirty="0"/>
              <a:t> variation is the same. Pearson correlation is distorted by this.</a:t>
            </a:r>
          </a:p>
          <a:p>
            <a:r>
              <a:rPr lang="en-US" b="1" dirty="0"/>
              <a:t>Skewed distributions</a:t>
            </a:r>
            <a:r>
              <a:rPr lang="en-US" dirty="0"/>
              <a:t> — raw counts are right-skewed integers; correlation assumes approximately continuous, roughly symmetric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57754001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7C3FAC17-6F2B-4825-ABF1-FD1E4570821B}"/>
            </a:ext>
          </a:extLst>
        </p:cNvPr>
        <p:cNvGrpSpPr/>
        <p:nvPr/>
      </p:nvGrpSpPr>
      <p:grpSpPr>
        <a:xfrm>
          <a:off x="0" y="0"/>
          <a:ext cx="0" cy="0"/>
          <a:chOff x="0" y="0"/>
          <a:chExt cx="0" cy="0"/>
        </a:xfrm>
      </p:grpSpPr>
      <p:sp>
        <p:nvSpPr>
          <p:cNvPr id="81" name="Google Shape;81;g3d4ddec1e47_0_81:notes">
            <a:extLst>
              <a:ext uri="{FF2B5EF4-FFF2-40B4-BE49-F238E27FC236}">
                <a16:creationId xmlns:a16="http://schemas.microsoft.com/office/drawing/2014/main" id="{A605DC6C-778C-EBB4-1FCD-D658A9C981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4ddec1e47_0_81:notes">
            <a:extLst>
              <a:ext uri="{FF2B5EF4-FFF2-40B4-BE49-F238E27FC236}">
                <a16:creationId xmlns:a16="http://schemas.microsoft.com/office/drawing/2014/main" id="{4DC1DB39-C2E6-00AF-79A3-765EA6893C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https://</a:t>
            </a:r>
            <a:r>
              <a:rPr lang="en-US" dirty="0" err="1"/>
              <a:t>bigomics.ch</a:t>
            </a:r>
            <a:r>
              <a:rPr lang="en-US" dirty="0"/>
              <a:t>/blog/introduction-to-wgcna-and-its-applications-in-gene-correlation-network-analysis/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dirty="0"/>
              <a:t>Why VST: </a:t>
            </a:r>
            <a:r>
              <a:rPr lang="en-US" b="1" dirty="0"/>
              <a:t>Heteroscedasticity</a:t>
            </a:r>
            <a:r>
              <a:rPr lang="en-US" dirty="0"/>
              <a:t> — in RNA-seq, highly expressed genes naturally show much larger absolute count differences between samples than lowly expressed genes, even if their </a:t>
            </a:r>
            <a:r>
              <a:rPr lang="en-US" i="1" dirty="0"/>
              <a:t>relative</a:t>
            </a:r>
            <a:r>
              <a:rPr lang="en-US" dirty="0"/>
              <a:t> variation is the same. Pearson correlation is distorted by this.</a:t>
            </a:r>
          </a:p>
          <a:p>
            <a:r>
              <a:rPr lang="en-US" b="1" dirty="0"/>
              <a:t>Skewed distributions</a:t>
            </a:r>
            <a:r>
              <a:rPr lang="en-US" dirty="0"/>
              <a:t> — raw counts are right-skewed integers; correlation assumes approximately continuous, roughly symmetric data.</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73544734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d4c49a7890_0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d4c49a7890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d3ecd96c6c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d3ecd96c6c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86e2719753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86e271975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E73DB-F9D6-6944-59C8-D987E38B5E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F62C8C-F7A7-8FF7-1C37-9B3FD5AC55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1465F4-4A09-1AC6-DF93-2B66B86F8F1F}"/>
              </a:ext>
            </a:extLst>
          </p:cNvPr>
          <p:cNvSpPr>
            <a:spLocks noGrp="1"/>
          </p:cNvSpPr>
          <p:nvPr>
            <p:ph type="dt" sz="half" idx="10"/>
          </p:nvPr>
        </p:nvSpPr>
        <p:spPr/>
        <p:txBody>
          <a:bodyPr/>
          <a:lstStyle/>
          <a:p>
            <a:fld id="{746BCE97-367F-144C-8B7D-896D5276888C}" type="datetimeFigureOut">
              <a:rPr lang="en-US" smtClean="0"/>
              <a:t>6/4/26</a:t>
            </a:fld>
            <a:endParaRPr lang="en-US"/>
          </a:p>
        </p:txBody>
      </p:sp>
      <p:sp>
        <p:nvSpPr>
          <p:cNvPr id="5" name="Footer Placeholder 4">
            <a:extLst>
              <a:ext uri="{FF2B5EF4-FFF2-40B4-BE49-F238E27FC236}">
                <a16:creationId xmlns:a16="http://schemas.microsoft.com/office/drawing/2014/main" id="{C7731ABE-8993-71D4-67AA-E98B1FCA1B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A154CE-796A-10B3-3EFA-2021146ACA64}"/>
              </a:ext>
            </a:extLst>
          </p:cNvPr>
          <p:cNvSpPr>
            <a:spLocks noGrp="1"/>
          </p:cNvSpPr>
          <p:nvPr>
            <p:ph type="sldNum" sz="quarter" idx="12"/>
          </p:nvPr>
        </p:nvSpPr>
        <p:spPr/>
        <p:txBody>
          <a:bodyPr/>
          <a:lstStyle/>
          <a:p>
            <a:fld id="{D300DAD0-5D33-DA40-B74E-C3D052DB171B}" type="slidenum">
              <a:rPr lang="en-US" smtClean="0"/>
              <a:t>‹#›</a:t>
            </a:fld>
            <a:endParaRPr lang="en-US"/>
          </a:p>
        </p:txBody>
      </p:sp>
    </p:spTree>
    <p:extLst>
      <p:ext uri="{BB962C8B-B14F-4D97-AF65-F5344CB8AC3E}">
        <p14:creationId xmlns:p14="http://schemas.microsoft.com/office/powerpoint/2010/main" val="3551815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6.jpeg"/><Relationship Id="rId7"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8.jpeg"/><Relationship Id="rId5" Type="http://schemas.openxmlformats.org/officeDocument/2006/relationships/image" Target="../media/image4.pn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4.jpe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4.jpeg"/><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0.png"/><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hyperlink" Target="https://www.cd-genomics.com/rna-seq-transcriptome.html"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2.xml"/><Relationship Id="rId1" Type="http://schemas.openxmlformats.org/officeDocument/2006/relationships/slideLayout" Target="../slideLayouts/slideLayout12.xml"/><Relationship Id="rId6" Type="http://schemas.openxmlformats.org/officeDocument/2006/relationships/hyperlink" Target="https://www.frontiersin.org/articles/10.3389/fevo.2020.588430/full" TargetMode="External"/><Relationship Id="rId5" Type="http://schemas.openxmlformats.org/officeDocument/2006/relationships/image" Target="../media/image51.jpeg"/><Relationship Id="rId4" Type="http://schemas.openxmlformats.org/officeDocument/2006/relationships/hyperlink" Target="https://www.frontiersin.org/articles/10.3389/fenvs.2019.00059/full"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3.xml"/><Relationship Id="rId1" Type="http://schemas.openxmlformats.org/officeDocument/2006/relationships/slideLayout" Target="../slideLayouts/slideLayout12.xml"/><Relationship Id="rId4" Type="http://schemas.openxmlformats.org/officeDocument/2006/relationships/image" Target="../media/image53.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7.png"/><Relationship Id="rId2" Type="http://schemas.openxmlformats.org/officeDocument/2006/relationships/notesSlide" Target="../notesSlides/notesSlide58.xml"/><Relationship Id="rId1" Type="http://schemas.openxmlformats.org/officeDocument/2006/relationships/slideLayout" Target="../slideLayouts/slideLayout3.xml"/><Relationship Id="rId6" Type="http://schemas.openxmlformats.org/officeDocument/2006/relationships/image" Target="../media/image56.png"/><Relationship Id="rId5" Type="http://schemas.microsoft.com/office/2007/relationships/hdphoto" Target="../media/hdphoto1.wdp"/><Relationship Id="rId4" Type="http://schemas.openxmlformats.org/officeDocument/2006/relationships/image" Target="../media/image55.png"/></Relationships>
</file>

<file path=ppt/slides/_rels/slide63.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hyperlink" Target="https://academic.oup.com/bib/article/22/6/bbab259/6330938" TargetMode="External"/><Relationship Id="rId7" Type="http://schemas.openxmlformats.org/officeDocument/2006/relationships/hyperlink" Target="https://www.mdpi.com/2076-2615/14/10/1470" TargetMode="External"/><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hyperlink" Target="https://www.youtube.com/watch?v=q9a2RvqYZzQ" TargetMode="External"/><Relationship Id="rId5" Type="http://schemas.openxmlformats.org/officeDocument/2006/relationships/hyperlink" Target="https://bigomics.ch/blog/introduction-to-wgcna-and-its-applications-in-gene-correlation-network-analysis/" TargetMode="External"/><Relationship Id="rId4" Type="http://schemas.openxmlformats.org/officeDocument/2006/relationships/hyperlink" Target="https://hbctraining.github.io/Training-modules/planning_successful_rnaseq/lessons/count_modeling.html" TargetMode="External"/></Relationships>
</file>

<file path=ppt/slides/_rels/slide7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1026" name="Picture 2" descr="What is RNA? | New Scientist">
            <a:extLst>
              <a:ext uri="{FF2B5EF4-FFF2-40B4-BE49-F238E27FC236}">
                <a16:creationId xmlns:a16="http://schemas.microsoft.com/office/drawing/2014/main" id="{F3BCED5A-DBCD-2EA9-747A-28D5421E84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955"/>
          <a:stretch>
            <a:fillRect/>
          </a:stretch>
        </p:blipFill>
        <p:spPr bwMode="auto">
          <a:xfrm>
            <a:off x="-1" y="0"/>
            <a:ext cx="6792899" cy="5143500"/>
          </a:xfrm>
          <a:prstGeom prst="rect">
            <a:avLst/>
          </a:prstGeom>
          <a:noFill/>
          <a:extLst>
            <a:ext uri="{909E8E84-426E-40DD-AFC4-6F175D3DCCD1}">
              <a14:hiddenFill xmlns:a14="http://schemas.microsoft.com/office/drawing/2010/main">
                <a:solidFill>
                  <a:srgbClr val="FFFFFF"/>
                </a:solidFill>
              </a14:hiddenFill>
            </a:ext>
          </a:extLst>
        </p:spPr>
      </p:pic>
      <p:sp>
        <p:nvSpPr>
          <p:cNvPr id="54" name="Google Shape;54;p13"/>
          <p:cNvSpPr txBox="1">
            <a:spLocks noGrp="1"/>
          </p:cNvSpPr>
          <p:nvPr>
            <p:ph type="ctrTitle"/>
          </p:nvPr>
        </p:nvSpPr>
        <p:spPr>
          <a:xfrm>
            <a:off x="4430031" y="2285503"/>
            <a:ext cx="4373700" cy="2052600"/>
          </a:xfrm>
          <a:prstGeom prst="rect">
            <a:avLst/>
          </a:prstGeom>
          <a:solidFill>
            <a:schemeClr val="lt1"/>
          </a:solidFill>
          <a:ln>
            <a:noFill/>
          </a:ln>
        </p:spPr>
        <p:txBody>
          <a:bodyPr spcFirstLastPara="1" wrap="square" lIns="91425" tIns="91425" rIns="91425" bIns="91425" anchor="b" anchorCtr="0">
            <a:normAutofit/>
          </a:bodyPr>
          <a:lstStyle/>
          <a:p>
            <a:pPr marL="0" lvl="0" indent="0" algn="l" rtl="0">
              <a:spcBef>
                <a:spcPts val="0"/>
              </a:spcBef>
              <a:spcAft>
                <a:spcPts val="0"/>
              </a:spcAft>
              <a:buNone/>
            </a:pPr>
            <a:r>
              <a:rPr lang="en" sz="5000" b="1" dirty="0"/>
              <a:t>Day 4: </a:t>
            </a:r>
            <a:r>
              <a:rPr lang="en" sz="5000" dirty="0" err="1"/>
              <a:t>RNAseq</a:t>
            </a:r>
            <a:endParaRPr sz="50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5"/>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RNA-seq</a:t>
            </a:r>
            <a:r>
              <a:rPr lang="en" dirty="0"/>
              <a:t> as the dominant </a:t>
            </a:r>
            <a:r>
              <a:rPr lang="en" b="1" dirty="0"/>
              <a:t>method</a:t>
            </a:r>
            <a:r>
              <a:rPr lang="en" dirty="0"/>
              <a:t> in transcriptomics</a:t>
            </a:r>
            <a:endParaRPr dirty="0"/>
          </a:p>
        </p:txBody>
      </p:sp>
      <p:sp>
        <p:nvSpPr>
          <p:cNvPr id="85" name="Google Shape;85;p15"/>
          <p:cNvSpPr txBox="1"/>
          <p:nvPr/>
        </p:nvSpPr>
        <p:spPr>
          <a:xfrm>
            <a:off x="4524375" y="1206875"/>
            <a:ext cx="4357800" cy="1031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solidFill>
                  <a:schemeClr val="dk1"/>
                </a:solidFill>
              </a:rPr>
              <a:t>RNA sequencing (RNA-Seq) is </a:t>
            </a:r>
            <a:r>
              <a:rPr lang="en" sz="1100" dirty="0">
                <a:solidFill>
                  <a:srgbClr val="001D35"/>
                </a:solidFill>
                <a:latin typeface="Roboto"/>
                <a:ea typeface="Roboto"/>
                <a:cs typeface="Roboto"/>
                <a:sym typeface="Roboto"/>
              </a:rPr>
              <a:t>a high-throughput, next-generation sequencing (NGS) technology used to analyze the entire transcriptome—all RNA molecules—in a cell or group of cells at a specific time</a:t>
            </a:r>
            <a:r>
              <a:rPr lang="en" sz="1100" dirty="0">
                <a:solidFill>
                  <a:srgbClr val="0A0A0A"/>
                </a:solidFill>
                <a:highlight>
                  <a:srgbClr val="FFFFFF"/>
                </a:highlight>
                <a:latin typeface="Roboto"/>
                <a:ea typeface="Roboto"/>
                <a:cs typeface="Roboto"/>
                <a:sym typeface="Roboto"/>
              </a:rPr>
              <a:t>. It works by isolating RNA, converting it to cDNA, and sequencing it to identify, quantify, and analyze gene expression.</a:t>
            </a:r>
            <a:endParaRPr sz="1300" dirty="0"/>
          </a:p>
        </p:txBody>
      </p:sp>
      <p:grpSp>
        <p:nvGrpSpPr>
          <p:cNvPr id="86" name="Google Shape;86;p15"/>
          <p:cNvGrpSpPr/>
          <p:nvPr/>
        </p:nvGrpSpPr>
        <p:grpSpPr>
          <a:xfrm>
            <a:off x="361211" y="1216826"/>
            <a:ext cx="3018076" cy="3568151"/>
            <a:chOff x="497900" y="1214475"/>
            <a:chExt cx="3018076" cy="3568151"/>
          </a:xfrm>
        </p:grpSpPr>
        <p:pic>
          <p:nvPicPr>
            <p:cNvPr id="87" name="Google Shape;87;p15"/>
            <p:cNvPicPr preferRelativeResize="0"/>
            <p:nvPr/>
          </p:nvPicPr>
          <p:blipFill rotWithShape="1">
            <a:blip r:embed="rId3">
              <a:alphaModFix/>
            </a:blip>
            <a:srcRect t="16575" b="10762"/>
            <a:stretch/>
          </p:blipFill>
          <p:spPr>
            <a:xfrm>
              <a:off x="497900" y="1214475"/>
              <a:ext cx="3018076" cy="3568151"/>
            </a:xfrm>
            <a:prstGeom prst="rect">
              <a:avLst/>
            </a:prstGeom>
            <a:noFill/>
            <a:ln>
              <a:noFill/>
            </a:ln>
          </p:spPr>
        </p:pic>
        <p:pic>
          <p:nvPicPr>
            <p:cNvPr id="88" name="Google Shape;88;p15"/>
            <p:cNvPicPr preferRelativeResize="0"/>
            <p:nvPr/>
          </p:nvPicPr>
          <p:blipFill rotWithShape="1">
            <a:blip r:embed="rId4">
              <a:alphaModFix/>
            </a:blip>
            <a:srcRect t="33352" b="48705"/>
            <a:stretch/>
          </p:blipFill>
          <p:spPr>
            <a:xfrm>
              <a:off x="497900" y="2032000"/>
              <a:ext cx="3018076" cy="881052"/>
            </a:xfrm>
            <a:prstGeom prst="rect">
              <a:avLst/>
            </a:prstGeom>
            <a:noFill/>
            <a:ln>
              <a:noFill/>
            </a:ln>
          </p:spPr>
        </p:pic>
      </p:grpSp>
      <p:pic>
        <p:nvPicPr>
          <p:cNvPr id="89" name="Google Shape;89;p15"/>
          <p:cNvPicPr preferRelativeResize="0"/>
          <p:nvPr/>
        </p:nvPicPr>
        <p:blipFill>
          <a:blip r:embed="rId5">
            <a:alphaModFix/>
          </a:blip>
          <a:stretch>
            <a:fillRect/>
          </a:stretch>
        </p:blipFill>
        <p:spPr>
          <a:xfrm>
            <a:off x="3700125" y="1277950"/>
            <a:ext cx="776276" cy="776276"/>
          </a:xfrm>
          <a:prstGeom prst="rect">
            <a:avLst/>
          </a:prstGeom>
          <a:noFill/>
          <a:ln>
            <a:noFill/>
          </a:ln>
        </p:spPr>
      </p:pic>
      <p:pic>
        <p:nvPicPr>
          <p:cNvPr id="90" name="Google Shape;90;p15"/>
          <p:cNvPicPr preferRelativeResize="0"/>
          <p:nvPr/>
        </p:nvPicPr>
        <p:blipFill rotWithShape="1">
          <a:blip r:embed="rId6">
            <a:alphaModFix/>
          </a:blip>
          <a:srcRect t="14303"/>
          <a:stretch/>
        </p:blipFill>
        <p:spPr>
          <a:xfrm>
            <a:off x="4373225" y="2427425"/>
            <a:ext cx="4204901" cy="2522525"/>
          </a:xfrm>
          <a:prstGeom prst="rect">
            <a:avLst/>
          </a:prstGeom>
          <a:noFill/>
          <a:ln>
            <a:noFill/>
          </a:ln>
        </p:spPr>
      </p:pic>
      <p:sp>
        <p:nvSpPr>
          <p:cNvPr id="3" name="TextBox 2">
            <a:extLst>
              <a:ext uri="{FF2B5EF4-FFF2-40B4-BE49-F238E27FC236}">
                <a16:creationId xmlns:a16="http://schemas.microsoft.com/office/drawing/2014/main" id="{A1DA14E1-D2DD-AF2A-D78C-0CBF84F37347}"/>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5" name="TextBox 4">
            <a:extLst>
              <a:ext uri="{FF2B5EF4-FFF2-40B4-BE49-F238E27FC236}">
                <a16:creationId xmlns:a16="http://schemas.microsoft.com/office/drawing/2014/main" id="{0C198202-AC17-5917-A4D7-FD9306221AE3}"/>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B6ADA873-BC90-5805-F95B-E136E1AB33B5}"/>
            </a:ext>
          </a:extLst>
        </p:cNvPr>
        <p:cNvGrpSpPr/>
        <p:nvPr/>
      </p:nvGrpSpPr>
      <p:grpSpPr>
        <a:xfrm>
          <a:off x="0" y="0"/>
          <a:ext cx="0" cy="0"/>
          <a:chOff x="0" y="0"/>
          <a:chExt cx="0" cy="0"/>
        </a:xfrm>
      </p:grpSpPr>
      <p:sp>
        <p:nvSpPr>
          <p:cNvPr id="2" name="Google Shape;59;p14">
            <a:extLst>
              <a:ext uri="{FF2B5EF4-FFF2-40B4-BE49-F238E27FC236}">
                <a16:creationId xmlns:a16="http://schemas.microsoft.com/office/drawing/2014/main" id="{EE6F5EA5-E3B5-2869-49CC-B69B61C93EA7}"/>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Questions for bulk* RNA-seq</a:t>
            </a:r>
          </a:p>
        </p:txBody>
      </p:sp>
      <p:sp>
        <p:nvSpPr>
          <p:cNvPr id="21" name="TextBox 20">
            <a:extLst>
              <a:ext uri="{FF2B5EF4-FFF2-40B4-BE49-F238E27FC236}">
                <a16:creationId xmlns:a16="http://schemas.microsoft.com/office/drawing/2014/main" id="{B64A542E-2EE4-DA36-DD51-638C07DCA62D}"/>
              </a:ext>
            </a:extLst>
          </p:cNvPr>
          <p:cNvSpPr txBox="1"/>
          <p:nvPr/>
        </p:nvSpPr>
        <p:spPr>
          <a:xfrm>
            <a:off x="700064" y="1613801"/>
            <a:ext cx="7990670" cy="1815882"/>
          </a:xfrm>
          <a:prstGeom prst="rect">
            <a:avLst/>
          </a:prstGeom>
          <a:noFill/>
        </p:spPr>
        <p:txBody>
          <a:bodyPr wrap="square" rtlCol="0">
            <a:spAutoFit/>
          </a:bodyPr>
          <a:lstStyle/>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How many/which genes are differentially expressed?</a:t>
            </a:r>
            <a:r>
              <a:rPr lang="en-US" altLang="en-US" sz="1600" dirty="0">
                <a:solidFill>
                  <a:schemeClr val="tx1"/>
                </a:solidFill>
                <a:latin typeface="Arial" panose="020B0604020202020204" pitchFamily="34" charset="0"/>
              </a:rPr>
              <a:t> (Up/down regulated between conditions) </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What are absolute expression levels?</a:t>
            </a:r>
            <a:r>
              <a:rPr lang="en-US" altLang="en-US" sz="1600" dirty="0">
                <a:solidFill>
                  <a:schemeClr val="tx1"/>
                </a:solidFill>
                <a:latin typeface="Arial" panose="020B0604020202020204" pitchFamily="34" charset="0"/>
              </a:rPr>
              <a:t> (Which genes are "on" vs "off") </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What biological pathways are affected?</a:t>
            </a:r>
            <a:r>
              <a:rPr lang="en-US" altLang="en-US" sz="1600" dirty="0">
                <a:solidFill>
                  <a:schemeClr val="tx1"/>
                </a:solidFill>
                <a:latin typeface="Arial" panose="020B0604020202020204" pitchFamily="34" charset="0"/>
              </a:rPr>
              <a:t> (Functional interpretation) </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How do samples compare?</a:t>
            </a:r>
            <a:r>
              <a:rPr lang="en-US" altLang="en-US" sz="1600" dirty="0">
                <a:solidFill>
                  <a:schemeClr val="tx1"/>
                </a:solidFill>
                <a:latin typeface="Arial" panose="020B0604020202020204" pitchFamily="34" charset="0"/>
              </a:rPr>
              <a:t> (Disease vs healthy, treated vs control, etc.) </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Can we predict outcomes from expression?</a:t>
            </a:r>
            <a:r>
              <a:rPr lang="en-US" altLang="en-US" sz="1600" dirty="0">
                <a:solidFill>
                  <a:schemeClr val="tx1"/>
                </a:solidFill>
                <a:latin typeface="Arial" panose="020B0604020202020204" pitchFamily="34" charset="0"/>
              </a:rPr>
              <a:t> (Biomarkers, classification)</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3157995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94262B2B-5BE3-7FBB-F02D-92316BF0443E}"/>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D81FEC2A-0878-49E7-E12B-E0768DBAADEB}"/>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dirty="0"/>
              <a:t>RNA-seq</a:t>
            </a:r>
            <a:endParaRPr dirty="0"/>
          </a:p>
        </p:txBody>
      </p:sp>
      <p:pic>
        <p:nvPicPr>
          <p:cNvPr id="3074" name="Picture 2" descr="Dog Icon PNG Images, Vectors Free Download - Pngtree">
            <a:extLst>
              <a:ext uri="{FF2B5EF4-FFF2-40B4-BE49-F238E27FC236}">
                <a16:creationId xmlns:a16="http://schemas.microsoft.com/office/drawing/2014/main" id="{3D6605A3-9B61-B623-C414-1FF1E5D1FA16}"/>
              </a:ext>
            </a:extLst>
          </p:cNvPr>
          <p:cNvPicPr>
            <a:picLocks noChangeAspect="1" noChangeArrowheads="1"/>
          </p:cNvPicPr>
          <p:nvPr/>
        </p:nvPicPr>
        <p:blipFill rotWithShape="1">
          <a:blip r:embed="rId3">
            <a:duotone>
              <a:prstClr val="black"/>
              <a:srgbClr val="FF0000">
                <a:tint val="45000"/>
                <a:satMod val="400000"/>
              </a:srgbClr>
            </a:duotone>
            <a:extLst>
              <a:ext uri="{28A0092B-C50C-407E-A947-70E740481C1C}">
                <a14:useLocalDpi xmlns:a14="http://schemas.microsoft.com/office/drawing/2010/main" val="0"/>
              </a:ext>
            </a:extLst>
          </a:blip>
          <a:srcRect l="15752" t="18590" r="13552" b="20605"/>
          <a:stretch>
            <a:fillRect/>
          </a:stretch>
        </p:blipFill>
        <p:spPr bwMode="auto">
          <a:xfrm>
            <a:off x="2459990" y="1224280"/>
            <a:ext cx="980440" cy="84328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Dog Icon PNG Images, Vectors Free Download - Pngtree">
            <a:extLst>
              <a:ext uri="{FF2B5EF4-FFF2-40B4-BE49-F238E27FC236}">
                <a16:creationId xmlns:a16="http://schemas.microsoft.com/office/drawing/2014/main" id="{0620C4C7-ED97-C184-E754-303991510F31}"/>
              </a:ext>
            </a:extLst>
          </p:cNvPr>
          <p:cNvPicPr>
            <a:picLocks noChangeAspect="1" noChangeArrowheads="1"/>
          </p:cNvPicPr>
          <p:nvPr/>
        </p:nvPicPr>
        <p:blipFill rotWithShape="1">
          <a:blip r:embed="rId3">
            <a:duotone>
              <a:prstClr val="black"/>
              <a:srgbClr val="92D050">
                <a:tint val="45000"/>
                <a:satMod val="400000"/>
              </a:srgbClr>
            </a:duotone>
            <a:extLst>
              <a:ext uri="{28A0092B-C50C-407E-A947-70E740481C1C}">
                <a14:useLocalDpi xmlns:a14="http://schemas.microsoft.com/office/drawing/2010/main" val="0"/>
              </a:ext>
            </a:extLst>
          </a:blip>
          <a:srcRect l="15752" t="18590" r="13552" b="20605"/>
          <a:stretch>
            <a:fillRect/>
          </a:stretch>
        </p:blipFill>
        <p:spPr bwMode="auto">
          <a:xfrm>
            <a:off x="376555" y="1224280"/>
            <a:ext cx="980440" cy="8432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Dog Icon PNG Images, Vectors Free Download - Pngtree">
            <a:extLst>
              <a:ext uri="{FF2B5EF4-FFF2-40B4-BE49-F238E27FC236}">
                <a16:creationId xmlns:a16="http://schemas.microsoft.com/office/drawing/2014/main" id="{06E0263E-9B5C-262B-1D14-9B8DC298DF34}"/>
              </a:ext>
            </a:extLst>
          </p:cNvPr>
          <p:cNvPicPr>
            <a:picLocks noChangeAspect="1" noChangeArrowheads="1"/>
          </p:cNvPicPr>
          <p:nvPr/>
        </p:nvPicPr>
        <p:blipFill rotWithShape="1">
          <a:blip r:embed="rId3">
            <a:duotone>
              <a:prstClr val="black"/>
              <a:schemeClr val="accent1">
                <a:tint val="45000"/>
                <a:satMod val="400000"/>
              </a:schemeClr>
            </a:duotone>
            <a:extLst>
              <a:ext uri="{28A0092B-C50C-407E-A947-70E740481C1C}">
                <a14:useLocalDpi xmlns:a14="http://schemas.microsoft.com/office/drawing/2010/main" val="0"/>
              </a:ext>
            </a:extLst>
          </a:blip>
          <a:srcRect l="15752" t="18590" r="13552" b="20605"/>
          <a:stretch>
            <a:fillRect/>
          </a:stretch>
        </p:blipFill>
        <p:spPr bwMode="auto">
          <a:xfrm>
            <a:off x="1418059" y="1224280"/>
            <a:ext cx="980440" cy="8432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A21D32E-E9DC-265A-59D1-485E2ED48A0C}"/>
              </a:ext>
            </a:extLst>
          </p:cNvPr>
          <p:cNvSpPr txBox="1"/>
          <p:nvPr/>
        </p:nvSpPr>
        <p:spPr>
          <a:xfrm>
            <a:off x="680720" y="2067560"/>
            <a:ext cx="2590774" cy="307777"/>
          </a:xfrm>
          <a:prstGeom prst="rect">
            <a:avLst/>
          </a:prstGeom>
          <a:noFill/>
        </p:spPr>
        <p:txBody>
          <a:bodyPr wrap="none" rtlCol="0">
            <a:spAutoFit/>
          </a:bodyPr>
          <a:lstStyle/>
          <a:p>
            <a:r>
              <a:rPr lang="en-US" dirty="0"/>
              <a:t>normal, benign, and malignant</a:t>
            </a:r>
          </a:p>
        </p:txBody>
      </p:sp>
      <p:pic>
        <p:nvPicPr>
          <p:cNvPr id="3076" name="Picture 4" descr="Peripheral Blood Mononuclear Cells - PBMCs">
            <a:extLst>
              <a:ext uri="{FF2B5EF4-FFF2-40B4-BE49-F238E27FC236}">
                <a16:creationId xmlns:a16="http://schemas.microsoft.com/office/drawing/2014/main" id="{D7575757-6332-97F4-FC91-7AB5056CAF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677365"/>
            <a:ext cx="1997710" cy="1082503"/>
          </a:xfrm>
          <a:prstGeom prst="rect">
            <a:avLst/>
          </a:prstGeom>
          <a:noFill/>
          <a:extLst>
            <a:ext uri="{909E8E84-426E-40DD-AFC4-6F175D3DCCD1}">
              <a14:hiddenFill xmlns:a14="http://schemas.microsoft.com/office/drawing/2010/main">
                <a:solidFill>
                  <a:srgbClr val="FFFFFF"/>
                </a:solidFill>
              </a14:hiddenFill>
            </a:ext>
          </a:extLst>
        </p:spPr>
      </p:pic>
      <p:pic>
        <p:nvPicPr>
          <p:cNvPr id="7" name="Google Shape;89;p15">
            <a:extLst>
              <a:ext uri="{FF2B5EF4-FFF2-40B4-BE49-F238E27FC236}">
                <a16:creationId xmlns:a16="http://schemas.microsoft.com/office/drawing/2014/main" id="{52632758-31E7-5D13-FE18-6A216FCC33A7}"/>
              </a:ext>
            </a:extLst>
          </p:cNvPr>
          <p:cNvPicPr preferRelativeResize="0"/>
          <p:nvPr/>
        </p:nvPicPr>
        <p:blipFill>
          <a:blip r:embed="rId5">
            <a:alphaModFix/>
          </a:blip>
          <a:stretch>
            <a:fillRect/>
          </a:stretch>
        </p:blipFill>
        <p:spPr>
          <a:xfrm>
            <a:off x="1601640" y="4120835"/>
            <a:ext cx="776276" cy="776276"/>
          </a:xfrm>
          <a:prstGeom prst="rect">
            <a:avLst/>
          </a:prstGeom>
          <a:noFill/>
          <a:ln>
            <a:noFill/>
          </a:ln>
        </p:spPr>
      </p:pic>
      <p:pic>
        <p:nvPicPr>
          <p:cNvPr id="3080" name="Picture 8">
            <a:extLst>
              <a:ext uri="{FF2B5EF4-FFF2-40B4-BE49-F238E27FC236}">
                <a16:creationId xmlns:a16="http://schemas.microsoft.com/office/drawing/2014/main" id="{71E1A725-E8FE-FD35-56AC-1A281FBEA28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1877" r="43290" b="49612"/>
          <a:stretch>
            <a:fillRect/>
          </a:stretch>
        </p:blipFill>
        <p:spPr bwMode="auto">
          <a:xfrm>
            <a:off x="3757758" y="1224280"/>
            <a:ext cx="2860845" cy="124968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a:extLst>
              <a:ext uri="{FF2B5EF4-FFF2-40B4-BE49-F238E27FC236}">
                <a16:creationId xmlns:a16="http://schemas.microsoft.com/office/drawing/2014/main" id="{A05FC087-782D-45A8-5811-1B3961D8903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6219" t="3579" b="49611"/>
          <a:stretch>
            <a:fillRect/>
          </a:stretch>
        </p:blipFill>
        <p:spPr bwMode="auto">
          <a:xfrm>
            <a:off x="6611068" y="676085"/>
            <a:ext cx="2525397" cy="234607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FE0F4B7-9AF6-3337-BF87-8DAF41681398}"/>
              </a:ext>
            </a:extLst>
          </p:cNvPr>
          <p:cNvSpPr txBox="1"/>
          <p:nvPr/>
        </p:nvSpPr>
        <p:spPr>
          <a:xfrm>
            <a:off x="3519293" y="2636153"/>
            <a:ext cx="2890535" cy="276999"/>
          </a:xfrm>
          <a:prstGeom prst="rect">
            <a:avLst/>
          </a:prstGeom>
          <a:solidFill>
            <a:schemeClr val="accent1">
              <a:lumMod val="20000"/>
              <a:lumOff val="80000"/>
            </a:schemeClr>
          </a:solidFill>
        </p:spPr>
        <p:txBody>
          <a:bodyPr wrap="none" rtlCol="0">
            <a:spAutoFit/>
          </a:bodyPr>
          <a:lstStyle/>
          <a:p>
            <a:r>
              <a:rPr lang="en-US" sz="1200" dirty="0"/>
              <a:t>Normal vs. tumor expression is different</a:t>
            </a:r>
          </a:p>
        </p:txBody>
      </p:sp>
      <p:pic>
        <p:nvPicPr>
          <p:cNvPr id="3086" name="Picture 14">
            <a:extLst>
              <a:ext uri="{FF2B5EF4-FFF2-40B4-BE49-F238E27FC236}">
                <a16:creationId xmlns:a16="http://schemas.microsoft.com/office/drawing/2014/main" id="{7F20FDE8-32E6-A086-E1EB-E805464CEBB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134" t="36418" b="42579"/>
          <a:stretch>
            <a:fillRect/>
          </a:stretch>
        </p:blipFill>
        <p:spPr bwMode="auto">
          <a:xfrm>
            <a:off x="3555999" y="3063240"/>
            <a:ext cx="5198477" cy="132076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3CF2124-FC31-97E1-4ED3-766EB6E68744}"/>
              </a:ext>
            </a:extLst>
          </p:cNvPr>
          <p:cNvSpPr txBox="1"/>
          <p:nvPr/>
        </p:nvSpPr>
        <p:spPr>
          <a:xfrm>
            <a:off x="3441469" y="4508973"/>
            <a:ext cx="5313007" cy="461665"/>
          </a:xfrm>
          <a:prstGeom prst="rect">
            <a:avLst/>
          </a:prstGeom>
          <a:solidFill>
            <a:schemeClr val="accent1">
              <a:lumMod val="20000"/>
              <a:lumOff val="80000"/>
            </a:schemeClr>
          </a:solidFill>
        </p:spPr>
        <p:txBody>
          <a:bodyPr wrap="square" rtlCol="0">
            <a:spAutoFit/>
          </a:bodyPr>
          <a:lstStyle/>
          <a:p>
            <a:r>
              <a:rPr lang="en-US" sz="1200" dirty="0"/>
              <a:t>Cells impaired by tumors (PI) have a large number of downregulated genes compared to normal and normal like (PN)</a:t>
            </a:r>
          </a:p>
        </p:txBody>
      </p:sp>
      <p:cxnSp>
        <p:nvCxnSpPr>
          <p:cNvPr id="12" name="Straight Arrow Connector 11">
            <a:extLst>
              <a:ext uri="{FF2B5EF4-FFF2-40B4-BE49-F238E27FC236}">
                <a16:creationId xmlns:a16="http://schemas.microsoft.com/office/drawing/2014/main" id="{A37B3B45-6E1A-FB10-1DE4-6C832AC91BBD}"/>
              </a:ext>
            </a:extLst>
          </p:cNvPr>
          <p:cNvCxnSpPr>
            <a:cxnSpLocks/>
            <a:stCxn id="6" idx="2"/>
          </p:cNvCxnSpPr>
          <p:nvPr/>
        </p:nvCxnSpPr>
        <p:spPr>
          <a:xfrm>
            <a:off x="1976107" y="2375337"/>
            <a:ext cx="0" cy="260816"/>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6849080-ED4E-208D-51CE-D51B1CB919DD}"/>
              </a:ext>
            </a:extLst>
          </p:cNvPr>
          <p:cNvCxnSpPr>
            <a:cxnSpLocks/>
          </p:cNvCxnSpPr>
          <p:nvPr/>
        </p:nvCxnSpPr>
        <p:spPr>
          <a:xfrm>
            <a:off x="1989778" y="3759868"/>
            <a:ext cx="0" cy="260816"/>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2577B89-E04F-0312-FBE2-F25339EEAC08}"/>
              </a:ext>
            </a:extLst>
          </p:cNvPr>
          <p:cNvSpPr txBox="1"/>
          <p:nvPr/>
        </p:nvSpPr>
        <p:spPr>
          <a:xfrm>
            <a:off x="139080" y="4001141"/>
            <a:ext cx="1455389" cy="938719"/>
          </a:xfrm>
          <a:prstGeom prst="rect">
            <a:avLst/>
          </a:prstGeom>
          <a:solidFill>
            <a:schemeClr val="accent1">
              <a:lumMod val="20000"/>
              <a:lumOff val="80000"/>
            </a:schemeClr>
          </a:solidFill>
        </p:spPr>
        <p:txBody>
          <a:bodyPr wrap="square" rtlCol="0">
            <a:spAutoFit/>
          </a:bodyPr>
          <a:lstStyle/>
          <a:p>
            <a:r>
              <a:rPr lang="en-US" sz="1100" dirty="0"/>
              <a:t>Gene expression in </a:t>
            </a:r>
            <a:r>
              <a:rPr lang="en-US" sz="1100" dirty="0" err="1"/>
              <a:t>PBMCells</a:t>
            </a:r>
            <a:r>
              <a:rPr lang="en-US" sz="1100" dirty="0"/>
              <a:t> of dogs with different mammary tumor types?</a:t>
            </a:r>
          </a:p>
        </p:txBody>
      </p:sp>
      <p:pic>
        <p:nvPicPr>
          <p:cNvPr id="16" name="Picture 15">
            <a:extLst>
              <a:ext uri="{FF2B5EF4-FFF2-40B4-BE49-F238E27FC236}">
                <a16:creationId xmlns:a16="http://schemas.microsoft.com/office/drawing/2014/main" id="{4B4C5DBC-C9AB-052B-2A3F-9FC8C89B8477}"/>
              </a:ext>
            </a:extLst>
          </p:cNvPr>
          <p:cNvPicPr>
            <a:picLocks noChangeAspect="1"/>
          </p:cNvPicPr>
          <p:nvPr/>
        </p:nvPicPr>
        <p:blipFill>
          <a:blip r:embed="rId8"/>
          <a:stretch>
            <a:fillRect/>
          </a:stretch>
        </p:blipFill>
        <p:spPr>
          <a:xfrm>
            <a:off x="2178314" y="65993"/>
            <a:ext cx="4230549" cy="1007273"/>
          </a:xfrm>
          <a:prstGeom prst="rect">
            <a:avLst/>
          </a:prstGeom>
        </p:spPr>
      </p:pic>
    </p:spTree>
    <p:extLst>
      <p:ext uri="{BB962C8B-B14F-4D97-AF65-F5344CB8AC3E}">
        <p14:creationId xmlns:p14="http://schemas.microsoft.com/office/powerpoint/2010/main" val="2973887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8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8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6"/>
          <p:cNvSpPr txBox="1">
            <a:spLocks noGrp="1"/>
          </p:cNvSpPr>
          <p:nvPr>
            <p:ph type="title"/>
          </p:nvPr>
        </p:nvSpPr>
        <p:spPr>
          <a:xfrm>
            <a:off x="311700" y="272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Single cell (sc) vs bulk RNA-seq</a:t>
            </a:r>
            <a:endParaRPr/>
          </a:p>
        </p:txBody>
      </p:sp>
      <p:pic>
        <p:nvPicPr>
          <p:cNvPr id="1026" name="Picture 2" descr="Single Cell Sequencing | Macrogen Europe">
            <a:extLst>
              <a:ext uri="{FF2B5EF4-FFF2-40B4-BE49-F238E27FC236}">
                <a16:creationId xmlns:a16="http://schemas.microsoft.com/office/drawing/2014/main" id="{FAD93AD1-130F-31FB-BA7B-B146D8BBAD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6376" y="1071908"/>
            <a:ext cx="713012" cy="71367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7DDC4E4-35D6-FF02-65FC-8E436C54C7C3}"/>
              </a:ext>
            </a:extLst>
          </p:cNvPr>
          <p:cNvSpPr txBox="1"/>
          <p:nvPr/>
        </p:nvSpPr>
        <p:spPr>
          <a:xfrm>
            <a:off x="3534359" y="1701714"/>
            <a:ext cx="764953" cy="215444"/>
          </a:xfrm>
          <a:prstGeom prst="rect">
            <a:avLst/>
          </a:prstGeom>
          <a:noFill/>
        </p:spPr>
        <p:txBody>
          <a:bodyPr wrap="none" rtlCol="0">
            <a:spAutoFit/>
          </a:bodyPr>
          <a:lstStyle/>
          <a:p>
            <a:r>
              <a:rPr lang="en-US" sz="800" dirty="0" err="1">
                <a:solidFill>
                  <a:srgbClr val="001E62"/>
                </a:solidFill>
                <a:latin typeface="BM DoHyeon OTF" panose="020B0600000101010101" pitchFamily="34" charset="-127"/>
                <a:ea typeface="BM DoHyeon OTF" panose="020B0600000101010101" pitchFamily="34" charset="-127"/>
                <a:cs typeface="Menlo" panose="020B0609030804020204" pitchFamily="49" charset="0"/>
              </a:rPr>
              <a:t>scRNA</a:t>
            </a:r>
            <a:r>
              <a:rPr lang="en-US" sz="800" dirty="0">
                <a:solidFill>
                  <a:srgbClr val="001E62"/>
                </a:solidFill>
                <a:latin typeface="BM DoHyeon OTF" panose="020B0600000101010101" pitchFamily="34" charset="-127"/>
                <a:ea typeface="BM DoHyeon OTF" panose="020B0600000101010101" pitchFamily="34" charset="-127"/>
                <a:cs typeface="Menlo" panose="020B0609030804020204" pitchFamily="49" charset="0"/>
              </a:rPr>
              <a:t>-seq</a:t>
            </a:r>
          </a:p>
        </p:txBody>
      </p:sp>
      <p:grpSp>
        <p:nvGrpSpPr>
          <p:cNvPr id="6" name="Google Shape;86;p15">
            <a:extLst>
              <a:ext uri="{FF2B5EF4-FFF2-40B4-BE49-F238E27FC236}">
                <a16:creationId xmlns:a16="http://schemas.microsoft.com/office/drawing/2014/main" id="{EF84E8A9-285F-6DFF-947A-D14241EAB581}"/>
              </a:ext>
            </a:extLst>
          </p:cNvPr>
          <p:cNvGrpSpPr/>
          <p:nvPr/>
        </p:nvGrpSpPr>
        <p:grpSpPr>
          <a:xfrm>
            <a:off x="361211" y="1216826"/>
            <a:ext cx="3018076" cy="3568151"/>
            <a:chOff x="497900" y="1214475"/>
            <a:chExt cx="3018076" cy="3568151"/>
          </a:xfrm>
        </p:grpSpPr>
        <p:pic>
          <p:nvPicPr>
            <p:cNvPr id="7" name="Google Shape;87;p15">
              <a:extLst>
                <a:ext uri="{FF2B5EF4-FFF2-40B4-BE49-F238E27FC236}">
                  <a16:creationId xmlns:a16="http://schemas.microsoft.com/office/drawing/2014/main" id="{2DE439E0-211F-5780-7EEA-C82F76B4A80D}"/>
                </a:ext>
              </a:extLst>
            </p:cNvPr>
            <p:cNvPicPr preferRelativeResize="0"/>
            <p:nvPr/>
          </p:nvPicPr>
          <p:blipFill rotWithShape="1">
            <a:blip r:embed="rId4">
              <a:alphaModFix/>
            </a:blip>
            <a:srcRect t="16575" b="10762"/>
            <a:stretch/>
          </p:blipFill>
          <p:spPr>
            <a:xfrm>
              <a:off x="497900" y="1214475"/>
              <a:ext cx="3018076" cy="3568151"/>
            </a:xfrm>
            <a:prstGeom prst="rect">
              <a:avLst/>
            </a:prstGeom>
            <a:noFill/>
            <a:ln>
              <a:noFill/>
            </a:ln>
          </p:spPr>
        </p:pic>
        <p:pic>
          <p:nvPicPr>
            <p:cNvPr id="8" name="Google Shape;88;p15">
              <a:extLst>
                <a:ext uri="{FF2B5EF4-FFF2-40B4-BE49-F238E27FC236}">
                  <a16:creationId xmlns:a16="http://schemas.microsoft.com/office/drawing/2014/main" id="{6D037242-8955-43DE-B08B-3116B257AEBA}"/>
                </a:ext>
              </a:extLst>
            </p:cNvPr>
            <p:cNvPicPr preferRelativeResize="0"/>
            <p:nvPr/>
          </p:nvPicPr>
          <p:blipFill rotWithShape="1">
            <a:blip r:embed="rId5">
              <a:alphaModFix/>
            </a:blip>
            <a:srcRect t="33352" b="48705"/>
            <a:stretch/>
          </p:blipFill>
          <p:spPr>
            <a:xfrm>
              <a:off x="497900" y="2032000"/>
              <a:ext cx="3018076" cy="881052"/>
            </a:xfrm>
            <a:prstGeom prst="rect">
              <a:avLst/>
            </a:prstGeom>
            <a:noFill/>
            <a:ln>
              <a:noFill/>
            </a:ln>
          </p:spPr>
        </p:pic>
      </p:grpSp>
      <p:sp>
        <p:nvSpPr>
          <p:cNvPr id="10" name="TextBox 9">
            <a:extLst>
              <a:ext uri="{FF2B5EF4-FFF2-40B4-BE49-F238E27FC236}">
                <a16:creationId xmlns:a16="http://schemas.microsoft.com/office/drawing/2014/main" id="{2EE2857E-2FBE-F7B9-C5B9-80BF32E349CE}"/>
              </a:ext>
            </a:extLst>
          </p:cNvPr>
          <p:cNvSpPr txBox="1"/>
          <p:nvPr/>
        </p:nvSpPr>
        <p:spPr>
          <a:xfrm>
            <a:off x="4431405" y="1200613"/>
            <a:ext cx="4572000" cy="707886"/>
          </a:xfrm>
          <a:prstGeom prst="rect">
            <a:avLst/>
          </a:prstGeom>
          <a:noFill/>
        </p:spPr>
        <p:txBody>
          <a:bodyPr wrap="square">
            <a:spAutoFit/>
          </a:bodyPr>
          <a:lstStyle/>
          <a:p>
            <a:r>
              <a:rPr lang="en-US" sz="1000" dirty="0">
                <a:solidFill>
                  <a:schemeClr val="tx1"/>
                </a:solidFill>
                <a:latin typeface="+mn-lt"/>
              </a:rPr>
              <a:t>A high-resolution technology that measures gene expression in individual cells rather than averaging them across a bulk sample</a:t>
            </a:r>
            <a:r>
              <a:rPr lang="en-US" sz="1000" b="0" i="0" dirty="0">
                <a:solidFill>
                  <a:schemeClr val="tx1"/>
                </a:solidFill>
                <a:effectLst/>
                <a:latin typeface="+mn-lt"/>
              </a:rPr>
              <a:t>. By isolating cells and sequencing their unique mRNA, researchers can identify distinct cell types, reveal cellular heterogeneity, and track disease progression or development.</a:t>
            </a:r>
            <a:endParaRPr lang="en-US" sz="1000" dirty="0">
              <a:solidFill>
                <a:schemeClr val="tx1"/>
              </a:solidFill>
              <a:latin typeface="+mn-lt"/>
            </a:endParaRPr>
          </a:p>
        </p:txBody>
      </p:sp>
      <p:pic>
        <p:nvPicPr>
          <p:cNvPr id="11" name="Google Shape;90;p15">
            <a:extLst>
              <a:ext uri="{FF2B5EF4-FFF2-40B4-BE49-F238E27FC236}">
                <a16:creationId xmlns:a16="http://schemas.microsoft.com/office/drawing/2014/main" id="{E46F2BF4-A94B-11E6-C64F-537C9AC6D6B8}"/>
              </a:ext>
            </a:extLst>
          </p:cNvPr>
          <p:cNvPicPr preferRelativeResize="0"/>
          <p:nvPr/>
        </p:nvPicPr>
        <p:blipFill rotWithShape="1">
          <a:blip r:embed="rId6">
            <a:alphaModFix/>
          </a:blip>
          <a:srcRect t="14303"/>
          <a:stretch/>
        </p:blipFill>
        <p:spPr>
          <a:xfrm>
            <a:off x="5538082" y="3141004"/>
            <a:ext cx="3356915" cy="1898588"/>
          </a:xfrm>
          <a:prstGeom prst="rect">
            <a:avLst/>
          </a:prstGeom>
          <a:noFill/>
          <a:ln>
            <a:noFill/>
          </a:ln>
        </p:spPr>
      </p:pic>
      <p:pic>
        <p:nvPicPr>
          <p:cNvPr id="1028" name="Picture 4" descr="General pipeline of a scRNA-seq experiment. After sample harvesting... |  Download Scientific Diagram">
            <a:extLst>
              <a:ext uri="{FF2B5EF4-FFF2-40B4-BE49-F238E27FC236}">
                <a16:creationId xmlns:a16="http://schemas.microsoft.com/office/drawing/2014/main" id="{4317DF56-D1A4-60C7-DE67-95C708DDEA3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61145"/>
          <a:stretch>
            <a:fillRect/>
          </a:stretch>
        </p:blipFill>
        <p:spPr bwMode="auto">
          <a:xfrm>
            <a:off x="3487465" y="2267291"/>
            <a:ext cx="3272964" cy="16755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334DD87C-6B88-563C-15E9-190322FE0B89}"/>
            </a:ext>
          </a:extLst>
        </p:cNvPr>
        <p:cNvGrpSpPr/>
        <p:nvPr/>
      </p:nvGrpSpPr>
      <p:grpSpPr>
        <a:xfrm>
          <a:off x="0" y="0"/>
          <a:ext cx="0" cy="0"/>
          <a:chOff x="0" y="0"/>
          <a:chExt cx="0" cy="0"/>
        </a:xfrm>
      </p:grpSpPr>
      <p:sp>
        <p:nvSpPr>
          <p:cNvPr id="2" name="Google Shape;59;p14">
            <a:extLst>
              <a:ext uri="{FF2B5EF4-FFF2-40B4-BE49-F238E27FC236}">
                <a16:creationId xmlns:a16="http://schemas.microsoft.com/office/drawing/2014/main" id="{09059F68-28AE-C503-DCCA-9DA2AB50653B}"/>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Questions for </a:t>
            </a:r>
            <a:r>
              <a:rPr lang="en-US" dirty="0" err="1"/>
              <a:t>scRNA</a:t>
            </a:r>
            <a:r>
              <a:rPr lang="en-US" dirty="0"/>
              <a:t>-seq</a:t>
            </a:r>
          </a:p>
        </p:txBody>
      </p:sp>
      <p:sp>
        <p:nvSpPr>
          <p:cNvPr id="21" name="TextBox 20">
            <a:extLst>
              <a:ext uri="{FF2B5EF4-FFF2-40B4-BE49-F238E27FC236}">
                <a16:creationId xmlns:a16="http://schemas.microsoft.com/office/drawing/2014/main" id="{31649B8F-8B90-9DEB-CD20-F5B7823B8030}"/>
              </a:ext>
            </a:extLst>
          </p:cNvPr>
          <p:cNvSpPr txBox="1"/>
          <p:nvPr/>
        </p:nvSpPr>
        <p:spPr>
          <a:xfrm>
            <a:off x="700064" y="1613801"/>
            <a:ext cx="7990670" cy="1569660"/>
          </a:xfrm>
          <a:prstGeom prst="rect">
            <a:avLst/>
          </a:prstGeom>
          <a:noFill/>
        </p:spPr>
        <p:txBody>
          <a:bodyPr wrap="square" rtlCol="0">
            <a:spAutoFit/>
          </a:bodyPr>
          <a:lstStyle/>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What cell types are present?</a:t>
            </a:r>
            <a:r>
              <a:rPr lang="en-US" altLang="en-US" sz="1600" dirty="0">
                <a:solidFill>
                  <a:schemeClr val="tx1"/>
                </a:solidFill>
                <a:latin typeface="Arial" panose="020B0604020202020204" pitchFamily="34" charset="0"/>
              </a:rPr>
              <a:t> (Cell identity &amp; clustering) </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What's the developmental trajectory?</a:t>
            </a:r>
            <a:r>
              <a:rPr lang="en-US" altLang="en-US" sz="1600" dirty="0">
                <a:solidFill>
                  <a:schemeClr val="tx1"/>
                </a:solidFill>
                <a:latin typeface="Arial" panose="020B0604020202020204" pitchFamily="34" charset="0"/>
              </a:rPr>
              <a:t> (Cell state transitions, </a:t>
            </a:r>
            <a:r>
              <a:rPr lang="en-US" altLang="en-US" sz="1600" dirty="0" err="1">
                <a:solidFill>
                  <a:schemeClr val="tx1"/>
                </a:solidFill>
                <a:latin typeface="Arial" panose="020B0604020202020204" pitchFamily="34" charset="0"/>
              </a:rPr>
              <a:t>pseudotime</a:t>
            </a:r>
            <a:r>
              <a:rPr lang="en-US" altLang="en-US" sz="1600" dirty="0">
                <a:solidFill>
                  <a:schemeClr val="tx1"/>
                </a:solidFill>
                <a:latin typeface="Arial" panose="020B0604020202020204" pitchFamily="34" charset="0"/>
              </a:rPr>
              <a:t>) </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Which genes distinguish cell types?</a:t>
            </a:r>
            <a:r>
              <a:rPr lang="en-US" altLang="en-US" sz="1600" dirty="0">
                <a:solidFill>
                  <a:schemeClr val="tx1"/>
                </a:solidFill>
                <a:latin typeface="Arial" panose="020B0604020202020204" pitchFamily="34" charset="0"/>
              </a:rPr>
              <a:t> (Marker genes per cluster) </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What's the cell-cell interaction network?</a:t>
            </a:r>
            <a:r>
              <a:rPr lang="en-US" altLang="en-US" sz="1600" dirty="0">
                <a:solidFill>
                  <a:schemeClr val="tx1"/>
                </a:solidFill>
                <a:latin typeface="Arial" panose="020B0604020202020204" pitchFamily="34" charset="0"/>
              </a:rPr>
              <a:t> (Ligand-receptor pairs) </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How heterogeneous is expression?</a:t>
            </a:r>
            <a:r>
              <a:rPr lang="en-US" altLang="en-US" sz="1600" dirty="0">
                <a:solidFill>
                  <a:schemeClr val="tx1"/>
                </a:solidFill>
                <a:latin typeface="Arial" panose="020B0604020202020204" pitchFamily="34" charset="0"/>
              </a:rPr>
              <a:t> (Cell-to-cell variability) </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Are there rare cell populations?</a:t>
            </a:r>
            <a:r>
              <a:rPr lang="en-US" altLang="en-US" sz="1600" dirty="0">
                <a:solidFill>
                  <a:schemeClr val="tx1"/>
                </a:solidFill>
                <a:latin typeface="Arial" panose="020B0604020202020204" pitchFamily="34" charset="0"/>
              </a:rPr>
              <a:t> (Minor cell types missed in bulk)</a:t>
            </a:r>
          </a:p>
        </p:txBody>
      </p:sp>
    </p:spTree>
    <p:extLst>
      <p:ext uri="{BB962C8B-B14F-4D97-AF65-F5344CB8AC3E}">
        <p14:creationId xmlns:p14="http://schemas.microsoft.com/office/powerpoint/2010/main" val="3757655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09E41B4F-235B-F2E8-8CA0-E1AB61E3D00B}"/>
            </a:ext>
          </a:extLst>
        </p:cNvPr>
        <p:cNvGrpSpPr/>
        <p:nvPr/>
      </p:nvGrpSpPr>
      <p:grpSpPr>
        <a:xfrm>
          <a:off x="0" y="0"/>
          <a:ext cx="0" cy="0"/>
          <a:chOff x="0" y="0"/>
          <a:chExt cx="0" cy="0"/>
        </a:xfrm>
      </p:grpSpPr>
      <p:sp>
        <p:nvSpPr>
          <p:cNvPr id="95" name="Google Shape;95;p16">
            <a:extLst>
              <a:ext uri="{FF2B5EF4-FFF2-40B4-BE49-F238E27FC236}">
                <a16:creationId xmlns:a16="http://schemas.microsoft.com/office/drawing/2014/main" id="{4109123E-A436-BA08-3D77-FC8E7EEFB790}"/>
              </a:ext>
            </a:extLst>
          </p:cNvPr>
          <p:cNvSpPr txBox="1">
            <a:spLocks noGrp="1"/>
          </p:cNvSpPr>
          <p:nvPr>
            <p:ph type="title"/>
          </p:nvPr>
        </p:nvSpPr>
        <p:spPr>
          <a:xfrm>
            <a:off x="311700" y="272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Single cell (sc) vs bulk RNA-seq</a:t>
            </a:r>
            <a:endParaRPr/>
          </a:p>
        </p:txBody>
      </p:sp>
      <p:pic>
        <p:nvPicPr>
          <p:cNvPr id="3" name="Picture 2">
            <a:extLst>
              <a:ext uri="{FF2B5EF4-FFF2-40B4-BE49-F238E27FC236}">
                <a16:creationId xmlns:a16="http://schemas.microsoft.com/office/drawing/2014/main" id="{E9DF35DA-4893-C9B9-18D3-6C5F5CD46836}"/>
              </a:ext>
            </a:extLst>
          </p:cNvPr>
          <p:cNvPicPr>
            <a:picLocks noChangeAspect="1"/>
          </p:cNvPicPr>
          <p:nvPr/>
        </p:nvPicPr>
        <p:blipFill>
          <a:blip r:embed="rId3"/>
          <a:stretch>
            <a:fillRect/>
          </a:stretch>
        </p:blipFill>
        <p:spPr>
          <a:xfrm>
            <a:off x="5740400" y="208712"/>
            <a:ext cx="3150870" cy="1642897"/>
          </a:xfrm>
          <a:prstGeom prst="rect">
            <a:avLst/>
          </a:prstGeom>
        </p:spPr>
      </p:pic>
      <p:sp>
        <p:nvSpPr>
          <p:cNvPr id="5" name="TextBox 4">
            <a:extLst>
              <a:ext uri="{FF2B5EF4-FFF2-40B4-BE49-F238E27FC236}">
                <a16:creationId xmlns:a16="http://schemas.microsoft.com/office/drawing/2014/main" id="{FDC37F36-2226-C137-D1DD-C93E6FFA7581}"/>
              </a:ext>
            </a:extLst>
          </p:cNvPr>
          <p:cNvSpPr txBox="1"/>
          <p:nvPr/>
        </p:nvSpPr>
        <p:spPr>
          <a:xfrm>
            <a:off x="94117" y="3873197"/>
            <a:ext cx="1430019" cy="954107"/>
          </a:xfrm>
          <a:prstGeom prst="rect">
            <a:avLst/>
          </a:prstGeom>
          <a:solidFill>
            <a:schemeClr val="accent1">
              <a:lumMod val="20000"/>
              <a:lumOff val="80000"/>
            </a:schemeClr>
          </a:solidFill>
        </p:spPr>
        <p:txBody>
          <a:bodyPr wrap="square">
            <a:spAutoFit/>
          </a:bodyPr>
          <a:lstStyle/>
          <a:p>
            <a:r>
              <a:rPr lang="en-US" b="0" i="0" dirty="0">
                <a:solidFill>
                  <a:srgbClr val="000000"/>
                </a:solidFill>
                <a:effectLst/>
                <a:latin typeface="ThinSpaceFallback"/>
              </a:rPr>
              <a:t>characterize the </a:t>
            </a:r>
            <a:r>
              <a:rPr lang="en-US" b="1" i="0" dirty="0">
                <a:solidFill>
                  <a:srgbClr val="000000"/>
                </a:solidFill>
                <a:effectLst/>
                <a:latin typeface="ThinSpaceFallback"/>
              </a:rPr>
              <a:t>heterogeneity</a:t>
            </a:r>
            <a:r>
              <a:rPr lang="en-US" b="0" i="0" dirty="0">
                <a:solidFill>
                  <a:srgbClr val="000000"/>
                </a:solidFill>
                <a:effectLst/>
                <a:latin typeface="ThinSpaceFallback"/>
              </a:rPr>
              <a:t> of circulating </a:t>
            </a:r>
            <a:r>
              <a:rPr lang="en-US" b="1" i="0" dirty="0">
                <a:solidFill>
                  <a:srgbClr val="000000"/>
                </a:solidFill>
                <a:effectLst/>
                <a:latin typeface="ThinSpaceFallback"/>
              </a:rPr>
              <a:t>leukocytes</a:t>
            </a:r>
            <a:endParaRPr lang="en-US" dirty="0"/>
          </a:p>
        </p:txBody>
      </p:sp>
      <p:pic>
        <p:nvPicPr>
          <p:cNvPr id="9" name="Picture 2" descr="Dog Icon PNG Images, Vectors Free Download - Pngtree">
            <a:extLst>
              <a:ext uri="{FF2B5EF4-FFF2-40B4-BE49-F238E27FC236}">
                <a16:creationId xmlns:a16="http://schemas.microsoft.com/office/drawing/2014/main" id="{4E5C0334-0A7E-B0F6-68C7-8C49D9EF1454}"/>
              </a:ext>
            </a:extLst>
          </p:cNvPr>
          <p:cNvPicPr>
            <a:picLocks noChangeAspect="1" noChangeArrowheads="1"/>
          </p:cNvPicPr>
          <p:nvPr/>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l="15752" t="18590" r="13552" b="20605"/>
          <a:stretch>
            <a:fillRect/>
          </a:stretch>
        </p:blipFill>
        <p:spPr bwMode="auto">
          <a:xfrm>
            <a:off x="1514884" y="900517"/>
            <a:ext cx="980440" cy="84328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Dog Icon PNG Images, Vectors Free Download - Pngtree">
            <a:extLst>
              <a:ext uri="{FF2B5EF4-FFF2-40B4-BE49-F238E27FC236}">
                <a16:creationId xmlns:a16="http://schemas.microsoft.com/office/drawing/2014/main" id="{EEC96A87-0F0F-D660-345F-EEC430ECE81A}"/>
              </a:ext>
            </a:extLst>
          </p:cNvPr>
          <p:cNvPicPr>
            <a:picLocks noChangeAspect="1" noChangeArrowheads="1"/>
          </p:cNvPicPr>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15752" t="18590" r="13552" b="20605"/>
          <a:stretch>
            <a:fillRect/>
          </a:stretch>
        </p:blipFill>
        <p:spPr bwMode="auto">
          <a:xfrm>
            <a:off x="534444" y="900517"/>
            <a:ext cx="980440" cy="84328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86C648F-C3F6-B0FA-C44A-37E28C9BF767}"/>
              </a:ext>
            </a:extLst>
          </p:cNvPr>
          <p:cNvSpPr txBox="1"/>
          <p:nvPr/>
        </p:nvSpPr>
        <p:spPr>
          <a:xfrm>
            <a:off x="426720" y="1552648"/>
            <a:ext cx="2194832" cy="307777"/>
          </a:xfrm>
          <a:prstGeom prst="rect">
            <a:avLst/>
          </a:prstGeom>
          <a:noFill/>
        </p:spPr>
        <p:txBody>
          <a:bodyPr wrap="none" rtlCol="0">
            <a:spAutoFit/>
          </a:bodyPr>
          <a:lstStyle/>
          <a:p>
            <a:r>
              <a:rPr lang="en-US" dirty="0"/>
              <a:t>healthy vs osteosarcoma</a:t>
            </a:r>
          </a:p>
        </p:txBody>
      </p:sp>
      <p:pic>
        <p:nvPicPr>
          <p:cNvPr id="4098" name="Picture 2" descr="Types of Leukocytes: Key Structures &amp; Vital Functions">
            <a:extLst>
              <a:ext uri="{FF2B5EF4-FFF2-40B4-BE49-F238E27FC236}">
                <a16:creationId xmlns:a16="http://schemas.microsoft.com/office/drawing/2014/main" id="{4149CE92-C4BA-DBEF-8ACD-303BA7E16D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 y="2337482"/>
            <a:ext cx="2021840" cy="1058658"/>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BF955355-8765-C57F-0D4C-614CA0EFDD84}"/>
              </a:ext>
            </a:extLst>
          </p:cNvPr>
          <p:cNvCxnSpPr>
            <a:cxnSpLocks/>
          </p:cNvCxnSpPr>
          <p:nvPr/>
        </p:nvCxnSpPr>
        <p:spPr>
          <a:xfrm>
            <a:off x="1473187" y="1897229"/>
            <a:ext cx="0" cy="260816"/>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2" descr="Single Cell Sequencing | Macrogen Europe">
            <a:extLst>
              <a:ext uri="{FF2B5EF4-FFF2-40B4-BE49-F238E27FC236}">
                <a16:creationId xmlns:a16="http://schemas.microsoft.com/office/drawing/2014/main" id="{9C095683-8BD3-26CE-88DF-B44F5B57CD5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5288" y="3776967"/>
            <a:ext cx="713012" cy="713673"/>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87C7250B-52C1-917E-B428-91361321174B}"/>
              </a:ext>
            </a:extLst>
          </p:cNvPr>
          <p:cNvSpPr txBox="1"/>
          <p:nvPr/>
        </p:nvSpPr>
        <p:spPr>
          <a:xfrm>
            <a:off x="1553271" y="4406773"/>
            <a:ext cx="764953" cy="215444"/>
          </a:xfrm>
          <a:prstGeom prst="rect">
            <a:avLst/>
          </a:prstGeom>
          <a:noFill/>
        </p:spPr>
        <p:txBody>
          <a:bodyPr wrap="none" rtlCol="0">
            <a:spAutoFit/>
          </a:bodyPr>
          <a:lstStyle/>
          <a:p>
            <a:r>
              <a:rPr lang="en-US" sz="800" dirty="0" err="1">
                <a:solidFill>
                  <a:srgbClr val="001E62"/>
                </a:solidFill>
                <a:latin typeface="BM DoHyeon OTF" panose="020B0600000101010101" pitchFamily="34" charset="-127"/>
                <a:ea typeface="BM DoHyeon OTF" panose="020B0600000101010101" pitchFamily="34" charset="-127"/>
                <a:cs typeface="Menlo" panose="020B0609030804020204" pitchFamily="49" charset="0"/>
              </a:rPr>
              <a:t>scRNA</a:t>
            </a:r>
            <a:r>
              <a:rPr lang="en-US" sz="800" dirty="0">
                <a:solidFill>
                  <a:srgbClr val="001E62"/>
                </a:solidFill>
                <a:latin typeface="BM DoHyeon OTF" panose="020B0600000101010101" pitchFamily="34" charset="-127"/>
                <a:ea typeface="BM DoHyeon OTF" panose="020B0600000101010101" pitchFamily="34" charset="-127"/>
                <a:cs typeface="Menlo" panose="020B0609030804020204" pitchFamily="49" charset="0"/>
              </a:rPr>
              <a:t>-seq</a:t>
            </a:r>
          </a:p>
        </p:txBody>
      </p:sp>
      <p:cxnSp>
        <p:nvCxnSpPr>
          <p:cNvPr id="17" name="Straight Arrow Connector 16">
            <a:extLst>
              <a:ext uri="{FF2B5EF4-FFF2-40B4-BE49-F238E27FC236}">
                <a16:creationId xmlns:a16="http://schemas.microsoft.com/office/drawing/2014/main" id="{18FE152B-1FB9-7982-61E1-58AF8C7B9679}"/>
              </a:ext>
            </a:extLst>
          </p:cNvPr>
          <p:cNvCxnSpPr>
            <a:cxnSpLocks/>
          </p:cNvCxnSpPr>
          <p:nvPr/>
        </p:nvCxnSpPr>
        <p:spPr>
          <a:xfrm>
            <a:off x="1437627" y="3446629"/>
            <a:ext cx="0" cy="260816"/>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100" name="Picture 4" descr="Unsupervised clustering reveals 42 unique cell populations in healthy dog leukocytes. (A) UMAP representation depicting the unsupervised clustering results of 32,028 leukocytes from 7 healthy dogs. Major immune cell populations are labeled on the plot (CD34+ unk = CD34+ unclassified; gd = γδ) and each number corresponds to a unique cluster, with numbers increasing as cluster size becomes smaller. (B) Feature plots depicting expression of stereotypic genes used to define cell populations. (C) Dot plots illustrating scaled gene expression grouped by major immune cell populations. (D) UMAP representation of healthy canine leukocytes down sampled to obtain equal sampling of each dog and colorized by biological replicate (n = 7 dogs). (E) Stacked bar graph depicting contribution of each sample to every cell type.">
            <a:extLst>
              <a:ext uri="{FF2B5EF4-FFF2-40B4-BE49-F238E27FC236}">
                <a16:creationId xmlns:a16="http://schemas.microsoft.com/office/drawing/2014/main" id="{46778906-7A9E-107D-7F1B-8E32A37890C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7851" r="52824"/>
          <a:stretch>
            <a:fillRect/>
          </a:stretch>
        </p:blipFill>
        <p:spPr bwMode="auto">
          <a:xfrm>
            <a:off x="2973689" y="1030160"/>
            <a:ext cx="2194817" cy="378514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Unsupervised clustering reveals 42 unique cell populations in healthy dog leukocytes. (A) UMAP representation depicting the unsupervised clustering results of 32,028 leukocytes from 7 healthy dogs. Major immune cell populations are labeled on the plot (CD34+ unk = CD34+ unclassified; gd = γδ) and each number corresponds to a unique cluster, with numbers increasing as cluster size becomes smaller. (B) Feature plots depicting expression of stereotypic genes used to define cell populations. (C) Dot plots illustrating scaled gene expression grouped by major immune cell populations. (D) UMAP representation of healthy canine leukocytes down sampled to obtain equal sampling of each dog and colorized by biological replicate (n = 7 dogs). (E) Stacked bar graph depicting contribution of each sample to every cell type.">
            <a:extLst>
              <a:ext uri="{FF2B5EF4-FFF2-40B4-BE49-F238E27FC236}">
                <a16:creationId xmlns:a16="http://schemas.microsoft.com/office/drawing/2014/main" id="{F4144E49-772C-D1C1-D84C-C34052A8406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89" r="53213" b="62260"/>
          <a:stretch>
            <a:fillRect/>
          </a:stretch>
        </p:blipFill>
        <p:spPr bwMode="auto">
          <a:xfrm>
            <a:off x="5947636" y="1816049"/>
            <a:ext cx="2335704" cy="244607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E7B0F445-3AC6-FCEF-B025-3B7ADEDA6ACE}"/>
              </a:ext>
            </a:extLst>
          </p:cNvPr>
          <p:cNvSpPr txBox="1"/>
          <p:nvPr/>
        </p:nvSpPr>
        <p:spPr>
          <a:xfrm>
            <a:off x="5520643" y="4350250"/>
            <a:ext cx="3265988" cy="738664"/>
          </a:xfrm>
          <a:prstGeom prst="rect">
            <a:avLst/>
          </a:prstGeom>
          <a:solidFill>
            <a:schemeClr val="accent4">
              <a:lumMod val="20000"/>
              <a:lumOff val="80000"/>
            </a:schemeClr>
          </a:solidFill>
        </p:spPr>
        <p:txBody>
          <a:bodyPr wrap="square" rtlCol="0">
            <a:spAutoFit/>
          </a:bodyPr>
          <a:lstStyle/>
          <a:p>
            <a:r>
              <a:rPr lang="en-US" dirty="0"/>
              <a:t>Unsupervised clustering reveals 42 unique cell populations in healthy dog leukocytes.</a:t>
            </a:r>
          </a:p>
        </p:txBody>
      </p:sp>
    </p:spTree>
    <p:extLst>
      <p:ext uri="{BB962C8B-B14F-4D97-AF65-F5344CB8AC3E}">
        <p14:creationId xmlns:p14="http://schemas.microsoft.com/office/powerpoint/2010/main" val="184080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D59B13C8-74F1-C8D5-7E92-F36192673790}"/>
            </a:ext>
          </a:extLst>
        </p:cNvPr>
        <p:cNvGrpSpPr/>
        <p:nvPr/>
      </p:nvGrpSpPr>
      <p:grpSpPr>
        <a:xfrm>
          <a:off x="0" y="0"/>
          <a:ext cx="0" cy="0"/>
          <a:chOff x="0" y="0"/>
          <a:chExt cx="0" cy="0"/>
        </a:xfrm>
      </p:grpSpPr>
      <p:sp>
        <p:nvSpPr>
          <p:cNvPr id="95" name="Google Shape;95;p16">
            <a:extLst>
              <a:ext uri="{FF2B5EF4-FFF2-40B4-BE49-F238E27FC236}">
                <a16:creationId xmlns:a16="http://schemas.microsoft.com/office/drawing/2014/main" id="{B18D1E28-954F-0049-6DDE-D755D4FAEFD4}"/>
              </a:ext>
            </a:extLst>
          </p:cNvPr>
          <p:cNvSpPr txBox="1">
            <a:spLocks noGrp="1"/>
          </p:cNvSpPr>
          <p:nvPr>
            <p:ph type="title"/>
          </p:nvPr>
        </p:nvSpPr>
        <p:spPr>
          <a:xfrm>
            <a:off x="311700" y="272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Single cell (sc) vs bulk RNA-seq</a:t>
            </a:r>
            <a:endParaRPr/>
          </a:p>
        </p:txBody>
      </p:sp>
      <p:pic>
        <p:nvPicPr>
          <p:cNvPr id="3" name="Picture 2">
            <a:extLst>
              <a:ext uri="{FF2B5EF4-FFF2-40B4-BE49-F238E27FC236}">
                <a16:creationId xmlns:a16="http://schemas.microsoft.com/office/drawing/2014/main" id="{94551D6C-7763-3B63-D4B0-6C15C542FD18}"/>
              </a:ext>
            </a:extLst>
          </p:cNvPr>
          <p:cNvPicPr>
            <a:picLocks noChangeAspect="1"/>
          </p:cNvPicPr>
          <p:nvPr/>
        </p:nvPicPr>
        <p:blipFill>
          <a:blip r:embed="rId3"/>
          <a:stretch>
            <a:fillRect/>
          </a:stretch>
        </p:blipFill>
        <p:spPr>
          <a:xfrm>
            <a:off x="5740400" y="208712"/>
            <a:ext cx="3150870" cy="1642897"/>
          </a:xfrm>
          <a:prstGeom prst="rect">
            <a:avLst/>
          </a:prstGeom>
        </p:spPr>
      </p:pic>
      <p:sp>
        <p:nvSpPr>
          <p:cNvPr id="5" name="TextBox 4">
            <a:extLst>
              <a:ext uri="{FF2B5EF4-FFF2-40B4-BE49-F238E27FC236}">
                <a16:creationId xmlns:a16="http://schemas.microsoft.com/office/drawing/2014/main" id="{0A322989-7E58-1D7D-7218-EC812223A7C3}"/>
              </a:ext>
            </a:extLst>
          </p:cNvPr>
          <p:cNvSpPr txBox="1"/>
          <p:nvPr/>
        </p:nvSpPr>
        <p:spPr>
          <a:xfrm>
            <a:off x="94117" y="3873197"/>
            <a:ext cx="1430019" cy="954107"/>
          </a:xfrm>
          <a:prstGeom prst="rect">
            <a:avLst/>
          </a:prstGeom>
          <a:solidFill>
            <a:schemeClr val="accent1">
              <a:lumMod val="20000"/>
              <a:lumOff val="80000"/>
            </a:schemeClr>
          </a:solidFill>
        </p:spPr>
        <p:txBody>
          <a:bodyPr wrap="square">
            <a:spAutoFit/>
          </a:bodyPr>
          <a:lstStyle/>
          <a:p>
            <a:r>
              <a:rPr lang="en-US" b="0" i="0" dirty="0">
                <a:solidFill>
                  <a:srgbClr val="000000"/>
                </a:solidFill>
                <a:effectLst/>
                <a:latin typeface="ThinSpaceFallback"/>
              </a:rPr>
              <a:t>characterize the </a:t>
            </a:r>
            <a:r>
              <a:rPr lang="en-US" b="1" i="0" dirty="0">
                <a:solidFill>
                  <a:srgbClr val="000000"/>
                </a:solidFill>
                <a:effectLst/>
                <a:latin typeface="ThinSpaceFallback"/>
              </a:rPr>
              <a:t>heterogeneity</a:t>
            </a:r>
            <a:r>
              <a:rPr lang="en-US" b="0" i="0" dirty="0">
                <a:solidFill>
                  <a:srgbClr val="000000"/>
                </a:solidFill>
                <a:effectLst/>
                <a:latin typeface="ThinSpaceFallback"/>
              </a:rPr>
              <a:t> of circulating </a:t>
            </a:r>
            <a:r>
              <a:rPr lang="en-US" b="1" i="0" dirty="0">
                <a:solidFill>
                  <a:srgbClr val="000000"/>
                </a:solidFill>
                <a:effectLst/>
                <a:latin typeface="ThinSpaceFallback"/>
              </a:rPr>
              <a:t>leukocytes</a:t>
            </a:r>
            <a:endParaRPr lang="en-US" dirty="0"/>
          </a:p>
        </p:txBody>
      </p:sp>
      <p:pic>
        <p:nvPicPr>
          <p:cNvPr id="9" name="Picture 2" descr="Dog Icon PNG Images, Vectors Free Download - Pngtree">
            <a:extLst>
              <a:ext uri="{FF2B5EF4-FFF2-40B4-BE49-F238E27FC236}">
                <a16:creationId xmlns:a16="http://schemas.microsoft.com/office/drawing/2014/main" id="{6E3194A6-0FE3-F034-A847-6D8BE399AAD0}"/>
              </a:ext>
            </a:extLst>
          </p:cNvPr>
          <p:cNvPicPr>
            <a:picLocks noChangeAspect="1" noChangeArrowheads="1"/>
          </p:cNvPicPr>
          <p:nvPr/>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l="15752" t="18590" r="13552" b="20605"/>
          <a:stretch>
            <a:fillRect/>
          </a:stretch>
        </p:blipFill>
        <p:spPr bwMode="auto">
          <a:xfrm>
            <a:off x="1514884" y="900517"/>
            <a:ext cx="980440" cy="84328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Dog Icon PNG Images, Vectors Free Download - Pngtree">
            <a:extLst>
              <a:ext uri="{FF2B5EF4-FFF2-40B4-BE49-F238E27FC236}">
                <a16:creationId xmlns:a16="http://schemas.microsoft.com/office/drawing/2014/main" id="{6555A4C0-1F86-5152-C6A7-3E7138ACA059}"/>
              </a:ext>
            </a:extLst>
          </p:cNvPr>
          <p:cNvPicPr>
            <a:picLocks noChangeAspect="1" noChangeArrowheads="1"/>
          </p:cNvPicPr>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15752" t="18590" r="13552" b="20605"/>
          <a:stretch>
            <a:fillRect/>
          </a:stretch>
        </p:blipFill>
        <p:spPr bwMode="auto">
          <a:xfrm>
            <a:off x="534444" y="900517"/>
            <a:ext cx="980440" cy="84328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FEF3F78E-317A-A719-3DEA-68EC04789085}"/>
              </a:ext>
            </a:extLst>
          </p:cNvPr>
          <p:cNvSpPr txBox="1"/>
          <p:nvPr/>
        </p:nvSpPr>
        <p:spPr>
          <a:xfrm>
            <a:off x="426720" y="1552648"/>
            <a:ext cx="2194832" cy="307777"/>
          </a:xfrm>
          <a:prstGeom prst="rect">
            <a:avLst/>
          </a:prstGeom>
          <a:noFill/>
        </p:spPr>
        <p:txBody>
          <a:bodyPr wrap="none" rtlCol="0">
            <a:spAutoFit/>
          </a:bodyPr>
          <a:lstStyle/>
          <a:p>
            <a:r>
              <a:rPr lang="en-US" dirty="0"/>
              <a:t>healthy vs osteosarcoma</a:t>
            </a:r>
          </a:p>
        </p:txBody>
      </p:sp>
      <p:pic>
        <p:nvPicPr>
          <p:cNvPr id="4098" name="Picture 2" descr="Types of Leukocytes: Key Structures &amp; Vital Functions">
            <a:extLst>
              <a:ext uri="{FF2B5EF4-FFF2-40B4-BE49-F238E27FC236}">
                <a16:creationId xmlns:a16="http://schemas.microsoft.com/office/drawing/2014/main" id="{A83B8C9B-824B-56E5-4871-7293DE46359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 y="2337482"/>
            <a:ext cx="2021840" cy="1058658"/>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19368839-1250-B196-8999-ACB1EF2E693F}"/>
              </a:ext>
            </a:extLst>
          </p:cNvPr>
          <p:cNvCxnSpPr>
            <a:cxnSpLocks/>
          </p:cNvCxnSpPr>
          <p:nvPr/>
        </p:nvCxnSpPr>
        <p:spPr>
          <a:xfrm>
            <a:off x="1473187" y="1897229"/>
            <a:ext cx="0" cy="260816"/>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2" descr="Single Cell Sequencing | Macrogen Europe">
            <a:extLst>
              <a:ext uri="{FF2B5EF4-FFF2-40B4-BE49-F238E27FC236}">
                <a16:creationId xmlns:a16="http://schemas.microsoft.com/office/drawing/2014/main" id="{950F6A53-6CF2-B1CF-4CEF-28B54780CD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5288" y="3776967"/>
            <a:ext cx="713012" cy="713673"/>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0263A38B-B5B6-35EA-986C-11E2C4077F50}"/>
              </a:ext>
            </a:extLst>
          </p:cNvPr>
          <p:cNvSpPr txBox="1"/>
          <p:nvPr/>
        </p:nvSpPr>
        <p:spPr>
          <a:xfrm>
            <a:off x="1553271" y="4406773"/>
            <a:ext cx="764953" cy="215444"/>
          </a:xfrm>
          <a:prstGeom prst="rect">
            <a:avLst/>
          </a:prstGeom>
          <a:noFill/>
        </p:spPr>
        <p:txBody>
          <a:bodyPr wrap="none" rtlCol="0">
            <a:spAutoFit/>
          </a:bodyPr>
          <a:lstStyle/>
          <a:p>
            <a:r>
              <a:rPr lang="en-US" sz="800" dirty="0" err="1">
                <a:solidFill>
                  <a:srgbClr val="001E62"/>
                </a:solidFill>
                <a:latin typeface="BM DoHyeon OTF" panose="020B0600000101010101" pitchFamily="34" charset="-127"/>
                <a:ea typeface="BM DoHyeon OTF" panose="020B0600000101010101" pitchFamily="34" charset="-127"/>
                <a:cs typeface="Menlo" panose="020B0609030804020204" pitchFamily="49" charset="0"/>
              </a:rPr>
              <a:t>scRNA</a:t>
            </a:r>
            <a:r>
              <a:rPr lang="en-US" sz="800" dirty="0">
                <a:solidFill>
                  <a:srgbClr val="001E62"/>
                </a:solidFill>
                <a:latin typeface="BM DoHyeon OTF" panose="020B0600000101010101" pitchFamily="34" charset="-127"/>
                <a:ea typeface="BM DoHyeon OTF" panose="020B0600000101010101" pitchFamily="34" charset="-127"/>
                <a:cs typeface="Menlo" panose="020B0609030804020204" pitchFamily="49" charset="0"/>
              </a:rPr>
              <a:t>-seq</a:t>
            </a:r>
          </a:p>
        </p:txBody>
      </p:sp>
      <p:cxnSp>
        <p:nvCxnSpPr>
          <p:cNvPr id="17" name="Straight Arrow Connector 16">
            <a:extLst>
              <a:ext uri="{FF2B5EF4-FFF2-40B4-BE49-F238E27FC236}">
                <a16:creationId xmlns:a16="http://schemas.microsoft.com/office/drawing/2014/main" id="{E58978C5-2CF7-A0F0-D639-71B945149DCB}"/>
              </a:ext>
            </a:extLst>
          </p:cNvPr>
          <p:cNvCxnSpPr>
            <a:cxnSpLocks/>
          </p:cNvCxnSpPr>
          <p:nvPr/>
        </p:nvCxnSpPr>
        <p:spPr>
          <a:xfrm>
            <a:off x="1437627" y="3446629"/>
            <a:ext cx="0" cy="260816"/>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6146" name="Picture 2" descr="Canine osteosarcoma contributes to reductions in the relative abundances of double negative T cells and B cells, while myeloid cells contribute to most transcriptomic aberrations. (A) UMAP representation depicting the unsupervised clustering results of 74,067 leukocytes from 7 healthy and 10 osteosarcoma dogs (CD34+ unk = CD34+ unclassified). (B) UMAP representation of healthy (n = 7) and osteosarcoma (n = 10) canine leukocytes down sampled to obtain equal sampling of each dog and colorized by biological replicate. Legend is shared with (C). (C) Box plots quantifying changes in cell abundances between healthy and cancer dogs (Granulocyte = Eosinophil and Basophil clusters; DN T cell = Cluster 26 of CD8/NK T cell group). P values were obtained using a two-sided Wilcoxon Rank Sum test. (D) Scatter plots comparing average feature expression in osteosarcoma (y-axis) verses healthy cells (x-axis) with all (74,067) cells and 4 of the major immune cell populations, with labeled features significantly altered, as determined using a Wilcoxon Rank Sum test.">
            <a:extLst>
              <a:ext uri="{FF2B5EF4-FFF2-40B4-BE49-F238E27FC236}">
                <a16:creationId xmlns:a16="http://schemas.microsoft.com/office/drawing/2014/main" id="{19FD5C2C-9098-042A-AD48-052B3BA7035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54039"/>
          <a:stretch>
            <a:fillRect/>
          </a:stretch>
        </p:blipFill>
        <p:spPr bwMode="auto">
          <a:xfrm>
            <a:off x="3000811" y="2158045"/>
            <a:ext cx="6049072" cy="264079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5CFF727-E08E-A8DD-C567-9016A69A196E}"/>
              </a:ext>
            </a:extLst>
          </p:cNvPr>
          <p:cNvSpPr txBox="1"/>
          <p:nvPr/>
        </p:nvSpPr>
        <p:spPr>
          <a:xfrm>
            <a:off x="3241040" y="1030160"/>
            <a:ext cx="2194832" cy="738664"/>
          </a:xfrm>
          <a:prstGeom prst="rect">
            <a:avLst/>
          </a:prstGeom>
          <a:solidFill>
            <a:schemeClr val="accent4">
              <a:lumMod val="20000"/>
              <a:lumOff val="80000"/>
            </a:schemeClr>
          </a:solidFill>
        </p:spPr>
        <p:txBody>
          <a:bodyPr wrap="square" rtlCol="0">
            <a:spAutoFit/>
          </a:bodyPr>
          <a:lstStyle/>
          <a:p>
            <a:r>
              <a:rPr lang="en-US" dirty="0"/>
              <a:t>myeloid cells contribute to most transcriptomic aberrations</a:t>
            </a:r>
          </a:p>
        </p:txBody>
      </p:sp>
    </p:spTree>
    <p:extLst>
      <p:ext uri="{BB962C8B-B14F-4D97-AF65-F5344CB8AC3E}">
        <p14:creationId xmlns:p14="http://schemas.microsoft.com/office/powerpoint/2010/main" val="2301348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8"/>
          <p:cNvSpPr txBox="1">
            <a:spLocks noGrp="1"/>
          </p:cNvSpPr>
          <p:nvPr>
            <p:ph type="title" idx="4294967295"/>
          </p:nvPr>
        </p:nvSpPr>
        <p:spPr>
          <a:xfrm>
            <a:off x="311700" y="272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Spatial transcriptomics</a:t>
            </a:r>
            <a:endParaRPr/>
          </a:p>
        </p:txBody>
      </p:sp>
      <p:pic>
        <p:nvPicPr>
          <p:cNvPr id="109" name="Google Shape;109;p18"/>
          <p:cNvPicPr preferRelativeResize="0"/>
          <p:nvPr/>
        </p:nvPicPr>
        <p:blipFill>
          <a:blip r:embed="rId3">
            <a:alphaModFix/>
          </a:blip>
          <a:stretch>
            <a:fillRect/>
          </a:stretch>
        </p:blipFill>
        <p:spPr>
          <a:xfrm>
            <a:off x="3684363" y="2317614"/>
            <a:ext cx="5147937" cy="2262519"/>
          </a:xfrm>
          <a:prstGeom prst="rect">
            <a:avLst/>
          </a:prstGeom>
          <a:noFill/>
          <a:ln>
            <a:noFill/>
          </a:ln>
        </p:spPr>
      </p:pic>
      <p:sp>
        <p:nvSpPr>
          <p:cNvPr id="110" name="Google Shape;110;p18"/>
          <p:cNvSpPr txBox="1"/>
          <p:nvPr/>
        </p:nvSpPr>
        <p:spPr>
          <a:xfrm>
            <a:off x="3784138" y="4469290"/>
            <a:ext cx="1809600" cy="36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dirty="0">
                <a:solidFill>
                  <a:schemeClr val="dk2"/>
                </a:solidFill>
              </a:rPr>
              <a:t>Rao et al. 2021. </a:t>
            </a:r>
            <a:r>
              <a:rPr lang="en" sz="900" i="1" dirty="0">
                <a:solidFill>
                  <a:schemeClr val="dk2"/>
                </a:solidFill>
              </a:rPr>
              <a:t>Nature </a:t>
            </a:r>
            <a:endParaRPr sz="900" i="1" dirty="0">
              <a:solidFill>
                <a:schemeClr val="dk2"/>
              </a:solidFill>
            </a:endParaRPr>
          </a:p>
        </p:txBody>
      </p:sp>
      <p:grpSp>
        <p:nvGrpSpPr>
          <p:cNvPr id="5" name="Google Shape;86;p15">
            <a:extLst>
              <a:ext uri="{FF2B5EF4-FFF2-40B4-BE49-F238E27FC236}">
                <a16:creationId xmlns:a16="http://schemas.microsoft.com/office/drawing/2014/main" id="{94629552-211F-81C3-7B82-627232FBF5BB}"/>
              </a:ext>
            </a:extLst>
          </p:cNvPr>
          <p:cNvGrpSpPr/>
          <p:nvPr/>
        </p:nvGrpSpPr>
        <p:grpSpPr>
          <a:xfrm>
            <a:off x="361211" y="1216826"/>
            <a:ext cx="3018076" cy="3568151"/>
            <a:chOff x="497900" y="1214475"/>
            <a:chExt cx="3018076" cy="3568151"/>
          </a:xfrm>
        </p:grpSpPr>
        <p:pic>
          <p:nvPicPr>
            <p:cNvPr id="6" name="Google Shape;87;p15">
              <a:extLst>
                <a:ext uri="{FF2B5EF4-FFF2-40B4-BE49-F238E27FC236}">
                  <a16:creationId xmlns:a16="http://schemas.microsoft.com/office/drawing/2014/main" id="{DFD97009-6702-F652-496B-594D5F33D4D7}"/>
                </a:ext>
              </a:extLst>
            </p:cNvPr>
            <p:cNvPicPr preferRelativeResize="0"/>
            <p:nvPr/>
          </p:nvPicPr>
          <p:blipFill rotWithShape="1">
            <a:blip r:embed="rId4">
              <a:alphaModFix/>
            </a:blip>
            <a:srcRect t="16575" b="10762"/>
            <a:stretch/>
          </p:blipFill>
          <p:spPr>
            <a:xfrm>
              <a:off x="497900" y="1214475"/>
              <a:ext cx="3018076" cy="3568151"/>
            </a:xfrm>
            <a:prstGeom prst="rect">
              <a:avLst/>
            </a:prstGeom>
            <a:noFill/>
            <a:ln>
              <a:noFill/>
            </a:ln>
          </p:spPr>
        </p:pic>
        <p:pic>
          <p:nvPicPr>
            <p:cNvPr id="7" name="Google Shape;88;p15">
              <a:extLst>
                <a:ext uri="{FF2B5EF4-FFF2-40B4-BE49-F238E27FC236}">
                  <a16:creationId xmlns:a16="http://schemas.microsoft.com/office/drawing/2014/main" id="{7CB74980-095B-1984-F737-23C4E626ECD2}"/>
                </a:ext>
              </a:extLst>
            </p:cNvPr>
            <p:cNvPicPr preferRelativeResize="0"/>
            <p:nvPr/>
          </p:nvPicPr>
          <p:blipFill rotWithShape="1">
            <a:blip r:embed="rId5">
              <a:alphaModFix/>
            </a:blip>
            <a:srcRect t="33352" b="48705"/>
            <a:stretch/>
          </p:blipFill>
          <p:spPr>
            <a:xfrm>
              <a:off x="497900" y="2032000"/>
              <a:ext cx="3018076" cy="881052"/>
            </a:xfrm>
            <a:prstGeom prst="rect">
              <a:avLst/>
            </a:prstGeom>
            <a:noFill/>
            <a:ln>
              <a:noFill/>
            </a:ln>
          </p:spPr>
        </p:pic>
      </p:grpSp>
      <p:pic>
        <p:nvPicPr>
          <p:cNvPr id="3074" name="Picture 2" descr="MGI-Tech.eu">
            <a:extLst>
              <a:ext uri="{FF2B5EF4-FFF2-40B4-BE49-F238E27FC236}">
                <a16:creationId xmlns:a16="http://schemas.microsoft.com/office/drawing/2014/main" id="{4DC67E44-BB0C-3546-0EFC-782F132C78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56783" y="915906"/>
            <a:ext cx="1115217" cy="104763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9B4B4DF-2697-2CD8-584E-2717D0423D73}"/>
              </a:ext>
            </a:extLst>
          </p:cNvPr>
          <p:cNvSpPr txBox="1"/>
          <p:nvPr/>
        </p:nvSpPr>
        <p:spPr>
          <a:xfrm>
            <a:off x="4509860" y="989602"/>
            <a:ext cx="4572000" cy="900246"/>
          </a:xfrm>
          <a:prstGeom prst="rect">
            <a:avLst/>
          </a:prstGeom>
          <a:noFill/>
        </p:spPr>
        <p:txBody>
          <a:bodyPr wrap="square">
            <a:spAutoFit/>
          </a:bodyPr>
          <a:lstStyle/>
          <a:p>
            <a:r>
              <a:rPr lang="en-US" sz="1050" b="0" i="0" dirty="0">
                <a:solidFill>
                  <a:srgbClr val="0A0A0A"/>
                </a:solidFill>
                <a:effectLst/>
                <a:latin typeface="+mj-lt"/>
              </a:rPr>
              <a:t>A </a:t>
            </a:r>
            <a:r>
              <a:rPr lang="en-US" sz="1050" dirty="0">
                <a:latin typeface="+mj-lt"/>
              </a:rPr>
              <a:t>molecular profiling method that maps gene expression (mRNA) directly within intact tissue samples, preserving the spatial location of cells</a:t>
            </a:r>
            <a:r>
              <a:rPr lang="en-US" sz="1050" b="0" i="0" dirty="0">
                <a:solidFill>
                  <a:srgbClr val="0A0A0A"/>
                </a:solidFill>
                <a:effectLst/>
                <a:latin typeface="+mj-lt"/>
              </a:rPr>
              <a:t>. By combining imaging with next-generation sequencing, it reveals which genes are active and where they are located, providing crucial context on cellular interactions and tumor microenvironments.</a:t>
            </a:r>
            <a:endParaRPr lang="en-US" sz="1050" dirty="0">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A93DC139-CF8C-5AD9-49F9-C9F40F4FC003}"/>
            </a:ext>
          </a:extLst>
        </p:cNvPr>
        <p:cNvGrpSpPr/>
        <p:nvPr/>
      </p:nvGrpSpPr>
      <p:grpSpPr>
        <a:xfrm>
          <a:off x="0" y="0"/>
          <a:ext cx="0" cy="0"/>
          <a:chOff x="0" y="0"/>
          <a:chExt cx="0" cy="0"/>
        </a:xfrm>
      </p:grpSpPr>
      <p:sp>
        <p:nvSpPr>
          <p:cNvPr id="2" name="Google Shape;59;p14">
            <a:extLst>
              <a:ext uri="{FF2B5EF4-FFF2-40B4-BE49-F238E27FC236}">
                <a16:creationId xmlns:a16="http://schemas.microsoft.com/office/drawing/2014/main" id="{E3FFBC38-D1FA-D71E-A230-320CAA722349}"/>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Questions for spatial transcriptomics</a:t>
            </a:r>
          </a:p>
        </p:txBody>
      </p:sp>
      <p:sp>
        <p:nvSpPr>
          <p:cNvPr id="21" name="TextBox 20">
            <a:extLst>
              <a:ext uri="{FF2B5EF4-FFF2-40B4-BE49-F238E27FC236}">
                <a16:creationId xmlns:a16="http://schemas.microsoft.com/office/drawing/2014/main" id="{BEB45A1A-698F-5D54-A1A6-7D93A6206BB6}"/>
              </a:ext>
            </a:extLst>
          </p:cNvPr>
          <p:cNvSpPr txBox="1"/>
          <p:nvPr/>
        </p:nvSpPr>
        <p:spPr>
          <a:xfrm>
            <a:off x="700064" y="1613801"/>
            <a:ext cx="7990670" cy="338554"/>
          </a:xfrm>
          <a:prstGeom prst="rect">
            <a:avLst/>
          </a:prstGeom>
          <a:noFill/>
        </p:spPr>
        <p:txBody>
          <a:bodyPr wrap="square" rtlCol="0">
            <a:spAutoFit/>
          </a:bodyPr>
          <a:lstStyle/>
          <a:p>
            <a:pPr marL="285750" lvl="0" indent="-285750" eaLnBrk="0" fontAlgn="base" hangingPunct="0">
              <a:spcBef>
                <a:spcPct val="0"/>
              </a:spcBef>
              <a:spcAft>
                <a:spcPct val="0"/>
              </a:spcAft>
              <a:buClrTx/>
              <a:buFont typeface="Arial" panose="020B0604020202020204" pitchFamily="34" charset="0"/>
              <a:buChar char="•"/>
            </a:pPr>
            <a:endParaRPr lang="en-US" altLang="en-US" sz="1600" dirty="0">
              <a:solidFill>
                <a:schemeClr val="tx1"/>
              </a:solidFill>
              <a:latin typeface="Arial" panose="020B0604020202020204" pitchFamily="34" charset="0"/>
            </a:endParaRPr>
          </a:p>
        </p:txBody>
      </p:sp>
      <p:sp>
        <p:nvSpPr>
          <p:cNvPr id="3" name="Rectangle 1">
            <a:extLst>
              <a:ext uri="{FF2B5EF4-FFF2-40B4-BE49-F238E27FC236}">
                <a16:creationId xmlns:a16="http://schemas.microsoft.com/office/drawing/2014/main" id="{28F6F20A-B955-0164-C9F7-500BA80DFBD0}"/>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D6BDB209-BD1D-3735-B04D-A06F5FF9635B}"/>
              </a:ext>
            </a:extLst>
          </p:cNvPr>
          <p:cNvSpPr txBox="1"/>
          <p:nvPr/>
        </p:nvSpPr>
        <p:spPr>
          <a:xfrm>
            <a:off x="802346" y="1783078"/>
            <a:ext cx="7786106" cy="1600438"/>
          </a:xfrm>
          <a:prstGeom prst="rect">
            <a:avLst/>
          </a:prstGeom>
          <a:noFill/>
        </p:spPr>
        <p:txBody>
          <a:bodyPr wrap="none" rtlCol="0">
            <a:spAutoFit/>
          </a:bodyPr>
          <a:lstStyle/>
          <a:p>
            <a:pPr marL="285750" lvl="0" indent="-285750" eaLnBrk="0" fontAlgn="base" hangingPunct="0">
              <a:spcBef>
                <a:spcPct val="0"/>
              </a:spcBef>
              <a:spcAft>
                <a:spcPct val="0"/>
              </a:spcAft>
              <a:buClrTx/>
              <a:buFont typeface="Arial" panose="020B0604020202020204" pitchFamily="34" charset="0"/>
              <a:buChar char="•"/>
            </a:pPr>
            <a:r>
              <a:rPr lang="en-US" altLang="en-US" b="1" dirty="0">
                <a:solidFill>
                  <a:schemeClr val="tx1"/>
                </a:solidFill>
                <a:latin typeface="Arial" panose="020B0604020202020204" pitchFamily="34" charset="0"/>
              </a:rPr>
              <a:t>Where are genes expressed in tissue?</a:t>
            </a:r>
            <a:r>
              <a:rPr lang="en-US" altLang="en-US" dirty="0">
                <a:solidFill>
                  <a:schemeClr val="tx1"/>
                </a:solidFill>
                <a:latin typeface="Arial" panose="020B0604020202020204" pitchFamily="34" charset="0"/>
              </a:rPr>
              <a:t> (2D/3D spatial localization) </a:t>
            </a:r>
          </a:p>
          <a:p>
            <a:pPr marL="285750" lvl="0" indent="-285750" eaLnBrk="0" fontAlgn="base" hangingPunct="0">
              <a:spcBef>
                <a:spcPct val="0"/>
              </a:spcBef>
              <a:spcAft>
                <a:spcPct val="0"/>
              </a:spcAft>
              <a:buClrTx/>
              <a:buFont typeface="Arial" panose="020B0604020202020204" pitchFamily="34" charset="0"/>
              <a:buChar char="•"/>
            </a:pPr>
            <a:r>
              <a:rPr lang="en-US" altLang="en-US" b="1" dirty="0">
                <a:solidFill>
                  <a:schemeClr val="tx1"/>
                </a:solidFill>
                <a:latin typeface="Arial" panose="020B0604020202020204" pitchFamily="34" charset="0"/>
              </a:rPr>
              <a:t>What's the spatial organization of cell types?</a:t>
            </a:r>
            <a:r>
              <a:rPr lang="en-US" altLang="en-US" dirty="0">
                <a:solidFill>
                  <a:schemeClr val="tx1"/>
                </a:solidFill>
                <a:latin typeface="Arial" panose="020B0604020202020204" pitchFamily="34" charset="0"/>
              </a:rPr>
              <a:t> (Tissue architecture) </a:t>
            </a:r>
          </a:p>
          <a:p>
            <a:pPr marL="285750" lvl="0" indent="-285750" eaLnBrk="0" fontAlgn="base" hangingPunct="0">
              <a:spcBef>
                <a:spcPct val="0"/>
              </a:spcBef>
              <a:spcAft>
                <a:spcPct val="0"/>
              </a:spcAft>
              <a:buClrTx/>
              <a:buFont typeface="Arial" panose="020B0604020202020204" pitchFamily="34" charset="0"/>
              <a:buChar char="•"/>
            </a:pPr>
            <a:r>
              <a:rPr lang="en-US" altLang="en-US" b="1" dirty="0">
                <a:solidFill>
                  <a:schemeClr val="tx1"/>
                </a:solidFill>
                <a:latin typeface="Arial" panose="020B0604020202020204" pitchFamily="34" charset="0"/>
              </a:rPr>
              <a:t>How do neighboring cells interact?</a:t>
            </a:r>
            <a:r>
              <a:rPr lang="en-US" altLang="en-US" dirty="0">
                <a:solidFill>
                  <a:schemeClr val="tx1"/>
                </a:solidFill>
                <a:latin typeface="Arial" panose="020B0604020202020204" pitchFamily="34" charset="0"/>
              </a:rPr>
              <a:t> (Proximity-based cell-cell communication) </a:t>
            </a:r>
          </a:p>
          <a:p>
            <a:pPr marL="285750" lvl="0" indent="-285750" eaLnBrk="0" fontAlgn="base" hangingPunct="0">
              <a:spcBef>
                <a:spcPct val="0"/>
              </a:spcBef>
              <a:spcAft>
                <a:spcPct val="0"/>
              </a:spcAft>
              <a:buClrTx/>
              <a:buFont typeface="Arial" panose="020B0604020202020204" pitchFamily="34" charset="0"/>
              <a:buChar char="•"/>
            </a:pPr>
            <a:r>
              <a:rPr lang="en-US" altLang="en-US" b="1" dirty="0">
                <a:solidFill>
                  <a:schemeClr val="tx1"/>
                </a:solidFill>
                <a:latin typeface="Arial" panose="020B0604020202020204" pitchFamily="34" charset="0"/>
              </a:rPr>
              <a:t>What are disease-associated spatial patterns?</a:t>
            </a:r>
            <a:r>
              <a:rPr lang="en-US" altLang="en-US" dirty="0">
                <a:solidFill>
                  <a:schemeClr val="tx1"/>
                </a:solidFill>
                <a:latin typeface="Arial" panose="020B0604020202020204" pitchFamily="34" charset="0"/>
              </a:rPr>
              <a:t> (Lesions, infiltration, zonation) </a:t>
            </a:r>
          </a:p>
          <a:p>
            <a:pPr marL="285750" lvl="0" indent="-285750" eaLnBrk="0" fontAlgn="base" hangingPunct="0">
              <a:spcBef>
                <a:spcPct val="0"/>
              </a:spcBef>
              <a:spcAft>
                <a:spcPct val="0"/>
              </a:spcAft>
              <a:buClrTx/>
              <a:buFont typeface="Arial" panose="020B0604020202020204" pitchFamily="34" charset="0"/>
              <a:buChar char="•"/>
            </a:pPr>
            <a:r>
              <a:rPr lang="en-US" altLang="en-US" b="1" dirty="0">
                <a:solidFill>
                  <a:schemeClr val="tx1"/>
                </a:solidFill>
                <a:latin typeface="Arial" panose="020B0604020202020204" pitchFamily="34" charset="0"/>
              </a:rPr>
              <a:t>How does expression vary by tissue region?</a:t>
            </a:r>
            <a:r>
              <a:rPr lang="en-US" altLang="en-US" dirty="0">
                <a:solidFill>
                  <a:schemeClr val="tx1"/>
                </a:solidFill>
                <a:latin typeface="Arial" panose="020B0604020202020204" pitchFamily="34" charset="0"/>
              </a:rPr>
              <a:t> (Microdomain biology) </a:t>
            </a:r>
          </a:p>
          <a:p>
            <a:pPr marL="285750" lvl="0" indent="-285750" eaLnBrk="0" fontAlgn="base" hangingPunct="0">
              <a:spcBef>
                <a:spcPct val="0"/>
              </a:spcBef>
              <a:spcAft>
                <a:spcPct val="0"/>
              </a:spcAft>
              <a:buClrTx/>
              <a:buFont typeface="Arial" panose="020B0604020202020204" pitchFamily="34" charset="0"/>
              <a:buChar char="•"/>
            </a:pPr>
            <a:r>
              <a:rPr lang="en-US" altLang="en-US" b="1" dirty="0">
                <a:solidFill>
                  <a:schemeClr val="tx1"/>
                </a:solidFill>
                <a:latin typeface="Arial" panose="020B0604020202020204" pitchFamily="34" charset="0"/>
              </a:rPr>
              <a:t>What's the tissue structure/layer composition?</a:t>
            </a:r>
            <a:r>
              <a:rPr lang="en-US" altLang="en-US" dirty="0">
                <a:solidFill>
                  <a:schemeClr val="tx1"/>
                </a:solidFill>
                <a:latin typeface="Arial" panose="020B0604020202020204" pitchFamily="34" charset="0"/>
              </a:rPr>
              <a:t> (Histological context with transcriptomics)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84198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0817D37-96E4-B5EA-B623-4FA3212F02DD}"/>
            </a:ext>
          </a:extLst>
        </p:cNvPr>
        <p:cNvGrpSpPr/>
        <p:nvPr/>
      </p:nvGrpSpPr>
      <p:grpSpPr>
        <a:xfrm>
          <a:off x="0" y="0"/>
          <a:ext cx="0" cy="0"/>
          <a:chOff x="0" y="0"/>
          <a:chExt cx="0" cy="0"/>
        </a:xfrm>
      </p:grpSpPr>
      <p:sp>
        <p:nvSpPr>
          <p:cNvPr id="108" name="Google Shape;108;p18">
            <a:extLst>
              <a:ext uri="{FF2B5EF4-FFF2-40B4-BE49-F238E27FC236}">
                <a16:creationId xmlns:a16="http://schemas.microsoft.com/office/drawing/2014/main" id="{311D5C4B-4B30-3890-C52D-E69E31CA93D6}"/>
              </a:ext>
            </a:extLst>
          </p:cNvPr>
          <p:cNvSpPr txBox="1">
            <a:spLocks noGrp="1"/>
          </p:cNvSpPr>
          <p:nvPr>
            <p:ph type="title" idx="4294967295"/>
          </p:nvPr>
        </p:nvSpPr>
        <p:spPr>
          <a:xfrm>
            <a:off x="311700" y="272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Spatial transcriptomics</a:t>
            </a:r>
            <a:endParaRPr/>
          </a:p>
        </p:txBody>
      </p:sp>
      <p:pic>
        <p:nvPicPr>
          <p:cNvPr id="7170" name="Picture 2" descr="solid icon for tumor 29752834 Vector Art at Vecteezy">
            <a:extLst>
              <a:ext uri="{FF2B5EF4-FFF2-40B4-BE49-F238E27FC236}">
                <a16:creationId xmlns:a16="http://schemas.microsoft.com/office/drawing/2014/main" id="{FD95DFFB-19B3-2D27-8730-07D8AB469308}"/>
              </a:ext>
            </a:extLst>
          </p:cNvPr>
          <p:cNvPicPr>
            <a:picLocks noChangeAspect="1" noChangeArrowheads="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21520" y="2309653"/>
            <a:ext cx="572701" cy="5727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Dog Icon PNG Images, Vectors Free Download - Pngtree">
            <a:extLst>
              <a:ext uri="{FF2B5EF4-FFF2-40B4-BE49-F238E27FC236}">
                <a16:creationId xmlns:a16="http://schemas.microsoft.com/office/drawing/2014/main" id="{1921D100-FD8D-F41C-845D-1210C32A5429}"/>
              </a:ext>
            </a:extLst>
          </p:cNvPr>
          <p:cNvPicPr>
            <a:picLocks noChangeAspect="1" noChangeArrowheads="1"/>
          </p:cNvPicPr>
          <p:nvPr/>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l="15752" t="18590" r="13552" b="20605"/>
          <a:stretch>
            <a:fillRect/>
          </a:stretch>
        </p:blipFill>
        <p:spPr bwMode="auto">
          <a:xfrm flipH="1">
            <a:off x="1415383" y="767174"/>
            <a:ext cx="947273" cy="84328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solid icon for tumor 29752834 Vector Art at Vecteezy">
            <a:extLst>
              <a:ext uri="{FF2B5EF4-FFF2-40B4-BE49-F238E27FC236}">
                <a16:creationId xmlns:a16="http://schemas.microsoft.com/office/drawing/2014/main" id="{643A9F96-B346-DE20-0B0C-91AFDCCADCE9}"/>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558130" y="1956541"/>
            <a:ext cx="572701" cy="5727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solid icon for tumor 29752834 Vector Art at Vecteezy">
            <a:extLst>
              <a:ext uri="{FF2B5EF4-FFF2-40B4-BE49-F238E27FC236}">
                <a16:creationId xmlns:a16="http://schemas.microsoft.com/office/drawing/2014/main" id="{DB31FAD0-60AE-3CD5-8072-441BE0231891}"/>
              </a:ext>
            </a:extLst>
          </p:cNvPr>
          <p:cNvPicPr>
            <a:picLocks noChangeAspect="1" noChangeArrowheads="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94740" y="2321838"/>
            <a:ext cx="572701" cy="57270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75C7564-7942-61C1-BBAE-EB730DD97537}"/>
              </a:ext>
            </a:extLst>
          </p:cNvPr>
          <p:cNvSpPr txBox="1"/>
          <p:nvPr/>
        </p:nvSpPr>
        <p:spPr>
          <a:xfrm>
            <a:off x="558711" y="2796740"/>
            <a:ext cx="2571538" cy="307777"/>
          </a:xfrm>
          <a:prstGeom prst="rect">
            <a:avLst/>
          </a:prstGeom>
          <a:noFill/>
        </p:spPr>
        <p:txBody>
          <a:bodyPr wrap="none" rtlCol="0">
            <a:spAutoFit/>
          </a:bodyPr>
          <a:lstStyle/>
          <a:p>
            <a:r>
              <a:rPr lang="en-US" dirty="0"/>
              <a:t>Primary, metastatic, recurrent</a:t>
            </a:r>
          </a:p>
        </p:txBody>
      </p:sp>
      <p:cxnSp>
        <p:nvCxnSpPr>
          <p:cNvPr id="11" name="Straight Arrow Connector 10">
            <a:extLst>
              <a:ext uri="{FF2B5EF4-FFF2-40B4-BE49-F238E27FC236}">
                <a16:creationId xmlns:a16="http://schemas.microsoft.com/office/drawing/2014/main" id="{7531C2E5-AAFC-6D34-0AFC-CBBAEB06A2F7}"/>
              </a:ext>
            </a:extLst>
          </p:cNvPr>
          <p:cNvCxnSpPr>
            <a:cxnSpLocks/>
          </p:cNvCxnSpPr>
          <p:nvPr/>
        </p:nvCxnSpPr>
        <p:spPr>
          <a:xfrm>
            <a:off x="1838999" y="1560782"/>
            <a:ext cx="0" cy="252778"/>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FA7A343B-CFEB-17D6-5AB0-B5956C4847D1}"/>
              </a:ext>
            </a:extLst>
          </p:cNvPr>
          <p:cNvPicPr>
            <a:picLocks noChangeAspect="1"/>
          </p:cNvPicPr>
          <p:nvPr/>
        </p:nvPicPr>
        <p:blipFill>
          <a:blip r:embed="rId5"/>
          <a:srcRect b="2618"/>
          <a:stretch>
            <a:fillRect/>
          </a:stretch>
        </p:blipFill>
        <p:spPr>
          <a:xfrm>
            <a:off x="3340867" y="1560782"/>
            <a:ext cx="4626118" cy="3346601"/>
          </a:xfrm>
          <a:prstGeom prst="rect">
            <a:avLst/>
          </a:prstGeom>
        </p:spPr>
      </p:pic>
      <p:sp>
        <p:nvSpPr>
          <p:cNvPr id="16" name="TextBox 15">
            <a:extLst>
              <a:ext uri="{FF2B5EF4-FFF2-40B4-BE49-F238E27FC236}">
                <a16:creationId xmlns:a16="http://schemas.microsoft.com/office/drawing/2014/main" id="{0FAE0D7F-4DDD-8530-2B9D-262BDB83B1B0}"/>
              </a:ext>
            </a:extLst>
          </p:cNvPr>
          <p:cNvSpPr txBox="1"/>
          <p:nvPr/>
        </p:nvSpPr>
        <p:spPr>
          <a:xfrm>
            <a:off x="7448448" y="3272549"/>
            <a:ext cx="1466952" cy="1600438"/>
          </a:xfrm>
          <a:prstGeom prst="rect">
            <a:avLst/>
          </a:prstGeom>
          <a:solidFill>
            <a:schemeClr val="accent4">
              <a:lumMod val="20000"/>
              <a:lumOff val="80000"/>
            </a:schemeClr>
          </a:solidFill>
        </p:spPr>
        <p:txBody>
          <a:bodyPr wrap="square" rtlCol="0">
            <a:spAutoFit/>
          </a:bodyPr>
          <a:lstStyle/>
          <a:p>
            <a:r>
              <a:rPr lang="en-US" dirty="0"/>
              <a:t>Intratumoral subpopulations and spatial clustering patterns based on gene expression </a:t>
            </a:r>
          </a:p>
        </p:txBody>
      </p:sp>
      <p:pic>
        <p:nvPicPr>
          <p:cNvPr id="18" name="Picture 2" descr="MGI-Tech.eu">
            <a:extLst>
              <a:ext uri="{FF2B5EF4-FFF2-40B4-BE49-F238E27FC236}">
                <a16:creationId xmlns:a16="http://schemas.microsoft.com/office/drawing/2014/main" id="{77DEAC78-B38E-F1AA-4C42-677A1E0A569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410" y="3738408"/>
            <a:ext cx="1115217" cy="1047638"/>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Arrow Connector 18">
            <a:extLst>
              <a:ext uri="{FF2B5EF4-FFF2-40B4-BE49-F238E27FC236}">
                <a16:creationId xmlns:a16="http://schemas.microsoft.com/office/drawing/2014/main" id="{71185A1F-20BD-6BFC-CB3C-D0CD00BC81FA}"/>
              </a:ext>
            </a:extLst>
          </p:cNvPr>
          <p:cNvCxnSpPr>
            <a:cxnSpLocks/>
          </p:cNvCxnSpPr>
          <p:nvPr/>
        </p:nvCxnSpPr>
        <p:spPr>
          <a:xfrm>
            <a:off x="1844118" y="3221942"/>
            <a:ext cx="0" cy="252778"/>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E20AEDD-BE03-9BED-3EF0-2A7C1BF91F8E}"/>
              </a:ext>
            </a:extLst>
          </p:cNvPr>
          <p:cNvSpPr txBox="1"/>
          <p:nvPr/>
        </p:nvSpPr>
        <p:spPr>
          <a:xfrm>
            <a:off x="169696" y="3701549"/>
            <a:ext cx="1267789" cy="1169551"/>
          </a:xfrm>
          <a:prstGeom prst="rect">
            <a:avLst/>
          </a:prstGeom>
          <a:solidFill>
            <a:schemeClr val="accent1">
              <a:lumMod val="20000"/>
              <a:lumOff val="80000"/>
            </a:schemeClr>
          </a:solidFill>
        </p:spPr>
        <p:txBody>
          <a:bodyPr wrap="square">
            <a:spAutoFit/>
          </a:bodyPr>
          <a:lstStyle/>
          <a:p>
            <a:r>
              <a:rPr lang="en-US" b="0" i="0" dirty="0">
                <a:solidFill>
                  <a:srgbClr val="000000"/>
                </a:solidFill>
                <a:effectLst/>
                <a:latin typeface="ThinSpaceFallback"/>
              </a:rPr>
              <a:t>Investigate intratumoral complexity and the </a:t>
            </a:r>
            <a:r>
              <a:rPr lang="en-US" dirty="0">
                <a:latin typeface="ThinSpaceFallback"/>
              </a:rPr>
              <a:t>tumor environment</a:t>
            </a:r>
            <a:endParaRPr lang="en-US" dirty="0"/>
          </a:p>
        </p:txBody>
      </p:sp>
      <p:pic>
        <p:nvPicPr>
          <p:cNvPr id="21" name="Picture 20">
            <a:extLst>
              <a:ext uri="{FF2B5EF4-FFF2-40B4-BE49-F238E27FC236}">
                <a16:creationId xmlns:a16="http://schemas.microsoft.com/office/drawing/2014/main" id="{463D7B92-7F57-8DDC-69AA-2B1C82BFE934}"/>
              </a:ext>
            </a:extLst>
          </p:cNvPr>
          <p:cNvPicPr>
            <a:picLocks noChangeAspect="1"/>
          </p:cNvPicPr>
          <p:nvPr/>
        </p:nvPicPr>
        <p:blipFill>
          <a:blip r:embed="rId7"/>
          <a:stretch>
            <a:fillRect/>
          </a:stretch>
        </p:blipFill>
        <p:spPr>
          <a:xfrm>
            <a:off x="4139518" y="95275"/>
            <a:ext cx="3111950" cy="1343797"/>
          </a:xfrm>
          <a:prstGeom prst="rect">
            <a:avLst/>
          </a:prstGeom>
        </p:spPr>
      </p:pic>
    </p:spTree>
    <p:extLst>
      <p:ext uri="{BB962C8B-B14F-4D97-AF65-F5344CB8AC3E}">
        <p14:creationId xmlns:p14="http://schemas.microsoft.com/office/powerpoint/2010/main" val="2712278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114"/>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DF2D9EF1-9AF9-B980-4850-0A7FB4C86DCC}"/>
              </a:ext>
            </a:extLst>
          </p:cNvPr>
          <p:cNvGraphicFramePr>
            <a:graphicFrameLocks noGrp="1"/>
          </p:cNvGraphicFramePr>
          <p:nvPr>
            <p:extLst>
              <p:ext uri="{D42A27DB-BD31-4B8C-83A1-F6EECF244321}">
                <p14:modId xmlns:p14="http://schemas.microsoft.com/office/powerpoint/2010/main" val="637282830"/>
              </p:ext>
            </p:extLst>
          </p:nvPr>
        </p:nvGraphicFramePr>
        <p:xfrm>
          <a:off x="666555" y="928540"/>
          <a:ext cx="7810890" cy="3802006"/>
        </p:xfrm>
        <a:graphic>
          <a:graphicData uri="http://schemas.openxmlformats.org/drawingml/2006/table">
            <a:tbl>
              <a:tblPr>
                <a:tableStyleId>{4D3F9014-CA5D-48AC-B3F2-2935F201A6B0}</a:tableStyleId>
              </a:tblPr>
              <a:tblGrid>
                <a:gridCol w="947309">
                  <a:extLst>
                    <a:ext uri="{9D8B030D-6E8A-4147-A177-3AD203B41FA5}">
                      <a16:colId xmlns:a16="http://schemas.microsoft.com/office/drawing/2014/main" val="3198792002"/>
                    </a:ext>
                  </a:extLst>
                </a:gridCol>
                <a:gridCol w="2273694">
                  <a:extLst>
                    <a:ext uri="{9D8B030D-6E8A-4147-A177-3AD203B41FA5}">
                      <a16:colId xmlns:a16="http://schemas.microsoft.com/office/drawing/2014/main" val="2308915073"/>
                    </a:ext>
                  </a:extLst>
                </a:gridCol>
                <a:gridCol w="2273694">
                  <a:extLst>
                    <a:ext uri="{9D8B030D-6E8A-4147-A177-3AD203B41FA5}">
                      <a16:colId xmlns:a16="http://schemas.microsoft.com/office/drawing/2014/main" val="2075786279"/>
                    </a:ext>
                  </a:extLst>
                </a:gridCol>
                <a:gridCol w="2316193">
                  <a:extLst>
                    <a:ext uri="{9D8B030D-6E8A-4147-A177-3AD203B41FA5}">
                      <a16:colId xmlns:a16="http://schemas.microsoft.com/office/drawing/2014/main" val="1902237756"/>
                    </a:ext>
                  </a:extLst>
                </a:gridCol>
              </a:tblGrid>
              <a:tr h="315798">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Aspect</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uFill>
                            <a:noFill/>
                          </a:uFill>
                          <a:hlinkClick r:id="rId3">
                            <a:extLst>
                              <a:ext uri="{A12FA001-AC4F-418D-AE19-62706E023703}">
                                <ahyp:hlinkClr xmlns:ahyp="http://schemas.microsoft.com/office/drawing/2018/hyperlinkcolor" val="tx"/>
                              </a:ext>
                            </a:extLst>
                          </a:hlinkClick>
                        </a:rPr>
                        <a:t>Bulk RNA Sequencing</a:t>
                      </a:r>
                      <a:endParaRPr sz="900" b="1" dirty="0">
                        <a:solidFill>
                          <a:schemeClr val="tx1"/>
                        </a:solidFill>
                        <a:highlight>
                          <a:srgbClr val="FFFFFF"/>
                        </a:highlight>
                      </a:endParaRPr>
                    </a:p>
                  </a:txBody>
                  <a:tcPr marL="114300" marR="114300" marT="76200" marB="76200">
                    <a:solidFill>
                      <a:schemeClr val="accent4">
                        <a:lumMod val="20000"/>
                        <a:lumOff val="80000"/>
                      </a:schemeClr>
                    </a:solidFill>
                  </a:tcPr>
                </a:tc>
                <a:tc>
                  <a:txBody>
                    <a:bodyPr/>
                    <a:lstStyle/>
                    <a:p>
                      <a:pPr marL="0" lvl="0" indent="0" algn="l" rtl="0">
                        <a:lnSpc>
                          <a:spcPct val="100000"/>
                        </a:lnSpc>
                        <a:spcBef>
                          <a:spcPts val="1900"/>
                        </a:spcBef>
                        <a:spcAft>
                          <a:spcPts val="1900"/>
                        </a:spcAft>
                        <a:buNone/>
                      </a:pPr>
                      <a:r>
                        <a:rPr lang="en" sz="900" b="1" dirty="0" err="1">
                          <a:solidFill>
                            <a:schemeClr val="tx1"/>
                          </a:solidFill>
                          <a:highlight>
                            <a:srgbClr val="FFFFFF"/>
                          </a:highlight>
                        </a:rPr>
                        <a:t>scRNA</a:t>
                      </a:r>
                      <a:r>
                        <a:rPr lang="en" sz="900" b="1" dirty="0">
                          <a:solidFill>
                            <a:schemeClr val="tx1"/>
                          </a:solidFill>
                          <a:highlight>
                            <a:srgbClr val="FFFFFF"/>
                          </a:highlight>
                        </a:rPr>
                        <a:t>-seq</a:t>
                      </a:r>
                      <a:endParaRPr sz="900" b="1" dirty="0">
                        <a:solidFill>
                          <a:schemeClr val="tx1"/>
                        </a:solidFill>
                        <a:highlight>
                          <a:srgbClr val="FFFFFF"/>
                        </a:highlight>
                      </a:endParaRPr>
                    </a:p>
                  </a:txBody>
                  <a:tcPr marL="114300" marR="114300" marT="76200" marB="76200">
                    <a:solidFill>
                      <a:schemeClr val="accent6">
                        <a:lumMod val="20000"/>
                        <a:lumOff val="80000"/>
                      </a:schemeClr>
                    </a:solidFill>
                  </a:tcPr>
                </a:tc>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Spatial Transcriptomics</a:t>
                      </a:r>
                      <a:endParaRPr sz="900" b="1" dirty="0">
                        <a:solidFill>
                          <a:schemeClr val="tx1"/>
                        </a:solidFill>
                        <a:highlight>
                          <a:srgbClr val="FFFFFF"/>
                        </a:highlight>
                      </a:endParaRPr>
                    </a:p>
                  </a:txBody>
                  <a:tcPr marL="114300" marR="114300" marT="76200" marB="76200">
                    <a:solidFill>
                      <a:schemeClr val="accent1">
                        <a:lumMod val="20000"/>
                        <a:lumOff val="80000"/>
                      </a:schemeClr>
                    </a:solidFill>
                  </a:tcPr>
                </a:tc>
                <a:extLst>
                  <a:ext uri="{0D108BD9-81ED-4DB2-BD59-A6C34878D82A}">
                    <a16:rowId xmlns:a16="http://schemas.microsoft.com/office/drawing/2014/main" val="801485526"/>
                  </a:ext>
                </a:extLst>
              </a:tr>
              <a:tr h="479123">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Definition</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Analysis of gene expression in </a:t>
                      </a:r>
                      <a:r>
                        <a:rPr lang="en" sz="900" b="1" dirty="0">
                          <a:solidFill>
                            <a:schemeClr val="tx1"/>
                          </a:solidFill>
                          <a:highlight>
                            <a:srgbClr val="FFFFFF"/>
                          </a:highlight>
                        </a:rPr>
                        <a:t>tissues and cell populations.</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Sequencing of </a:t>
                      </a:r>
                      <a:r>
                        <a:rPr lang="en" sz="900" b="1" dirty="0">
                          <a:solidFill>
                            <a:schemeClr val="tx1"/>
                          </a:solidFill>
                          <a:highlight>
                            <a:srgbClr val="FFFFFF"/>
                          </a:highlight>
                        </a:rPr>
                        <a:t>single cells </a:t>
                      </a:r>
                      <a:r>
                        <a:rPr lang="en" sz="900" dirty="0">
                          <a:solidFill>
                            <a:schemeClr val="tx1"/>
                          </a:solidFill>
                          <a:highlight>
                            <a:srgbClr val="FFFFFF"/>
                          </a:highlight>
                        </a:rPr>
                        <a:t>to obtain information about their transcriptome.</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Simultaneously examine the </a:t>
                      </a:r>
                      <a:r>
                        <a:rPr lang="en" sz="900" b="1" dirty="0">
                          <a:solidFill>
                            <a:schemeClr val="tx1"/>
                          </a:solidFill>
                          <a:highlight>
                            <a:srgbClr val="FFFFFF"/>
                          </a:highlight>
                        </a:rPr>
                        <a:t>gene expression</a:t>
                      </a:r>
                      <a:r>
                        <a:rPr lang="en" sz="900" dirty="0">
                          <a:solidFill>
                            <a:schemeClr val="tx1"/>
                          </a:solidFill>
                          <a:highlight>
                            <a:srgbClr val="FFFFFF"/>
                          </a:highlight>
                        </a:rPr>
                        <a:t> and </a:t>
                      </a:r>
                      <a:r>
                        <a:rPr lang="en" sz="900" b="1" dirty="0">
                          <a:solidFill>
                            <a:schemeClr val="tx1"/>
                          </a:solidFill>
                          <a:highlight>
                            <a:srgbClr val="FFFFFF"/>
                          </a:highlight>
                        </a:rPr>
                        <a:t>spatial location</a:t>
                      </a:r>
                      <a:r>
                        <a:rPr lang="en" sz="900" dirty="0">
                          <a:solidFill>
                            <a:schemeClr val="tx1"/>
                          </a:solidFill>
                          <a:highlight>
                            <a:srgbClr val="FFFFFF"/>
                          </a:highlight>
                        </a:rPr>
                        <a:t> of cells.</a:t>
                      </a:r>
                      <a:endParaRPr sz="900" dirty="0">
                        <a:solidFill>
                          <a:schemeClr val="tx1"/>
                        </a:solidFill>
                        <a:highlight>
                          <a:srgbClr val="FFFFFF"/>
                        </a:highlight>
                      </a:endParaRPr>
                    </a:p>
                  </a:txBody>
                  <a:tcPr marL="114300" marR="114300" marT="76200" marB="76200">
                    <a:noFill/>
                  </a:tcPr>
                </a:tc>
                <a:extLst>
                  <a:ext uri="{0D108BD9-81ED-4DB2-BD59-A6C34878D82A}">
                    <a16:rowId xmlns:a16="http://schemas.microsoft.com/office/drawing/2014/main" val="158265999"/>
                  </a:ext>
                </a:extLst>
              </a:tr>
              <a:tr h="479123">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Sample Processing</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US" sz="900" dirty="0">
                          <a:solidFill>
                            <a:schemeClr val="tx1"/>
                          </a:solidFill>
                          <a:highlight>
                            <a:srgbClr val="FFFFFF"/>
                          </a:highlight>
                        </a:rPr>
                        <a:t>Direct RNA extraction and amplification of tissues and cell populations.</a:t>
                      </a: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Isolation, lysis, and amplification of individual cells.</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Sections or fixation according to sample needs.</a:t>
                      </a:r>
                      <a:endParaRPr sz="900" dirty="0">
                        <a:solidFill>
                          <a:schemeClr val="tx1"/>
                        </a:solidFill>
                        <a:highlight>
                          <a:srgbClr val="FFFFFF"/>
                        </a:highlight>
                      </a:endParaRPr>
                    </a:p>
                  </a:txBody>
                  <a:tcPr marL="114300" marR="114300" marT="76200" marB="76200">
                    <a:noFill/>
                  </a:tcPr>
                </a:tc>
                <a:extLst>
                  <a:ext uri="{0D108BD9-81ED-4DB2-BD59-A6C34878D82A}">
                    <a16:rowId xmlns:a16="http://schemas.microsoft.com/office/drawing/2014/main" val="1436020165"/>
                  </a:ext>
                </a:extLst>
              </a:tr>
              <a:tr h="239127">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Experimental Costs</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Relatively low</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Higher</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Higher</a:t>
                      </a:r>
                      <a:endParaRPr sz="900" dirty="0">
                        <a:solidFill>
                          <a:schemeClr val="tx1"/>
                        </a:solidFill>
                        <a:highlight>
                          <a:srgbClr val="FFFFFF"/>
                        </a:highlight>
                      </a:endParaRPr>
                    </a:p>
                  </a:txBody>
                  <a:tcPr marL="114300" marR="114300" marT="76200" marB="76200">
                    <a:noFill/>
                  </a:tcPr>
                </a:tc>
                <a:extLst>
                  <a:ext uri="{0D108BD9-81ED-4DB2-BD59-A6C34878D82A}">
                    <a16:rowId xmlns:a16="http://schemas.microsoft.com/office/drawing/2014/main" val="363267079"/>
                  </a:ext>
                </a:extLst>
              </a:tr>
              <a:tr h="724255">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Data Quality</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a:solidFill>
                            <a:schemeClr val="tx1"/>
                          </a:solidFill>
                          <a:highlight>
                            <a:srgbClr val="FFFFFF"/>
                          </a:highlight>
                        </a:rPr>
                        <a:t>Affected by factors such as RNA extraction and amplification, there is a certain batch effect.</a:t>
                      </a:r>
                      <a:endParaRPr sz="90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a:solidFill>
                            <a:schemeClr val="tx1"/>
                          </a:solidFill>
                          <a:highlight>
                            <a:srgbClr val="FFFFFF"/>
                          </a:highlight>
                        </a:rPr>
                        <a:t>Difficult to obtain high-quality data due to various factors such as fluorescent labeling of individual cells and RNA library preparation.</a:t>
                      </a:r>
                      <a:endParaRPr sz="90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Relatively difficult, but can provide high-precision spatial information.</a:t>
                      </a:r>
                      <a:endParaRPr sz="900" dirty="0">
                        <a:solidFill>
                          <a:schemeClr val="tx1"/>
                        </a:solidFill>
                        <a:highlight>
                          <a:srgbClr val="FFFFFF"/>
                        </a:highlight>
                      </a:endParaRPr>
                    </a:p>
                  </a:txBody>
                  <a:tcPr marL="114300" marR="114300" marT="76200" marB="76200">
                    <a:noFill/>
                  </a:tcPr>
                </a:tc>
                <a:extLst>
                  <a:ext uri="{0D108BD9-81ED-4DB2-BD59-A6C34878D82A}">
                    <a16:rowId xmlns:a16="http://schemas.microsoft.com/office/drawing/2014/main" val="822843835"/>
                  </a:ext>
                </a:extLst>
              </a:tr>
              <a:tr h="591190">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Data Analysis</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Relatively </a:t>
                      </a:r>
                      <a:r>
                        <a:rPr lang="en" sz="900" b="1" dirty="0">
                          <a:solidFill>
                            <a:schemeClr val="tx1"/>
                          </a:solidFill>
                          <a:highlight>
                            <a:srgbClr val="FFFFFF"/>
                          </a:highlight>
                        </a:rPr>
                        <a:t>simple</a:t>
                      </a:r>
                      <a:r>
                        <a:rPr lang="en" sz="900" dirty="0">
                          <a:solidFill>
                            <a:schemeClr val="tx1"/>
                          </a:solidFill>
                          <a:highlight>
                            <a:srgbClr val="FFFFFF"/>
                          </a:highlight>
                        </a:rPr>
                        <a:t>, commonly used differential expression analysis method for analysis.</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Complex</a:t>
                      </a:r>
                      <a:r>
                        <a:rPr lang="en" sz="900" dirty="0">
                          <a:solidFill>
                            <a:schemeClr val="tx1"/>
                          </a:solidFill>
                          <a:highlight>
                            <a:srgbClr val="FFFFFF"/>
                          </a:highlight>
                        </a:rPr>
                        <a:t> to process and requires analysis of individual cell characteristics.</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Need to combine with molecular biology, imaging, and other fields for comprehensive analysis.</a:t>
                      </a:r>
                      <a:endParaRPr sz="900" dirty="0">
                        <a:solidFill>
                          <a:schemeClr val="tx1"/>
                        </a:solidFill>
                        <a:highlight>
                          <a:srgbClr val="FFFFFF"/>
                        </a:highlight>
                      </a:endParaRPr>
                    </a:p>
                  </a:txBody>
                  <a:tcPr marL="114300" marR="114300" marT="76200" marB="76200">
                    <a:noFill/>
                  </a:tcPr>
                </a:tc>
                <a:extLst>
                  <a:ext uri="{0D108BD9-81ED-4DB2-BD59-A6C34878D82A}">
                    <a16:rowId xmlns:a16="http://schemas.microsoft.com/office/drawing/2014/main" val="2728368517"/>
                  </a:ext>
                </a:extLst>
              </a:tr>
              <a:tr h="618400">
                <a:tc>
                  <a:txBody>
                    <a:bodyPr/>
                    <a:lstStyle/>
                    <a:p>
                      <a:pPr marL="0" lvl="0" indent="0" algn="l" rtl="0">
                        <a:lnSpc>
                          <a:spcPct val="100000"/>
                        </a:lnSpc>
                        <a:spcBef>
                          <a:spcPts val="1900"/>
                        </a:spcBef>
                        <a:spcAft>
                          <a:spcPts val="1900"/>
                        </a:spcAft>
                        <a:buNone/>
                      </a:pPr>
                      <a:r>
                        <a:rPr lang="en" sz="900" b="1" dirty="0">
                          <a:solidFill>
                            <a:schemeClr val="tx1"/>
                          </a:solidFill>
                          <a:highlight>
                            <a:srgbClr val="FFFFFF"/>
                          </a:highlight>
                        </a:rPr>
                        <a:t>Application Scenarios</a:t>
                      </a:r>
                      <a:endParaRPr sz="900" b="1"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Analyze the </a:t>
                      </a:r>
                      <a:r>
                        <a:rPr lang="en" sz="900" b="1" dirty="0">
                          <a:solidFill>
                            <a:schemeClr val="accent4">
                              <a:lumMod val="75000"/>
                            </a:schemeClr>
                          </a:solidFill>
                          <a:highlight>
                            <a:srgbClr val="FFFFFF"/>
                          </a:highlight>
                        </a:rPr>
                        <a:t>overall gene expression </a:t>
                      </a:r>
                      <a:r>
                        <a:rPr lang="en" sz="900" dirty="0">
                          <a:solidFill>
                            <a:schemeClr val="tx1"/>
                          </a:solidFill>
                          <a:highlight>
                            <a:srgbClr val="FFFFFF"/>
                          </a:highlight>
                        </a:rPr>
                        <a:t>of tissues and cell populations to study gene function and physiological mechanisms.</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Analyze </a:t>
                      </a:r>
                      <a:r>
                        <a:rPr lang="en" sz="900" b="1" dirty="0">
                          <a:solidFill>
                            <a:schemeClr val="accent6">
                              <a:lumMod val="50000"/>
                            </a:schemeClr>
                          </a:solidFill>
                          <a:highlight>
                            <a:srgbClr val="FFFFFF"/>
                          </a:highlight>
                        </a:rPr>
                        <a:t>individual cell phenotypes</a:t>
                      </a:r>
                      <a:r>
                        <a:rPr lang="en" sz="900" dirty="0">
                          <a:solidFill>
                            <a:schemeClr val="tx1"/>
                          </a:solidFill>
                          <a:highlight>
                            <a:srgbClr val="FFFFFF"/>
                          </a:highlight>
                        </a:rPr>
                        <a:t>, cell developmental trajectories, etc.</a:t>
                      </a:r>
                      <a:endParaRPr sz="900" dirty="0">
                        <a:solidFill>
                          <a:schemeClr val="tx1"/>
                        </a:solidFill>
                        <a:highlight>
                          <a:srgbClr val="FFFFFF"/>
                        </a:highlight>
                      </a:endParaRPr>
                    </a:p>
                  </a:txBody>
                  <a:tcPr marL="114300" marR="114300" marT="76200" marB="76200">
                    <a:noFill/>
                  </a:tcPr>
                </a:tc>
                <a:tc>
                  <a:txBody>
                    <a:bodyPr/>
                    <a:lstStyle/>
                    <a:p>
                      <a:pPr marL="0" lvl="0" indent="0" algn="l" rtl="0">
                        <a:lnSpc>
                          <a:spcPct val="100000"/>
                        </a:lnSpc>
                        <a:spcBef>
                          <a:spcPts val="1900"/>
                        </a:spcBef>
                        <a:spcAft>
                          <a:spcPts val="1900"/>
                        </a:spcAft>
                        <a:buNone/>
                      </a:pPr>
                      <a:r>
                        <a:rPr lang="en" sz="900" dirty="0">
                          <a:solidFill>
                            <a:schemeClr val="tx1"/>
                          </a:solidFill>
                          <a:highlight>
                            <a:srgbClr val="FFFFFF"/>
                          </a:highlight>
                        </a:rPr>
                        <a:t>Analyze the </a:t>
                      </a:r>
                      <a:r>
                        <a:rPr lang="en" sz="900" b="1" dirty="0">
                          <a:solidFill>
                            <a:schemeClr val="accent1"/>
                          </a:solidFill>
                          <a:highlight>
                            <a:srgbClr val="FFFFFF"/>
                          </a:highlight>
                        </a:rPr>
                        <a:t>spatial structure </a:t>
                      </a:r>
                      <a:r>
                        <a:rPr lang="en" sz="900" dirty="0">
                          <a:solidFill>
                            <a:schemeClr val="tx1"/>
                          </a:solidFill>
                          <a:highlight>
                            <a:srgbClr val="FFFFFF"/>
                          </a:highlight>
                        </a:rPr>
                        <a:t>of different cell types in tissues, cellular interactions, etc.</a:t>
                      </a:r>
                      <a:endParaRPr sz="900" dirty="0">
                        <a:solidFill>
                          <a:schemeClr val="tx1"/>
                        </a:solidFill>
                        <a:highlight>
                          <a:srgbClr val="FFFFFF"/>
                        </a:highlight>
                      </a:endParaRPr>
                    </a:p>
                  </a:txBody>
                  <a:tcPr marL="114300" marR="114300" marT="76200" marB="76200">
                    <a:noFill/>
                  </a:tcPr>
                </a:tc>
                <a:extLst>
                  <a:ext uri="{0D108BD9-81ED-4DB2-BD59-A6C34878D82A}">
                    <a16:rowId xmlns:a16="http://schemas.microsoft.com/office/drawing/2014/main" val="320103309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969520F5-00DA-E222-55AB-FC8089EF6D46}"/>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8E1E6E91-D77D-53E1-5659-85BCF2B99E16}"/>
              </a:ext>
            </a:extLst>
          </p:cNvPr>
          <p:cNvSpPr/>
          <p:nvPr/>
        </p:nvSpPr>
        <p:spPr>
          <a:xfrm>
            <a:off x="636132" y="278428"/>
            <a:ext cx="2336241" cy="3971804"/>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4" name="Rounded Rectangle 3">
            <a:extLst>
              <a:ext uri="{FF2B5EF4-FFF2-40B4-BE49-F238E27FC236}">
                <a16:creationId xmlns:a16="http://schemas.microsoft.com/office/drawing/2014/main" id="{2162B3AB-4B5F-162F-AC93-EEB6ED1E17D5}"/>
              </a:ext>
            </a:extLst>
          </p:cNvPr>
          <p:cNvSpPr/>
          <p:nvPr/>
        </p:nvSpPr>
        <p:spPr>
          <a:xfrm>
            <a:off x="3415340" y="278428"/>
            <a:ext cx="2336241" cy="3971804"/>
          </a:xfrm>
          <a:prstGeom prst="roundRect">
            <a:avLst/>
          </a:prstGeom>
          <a:solidFill>
            <a:schemeClr val="accent6">
              <a:lumMod val="75000"/>
            </a:schemeClr>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3C255F77-54F0-A396-3855-7E4ECA1909D3}"/>
              </a:ext>
            </a:extLst>
          </p:cNvPr>
          <p:cNvSpPr/>
          <p:nvPr/>
        </p:nvSpPr>
        <p:spPr>
          <a:xfrm>
            <a:off x="6194547" y="278428"/>
            <a:ext cx="2336241" cy="3971804"/>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9CA5017-FC2A-7EFD-C121-89E66F7480E4}"/>
              </a:ext>
            </a:extLst>
          </p:cNvPr>
          <p:cNvSpPr txBox="1"/>
          <p:nvPr/>
        </p:nvSpPr>
        <p:spPr>
          <a:xfrm>
            <a:off x="759838" y="1161196"/>
            <a:ext cx="2059901" cy="461665"/>
          </a:xfrm>
          <a:prstGeom prst="rect">
            <a:avLst/>
          </a:prstGeom>
          <a:noFill/>
        </p:spPr>
        <p:txBody>
          <a:bodyPr wrap="square" rtlCol="0">
            <a:spAutoFit/>
          </a:bodyPr>
          <a:lstStyle/>
          <a:p>
            <a:r>
              <a:rPr lang="en-US" sz="1200" dirty="0"/>
              <a:t>Gene expression in tissues &amp; cell populations</a:t>
            </a:r>
          </a:p>
        </p:txBody>
      </p:sp>
      <p:cxnSp>
        <p:nvCxnSpPr>
          <p:cNvPr id="10" name="Straight Connector 9">
            <a:extLst>
              <a:ext uri="{FF2B5EF4-FFF2-40B4-BE49-F238E27FC236}">
                <a16:creationId xmlns:a16="http://schemas.microsoft.com/office/drawing/2014/main" id="{A219866E-CC03-6436-4B90-6DFE9773D82C}"/>
              </a:ext>
            </a:extLst>
          </p:cNvPr>
          <p:cNvCxnSpPr>
            <a:cxnSpLocks/>
          </p:cNvCxnSpPr>
          <p:nvPr/>
        </p:nvCxnSpPr>
        <p:spPr>
          <a:xfrm>
            <a:off x="706468" y="1675904"/>
            <a:ext cx="2195565" cy="0"/>
          </a:xfrm>
          <a:prstGeom prst="line">
            <a:avLst/>
          </a:prstGeom>
          <a:ln w="19050">
            <a:solidFill>
              <a:schemeClr val="accent4">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CDBA891-394E-58F4-8E2A-ED8EE38E1D0E}"/>
              </a:ext>
            </a:extLst>
          </p:cNvPr>
          <p:cNvSpPr txBox="1"/>
          <p:nvPr/>
        </p:nvSpPr>
        <p:spPr>
          <a:xfrm>
            <a:off x="1098706" y="491658"/>
            <a:ext cx="1378904" cy="307777"/>
          </a:xfrm>
          <a:prstGeom prst="rect">
            <a:avLst/>
          </a:prstGeom>
          <a:solidFill>
            <a:schemeClr val="accent4">
              <a:lumMod val="20000"/>
              <a:lumOff val="80000"/>
            </a:schemeClr>
          </a:solidFill>
        </p:spPr>
        <p:txBody>
          <a:bodyPr wrap="none" rtlCol="0">
            <a:spAutoFit/>
          </a:bodyPr>
          <a:lstStyle/>
          <a:p>
            <a:r>
              <a:rPr lang="en-US" b="1" dirty="0"/>
              <a:t>Bulk RNA-seq</a:t>
            </a:r>
          </a:p>
        </p:txBody>
      </p:sp>
      <p:sp>
        <p:nvSpPr>
          <p:cNvPr id="12" name="TextBox 11">
            <a:extLst>
              <a:ext uri="{FF2B5EF4-FFF2-40B4-BE49-F238E27FC236}">
                <a16:creationId xmlns:a16="http://schemas.microsoft.com/office/drawing/2014/main" id="{C3A8731B-B311-64EF-A88C-8ACD4B5BF308}"/>
              </a:ext>
            </a:extLst>
          </p:cNvPr>
          <p:cNvSpPr txBox="1"/>
          <p:nvPr/>
        </p:nvSpPr>
        <p:spPr>
          <a:xfrm>
            <a:off x="4013432" y="491658"/>
            <a:ext cx="1140056" cy="307777"/>
          </a:xfrm>
          <a:prstGeom prst="rect">
            <a:avLst/>
          </a:prstGeom>
          <a:solidFill>
            <a:schemeClr val="accent6">
              <a:lumMod val="20000"/>
              <a:lumOff val="80000"/>
            </a:schemeClr>
          </a:solidFill>
        </p:spPr>
        <p:txBody>
          <a:bodyPr wrap="none" rtlCol="0">
            <a:spAutoFit/>
          </a:bodyPr>
          <a:lstStyle/>
          <a:p>
            <a:r>
              <a:rPr lang="en-US" b="1" dirty="0" err="1"/>
              <a:t>scRNA</a:t>
            </a:r>
            <a:r>
              <a:rPr lang="en-US" b="1" dirty="0"/>
              <a:t>-seq</a:t>
            </a:r>
          </a:p>
        </p:txBody>
      </p:sp>
      <p:sp>
        <p:nvSpPr>
          <p:cNvPr id="13" name="TextBox 12">
            <a:extLst>
              <a:ext uri="{FF2B5EF4-FFF2-40B4-BE49-F238E27FC236}">
                <a16:creationId xmlns:a16="http://schemas.microsoft.com/office/drawing/2014/main" id="{278E5AB3-BCC4-7486-03D4-59F1F31DF22F}"/>
              </a:ext>
            </a:extLst>
          </p:cNvPr>
          <p:cNvSpPr txBox="1"/>
          <p:nvPr/>
        </p:nvSpPr>
        <p:spPr>
          <a:xfrm>
            <a:off x="6572594" y="383936"/>
            <a:ext cx="1580145" cy="523220"/>
          </a:xfrm>
          <a:prstGeom prst="rect">
            <a:avLst/>
          </a:prstGeom>
          <a:solidFill>
            <a:schemeClr val="accent1">
              <a:lumMod val="20000"/>
              <a:lumOff val="80000"/>
            </a:schemeClr>
          </a:solidFill>
        </p:spPr>
        <p:txBody>
          <a:bodyPr wrap="square" rtlCol="0">
            <a:spAutoFit/>
          </a:bodyPr>
          <a:lstStyle/>
          <a:p>
            <a:pPr algn="ctr"/>
            <a:r>
              <a:rPr lang="en-US" b="1" dirty="0"/>
              <a:t>Spatial Transcriptomics</a:t>
            </a:r>
          </a:p>
        </p:txBody>
      </p:sp>
      <p:sp>
        <p:nvSpPr>
          <p:cNvPr id="18" name="TextBox 17">
            <a:extLst>
              <a:ext uri="{FF2B5EF4-FFF2-40B4-BE49-F238E27FC236}">
                <a16:creationId xmlns:a16="http://schemas.microsoft.com/office/drawing/2014/main" id="{CBD181C0-9B8A-685F-EACC-EF8102151ADB}"/>
              </a:ext>
            </a:extLst>
          </p:cNvPr>
          <p:cNvSpPr txBox="1"/>
          <p:nvPr/>
        </p:nvSpPr>
        <p:spPr>
          <a:xfrm>
            <a:off x="3514947" y="1161196"/>
            <a:ext cx="2051239" cy="461665"/>
          </a:xfrm>
          <a:prstGeom prst="rect">
            <a:avLst/>
          </a:prstGeom>
          <a:noFill/>
        </p:spPr>
        <p:txBody>
          <a:bodyPr wrap="square" rtlCol="0">
            <a:spAutoFit/>
          </a:bodyPr>
          <a:lstStyle/>
          <a:p>
            <a:r>
              <a:rPr lang="en-US" sz="1200" dirty="0"/>
              <a:t>Transcriptome of individual single cells</a:t>
            </a:r>
          </a:p>
        </p:txBody>
      </p:sp>
      <p:sp>
        <p:nvSpPr>
          <p:cNvPr id="19" name="TextBox 18">
            <a:extLst>
              <a:ext uri="{FF2B5EF4-FFF2-40B4-BE49-F238E27FC236}">
                <a16:creationId xmlns:a16="http://schemas.microsoft.com/office/drawing/2014/main" id="{0ADE03F3-F557-B784-D267-F434E94BEE55}"/>
              </a:ext>
            </a:extLst>
          </p:cNvPr>
          <p:cNvSpPr txBox="1"/>
          <p:nvPr/>
        </p:nvSpPr>
        <p:spPr>
          <a:xfrm>
            <a:off x="6285716" y="1161196"/>
            <a:ext cx="2027250" cy="461665"/>
          </a:xfrm>
          <a:prstGeom prst="rect">
            <a:avLst/>
          </a:prstGeom>
          <a:noFill/>
        </p:spPr>
        <p:txBody>
          <a:bodyPr wrap="square" rtlCol="0">
            <a:spAutoFit/>
          </a:bodyPr>
          <a:lstStyle/>
          <a:p>
            <a:r>
              <a:rPr lang="en-US" sz="1200" dirty="0"/>
              <a:t>Gene expression + spatial location of cells</a:t>
            </a:r>
          </a:p>
        </p:txBody>
      </p:sp>
      <p:sp>
        <p:nvSpPr>
          <p:cNvPr id="20" name="TextBox 19">
            <a:extLst>
              <a:ext uri="{FF2B5EF4-FFF2-40B4-BE49-F238E27FC236}">
                <a16:creationId xmlns:a16="http://schemas.microsoft.com/office/drawing/2014/main" id="{358FAA6B-917D-70AD-410C-64F7910DDE2D}"/>
              </a:ext>
            </a:extLst>
          </p:cNvPr>
          <p:cNvSpPr txBox="1"/>
          <p:nvPr/>
        </p:nvSpPr>
        <p:spPr>
          <a:xfrm>
            <a:off x="759838" y="2006746"/>
            <a:ext cx="465192" cy="276999"/>
          </a:xfrm>
          <a:prstGeom prst="rect">
            <a:avLst/>
          </a:prstGeom>
          <a:solidFill>
            <a:schemeClr val="accent4">
              <a:lumMod val="40000"/>
              <a:lumOff val="60000"/>
            </a:schemeClr>
          </a:solidFill>
        </p:spPr>
        <p:txBody>
          <a:bodyPr wrap="none" rtlCol="0">
            <a:spAutoFit/>
          </a:bodyPr>
          <a:lstStyle/>
          <a:p>
            <a:r>
              <a:rPr lang="en-US" sz="1200" dirty="0"/>
              <a:t>Low</a:t>
            </a:r>
          </a:p>
        </p:txBody>
      </p:sp>
      <p:sp>
        <p:nvSpPr>
          <p:cNvPr id="21" name="TextBox 20">
            <a:extLst>
              <a:ext uri="{FF2B5EF4-FFF2-40B4-BE49-F238E27FC236}">
                <a16:creationId xmlns:a16="http://schemas.microsoft.com/office/drawing/2014/main" id="{9E18E319-7F3E-AB4E-07C8-5CD0963EE0CA}"/>
              </a:ext>
            </a:extLst>
          </p:cNvPr>
          <p:cNvSpPr txBox="1"/>
          <p:nvPr/>
        </p:nvSpPr>
        <p:spPr>
          <a:xfrm>
            <a:off x="3514947" y="2006746"/>
            <a:ext cx="635110" cy="276999"/>
          </a:xfrm>
          <a:prstGeom prst="rect">
            <a:avLst/>
          </a:prstGeom>
          <a:solidFill>
            <a:schemeClr val="accent6">
              <a:lumMod val="40000"/>
              <a:lumOff val="60000"/>
            </a:schemeClr>
          </a:solidFill>
        </p:spPr>
        <p:txBody>
          <a:bodyPr wrap="none" rtlCol="0">
            <a:spAutoFit/>
          </a:bodyPr>
          <a:lstStyle/>
          <a:p>
            <a:r>
              <a:rPr lang="en-US" sz="1200" dirty="0"/>
              <a:t>Higher</a:t>
            </a:r>
          </a:p>
        </p:txBody>
      </p:sp>
      <p:sp>
        <p:nvSpPr>
          <p:cNvPr id="22" name="TextBox 21">
            <a:extLst>
              <a:ext uri="{FF2B5EF4-FFF2-40B4-BE49-F238E27FC236}">
                <a16:creationId xmlns:a16="http://schemas.microsoft.com/office/drawing/2014/main" id="{D1835C21-2A8A-9E91-D2B1-BB4015115D67}"/>
              </a:ext>
            </a:extLst>
          </p:cNvPr>
          <p:cNvSpPr txBox="1"/>
          <p:nvPr/>
        </p:nvSpPr>
        <p:spPr>
          <a:xfrm>
            <a:off x="6285716" y="2006746"/>
            <a:ext cx="635110" cy="276999"/>
          </a:xfrm>
          <a:prstGeom prst="rect">
            <a:avLst/>
          </a:prstGeom>
          <a:solidFill>
            <a:schemeClr val="accent1">
              <a:lumMod val="40000"/>
              <a:lumOff val="60000"/>
            </a:schemeClr>
          </a:solidFill>
        </p:spPr>
        <p:txBody>
          <a:bodyPr wrap="none" rtlCol="0">
            <a:spAutoFit/>
          </a:bodyPr>
          <a:lstStyle/>
          <a:p>
            <a:r>
              <a:rPr lang="en-US" sz="1200" dirty="0"/>
              <a:t>Higher</a:t>
            </a:r>
          </a:p>
        </p:txBody>
      </p:sp>
      <p:sp>
        <p:nvSpPr>
          <p:cNvPr id="23" name="TextBox 22">
            <a:extLst>
              <a:ext uri="{FF2B5EF4-FFF2-40B4-BE49-F238E27FC236}">
                <a16:creationId xmlns:a16="http://schemas.microsoft.com/office/drawing/2014/main" id="{70735F72-7FBE-8911-EE6A-8A02CD1DE5FB}"/>
              </a:ext>
            </a:extLst>
          </p:cNvPr>
          <p:cNvSpPr txBox="1"/>
          <p:nvPr/>
        </p:nvSpPr>
        <p:spPr>
          <a:xfrm>
            <a:off x="759838" y="2869140"/>
            <a:ext cx="652743" cy="276999"/>
          </a:xfrm>
          <a:prstGeom prst="rect">
            <a:avLst/>
          </a:prstGeom>
          <a:solidFill>
            <a:schemeClr val="accent4">
              <a:lumMod val="40000"/>
              <a:lumOff val="60000"/>
            </a:schemeClr>
          </a:solidFill>
        </p:spPr>
        <p:txBody>
          <a:bodyPr wrap="none" rtlCol="0">
            <a:spAutoFit/>
          </a:bodyPr>
          <a:lstStyle/>
          <a:p>
            <a:r>
              <a:rPr lang="en-US" sz="1200" dirty="0"/>
              <a:t>Simple</a:t>
            </a:r>
          </a:p>
        </p:txBody>
      </p:sp>
      <p:sp>
        <p:nvSpPr>
          <p:cNvPr id="24" name="TextBox 23">
            <a:extLst>
              <a:ext uri="{FF2B5EF4-FFF2-40B4-BE49-F238E27FC236}">
                <a16:creationId xmlns:a16="http://schemas.microsoft.com/office/drawing/2014/main" id="{E2A02B26-03D1-B683-2181-2D27FB4119CD}"/>
              </a:ext>
            </a:extLst>
          </p:cNvPr>
          <p:cNvSpPr txBox="1"/>
          <p:nvPr/>
        </p:nvSpPr>
        <p:spPr>
          <a:xfrm>
            <a:off x="3514947" y="2869140"/>
            <a:ext cx="788999" cy="276999"/>
          </a:xfrm>
          <a:prstGeom prst="rect">
            <a:avLst/>
          </a:prstGeom>
          <a:solidFill>
            <a:schemeClr val="accent6">
              <a:lumMod val="40000"/>
              <a:lumOff val="60000"/>
            </a:schemeClr>
          </a:solidFill>
        </p:spPr>
        <p:txBody>
          <a:bodyPr wrap="none" rtlCol="0">
            <a:spAutoFit/>
          </a:bodyPr>
          <a:lstStyle/>
          <a:p>
            <a:r>
              <a:rPr lang="en-US" sz="1200" dirty="0"/>
              <a:t>Complex</a:t>
            </a:r>
          </a:p>
        </p:txBody>
      </p:sp>
      <p:sp>
        <p:nvSpPr>
          <p:cNvPr id="25" name="TextBox 24">
            <a:extLst>
              <a:ext uri="{FF2B5EF4-FFF2-40B4-BE49-F238E27FC236}">
                <a16:creationId xmlns:a16="http://schemas.microsoft.com/office/drawing/2014/main" id="{38F3D4C3-2FA3-0652-846C-3308B5722C39}"/>
              </a:ext>
            </a:extLst>
          </p:cNvPr>
          <p:cNvSpPr txBox="1"/>
          <p:nvPr/>
        </p:nvSpPr>
        <p:spPr>
          <a:xfrm>
            <a:off x="6285716" y="2869140"/>
            <a:ext cx="840295" cy="276999"/>
          </a:xfrm>
          <a:prstGeom prst="rect">
            <a:avLst/>
          </a:prstGeom>
          <a:solidFill>
            <a:schemeClr val="accent1">
              <a:lumMod val="40000"/>
              <a:lumOff val="60000"/>
            </a:schemeClr>
          </a:solidFill>
        </p:spPr>
        <p:txBody>
          <a:bodyPr wrap="none" rtlCol="0">
            <a:spAutoFit/>
          </a:bodyPr>
          <a:lstStyle/>
          <a:p>
            <a:r>
              <a:rPr lang="en-US" sz="1200" dirty="0"/>
              <a:t>Multi-field</a:t>
            </a:r>
          </a:p>
        </p:txBody>
      </p:sp>
      <p:cxnSp>
        <p:nvCxnSpPr>
          <p:cNvPr id="27" name="Straight Connector 26">
            <a:extLst>
              <a:ext uri="{FF2B5EF4-FFF2-40B4-BE49-F238E27FC236}">
                <a16:creationId xmlns:a16="http://schemas.microsoft.com/office/drawing/2014/main" id="{B9A3BD3A-466C-BD80-BA10-23AD4F3AB51A}"/>
              </a:ext>
            </a:extLst>
          </p:cNvPr>
          <p:cNvCxnSpPr>
            <a:cxnSpLocks/>
          </p:cNvCxnSpPr>
          <p:nvPr/>
        </p:nvCxnSpPr>
        <p:spPr>
          <a:xfrm>
            <a:off x="716521" y="2437404"/>
            <a:ext cx="2195565" cy="0"/>
          </a:xfrm>
          <a:prstGeom prst="line">
            <a:avLst/>
          </a:prstGeom>
          <a:ln w="19050">
            <a:solidFill>
              <a:schemeClr val="accent4">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156A53EB-E2E4-21FE-FA1E-6EF93724382D}"/>
              </a:ext>
            </a:extLst>
          </p:cNvPr>
          <p:cNvSpPr txBox="1"/>
          <p:nvPr/>
        </p:nvSpPr>
        <p:spPr>
          <a:xfrm>
            <a:off x="759838" y="914799"/>
            <a:ext cx="931665" cy="307777"/>
          </a:xfrm>
          <a:prstGeom prst="rect">
            <a:avLst/>
          </a:prstGeom>
          <a:noFill/>
        </p:spPr>
        <p:txBody>
          <a:bodyPr wrap="none" rtlCol="0">
            <a:spAutoFit/>
          </a:bodyPr>
          <a:lstStyle/>
          <a:p>
            <a:r>
              <a:rPr lang="en-US" dirty="0">
                <a:solidFill>
                  <a:schemeClr val="accent4">
                    <a:lumMod val="20000"/>
                    <a:lumOff val="80000"/>
                  </a:schemeClr>
                </a:solidFill>
              </a:rPr>
              <a:t>Definition</a:t>
            </a:r>
          </a:p>
        </p:txBody>
      </p:sp>
      <p:sp>
        <p:nvSpPr>
          <p:cNvPr id="35" name="TextBox 34">
            <a:extLst>
              <a:ext uri="{FF2B5EF4-FFF2-40B4-BE49-F238E27FC236}">
                <a16:creationId xmlns:a16="http://schemas.microsoft.com/office/drawing/2014/main" id="{EA3A5162-7979-D2CB-DA58-9C477296C9D8}"/>
              </a:ext>
            </a:extLst>
          </p:cNvPr>
          <p:cNvSpPr txBox="1"/>
          <p:nvPr/>
        </p:nvSpPr>
        <p:spPr>
          <a:xfrm>
            <a:off x="3514947" y="914799"/>
            <a:ext cx="931665" cy="307777"/>
          </a:xfrm>
          <a:prstGeom prst="rect">
            <a:avLst/>
          </a:prstGeom>
          <a:noFill/>
        </p:spPr>
        <p:txBody>
          <a:bodyPr wrap="none" rtlCol="0">
            <a:spAutoFit/>
          </a:bodyPr>
          <a:lstStyle/>
          <a:p>
            <a:r>
              <a:rPr lang="en-US" dirty="0">
                <a:solidFill>
                  <a:schemeClr val="accent6">
                    <a:lumMod val="20000"/>
                    <a:lumOff val="80000"/>
                  </a:schemeClr>
                </a:solidFill>
              </a:rPr>
              <a:t>Definition</a:t>
            </a:r>
          </a:p>
        </p:txBody>
      </p:sp>
      <p:sp>
        <p:nvSpPr>
          <p:cNvPr id="36" name="TextBox 35">
            <a:extLst>
              <a:ext uri="{FF2B5EF4-FFF2-40B4-BE49-F238E27FC236}">
                <a16:creationId xmlns:a16="http://schemas.microsoft.com/office/drawing/2014/main" id="{1A4500F3-9C37-35E7-5F73-CA6D327E6FDE}"/>
              </a:ext>
            </a:extLst>
          </p:cNvPr>
          <p:cNvSpPr txBox="1"/>
          <p:nvPr/>
        </p:nvSpPr>
        <p:spPr>
          <a:xfrm>
            <a:off x="6285716" y="914799"/>
            <a:ext cx="931665" cy="307777"/>
          </a:xfrm>
          <a:prstGeom prst="rect">
            <a:avLst/>
          </a:prstGeom>
          <a:noFill/>
        </p:spPr>
        <p:txBody>
          <a:bodyPr wrap="none" rtlCol="0">
            <a:spAutoFit/>
          </a:bodyPr>
          <a:lstStyle/>
          <a:p>
            <a:r>
              <a:rPr lang="en-US" dirty="0">
                <a:solidFill>
                  <a:schemeClr val="accent1">
                    <a:lumMod val="20000"/>
                    <a:lumOff val="80000"/>
                  </a:schemeClr>
                </a:solidFill>
              </a:rPr>
              <a:t>Definition</a:t>
            </a:r>
          </a:p>
        </p:txBody>
      </p:sp>
      <p:cxnSp>
        <p:nvCxnSpPr>
          <p:cNvPr id="37" name="Straight Connector 36">
            <a:extLst>
              <a:ext uri="{FF2B5EF4-FFF2-40B4-BE49-F238E27FC236}">
                <a16:creationId xmlns:a16="http://schemas.microsoft.com/office/drawing/2014/main" id="{0A676B1C-FFA6-9029-2C65-7FD2DD44BA1B}"/>
              </a:ext>
            </a:extLst>
          </p:cNvPr>
          <p:cNvCxnSpPr>
            <a:cxnSpLocks/>
          </p:cNvCxnSpPr>
          <p:nvPr/>
        </p:nvCxnSpPr>
        <p:spPr>
          <a:xfrm>
            <a:off x="3531174" y="1675904"/>
            <a:ext cx="2195565" cy="0"/>
          </a:xfrm>
          <a:prstGeom prst="line">
            <a:avLst/>
          </a:prstGeom>
          <a:ln w="19050">
            <a:solidFill>
              <a:schemeClr val="accent6">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CA09F26-2287-B84C-D40A-767F484B9358}"/>
              </a:ext>
            </a:extLst>
          </p:cNvPr>
          <p:cNvCxnSpPr>
            <a:cxnSpLocks/>
          </p:cNvCxnSpPr>
          <p:nvPr/>
        </p:nvCxnSpPr>
        <p:spPr>
          <a:xfrm>
            <a:off x="6295524" y="1675904"/>
            <a:ext cx="2195565" cy="0"/>
          </a:xfrm>
          <a:prstGeom prst="line">
            <a:avLst/>
          </a:prstGeom>
          <a:ln w="19050">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3DFA612-2655-05FE-67B0-7A1DC228CA15}"/>
              </a:ext>
            </a:extLst>
          </p:cNvPr>
          <p:cNvCxnSpPr>
            <a:cxnSpLocks/>
          </p:cNvCxnSpPr>
          <p:nvPr/>
        </p:nvCxnSpPr>
        <p:spPr>
          <a:xfrm>
            <a:off x="3517387" y="2437404"/>
            <a:ext cx="2195565" cy="0"/>
          </a:xfrm>
          <a:prstGeom prst="line">
            <a:avLst/>
          </a:prstGeom>
          <a:ln w="19050">
            <a:solidFill>
              <a:schemeClr val="accent6">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35F5776-2D2E-A01C-351B-5C55F00E3BAC}"/>
              </a:ext>
            </a:extLst>
          </p:cNvPr>
          <p:cNvCxnSpPr>
            <a:cxnSpLocks/>
          </p:cNvCxnSpPr>
          <p:nvPr/>
        </p:nvCxnSpPr>
        <p:spPr>
          <a:xfrm>
            <a:off x="6295524" y="2437404"/>
            <a:ext cx="2195565" cy="0"/>
          </a:xfrm>
          <a:prstGeom prst="line">
            <a:avLst/>
          </a:prstGeom>
          <a:ln w="19050">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A9080023-EA3A-70C2-69A5-17F5B871889F}"/>
              </a:ext>
            </a:extLst>
          </p:cNvPr>
          <p:cNvSpPr txBox="1"/>
          <p:nvPr/>
        </p:nvSpPr>
        <p:spPr>
          <a:xfrm>
            <a:off x="3514947" y="3652427"/>
            <a:ext cx="2051239" cy="461665"/>
          </a:xfrm>
          <a:prstGeom prst="rect">
            <a:avLst/>
          </a:prstGeom>
          <a:noFill/>
        </p:spPr>
        <p:txBody>
          <a:bodyPr wrap="square" rtlCol="0">
            <a:spAutoFit/>
          </a:bodyPr>
          <a:lstStyle/>
          <a:p>
            <a:r>
              <a:rPr lang="en-US" sz="1200" dirty="0"/>
              <a:t>Cell phenotypes &amp; developmental trajectories</a:t>
            </a:r>
          </a:p>
        </p:txBody>
      </p:sp>
      <p:sp>
        <p:nvSpPr>
          <p:cNvPr id="42" name="TextBox 41">
            <a:extLst>
              <a:ext uri="{FF2B5EF4-FFF2-40B4-BE49-F238E27FC236}">
                <a16:creationId xmlns:a16="http://schemas.microsoft.com/office/drawing/2014/main" id="{38F6A21B-425F-E212-23F5-29C1043BCE6B}"/>
              </a:ext>
            </a:extLst>
          </p:cNvPr>
          <p:cNvSpPr txBox="1"/>
          <p:nvPr/>
        </p:nvSpPr>
        <p:spPr>
          <a:xfrm>
            <a:off x="759838" y="1705680"/>
            <a:ext cx="553357" cy="307777"/>
          </a:xfrm>
          <a:prstGeom prst="rect">
            <a:avLst/>
          </a:prstGeom>
          <a:noFill/>
        </p:spPr>
        <p:txBody>
          <a:bodyPr wrap="none" rtlCol="0">
            <a:spAutoFit/>
          </a:bodyPr>
          <a:lstStyle/>
          <a:p>
            <a:r>
              <a:rPr lang="en-US" dirty="0">
                <a:solidFill>
                  <a:schemeClr val="accent4">
                    <a:lumMod val="20000"/>
                    <a:lumOff val="80000"/>
                  </a:schemeClr>
                </a:solidFill>
              </a:rPr>
              <a:t>Cost</a:t>
            </a:r>
          </a:p>
        </p:txBody>
      </p:sp>
      <p:sp>
        <p:nvSpPr>
          <p:cNvPr id="44" name="TextBox 43">
            <a:extLst>
              <a:ext uri="{FF2B5EF4-FFF2-40B4-BE49-F238E27FC236}">
                <a16:creationId xmlns:a16="http://schemas.microsoft.com/office/drawing/2014/main" id="{B852516A-D7B3-4967-2783-734A742FC382}"/>
              </a:ext>
            </a:extLst>
          </p:cNvPr>
          <p:cNvSpPr txBox="1"/>
          <p:nvPr/>
        </p:nvSpPr>
        <p:spPr>
          <a:xfrm>
            <a:off x="3514947" y="1705680"/>
            <a:ext cx="553357" cy="307777"/>
          </a:xfrm>
          <a:prstGeom prst="rect">
            <a:avLst/>
          </a:prstGeom>
          <a:noFill/>
        </p:spPr>
        <p:txBody>
          <a:bodyPr wrap="none" rtlCol="0">
            <a:spAutoFit/>
          </a:bodyPr>
          <a:lstStyle/>
          <a:p>
            <a:r>
              <a:rPr lang="en-US" dirty="0">
                <a:solidFill>
                  <a:schemeClr val="accent6">
                    <a:lumMod val="20000"/>
                    <a:lumOff val="80000"/>
                  </a:schemeClr>
                </a:solidFill>
              </a:rPr>
              <a:t>Cost</a:t>
            </a:r>
          </a:p>
        </p:txBody>
      </p:sp>
      <p:sp>
        <p:nvSpPr>
          <p:cNvPr id="45" name="TextBox 44">
            <a:extLst>
              <a:ext uri="{FF2B5EF4-FFF2-40B4-BE49-F238E27FC236}">
                <a16:creationId xmlns:a16="http://schemas.microsoft.com/office/drawing/2014/main" id="{55308230-4EBF-EFEB-6E99-0ED54C4178B0}"/>
              </a:ext>
            </a:extLst>
          </p:cNvPr>
          <p:cNvSpPr txBox="1"/>
          <p:nvPr/>
        </p:nvSpPr>
        <p:spPr>
          <a:xfrm>
            <a:off x="6285716" y="1705680"/>
            <a:ext cx="553357" cy="307777"/>
          </a:xfrm>
          <a:prstGeom prst="rect">
            <a:avLst/>
          </a:prstGeom>
          <a:noFill/>
        </p:spPr>
        <p:txBody>
          <a:bodyPr wrap="none" rtlCol="0">
            <a:spAutoFit/>
          </a:bodyPr>
          <a:lstStyle/>
          <a:p>
            <a:r>
              <a:rPr lang="en-US" dirty="0">
                <a:solidFill>
                  <a:schemeClr val="accent1">
                    <a:lumMod val="20000"/>
                    <a:lumOff val="80000"/>
                  </a:schemeClr>
                </a:solidFill>
              </a:rPr>
              <a:t>Cost</a:t>
            </a:r>
          </a:p>
        </p:txBody>
      </p:sp>
      <p:sp>
        <p:nvSpPr>
          <p:cNvPr id="46" name="TextBox 45">
            <a:extLst>
              <a:ext uri="{FF2B5EF4-FFF2-40B4-BE49-F238E27FC236}">
                <a16:creationId xmlns:a16="http://schemas.microsoft.com/office/drawing/2014/main" id="{FF3E12DF-4C1A-819E-6398-9830C1222660}"/>
              </a:ext>
            </a:extLst>
          </p:cNvPr>
          <p:cNvSpPr txBox="1"/>
          <p:nvPr/>
        </p:nvSpPr>
        <p:spPr>
          <a:xfrm>
            <a:off x="759838" y="2527770"/>
            <a:ext cx="1548822" cy="307777"/>
          </a:xfrm>
          <a:prstGeom prst="rect">
            <a:avLst/>
          </a:prstGeom>
          <a:noFill/>
        </p:spPr>
        <p:txBody>
          <a:bodyPr wrap="none" rtlCol="0">
            <a:spAutoFit/>
          </a:bodyPr>
          <a:lstStyle/>
          <a:p>
            <a:r>
              <a:rPr lang="en-US" dirty="0">
                <a:solidFill>
                  <a:schemeClr val="accent4">
                    <a:lumMod val="20000"/>
                    <a:lumOff val="80000"/>
                  </a:schemeClr>
                </a:solidFill>
              </a:rPr>
              <a:t>Data Complexity</a:t>
            </a:r>
          </a:p>
        </p:txBody>
      </p:sp>
      <p:sp>
        <p:nvSpPr>
          <p:cNvPr id="47" name="TextBox 46">
            <a:extLst>
              <a:ext uri="{FF2B5EF4-FFF2-40B4-BE49-F238E27FC236}">
                <a16:creationId xmlns:a16="http://schemas.microsoft.com/office/drawing/2014/main" id="{93AEA11E-C9CE-E972-3816-C9CC7C13E103}"/>
              </a:ext>
            </a:extLst>
          </p:cNvPr>
          <p:cNvSpPr txBox="1"/>
          <p:nvPr/>
        </p:nvSpPr>
        <p:spPr>
          <a:xfrm>
            <a:off x="3514947" y="2527770"/>
            <a:ext cx="1548822" cy="307777"/>
          </a:xfrm>
          <a:prstGeom prst="rect">
            <a:avLst/>
          </a:prstGeom>
          <a:noFill/>
        </p:spPr>
        <p:txBody>
          <a:bodyPr wrap="none" rtlCol="0">
            <a:spAutoFit/>
          </a:bodyPr>
          <a:lstStyle/>
          <a:p>
            <a:r>
              <a:rPr lang="en-US" dirty="0">
                <a:solidFill>
                  <a:schemeClr val="accent6">
                    <a:lumMod val="20000"/>
                    <a:lumOff val="80000"/>
                  </a:schemeClr>
                </a:solidFill>
              </a:rPr>
              <a:t>Data Complexity</a:t>
            </a:r>
          </a:p>
        </p:txBody>
      </p:sp>
      <p:sp>
        <p:nvSpPr>
          <p:cNvPr id="48" name="TextBox 47">
            <a:extLst>
              <a:ext uri="{FF2B5EF4-FFF2-40B4-BE49-F238E27FC236}">
                <a16:creationId xmlns:a16="http://schemas.microsoft.com/office/drawing/2014/main" id="{41076519-32B4-B866-0282-A3B814763D3E}"/>
              </a:ext>
            </a:extLst>
          </p:cNvPr>
          <p:cNvSpPr txBox="1"/>
          <p:nvPr/>
        </p:nvSpPr>
        <p:spPr>
          <a:xfrm>
            <a:off x="6285716" y="2527770"/>
            <a:ext cx="1548822" cy="307777"/>
          </a:xfrm>
          <a:prstGeom prst="rect">
            <a:avLst/>
          </a:prstGeom>
          <a:noFill/>
        </p:spPr>
        <p:txBody>
          <a:bodyPr wrap="none" rtlCol="0">
            <a:spAutoFit/>
          </a:bodyPr>
          <a:lstStyle/>
          <a:p>
            <a:r>
              <a:rPr lang="en-US" dirty="0">
                <a:solidFill>
                  <a:schemeClr val="accent1">
                    <a:lumMod val="20000"/>
                    <a:lumOff val="80000"/>
                  </a:schemeClr>
                </a:solidFill>
              </a:rPr>
              <a:t>Data Complexity</a:t>
            </a:r>
          </a:p>
        </p:txBody>
      </p:sp>
      <p:cxnSp>
        <p:nvCxnSpPr>
          <p:cNvPr id="49" name="Straight Connector 48">
            <a:extLst>
              <a:ext uri="{FF2B5EF4-FFF2-40B4-BE49-F238E27FC236}">
                <a16:creationId xmlns:a16="http://schemas.microsoft.com/office/drawing/2014/main" id="{C2EE0139-07A7-1403-DF7F-8B5F693BDDB0}"/>
              </a:ext>
            </a:extLst>
          </p:cNvPr>
          <p:cNvCxnSpPr>
            <a:cxnSpLocks/>
          </p:cNvCxnSpPr>
          <p:nvPr/>
        </p:nvCxnSpPr>
        <p:spPr>
          <a:xfrm>
            <a:off x="732783" y="3293215"/>
            <a:ext cx="2195565" cy="0"/>
          </a:xfrm>
          <a:prstGeom prst="line">
            <a:avLst/>
          </a:prstGeom>
          <a:ln w="19050">
            <a:solidFill>
              <a:schemeClr val="accent4">
                <a:lumMod val="40000"/>
                <a:lumOff val="60000"/>
              </a:schemeClr>
            </a:solidFill>
            <a:prstDash val="dash"/>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A2E70EB9-D9CD-8A6D-49E4-8616B2A46382}"/>
              </a:ext>
            </a:extLst>
          </p:cNvPr>
          <p:cNvSpPr txBox="1"/>
          <p:nvPr/>
        </p:nvSpPr>
        <p:spPr>
          <a:xfrm>
            <a:off x="759838" y="3353586"/>
            <a:ext cx="861133" cy="307777"/>
          </a:xfrm>
          <a:prstGeom prst="rect">
            <a:avLst/>
          </a:prstGeom>
          <a:noFill/>
        </p:spPr>
        <p:txBody>
          <a:bodyPr wrap="none" rtlCol="0">
            <a:spAutoFit/>
          </a:bodyPr>
          <a:lstStyle/>
          <a:p>
            <a:r>
              <a:rPr lang="en-US" dirty="0">
                <a:solidFill>
                  <a:schemeClr val="accent4">
                    <a:lumMod val="20000"/>
                    <a:lumOff val="80000"/>
                  </a:schemeClr>
                </a:solidFill>
              </a:rPr>
              <a:t>Best For</a:t>
            </a:r>
          </a:p>
        </p:txBody>
      </p:sp>
      <p:cxnSp>
        <p:nvCxnSpPr>
          <p:cNvPr id="51" name="Straight Connector 50">
            <a:extLst>
              <a:ext uri="{FF2B5EF4-FFF2-40B4-BE49-F238E27FC236}">
                <a16:creationId xmlns:a16="http://schemas.microsoft.com/office/drawing/2014/main" id="{571924C9-6F95-EAB1-5F9E-049320F67282}"/>
              </a:ext>
            </a:extLst>
          </p:cNvPr>
          <p:cNvCxnSpPr>
            <a:cxnSpLocks/>
          </p:cNvCxnSpPr>
          <p:nvPr/>
        </p:nvCxnSpPr>
        <p:spPr>
          <a:xfrm>
            <a:off x="3549583" y="3293215"/>
            <a:ext cx="2195565" cy="0"/>
          </a:xfrm>
          <a:prstGeom prst="line">
            <a:avLst/>
          </a:prstGeom>
          <a:ln w="19050">
            <a:solidFill>
              <a:schemeClr val="accent6">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31AA0BBE-914F-985F-A30A-C03AB6390B7F}"/>
              </a:ext>
            </a:extLst>
          </p:cNvPr>
          <p:cNvSpPr txBox="1"/>
          <p:nvPr/>
        </p:nvSpPr>
        <p:spPr>
          <a:xfrm>
            <a:off x="3514947" y="3353586"/>
            <a:ext cx="861133" cy="307777"/>
          </a:xfrm>
          <a:prstGeom prst="rect">
            <a:avLst/>
          </a:prstGeom>
          <a:noFill/>
        </p:spPr>
        <p:txBody>
          <a:bodyPr wrap="none" rtlCol="0">
            <a:spAutoFit/>
          </a:bodyPr>
          <a:lstStyle/>
          <a:p>
            <a:r>
              <a:rPr lang="en-US" dirty="0">
                <a:solidFill>
                  <a:schemeClr val="accent6">
                    <a:lumMod val="20000"/>
                    <a:lumOff val="80000"/>
                  </a:schemeClr>
                </a:solidFill>
              </a:rPr>
              <a:t>Best For</a:t>
            </a:r>
          </a:p>
        </p:txBody>
      </p:sp>
      <p:cxnSp>
        <p:nvCxnSpPr>
          <p:cNvPr id="53" name="Straight Connector 52">
            <a:extLst>
              <a:ext uri="{FF2B5EF4-FFF2-40B4-BE49-F238E27FC236}">
                <a16:creationId xmlns:a16="http://schemas.microsoft.com/office/drawing/2014/main" id="{3CE5FB87-C9D3-2E55-1DC0-0030616C5F4F}"/>
              </a:ext>
            </a:extLst>
          </p:cNvPr>
          <p:cNvCxnSpPr>
            <a:cxnSpLocks/>
          </p:cNvCxnSpPr>
          <p:nvPr/>
        </p:nvCxnSpPr>
        <p:spPr>
          <a:xfrm>
            <a:off x="6295524" y="3293215"/>
            <a:ext cx="2195565" cy="0"/>
          </a:xfrm>
          <a:prstGeom prst="line">
            <a:avLst/>
          </a:prstGeom>
          <a:ln w="19050">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BC5480-1C60-9484-8422-A01A37D79131}"/>
              </a:ext>
            </a:extLst>
          </p:cNvPr>
          <p:cNvSpPr txBox="1"/>
          <p:nvPr/>
        </p:nvSpPr>
        <p:spPr>
          <a:xfrm>
            <a:off x="6285716" y="3353586"/>
            <a:ext cx="861133" cy="307777"/>
          </a:xfrm>
          <a:prstGeom prst="rect">
            <a:avLst/>
          </a:prstGeom>
          <a:noFill/>
        </p:spPr>
        <p:txBody>
          <a:bodyPr wrap="none" rtlCol="0">
            <a:spAutoFit/>
          </a:bodyPr>
          <a:lstStyle/>
          <a:p>
            <a:r>
              <a:rPr lang="en-US" dirty="0">
                <a:solidFill>
                  <a:schemeClr val="accent1">
                    <a:lumMod val="20000"/>
                    <a:lumOff val="80000"/>
                  </a:schemeClr>
                </a:solidFill>
              </a:rPr>
              <a:t>Best For</a:t>
            </a:r>
          </a:p>
        </p:txBody>
      </p:sp>
      <p:sp>
        <p:nvSpPr>
          <p:cNvPr id="56" name="TextBox 55">
            <a:extLst>
              <a:ext uri="{FF2B5EF4-FFF2-40B4-BE49-F238E27FC236}">
                <a16:creationId xmlns:a16="http://schemas.microsoft.com/office/drawing/2014/main" id="{2225262D-1382-F29A-47AA-B37D0FB503B5}"/>
              </a:ext>
            </a:extLst>
          </p:cNvPr>
          <p:cNvSpPr txBox="1"/>
          <p:nvPr/>
        </p:nvSpPr>
        <p:spPr>
          <a:xfrm>
            <a:off x="759838" y="3621649"/>
            <a:ext cx="2022364" cy="523220"/>
          </a:xfrm>
          <a:prstGeom prst="rect">
            <a:avLst/>
          </a:prstGeom>
          <a:noFill/>
        </p:spPr>
        <p:txBody>
          <a:bodyPr wrap="square">
            <a:spAutoFit/>
          </a:bodyPr>
          <a:lstStyle/>
          <a:p>
            <a:r>
              <a:rPr lang="en-US" b="0" i="0" dirty="0">
                <a:solidFill>
                  <a:srgbClr val="141413"/>
                </a:solidFill>
                <a:effectLst/>
                <a:latin typeface="Anthropic Sans"/>
              </a:rPr>
              <a:t>Overall gene expression &amp; gene function</a:t>
            </a:r>
            <a:endParaRPr lang="en-US" dirty="0"/>
          </a:p>
        </p:txBody>
      </p:sp>
      <p:sp>
        <p:nvSpPr>
          <p:cNvPr id="58" name="TextBox 57">
            <a:extLst>
              <a:ext uri="{FF2B5EF4-FFF2-40B4-BE49-F238E27FC236}">
                <a16:creationId xmlns:a16="http://schemas.microsoft.com/office/drawing/2014/main" id="{92D01CEE-DDB3-6B58-1F50-A656F84425AE}"/>
              </a:ext>
            </a:extLst>
          </p:cNvPr>
          <p:cNvSpPr txBox="1"/>
          <p:nvPr/>
        </p:nvSpPr>
        <p:spPr>
          <a:xfrm>
            <a:off x="6285716" y="3621649"/>
            <a:ext cx="2195565" cy="523220"/>
          </a:xfrm>
          <a:prstGeom prst="rect">
            <a:avLst/>
          </a:prstGeom>
          <a:noFill/>
        </p:spPr>
        <p:txBody>
          <a:bodyPr wrap="square">
            <a:spAutoFit/>
          </a:bodyPr>
          <a:lstStyle/>
          <a:p>
            <a:r>
              <a:rPr lang="en-US" b="0" i="0" dirty="0">
                <a:solidFill>
                  <a:srgbClr val="141413"/>
                </a:solidFill>
                <a:effectLst/>
                <a:latin typeface="Anthropic Sans"/>
              </a:rPr>
              <a:t>Spatial structure &amp; cellular interactions in tissue</a:t>
            </a:r>
            <a:endParaRPr lang="en-US" dirty="0"/>
          </a:p>
        </p:txBody>
      </p:sp>
      <p:sp>
        <p:nvSpPr>
          <p:cNvPr id="3" name="TextBox 2">
            <a:extLst>
              <a:ext uri="{FF2B5EF4-FFF2-40B4-BE49-F238E27FC236}">
                <a16:creationId xmlns:a16="http://schemas.microsoft.com/office/drawing/2014/main" id="{76F0A0D7-7324-D020-7EBF-E338FB423594}"/>
              </a:ext>
            </a:extLst>
          </p:cNvPr>
          <p:cNvSpPr txBox="1"/>
          <p:nvPr/>
        </p:nvSpPr>
        <p:spPr>
          <a:xfrm>
            <a:off x="529967" y="4416342"/>
            <a:ext cx="2323072" cy="307777"/>
          </a:xfrm>
          <a:prstGeom prst="rect">
            <a:avLst/>
          </a:prstGeom>
          <a:noFill/>
        </p:spPr>
        <p:txBody>
          <a:bodyPr wrap="none" rtlCol="0">
            <a:spAutoFit/>
          </a:bodyPr>
          <a:lstStyle/>
          <a:p>
            <a:pPr algn="ctr"/>
            <a:r>
              <a:rPr lang="en-US" i="1" dirty="0"/>
              <a:t>What</a:t>
            </a:r>
            <a:r>
              <a:rPr lang="en-US" dirty="0"/>
              <a:t> genes are expressed</a:t>
            </a:r>
          </a:p>
        </p:txBody>
      </p:sp>
      <p:sp>
        <p:nvSpPr>
          <p:cNvPr id="6" name="TextBox 5">
            <a:extLst>
              <a:ext uri="{FF2B5EF4-FFF2-40B4-BE49-F238E27FC236}">
                <a16:creationId xmlns:a16="http://schemas.microsoft.com/office/drawing/2014/main" id="{EF10E704-7863-2410-AFE9-7213D5C6921E}"/>
              </a:ext>
            </a:extLst>
          </p:cNvPr>
          <p:cNvSpPr txBox="1"/>
          <p:nvPr/>
        </p:nvSpPr>
        <p:spPr>
          <a:xfrm>
            <a:off x="3238767" y="4416342"/>
            <a:ext cx="2603598" cy="307777"/>
          </a:xfrm>
          <a:prstGeom prst="rect">
            <a:avLst/>
          </a:prstGeom>
          <a:noFill/>
        </p:spPr>
        <p:txBody>
          <a:bodyPr wrap="none" rtlCol="0">
            <a:spAutoFit/>
          </a:bodyPr>
          <a:lstStyle/>
          <a:p>
            <a:pPr algn="ctr"/>
            <a:r>
              <a:rPr lang="en-US" i="1" dirty="0"/>
              <a:t>Which</a:t>
            </a:r>
            <a:r>
              <a:rPr lang="en-US" dirty="0"/>
              <a:t> cell types express them</a:t>
            </a:r>
          </a:p>
        </p:txBody>
      </p:sp>
      <p:sp>
        <p:nvSpPr>
          <p:cNvPr id="7" name="TextBox 6">
            <a:extLst>
              <a:ext uri="{FF2B5EF4-FFF2-40B4-BE49-F238E27FC236}">
                <a16:creationId xmlns:a16="http://schemas.microsoft.com/office/drawing/2014/main" id="{77BB3DDF-5D65-580E-FFD8-CE3A8B20F3E0}"/>
              </a:ext>
            </a:extLst>
          </p:cNvPr>
          <p:cNvSpPr txBox="1"/>
          <p:nvPr/>
        </p:nvSpPr>
        <p:spPr>
          <a:xfrm>
            <a:off x="5806974" y="4416342"/>
            <a:ext cx="3172663" cy="307777"/>
          </a:xfrm>
          <a:prstGeom prst="rect">
            <a:avLst/>
          </a:prstGeom>
          <a:noFill/>
        </p:spPr>
        <p:txBody>
          <a:bodyPr wrap="none" rtlCol="0">
            <a:spAutoFit/>
          </a:bodyPr>
          <a:lstStyle/>
          <a:p>
            <a:pPr algn="ctr"/>
            <a:r>
              <a:rPr lang="en-US" i="1" dirty="0"/>
              <a:t>Where</a:t>
            </a:r>
            <a:r>
              <a:rPr lang="en-US" dirty="0"/>
              <a:t> in the tissue they're expressed</a:t>
            </a:r>
          </a:p>
        </p:txBody>
      </p:sp>
    </p:spTree>
    <p:extLst>
      <p:ext uri="{BB962C8B-B14F-4D97-AF65-F5344CB8AC3E}">
        <p14:creationId xmlns:p14="http://schemas.microsoft.com/office/powerpoint/2010/main" val="1020207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EF1E19F7-60FF-61EB-2317-0283C1C2B0B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CC22D8F-7B75-80AE-AB07-0B5BBE9AF91E}"/>
              </a:ext>
            </a:extLst>
          </p:cNvPr>
          <p:cNvSpPr txBox="1"/>
          <p:nvPr/>
        </p:nvSpPr>
        <p:spPr>
          <a:xfrm>
            <a:off x="385956" y="1155868"/>
            <a:ext cx="8372089" cy="430887"/>
          </a:xfrm>
          <a:prstGeom prst="rect">
            <a:avLst/>
          </a:prstGeom>
          <a:solidFill>
            <a:schemeClr val="bg1">
              <a:lumMod val="95000"/>
            </a:schemeClr>
          </a:solidFill>
        </p:spPr>
        <p:txBody>
          <a:bodyPr wrap="square">
            <a:spAutoFit/>
          </a:bodyPr>
          <a:lstStyle/>
          <a:p>
            <a:r>
              <a:rPr lang="en-US" sz="1100" i="1" dirty="0"/>
              <a:t>You are studying a feline mammary tumor and want to understand why some cells resist chemotherapy while others don't. You suspect different tumor cell subpopulations behave differently. </a:t>
            </a:r>
          </a:p>
        </p:txBody>
      </p:sp>
      <p:sp>
        <p:nvSpPr>
          <p:cNvPr id="14" name="Google Shape;59;p14">
            <a:extLst>
              <a:ext uri="{FF2B5EF4-FFF2-40B4-BE49-F238E27FC236}">
                <a16:creationId xmlns:a16="http://schemas.microsoft.com/office/drawing/2014/main" id="{0F173E87-8C61-B470-53A0-473BA023F4C6}"/>
              </a:ext>
            </a:extLst>
          </p:cNvPr>
          <p:cNvSpPr txBox="1">
            <a:spLocks noGrp="1"/>
          </p:cNvSpPr>
          <p:nvPr>
            <p:ph type="title"/>
          </p:nvPr>
        </p:nvSpPr>
        <p:spPr>
          <a:xfrm>
            <a:off x="311700" y="272400"/>
            <a:ext cx="8520600" cy="572700"/>
          </a:xfrm>
          <a:prstGeom prst="rect">
            <a:avLst/>
          </a:prstGeom>
        </p:spPr>
        <p:txBody>
          <a:bodyPr spcFirstLastPara="1" vert="horz" wrap="square" lIns="91425" tIns="91425" rIns="91425" bIns="91425" rtlCol="0" anchor="t" anchorCtr="0">
            <a:normAutofit fontScale="90000"/>
          </a:bodyPr>
          <a:lstStyle/>
          <a:p>
            <a:r>
              <a:rPr lang="en" dirty="0"/>
              <a:t>RNA-seq approaches</a:t>
            </a:r>
            <a:endParaRPr dirty="0"/>
          </a:p>
        </p:txBody>
      </p:sp>
      <p:pic>
        <p:nvPicPr>
          <p:cNvPr id="4098" name="Picture 2" descr="quiz game icon speech bubble">
            <a:extLst>
              <a:ext uri="{FF2B5EF4-FFF2-40B4-BE49-F238E27FC236}">
                <a16:creationId xmlns:a16="http://schemas.microsoft.com/office/drawing/2014/main" id="{CB582318-E963-C4B7-DAAD-F5D8BB7520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07" b="14864"/>
          <a:stretch>
            <a:fillRect/>
          </a:stretch>
        </p:blipFill>
        <p:spPr bwMode="auto">
          <a:xfrm>
            <a:off x="4754262" y="0"/>
            <a:ext cx="1516599" cy="10471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137CC61-19B9-FA88-AE64-39AB8E2CDDB0}"/>
              </a:ext>
            </a:extLst>
          </p:cNvPr>
          <p:cNvSpPr txBox="1"/>
          <p:nvPr/>
        </p:nvSpPr>
        <p:spPr>
          <a:xfrm>
            <a:off x="385955" y="1521026"/>
            <a:ext cx="1834156" cy="938719"/>
          </a:xfrm>
          <a:prstGeom prst="rect">
            <a:avLst/>
          </a:prstGeom>
          <a:noFill/>
        </p:spPr>
        <p:txBody>
          <a:bodyPr wrap="none" rtlCol="0">
            <a:spAutoFit/>
          </a:bodyPr>
          <a:lstStyle/>
          <a:p>
            <a:endParaRPr lang="en-US" sz="1100" dirty="0"/>
          </a:p>
          <a:p>
            <a:pPr marL="228600" indent="-228600">
              <a:buAutoNum type="alphaUcParenR"/>
            </a:pPr>
            <a:r>
              <a:rPr lang="en-US" sz="1100" dirty="0"/>
              <a:t>Bulk RNA-seq </a:t>
            </a:r>
          </a:p>
          <a:p>
            <a:pPr marL="228600" indent="-228600">
              <a:buAutoNum type="alphaUcParenR"/>
            </a:pPr>
            <a:r>
              <a:rPr lang="en-US" sz="1100" dirty="0"/>
              <a:t>Single-cell RNA-seq  </a:t>
            </a:r>
          </a:p>
          <a:p>
            <a:pPr marL="228600" indent="-228600">
              <a:buAutoNum type="alphaUcParenR"/>
            </a:pPr>
            <a:r>
              <a:rPr lang="en-US" sz="1100" dirty="0"/>
              <a:t>Spatial transcriptomics</a:t>
            </a:r>
          </a:p>
          <a:p>
            <a:endParaRPr lang="en-US" sz="1100" dirty="0"/>
          </a:p>
        </p:txBody>
      </p:sp>
      <p:sp>
        <p:nvSpPr>
          <p:cNvPr id="3" name="TextBox 2">
            <a:extLst>
              <a:ext uri="{FF2B5EF4-FFF2-40B4-BE49-F238E27FC236}">
                <a16:creationId xmlns:a16="http://schemas.microsoft.com/office/drawing/2014/main" id="{88708B48-A3EE-A416-6866-2362047DD457}"/>
              </a:ext>
            </a:extLst>
          </p:cNvPr>
          <p:cNvSpPr txBox="1"/>
          <p:nvPr/>
        </p:nvSpPr>
        <p:spPr>
          <a:xfrm>
            <a:off x="385954" y="2459745"/>
            <a:ext cx="7225990" cy="577081"/>
          </a:xfrm>
          <a:prstGeom prst="rect">
            <a:avLst/>
          </a:prstGeom>
          <a:noFill/>
        </p:spPr>
        <p:txBody>
          <a:bodyPr wrap="square" rtlCol="0">
            <a:spAutoFit/>
          </a:bodyPr>
          <a:lstStyle/>
          <a:p>
            <a:r>
              <a:rPr lang="en-US" sz="1050" b="1" dirty="0"/>
              <a:t>Why:</a:t>
            </a:r>
            <a:r>
              <a:rPr lang="en-US" sz="1050" dirty="0"/>
              <a:t> Bulk RNA-seq would average signals across all cells, masking the resistant subpopulation. </a:t>
            </a:r>
            <a:r>
              <a:rPr lang="en-US" sz="1050" dirty="0" err="1"/>
              <a:t>scRNA</a:t>
            </a:r>
            <a:r>
              <a:rPr lang="en-US" sz="1050" dirty="0"/>
              <a:t>-seq lets you identify distinct cell clusters within the tumor and pinpoint which cells are driving resistance — essential for targeted therapy.</a:t>
            </a:r>
          </a:p>
        </p:txBody>
      </p:sp>
      <p:sp>
        <p:nvSpPr>
          <p:cNvPr id="4" name="Right Arrow 3">
            <a:extLst>
              <a:ext uri="{FF2B5EF4-FFF2-40B4-BE49-F238E27FC236}">
                <a16:creationId xmlns:a16="http://schemas.microsoft.com/office/drawing/2014/main" id="{5E0B1C8D-A2A2-368F-6B17-2154B3C18666}"/>
              </a:ext>
            </a:extLst>
          </p:cNvPr>
          <p:cNvSpPr/>
          <p:nvPr/>
        </p:nvSpPr>
        <p:spPr>
          <a:xfrm rot="10800000">
            <a:off x="2100890" y="1899448"/>
            <a:ext cx="343458" cy="181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926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A6CBDC8D-904B-11AA-8C28-E37EE67F62B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C2D2B0D7-4716-92A9-4F7A-AE7896E3EB25}"/>
              </a:ext>
            </a:extLst>
          </p:cNvPr>
          <p:cNvSpPr txBox="1"/>
          <p:nvPr/>
        </p:nvSpPr>
        <p:spPr>
          <a:xfrm>
            <a:off x="385956" y="1155868"/>
            <a:ext cx="8372089" cy="430887"/>
          </a:xfrm>
          <a:prstGeom prst="rect">
            <a:avLst/>
          </a:prstGeom>
          <a:solidFill>
            <a:schemeClr val="bg1">
              <a:lumMod val="95000"/>
            </a:schemeClr>
          </a:solidFill>
        </p:spPr>
        <p:txBody>
          <a:bodyPr wrap="square">
            <a:spAutoFit/>
          </a:bodyPr>
          <a:lstStyle/>
          <a:p>
            <a:r>
              <a:rPr lang="en-US" sz="1100" dirty="0"/>
              <a:t>You are studying how the liver responds to canine distemper virus across a cohort of 30 dogs. You want to identify differentially expressed genes between infected and healthy animals.</a:t>
            </a:r>
            <a:endParaRPr lang="en-US" sz="1100" i="1" dirty="0"/>
          </a:p>
        </p:txBody>
      </p:sp>
      <p:sp>
        <p:nvSpPr>
          <p:cNvPr id="14" name="Google Shape;59;p14">
            <a:extLst>
              <a:ext uri="{FF2B5EF4-FFF2-40B4-BE49-F238E27FC236}">
                <a16:creationId xmlns:a16="http://schemas.microsoft.com/office/drawing/2014/main" id="{96F166C8-79FF-A5B9-76BB-1011F86C2786}"/>
              </a:ext>
            </a:extLst>
          </p:cNvPr>
          <p:cNvSpPr txBox="1">
            <a:spLocks noGrp="1"/>
          </p:cNvSpPr>
          <p:nvPr>
            <p:ph type="title"/>
          </p:nvPr>
        </p:nvSpPr>
        <p:spPr>
          <a:xfrm>
            <a:off x="311700" y="272400"/>
            <a:ext cx="8520600" cy="572700"/>
          </a:xfrm>
          <a:prstGeom prst="rect">
            <a:avLst/>
          </a:prstGeom>
        </p:spPr>
        <p:txBody>
          <a:bodyPr spcFirstLastPara="1" vert="horz" wrap="square" lIns="91425" tIns="91425" rIns="91425" bIns="91425" rtlCol="0" anchor="t" anchorCtr="0">
            <a:normAutofit fontScale="90000"/>
          </a:bodyPr>
          <a:lstStyle/>
          <a:p>
            <a:r>
              <a:rPr lang="en" dirty="0"/>
              <a:t>RNA-seq approaches</a:t>
            </a:r>
            <a:endParaRPr dirty="0"/>
          </a:p>
        </p:txBody>
      </p:sp>
      <p:pic>
        <p:nvPicPr>
          <p:cNvPr id="4098" name="Picture 2" descr="quiz game icon speech bubble">
            <a:extLst>
              <a:ext uri="{FF2B5EF4-FFF2-40B4-BE49-F238E27FC236}">
                <a16:creationId xmlns:a16="http://schemas.microsoft.com/office/drawing/2014/main" id="{71BF337A-7D40-7428-CD79-A1B35AD836A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07" b="14864"/>
          <a:stretch>
            <a:fillRect/>
          </a:stretch>
        </p:blipFill>
        <p:spPr bwMode="auto">
          <a:xfrm>
            <a:off x="4754262" y="0"/>
            <a:ext cx="1516599" cy="10471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D74023D-9EA7-A727-4A56-685C72D7C13F}"/>
              </a:ext>
            </a:extLst>
          </p:cNvPr>
          <p:cNvSpPr txBox="1"/>
          <p:nvPr/>
        </p:nvSpPr>
        <p:spPr>
          <a:xfrm>
            <a:off x="385955" y="1521026"/>
            <a:ext cx="1834156" cy="938719"/>
          </a:xfrm>
          <a:prstGeom prst="rect">
            <a:avLst/>
          </a:prstGeom>
          <a:noFill/>
        </p:spPr>
        <p:txBody>
          <a:bodyPr wrap="none" rtlCol="0">
            <a:spAutoFit/>
          </a:bodyPr>
          <a:lstStyle/>
          <a:p>
            <a:endParaRPr lang="en-US" sz="1100" dirty="0"/>
          </a:p>
          <a:p>
            <a:pPr marL="228600" indent="-228600">
              <a:buAutoNum type="alphaUcParenR"/>
            </a:pPr>
            <a:r>
              <a:rPr lang="en-US" sz="1100" dirty="0"/>
              <a:t>Bulk RNA-seq </a:t>
            </a:r>
          </a:p>
          <a:p>
            <a:pPr marL="228600" indent="-228600">
              <a:buAutoNum type="alphaUcParenR"/>
            </a:pPr>
            <a:r>
              <a:rPr lang="en-US" sz="1100" dirty="0"/>
              <a:t>Single-cell RNA-seq  </a:t>
            </a:r>
          </a:p>
          <a:p>
            <a:pPr marL="228600" indent="-228600">
              <a:buAutoNum type="alphaUcParenR"/>
            </a:pPr>
            <a:r>
              <a:rPr lang="en-US" sz="1100" dirty="0"/>
              <a:t>Spatial transcriptomics</a:t>
            </a:r>
          </a:p>
          <a:p>
            <a:endParaRPr lang="en-US" sz="1100" dirty="0"/>
          </a:p>
        </p:txBody>
      </p:sp>
      <p:sp>
        <p:nvSpPr>
          <p:cNvPr id="3" name="TextBox 2">
            <a:extLst>
              <a:ext uri="{FF2B5EF4-FFF2-40B4-BE49-F238E27FC236}">
                <a16:creationId xmlns:a16="http://schemas.microsoft.com/office/drawing/2014/main" id="{4DE33AE5-96E2-9AED-74F5-ECB9D13D805A}"/>
              </a:ext>
            </a:extLst>
          </p:cNvPr>
          <p:cNvSpPr txBox="1"/>
          <p:nvPr/>
        </p:nvSpPr>
        <p:spPr>
          <a:xfrm>
            <a:off x="385954" y="2459745"/>
            <a:ext cx="7225990" cy="577081"/>
          </a:xfrm>
          <a:prstGeom prst="rect">
            <a:avLst/>
          </a:prstGeom>
          <a:noFill/>
        </p:spPr>
        <p:txBody>
          <a:bodyPr wrap="square" rtlCol="0">
            <a:spAutoFit/>
          </a:bodyPr>
          <a:lstStyle/>
          <a:p>
            <a:r>
              <a:rPr lang="en-US" sz="1050" b="1" dirty="0"/>
              <a:t>Why:</a:t>
            </a:r>
            <a:r>
              <a:rPr lang="en-US" sz="1050" dirty="0"/>
              <a:t> This is a classic bulk RNA-seq use case. You're comparing overall gene expression across groups at scale — bulk is cost-effective, statistically powerful for differential expression, and single-cell resolution isn't needed to answer this question.</a:t>
            </a:r>
          </a:p>
        </p:txBody>
      </p:sp>
      <p:sp>
        <p:nvSpPr>
          <p:cNvPr id="4" name="Right Arrow 3">
            <a:extLst>
              <a:ext uri="{FF2B5EF4-FFF2-40B4-BE49-F238E27FC236}">
                <a16:creationId xmlns:a16="http://schemas.microsoft.com/office/drawing/2014/main" id="{BBB7F3DB-9C34-A009-2291-8D61D8A47545}"/>
              </a:ext>
            </a:extLst>
          </p:cNvPr>
          <p:cNvSpPr/>
          <p:nvPr/>
        </p:nvSpPr>
        <p:spPr>
          <a:xfrm rot="10800000">
            <a:off x="1704925" y="1718090"/>
            <a:ext cx="343458" cy="181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6624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915600B0-6CF3-4596-A3BB-06F8AED1DAD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DCEA3A6-4F9E-DBA7-7EFD-DDB6FD2B969D}"/>
              </a:ext>
            </a:extLst>
          </p:cNvPr>
          <p:cNvSpPr txBox="1"/>
          <p:nvPr/>
        </p:nvSpPr>
        <p:spPr>
          <a:xfrm>
            <a:off x="385956" y="1155868"/>
            <a:ext cx="8372089" cy="430887"/>
          </a:xfrm>
          <a:prstGeom prst="rect">
            <a:avLst/>
          </a:prstGeom>
          <a:solidFill>
            <a:schemeClr val="bg1">
              <a:lumMod val="95000"/>
            </a:schemeClr>
          </a:solidFill>
        </p:spPr>
        <p:txBody>
          <a:bodyPr wrap="square">
            <a:spAutoFit/>
          </a:bodyPr>
          <a:lstStyle/>
          <a:p>
            <a:r>
              <a:rPr lang="en-US" sz="1100" dirty="0"/>
              <a:t>You are studying equine neuroaxonal dystrophy and want to know which brain regions show abnormal gene expression, and whether there is a spatial gradient of neuroinflammation from lesion core to periphery. Which approach would you choose?</a:t>
            </a:r>
            <a:endParaRPr lang="en-US" sz="1100" i="1" dirty="0"/>
          </a:p>
        </p:txBody>
      </p:sp>
      <p:sp>
        <p:nvSpPr>
          <p:cNvPr id="14" name="Google Shape;59;p14">
            <a:extLst>
              <a:ext uri="{FF2B5EF4-FFF2-40B4-BE49-F238E27FC236}">
                <a16:creationId xmlns:a16="http://schemas.microsoft.com/office/drawing/2014/main" id="{C7142D60-0F8B-C8C5-4436-2A57DC5B1E57}"/>
              </a:ext>
            </a:extLst>
          </p:cNvPr>
          <p:cNvSpPr txBox="1">
            <a:spLocks noGrp="1"/>
          </p:cNvSpPr>
          <p:nvPr>
            <p:ph type="title"/>
          </p:nvPr>
        </p:nvSpPr>
        <p:spPr>
          <a:xfrm>
            <a:off x="311700" y="272400"/>
            <a:ext cx="8520600" cy="572700"/>
          </a:xfrm>
          <a:prstGeom prst="rect">
            <a:avLst/>
          </a:prstGeom>
        </p:spPr>
        <p:txBody>
          <a:bodyPr spcFirstLastPara="1" vert="horz" wrap="square" lIns="91425" tIns="91425" rIns="91425" bIns="91425" rtlCol="0" anchor="t" anchorCtr="0">
            <a:normAutofit fontScale="90000"/>
          </a:bodyPr>
          <a:lstStyle/>
          <a:p>
            <a:r>
              <a:rPr lang="en" dirty="0"/>
              <a:t>RNA-seq approaches</a:t>
            </a:r>
            <a:endParaRPr dirty="0"/>
          </a:p>
        </p:txBody>
      </p:sp>
      <p:pic>
        <p:nvPicPr>
          <p:cNvPr id="4098" name="Picture 2" descr="quiz game icon speech bubble">
            <a:extLst>
              <a:ext uri="{FF2B5EF4-FFF2-40B4-BE49-F238E27FC236}">
                <a16:creationId xmlns:a16="http://schemas.microsoft.com/office/drawing/2014/main" id="{C67BFC2E-ECEF-3150-D566-663042DBE82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07" b="14864"/>
          <a:stretch>
            <a:fillRect/>
          </a:stretch>
        </p:blipFill>
        <p:spPr bwMode="auto">
          <a:xfrm>
            <a:off x="4754262" y="0"/>
            <a:ext cx="1516599" cy="10471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F423469-0A98-C5F3-96BB-066C0397654C}"/>
              </a:ext>
            </a:extLst>
          </p:cNvPr>
          <p:cNvSpPr txBox="1"/>
          <p:nvPr/>
        </p:nvSpPr>
        <p:spPr>
          <a:xfrm>
            <a:off x="385955" y="1521026"/>
            <a:ext cx="1834156" cy="938719"/>
          </a:xfrm>
          <a:prstGeom prst="rect">
            <a:avLst/>
          </a:prstGeom>
          <a:noFill/>
        </p:spPr>
        <p:txBody>
          <a:bodyPr wrap="none" rtlCol="0">
            <a:spAutoFit/>
          </a:bodyPr>
          <a:lstStyle/>
          <a:p>
            <a:endParaRPr lang="en-US" sz="1100" dirty="0"/>
          </a:p>
          <a:p>
            <a:pPr marL="228600" indent="-228600">
              <a:buAutoNum type="alphaUcParenR"/>
            </a:pPr>
            <a:r>
              <a:rPr lang="en-US" sz="1100" dirty="0"/>
              <a:t>Bulk RNA-seq </a:t>
            </a:r>
          </a:p>
          <a:p>
            <a:pPr marL="228600" indent="-228600">
              <a:buAutoNum type="alphaUcParenR"/>
            </a:pPr>
            <a:r>
              <a:rPr lang="en-US" sz="1100" dirty="0"/>
              <a:t>Single-cell RNA-seq  </a:t>
            </a:r>
          </a:p>
          <a:p>
            <a:pPr marL="228600" indent="-228600">
              <a:buAutoNum type="alphaUcParenR"/>
            </a:pPr>
            <a:r>
              <a:rPr lang="en-US" sz="1100" dirty="0"/>
              <a:t>Spatial transcriptomics</a:t>
            </a:r>
          </a:p>
          <a:p>
            <a:endParaRPr lang="en-US" sz="1100" dirty="0"/>
          </a:p>
        </p:txBody>
      </p:sp>
      <p:sp>
        <p:nvSpPr>
          <p:cNvPr id="3" name="TextBox 2">
            <a:extLst>
              <a:ext uri="{FF2B5EF4-FFF2-40B4-BE49-F238E27FC236}">
                <a16:creationId xmlns:a16="http://schemas.microsoft.com/office/drawing/2014/main" id="{D360733B-3977-B3A3-3F92-D228A2647B50}"/>
              </a:ext>
            </a:extLst>
          </p:cNvPr>
          <p:cNvSpPr txBox="1"/>
          <p:nvPr/>
        </p:nvSpPr>
        <p:spPr>
          <a:xfrm>
            <a:off x="385954" y="2459745"/>
            <a:ext cx="7225990" cy="577081"/>
          </a:xfrm>
          <a:prstGeom prst="rect">
            <a:avLst/>
          </a:prstGeom>
          <a:noFill/>
        </p:spPr>
        <p:txBody>
          <a:bodyPr wrap="square" rtlCol="0">
            <a:spAutoFit/>
          </a:bodyPr>
          <a:lstStyle/>
          <a:p>
            <a:r>
              <a:rPr lang="en-US" sz="1050" b="1" dirty="0"/>
              <a:t>Why:</a:t>
            </a:r>
            <a:r>
              <a:rPr lang="en-US" sz="1050" dirty="0"/>
              <a:t> Spatial transcriptomics maps gene expression directly within tissue sections while preserving anatomical context. You can visualize the inflammation gradient and understand how the lesion microenvironment is organized — information that bulk or </a:t>
            </a:r>
            <a:r>
              <a:rPr lang="en-US" sz="1050" dirty="0" err="1"/>
              <a:t>scRNA</a:t>
            </a:r>
            <a:r>
              <a:rPr lang="en-US" sz="1050" dirty="0"/>
              <a:t>-seq would lose entirely.</a:t>
            </a:r>
          </a:p>
        </p:txBody>
      </p:sp>
      <p:sp>
        <p:nvSpPr>
          <p:cNvPr id="4" name="Right Arrow 3">
            <a:extLst>
              <a:ext uri="{FF2B5EF4-FFF2-40B4-BE49-F238E27FC236}">
                <a16:creationId xmlns:a16="http://schemas.microsoft.com/office/drawing/2014/main" id="{C57F2403-23CA-C7C4-2654-2E04A8DFF30C}"/>
              </a:ext>
            </a:extLst>
          </p:cNvPr>
          <p:cNvSpPr/>
          <p:nvPr/>
        </p:nvSpPr>
        <p:spPr>
          <a:xfrm rot="10800000">
            <a:off x="2220111" y="2080808"/>
            <a:ext cx="343458" cy="181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9529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41274A74-0EDD-8909-AAF8-0CBB43F9B7C9}"/>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8133035-5137-DAA2-CAEF-9DE4DE7A62B4}"/>
              </a:ext>
            </a:extLst>
          </p:cNvPr>
          <p:cNvSpPr txBox="1"/>
          <p:nvPr/>
        </p:nvSpPr>
        <p:spPr>
          <a:xfrm>
            <a:off x="385956" y="1155868"/>
            <a:ext cx="8372089" cy="430887"/>
          </a:xfrm>
          <a:prstGeom prst="rect">
            <a:avLst/>
          </a:prstGeom>
          <a:solidFill>
            <a:schemeClr val="bg1">
              <a:lumMod val="95000"/>
            </a:schemeClr>
          </a:solidFill>
        </p:spPr>
        <p:txBody>
          <a:bodyPr wrap="square">
            <a:spAutoFit/>
          </a:bodyPr>
          <a:lstStyle/>
          <a:p>
            <a:r>
              <a:rPr lang="en-US" sz="1100" dirty="0"/>
              <a:t>A dog has a poorly healing wound. You biopsy the tissue and want to understand where fibroblasts are being activated, how the wound margin differs from the center, and which signaling pathways are spatially coordinated. What do you choose?</a:t>
            </a:r>
            <a:endParaRPr lang="en-US" sz="1100" i="1" dirty="0"/>
          </a:p>
        </p:txBody>
      </p:sp>
      <p:sp>
        <p:nvSpPr>
          <p:cNvPr id="14" name="Google Shape;59;p14">
            <a:extLst>
              <a:ext uri="{FF2B5EF4-FFF2-40B4-BE49-F238E27FC236}">
                <a16:creationId xmlns:a16="http://schemas.microsoft.com/office/drawing/2014/main" id="{D12BDDA2-B45F-3B69-197B-E5F34A28C7E5}"/>
              </a:ext>
            </a:extLst>
          </p:cNvPr>
          <p:cNvSpPr txBox="1">
            <a:spLocks noGrp="1"/>
          </p:cNvSpPr>
          <p:nvPr>
            <p:ph type="title"/>
          </p:nvPr>
        </p:nvSpPr>
        <p:spPr>
          <a:xfrm>
            <a:off x="311700" y="272400"/>
            <a:ext cx="8520600" cy="572700"/>
          </a:xfrm>
          <a:prstGeom prst="rect">
            <a:avLst/>
          </a:prstGeom>
        </p:spPr>
        <p:txBody>
          <a:bodyPr spcFirstLastPara="1" vert="horz" wrap="square" lIns="91425" tIns="91425" rIns="91425" bIns="91425" rtlCol="0" anchor="t" anchorCtr="0">
            <a:normAutofit fontScale="90000"/>
          </a:bodyPr>
          <a:lstStyle/>
          <a:p>
            <a:r>
              <a:rPr lang="en" dirty="0"/>
              <a:t>RNA-seq approaches</a:t>
            </a:r>
            <a:endParaRPr dirty="0"/>
          </a:p>
        </p:txBody>
      </p:sp>
      <p:pic>
        <p:nvPicPr>
          <p:cNvPr id="4098" name="Picture 2" descr="quiz game icon speech bubble">
            <a:extLst>
              <a:ext uri="{FF2B5EF4-FFF2-40B4-BE49-F238E27FC236}">
                <a16:creationId xmlns:a16="http://schemas.microsoft.com/office/drawing/2014/main" id="{264C7D15-67A8-98BA-1348-7AEE09330E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07" b="14864"/>
          <a:stretch>
            <a:fillRect/>
          </a:stretch>
        </p:blipFill>
        <p:spPr bwMode="auto">
          <a:xfrm>
            <a:off x="4754262" y="0"/>
            <a:ext cx="1516599" cy="10471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D4880D8-C5AE-0895-DA69-352F11E6DD02}"/>
              </a:ext>
            </a:extLst>
          </p:cNvPr>
          <p:cNvSpPr txBox="1"/>
          <p:nvPr/>
        </p:nvSpPr>
        <p:spPr>
          <a:xfrm>
            <a:off x="385955" y="1521026"/>
            <a:ext cx="1834156" cy="938719"/>
          </a:xfrm>
          <a:prstGeom prst="rect">
            <a:avLst/>
          </a:prstGeom>
          <a:noFill/>
        </p:spPr>
        <p:txBody>
          <a:bodyPr wrap="none" rtlCol="0">
            <a:spAutoFit/>
          </a:bodyPr>
          <a:lstStyle/>
          <a:p>
            <a:endParaRPr lang="en-US" sz="1100" dirty="0"/>
          </a:p>
          <a:p>
            <a:pPr marL="228600" indent="-228600">
              <a:buAutoNum type="alphaUcParenR"/>
            </a:pPr>
            <a:r>
              <a:rPr lang="en-US" sz="1100" dirty="0"/>
              <a:t>Bulk RNA-seq </a:t>
            </a:r>
          </a:p>
          <a:p>
            <a:pPr marL="228600" indent="-228600">
              <a:buAutoNum type="alphaUcParenR"/>
            </a:pPr>
            <a:r>
              <a:rPr lang="en-US" sz="1100" dirty="0"/>
              <a:t>Single-cell RNA-seq  </a:t>
            </a:r>
          </a:p>
          <a:p>
            <a:pPr marL="228600" indent="-228600">
              <a:buAutoNum type="alphaUcParenR"/>
            </a:pPr>
            <a:r>
              <a:rPr lang="en-US" sz="1100" dirty="0"/>
              <a:t>Spatial transcriptomics</a:t>
            </a:r>
          </a:p>
          <a:p>
            <a:endParaRPr lang="en-US" sz="1100" dirty="0"/>
          </a:p>
        </p:txBody>
      </p:sp>
      <p:sp>
        <p:nvSpPr>
          <p:cNvPr id="3" name="TextBox 2">
            <a:extLst>
              <a:ext uri="{FF2B5EF4-FFF2-40B4-BE49-F238E27FC236}">
                <a16:creationId xmlns:a16="http://schemas.microsoft.com/office/drawing/2014/main" id="{859EA0D4-D8C0-CA47-BEE6-DCBBBE7BB8AC}"/>
              </a:ext>
            </a:extLst>
          </p:cNvPr>
          <p:cNvSpPr txBox="1"/>
          <p:nvPr/>
        </p:nvSpPr>
        <p:spPr>
          <a:xfrm>
            <a:off x="385954" y="2459745"/>
            <a:ext cx="7225990" cy="577081"/>
          </a:xfrm>
          <a:prstGeom prst="rect">
            <a:avLst/>
          </a:prstGeom>
          <a:noFill/>
        </p:spPr>
        <p:txBody>
          <a:bodyPr wrap="square" rtlCol="0">
            <a:spAutoFit/>
          </a:bodyPr>
          <a:lstStyle/>
          <a:p>
            <a:r>
              <a:rPr lang="en-US" sz="1050" b="1" dirty="0"/>
              <a:t>Why:</a:t>
            </a:r>
            <a:r>
              <a:rPr lang="en-US" sz="1050" dirty="0"/>
              <a:t> Spatial transcriptomics preserves tissue architecture — it shows you gene expression in situ, revealing activation gradients and cell-cell communication zones. Neither bulk nor </a:t>
            </a:r>
            <a:r>
              <a:rPr lang="en-US" sz="1050" dirty="0" err="1"/>
              <a:t>scRNA</a:t>
            </a:r>
            <a:r>
              <a:rPr lang="en-US" sz="1050" dirty="0"/>
              <a:t>-seq can tell you where in the tissue these events are happening.</a:t>
            </a:r>
          </a:p>
        </p:txBody>
      </p:sp>
      <p:sp>
        <p:nvSpPr>
          <p:cNvPr id="4" name="Right Arrow 3">
            <a:extLst>
              <a:ext uri="{FF2B5EF4-FFF2-40B4-BE49-F238E27FC236}">
                <a16:creationId xmlns:a16="http://schemas.microsoft.com/office/drawing/2014/main" id="{E248EAD8-B926-869E-4BD7-31B10F447DA8}"/>
              </a:ext>
            </a:extLst>
          </p:cNvPr>
          <p:cNvSpPr/>
          <p:nvPr/>
        </p:nvSpPr>
        <p:spPr>
          <a:xfrm rot="10800000">
            <a:off x="2206976" y="2080808"/>
            <a:ext cx="343458" cy="181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4550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4F9471CA-75E6-99DE-7126-3A5E42BB5C9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F947DD7-5377-F285-9EAC-3B65EDA99DEC}"/>
              </a:ext>
            </a:extLst>
          </p:cNvPr>
          <p:cNvSpPr txBox="1"/>
          <p:nvPr/>
        </p:nvSpPr>
        <p:spPr>
          <a:xfrm>
            <a:off x="385956" y="1155868"/>
            <a:ext cx="8372089" cy="430887"/>
          </a:xfrm>
          <a:prstGeom prst="rect">
            <a:avLst/>
          </a:prstGeom>
          <a:solidFill>
            <a:schemeClr val="bg1">
              <a:lumMod val="95000"/>
            </a:schemeClr>
          </a:solidFill>
        </p:spPr>
        <p:txBody>
          <a:bodyPr wrap="square">
            <a:spAutoFit/>
          </a:bodyPr>
          <a:lstStyle/>
          <a:p>
            <a:r>
              <a:rPr lang="en-US" sz="1100" dirty="0"/>
              <a:t>You are investigating immune tolerance in bovine intestinal mucosa and want to understand how different immune cell populations (T cells, macrophages, dendritic cells) coordinate their responses to commensal bacteria. Which method is best?</a:t>
            </a:r>
            <a:endParaRPr lang="en-US" sz="1100" i="1" dirty="0"/>
          </a:p>
        </p:txBody>
      </p:sp>
      <p:sp>
        <p:nvSpPr>
          <p:cNvPr id="14" name="Google Shape;59;p14">
            <a:extLst>
              <a:ext uri="{FF2B5EF4-FFF2-40B4-BE49-F238E27FC236}">
                <a16:creationId xmlns:a16="http://schemas.microsoft.com/office/drawing/2014/main" id="{B21E9FEE-E815-6757-05CA-AC37EB8A8FCA}"/>
              </a:ext>
            </a:extLst>
          </p:cNvPr>
          <p:cNvSpPr txBox="1">
            <a:spLocks noGrp="1"/>
          </p:cNvSpPr>
          <p:nvPr>
            <p:ph type="title"/>
          </p:nvPr>
        </p:nvSpPr>
        <p:spPr>
          <a:xfrm>
            <a:off x="311700" y="272400"/>
            <a:ext cx="8520600" cy="572700"/>
          </a:xfrm>
          <a:prstGeom prst="rect">
            <a:avLst/>
          </a:prstGeom>
        </p:spPr>
        <p:txBody>
          <a:bodyPr spcFirstLastPara="1" vert="horz" wrap="square" lIns="91425" tIns="91425" rIns="91425" bIns="91425" rtlCol="0" anchor="t" anchorCtr="0">
            <a:normAutofit fontScale="90000"/>
          </a:bodyPr>
          <a:lstStyle/>
          <a:p>
            <a:r>
              <a:rPr lang="en" dirty="0"/>
              <a:t>RNA-seq approaches</a:t>
            </a:r>
            <a:endParaRPr dirty="0"/>
          </a:p>
        </p:txBody>
      </p:sp>
      <p:pic>
        <p:nvPicPr>
          <p:cNvPr id="4098" name="Picture 2" descr="quiz game icon speech bubble">
            <a:extLst>
              <a:ext uri="{FF2B5EF4-FFF2-40B4-BE49-F238E27FC236}">
                <a16:creationId xmlns:a16="http://schemas.microsoft.com/office/drawing/2014/main" id="{B97FCF77-B281-5D9F-E762-CB6FE22E12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07" b="14864"/>
          <a:stretch>
            <a:fillRect/>
          </a:stretch>
        </p:blipFill>
        <p:spPr bwMode="auto">
          <a:xfrm>
            <a:off x="4754262" y="0"/>
            <a:ext cx="1516599" cy="10471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79D48EA-9E33-C103-9BFB-90EC3FBABE5A}"/>
              </a:ext>
            </a:extLst>
          </p:cNvPr>
          <p:cNvSpPr txBox="1"/>
          <p:nvPr/>
        </p:nvSpPr>
        <p:spPr>
          <a:xfrm>
            <a:off x="385955" y="1521026"/>
            <a:ext cx="1834156" cy="938719"/>
          </a:xfrm>
          <a:prstGeom prst="rect">
            <a:avLst/>
          </a:prstGeom>
          <a:noFill/>
        </p:spPr>
        <p:txBody>
          <a:bodyPr wrap="none" rtlCol="0">
            <a:spAutoFit/>
          </a:bodyPr>
          <a:lstStyle/>
          <a:p>
            <a:endParaRPr lang="en-US" sz="1100" dirty="0"/>
          </a:p>
          <a:p>
            <a:pPr marL="228600" indent="-228600">
              <a:buAutoNum type="alphaUcParenR"/>
            </a:pPr>
            <a:r>
              <a:rPr lang="en-US" sz="1100" dirty="0"/>
              <a:t>Bulk RNA-seq </a:t>
            </a:r>
          </a:p>
          <a:p>
            <a:pPr marL="228600" indent="-228600">
              <a:buAutoNum type="alphaUcParenR"/>
            </a:pPr>
            <a:r>
              <a:rPr lang="en-US" sz="1100" dirty="0"/>
              <a:t>Single-cell RNA-seq  </a:t>
            </a:r>
          </a:p>
          <a:p>
            <a:pPr marL="228600" indent="-228600">
              <a:buAutoNum type="alphaUcParenR"/>
            </a:pPr>
            <a:r>
              <a:rPr lang="en-US" sz="1100" dirty="0"/>
              <a:t>Spatial transcriptomics</a:t>
            </a:r>
          </a:p>
          <a:p>
            <a:endParaRPr lang="en-US" sz="1100" dirty="0"/>
          </a:p>
        </p:txBody>
      </p:sp>
      <p:sp>
        <p:nvSpPr>
          <p:cNvPr id="3" name="TextBox 2">
            <a:extLst>
              <a:ext uri="{FF2B5EF4-FFF2-40B4-BE49-F238E27FC236}">
                <a16:creationId xmlns:a16="http://schemas.microsoft.com/office/drawing/2014/main" id="{929591B8-0B2C-E20D-6630-4DDA628C527B}"/>
              </a:ext>
            </a:extLst>
          </p:cNvPr>
          <p:cNvSpPr txBox="1"/>
          <p:nvPr/>
        </p:nvSpPr>
        <p:spPr>
          <a:xfrm>
            <a:off x="385954" y="2459745"/>
            <a:ext cx="7225990" cy="577081"/>
          </a:xfrm>
          <a:prstGeom prst="rect">
            <a:avLst/>
          </a:prstGeom>
          <a:noFill/>
        </p:spPr>
        <p:txBody>
          <a:bodyPr wrap="square" rtlCol="0">
            <a:spAutoFit/>
          </a:bodyPr>
          <a:lstStyle/>
          <a:p>
            <a:r>
              <a:rPr lang="en-US" sz="1050" b="1" dirty="0"/>
              <a:t>Why:</a:t>
            </a:r>
            <a:r>
              <a:rPr lang="en-US" sz="1050" dirty="0"/>
              <a:t> </a:t>
            </a:r>
            <a:r>
              <a:rPr lang="en-US" sz="1050" dirty="0" err="1"/>
              <a:t>scRNA</a:t>
            </a:r>
            <a:r>
              <a:rPr lang="en-US" sz="1050" dirty="0"/>
              <a:t>-seq lets you dissect the immune landscape at high resolution, identify rare cell populations, and determine how each cell type individually responds. Bulk RNA-seq would mix all signals together, masking the differences between populations.</a:t>
            </a:r>
          </a:p>
        </p:txBody>
      </p:sp>
      <p:sp>
        <p:nvSpPr>
          <p:cNvPr id="4" name="Right Arrow 3">
            <a:extLst>
              <a:ext uri="{FF2B5EF4-FFF2-40B4-BE49-F238E27FC236}">
                <a16:creationId xmlns:a16="http://schemas.microsoft.com/office/drawing/2014/main" id="{8BE4C2EB-9B87-A78C-061D-9173520CA805}"/>
              </a:ext>
            </a:extLst>
          </p:cNvPr>
          <p:cNvSpPr/>
          <p:nvPr/>
        </p:nvSpPr>
        <p:spPr>
          <a:xfrm rot="10800000">
            <a:off x="2132188" y="1897523"/>
            <a:ext cx="343458" cy="181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0018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64BD6106-2872-BB0B-36B0-3D95FE929A4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BE43C90-7A23-D355-8FA2-209D85549A63}"/>
              </a:ext>
            </a:extLst>
          </p:cNvPr>
          <p:cNvSpPr txBox="1"/>
          <p:nvPr/>
        </p:nvSpPr>
        <p:spPr>
          <a:xfrm>
            <a:off x="385956" y="1155868"/>
            <a:ext cx="8372089" cy="430887"/>
          </a:xfrm>
          <a:prstGeom prst="rect">
            <a:avLst/>
          </a:prstGeom>
          <a:solidFill>
            <a:schemeClr val="bg1">
              <a:lumMod val="95000"/>
            </a:schemeClr>
          </a:solidFill>
        </p:spPr>
        <p:txBody>
          <a:bodyPr wrap="square">
            <a:spAutoFit/>
          </a:bodyPr>
          <a:lstStyle/>
          <a:p>
            <a:r>
              <a:rPr lang="en-US" sz="1100" dirty="0"/>
              <a:t>You are evaluating a new avian influenza vaccine. You need to compare whole-blood transcriptomes of vaccinated vs. unvaccinated chickens at 3, 7, and 14 days post-vaccination across 50 birds. What is the most practical and statistically appropriate approach?</a:t>
            </a:r>
            <a:endParaRPr lang="en-US" sz="1100" i="1" dirty="0"/>
          </a:p>
        </p:txBody>
      </p:sp>
      <p:sp>
        <p:nvSpPr>
          <p:cNvPr id="14" name="Google Shape;59;p14">
            <a:extLst>
              <a:ext uri="{FF2B5EF4-FFF2-40B4-BE49-F238E27FC236}">
                <a16:creationId xmlns:a16="http://schemas.microsoft.com/office/drawing/2014/main" id="{34A27216-4AEE-9B0B-5283-B1DDAB038B92}"/>
              </a:ext>
            </a:extLst>
          </p:cNvPr>
          <p:cNvSpPr txBox="1">
            <a:spLocks noGrp="1"/>
          </p:cNvSpPr>
          <p:nvPr>
            <p:ph type="title"/>
          </p:nvPr>
        </p:nvSpPr>
        <p:spPr>
          <a:xfrm>
            <a:off x="311700" y="272400"/>
            <a:ext cx="8520600" cy="572700"/>
          </a:xfrm>
          <a:prstGeom prst="rect">
            <a:avLst/>
          </a:prstGeom>
        </p:spPr>
        <p:txBody>
          <a:bodyPr spcFirstLastPara="1" vert="horz" wrap="square" lIns="91425" tIns="91425" rIns="91425" bIns="91425" rtlCol="0" anchor="t" anchorCtr="0">
            <a:normAutofit fontScale="90000"/>
          </a:bodyPr>
          <a:lstStyle/>
          <a:p>
            <a:r>
              <a:rPr lang="en" dirty="0"/>
              <a:t>RNA-seq approaches</a:t>
            </a:r>
            <a:endParaRPr dirty="0"/>
          </a:p>
        </p:txBody>
      </p:sp>
      <p:pic>
        <p:nvPicPr>
          <p:cNvPr id="4098" name="Picture 2" descr="quiz game icon speech bubble">
            <a:extLst>
              <a:ext uri="{FF2B5EF4-FFF2-40B4-BE49-F238E27FC236}">
                <a16:creationId xmlns:a16="http://schemas.microsoft.com/office/drawing/2014/main" id="{0C5EF002-12B4-C48A-F106-A61CA6FD60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307" b="14864"/>
          <a:stretch>
            <a:fillRect/>
          </a:stretch>
        </p:blipFill>
        <p:spPr bwMode="auto">
          <a:xfrm>
            <a:off x="4754262" y="0"/>
            <a:ext cx="1516599" cy="104716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C7D18AC-F3FB-1E9D-504A-EA5B969AE1BB}"/>
              </a:ext>
            </a:extLst>
          </p:cNvPr>
          <p:cNvSpPr txBox="1"/>
          <p:nvPr/>
        </p:nvSpPr>
        <p:spPr>
          <a:xfrm>
            <a:off x="385955" y="1521026"/>
            <a:ext cx="1834156" cy="938719"/>
          </a:xfrm>
          <a:prstGeom prst="rect">
            <a:avLst/>
          </a:prstGeom>
          <a:noFill/>
        </p:spPr>
        <p:txBody>
          <a:bodyPr wrap="none" rtlCol="0">
            <a:spAutoFit/>
          </a:bodyPr>
          <a:lstStyle/>
          <a:p>
            <a:endParaRPr lang="en-US" sz="1100" dirty="0"/>
          </a:p>
          <a:p>
            <a:pPr marL="228600" indent="-228600">
              <a:buAutoNum type="alphaUcParenR"/>
            </a:pPr>
            <a:r>
              <a:rPr lang="en-US" sz="1100" dirty="0"/>
              <a:t>Bulk RNA-seq </a:t>
            </a:r>
          </a:p>
          <a:p>
            <a:pPr marL="228600" indent="-228600">
              <a:buAutoNum type="alphaUcParenR"/>
            </a:pPr>
            <a:r>
              <a:rPr lang="en-US" sz="1100" dirty="0"/>
              <a:t>Single-cell RNA-seq  </a:t>
            </a:r>
          </a:p>
          <a:p>
            <a:pPr marL="228600" indent="-228600">
              <a:buAutoNum type="alphaUcParenR"/>
            </a:pPr>
            <a:r>
              <a:rPr lang="en-US" sz="1100" dirty="0"/>
              <a:t>Spatial transcriptomics</a:t>
            </a:r>
          </a:p>
          <a:p>
            <a:endParaRPr lang="en-US" sz="1100" dirty="0"/>
          </a:p>
        </p:txBody>
      </p:sp>
      <p:sp>
        <p:nvSpPr>
          <p:cNvPr id="3" name="TextBox 2">
            <a:extLst>
              <a:ext uri="{FF2B5EF4-FFF2-40B4-BE49-F238E27FC236}">
                <a16:creationId xmlns:a16="http://schemas.microsoft.com/office/drawing/2014/main" id="{6B0AF525-C859-32D9-F6EE-11C09285AD52}"/>
              </a:ext>
            </a:extLst>
          </p:cNvPr>
          <p:cNvSpPr txBox="1"/>
          <p:nvPr/>
        </p:nvSpPr>
        <p:spPr>
          <a:xfrm>
            <a:off x="385954" y="2459745"/>
            <a:ext cx="7225990" cy="577081"/>
          </a:xfrm>
          <a:prstGeom prst="rect">
            <a:avLst/>
          </a:prstGeom>
          <a:noFill/>
        </p:spPr>
        <p:txBody>
          <a:bodyPr wrap="square" rtlCol="0">
            <a:spAutoFit/>
          </a:bodyPr>
          <a:lstStyle/>
          <a:p>
            <a:r>
              <a:rPr lang="en-US" sz="1050" b="1" dirty="0"/>
              <a:t>Why:</a:t>
            </a:r>
            <a:r>
              <a:rPr lang="en-US" sz="1050" dirty="0"/>
              <a:t> Large cohort, multiple time points, group-level comparison — this is exactly what bulk RNA-seq is designed for. It's cost-effective at scale and gives you the statistical power needed to draw conclusions across 50 animals. Single-cell would be prohibitively expensive and unnecessary here.</a:t>
            </a:r>
          </a:p>
        </p:txBody>
      </p:sp>
      <p:sp>
        <p:nvSpPr>
          <p:cNvPr id="4" name="Right Arrow 3">
            <a:extLst>
              <a:ext uri="{FF2B5EF4-FFF2-40B4-BE49-F238E27FC236}">
                <a16:creationId xmlns:a16="http://schemas.microsoft.com/office/drawing/2014/main" id="{FA6CD8C1-7BCE-1DDC-C2FF-0F4257BBC3BC}"/>
              </a:ext>
            </a:extLst>
          </p:cNvPr>
          <p:cNvSpPr/>
          <p:nvPr/>
        </p:nvSpPr>
        <p:spPr>
          <a:xfrm rot="10800000">
            <a:off x="1757507" y="1718090"/>
            <a:ext cx="343458" cy="1818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5074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0"/>
          <p:cNvPicPr preferRelativeResize="0"/>
          <p:nvPr/>
        </p:nvPicPr>
        <p:blipFill>
          <a:blip r:embed="rId3">
            <a:alphaModFix/>
          </a:blip>
          <a:stretch>
            <a:fillRect/>
          </a:stretch>
        </p:blipFill>
        <p:spPr>
          <a:xfrm>
            <a:off x="2454251" y="1013639"/>
            <a:ext cx="4570450" cy="3116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6DCA7-0125-50E8-3CAA-FD31C69D2772}"/>
              </a:ext>
            </a:extLst>
          </p:cNvPr>
          <p:cNvSpPr>
            <a:spLocks noGrp="1"/>
          </p:cNvSpPr>
          <p:nvPr>
            <p:ph type="title"/>
          </p:nvPr>
        </p:nvSpPr>
        <p:spPr>
          <a:xfrm>
            <a:off x="2231940" y="2105383"/>
            <a:ext cx="8520600" cy="572700"/>
          </a:xfrm>
        </p:spPr>
        <p:txBody>
          <a:bodyPr>
            <a:normAutofit fontScale="90000"/>
          </a:bodyPr>
          <a:lstStyle/>
          <a:p>
            <a:r>
              <a:rPr lang="en-US" dirty="0"/>
              <a:t>Bioinformatics in bulk RNA-seq</a:t>
            </a:r>
          </a:p>
        </p:txBody>
      </p:sp>
    </p:spTree>
    <p:extLst>
      <p:ext uri="{BB962C8B-B14F-4D97-AF65-F5344CB8AC3E}">
        <p14:creationId xmlns:p14="http://schemas.microsoft.com/office/powerpoint/2010/main" val="9793543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DC3BFA66-5E1F-9F2C-4BF8-751D0BA6E8DB}"/>
            </a:ext>
          </a:extLst>
        </p:cNvPr>
        <p:cNvGrpSpPr/>
        <p:nvPr/>
      </p:nvGrpSpPr>
      <p:grpSpPr>
        <a:xfrm>
          <a:off x="0" y="0"/>
          <a:ext cx="0" cy="0"/>
          <a:chOff x="0" y="0"/>
          <a:chExt cx="0" cy="0"/>
        </a:xfrm>
      </p:grpSpPr>
      <p:sp>
        <p:nvSpPr>
          <p:cNvPr id="2" name="Google Shape;59;p14">
            <a:extLst>
              <a:ext uri="{FF2B5EF4-FFF2-40B4-BE49-F238E27FC236}">
                <a16:creationId xmlns:a16="http://schemas.microsoft.com/office/drawing/2014/main" id="{F484AEED-B2E9-4281-69C1-FFE65BF614FA}"/>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Questions for bulk* RNA-seq</a:t>
            </a:r>
          </a:p>
        </p:txBody>
      </p:sp>
      <p:sp>
        <p:nvSpPr>
          <p:cNvPr id="21" name="TextBox 20">
            <a:extLst>
              <a:ext uri="{FF2B5EF4-FFF2-40B4-BE49-F238E27FC236}">
                <a16:creationId xmlns:a16="http://schemas.microsoft.com/office/drawing/2014/main" id="{180DC5B6-C0DC-6915-A891-915454547A17}"/>
              </a:ext>
            </a:extLst>
          </p:cNvPr>
          <p:cNvSpPr txBox="1"/>
          <p:nvPr/>
        </p:nvSpPr>
        <p:spPr>
          <a:xfrm>
            <a:off x="700064" y="1613801"/>
            <a:ext cx="7990670" cy="1815882"/>
          </a:xfrm>
          <a:prstGeom prst="rect">
            <a:avLst/>
          </a:prstGeom>
          <a:noFill/>
        </p:spPr>
        <p:txBody>
          <a:bodyPr wrap="square" rtlCol="0">
            <a:spAutoFit/>
          </a:bodyPr>
          <a:lstStyle/>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How many/which genes are differentially expressed?</a:t>
            </a:r>
            <a:r>
              <a:rPr lang="en-US" altLang="en-US" sz="1600" dirty="0">
                <a:solidFill>
                  <a:schemeClr val="tx1"/>
                </a:solidFill>
                <a:latin typeface="Arial" panose="020B0604020202020204" pitchFamily="34" charset="0"/>
              </a:rPr>
              <a:t> (Up/down regulated between conditions) </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What are absolute expression levels?</a:t>
            </a:r>
            <a:r>
              <a:rPr lang="en-US" altLang="en-US" sz="1600" dirty="0">
                <a:solidFill>
                  <a:schemeClr val="tx1"/>
                </a:solidFill>
                <a:latin typeface="Arial" panose="020B0604020202020204" pitchFamily="34" charset="0"/>
              </a:rPr>
              <a:t> (Which genes are "on" vs "off") </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What biological pathways are affected?</a:t>
            </a:r>
            <a:r>
              <a:rPr lang="en-US" altLang="en-US" sz="1600" dirty="0">
                <a:solidFill>
                  <a:schemeClr val="tx1"/>
                </a:solidFill>
                <a:latin typeface="Arial" panose="020B0604020202020204" pitchFamily="34" charset="0"/>
              </a:rPr>
              <a:t> (Functional interpretation) </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How do samples compare?</a:t>
            </a:r>
            <a:r>
              <a:rPr lang="en-US" altLang="en-US" sz="1600" dirty="0">
                <a:solidFill>
                  <a:schemeClr val="tx1"/>
                </a:solidFill>
                <a:latin typeface="Arial" panose="020B0604020202020204" pitchFamily="34" charset="0"/>
              </a:rPr>
              <a:t> (Disease vs healthy, treated vs control, etc.) </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Can we predict outcomes from expression?</a:t>
            </a:r>
            <a:r>
              <a:rPr lang="en-US" altLang="en-US" sz="1600" dirty="0">
                <a:solidFill>
                  <a:schemeClr val="tx1"/>
                </a:solidFill>
                <a:latin typeface="Arial" panose="020B0604020202020204" pitchFamily="34" charset="0"/>
              </a:rPr>
              <a:t> (Biomarkers, classification)</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14022017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0631B7FD-EECA-5BB5-C024-0EED7A78F2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0E6E131-6B2A-00BD-2C87-C366A0B0FDE0}"/>
              </a:ext>
            </a:extLst>
          </p:cNvPr>
          <p:cNvSpPr txBox="1"/>
          <p:nvPr/>
        </p:nvSpPr>
        <p:spPr>
          <a:xfrm>
            <a:off x="1521503" y="1980890"/>
            <a:ext cx="4572000" cy="307777"/>
          </a:xfrm>
          <a:prstGeom prst="rect">
            <a:avLst/>
          </a:prstGeom>
          <a:noFill/>
        </p:spPr>
        <p:txBody>
          <a:bodyPr wrap="square">
            <a:spAutoFit/>
          </a:bodyPr>
          <a:lstStyle/>
          <a:p>
            <a:r>
              <a:rPr lang="en-US" b="0" dirty="0">
                <a:effectLst/>
              </a:rPr>
              <a:t> </a:t>
            </a:r>
            <a:endParaRPr lang="en-US" dirty="0"/>
          </a:p>
        </p:txBody>
      </p:sp>
      <p:sp>
        <p:nvSpPr>
          <p:cNvPr id="6" name="Rounded Rectangle 5">
            <a:extLst>
              <a:ext uri="{FF2B5EF4-FFF2-40B4-BE49-F238E27FC236}">
                <a16:creationId xmlns:a16="http://schemas.microsoft.com/office/drawing/2014/main" id="{DBA8B9A7-D8CB-BBCB-49BF-ACA75E9BFD80}"/>
              </a:ext>
            </a:extLst>
          </p:cNvPr>
          <p:cNvSpPr/>
          <p:nvPr/>
        </p:nvSpPr>
        <p:spPr>
          <a:xfrm>
            <a:off x="1552940" y="1309045"/>
            <a:ext cx="1625529" cy="867844"/>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Quality trim and filter</a:t>
            </a:r>
          </a:p>
          <a:p>
            <a:pPr algn="ctr"/>
            <a:r>
              <a:rPr lang="en-US" sz="1050" dirty="0"/>
              <a:t>(</a:t>
            </a:r>
            <a:r>
              <a:rPr lang="en-US" sz="1050" dirty="0" err="1"/>
              <a:t>TrimGalore</a:t>
            </a:r>
            <a:r>
              <a:rPr lang="en-US" sz="1050" dirty="0"/>
              <a:t>)</a:t>
            </a:r>
          </a:p>
        </p:txBody>
      </p:sp>
      <p:sp>
        <p:nvSpPr>
          <p:cNvPr id="7" name="Rounded Rectangle 6">
            <a:extLst>
              <a:ext uri="{FF2B5EF4-FFF2-40B4-BE49-F238E27FC236}">
                <a16:creationId xmlns:a16="http://schemas.microsoft.com/office/drawing/2014/main" id="{05DC38E8-C3BB-D722-3149-B7D861113C2A}"/>
              </a:ext>
            </a:extLst>
          </p:cNvPr>
          <p:cNvSpPr/>
          <p:nvPr/>
        </p:nvSpPr>
        <p:spPr>
          <a:xfrm>
            <a:off x="3757347" y="1280422"/>
            <a:ext cx="1625529" cy="867844"/>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Align to genome</a:t>
            </a:r>
          </a:p>
          <a:p>
            <a:pPr algn="ctr"/>
            <a:r>
              <a:rPr lang="en-US" sz="1050" dirty="0"/>
              <a:t>(STAR)</a:t>
            </a:r>
          </a:p>
        </p:txBody>
      </p:sp>
      <p:sp>
        <p:nvSpPr>
          <p:cNvPr id="8" name="Rounded Rectangle 7">
            <a:extLst>
              <a:ext uri="{FF2B5EF4-FFF2-40B4-BE49-F238E27FC236}">
                <a16:creationId xmlns:a16="http://schemas.microsoft.com/office/drawing/2014/main" id="{D00A1001-D9AF-DAD1-CC87-C815A9FA4339}"/>
              </a:ext>
            </a:extLst>
          </p:cNvPr>
          <p:cNvSpPr/>
          <p:nvPr/>
        </p:nvSpPr>
        <p:spPr>
          <a:xfrm>
            <a:off x="5961754" y="1280422"/>
            <a:ext cx="1625529" cy="867844"/>
          </a:xfrm>
          <a:prstGeom prst="roundRect">
            <a:avLst/>
          </a:prstGeom>
          <a:solidFill>
            <a:schemeClr val="tx1">
              <a:lumMod val="75000"/>
              <a:lumOff val="25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Count reads</a:t>
            </a:r>
          </a:p>
          <a:p>
            <a:pPr algn="ctr"/>
            <a:r>
              <a:rPr lang="en-US" sz="1050" dirty="0"/>
              <a:t>(</a:t>
            </a:r>
            <a:r>
              <a:rPr lang="en-US" sz="1050" dirty="0" err="1"/>
              <a:t>featureCounts</a:t>
            </a:r>
            <a:r>
              <a:rPr lang="en-US" sz="1050" dirty="0"/>
              <a:t>)</a:t>
            </a:r>
          </a:p>
        </p:txBody>
      </p:sp>
      <p:sp>
        <p:nvSpPr>
          <p:cNvPr id="9" name="TextBox 8">
            <a:extLst>
              <a:ext uri="{FF2B5EF4-FFF2-40B4-BE49-F238E27FC236}">
                <a16:creationId xmlns:a16="http://schemas.microsoft.com/office/drawing/2014/main" id="{DA04E2D5-15AB-E29B-C1DE-F5A13C66AF57}"/>
              </a:ext>
            </a:extLst>
          </p:cNvPr>
          <p:cNvSpPr txBox="1"/>
          <p:nvPr/>
        </p:nvSpPr>
        <p:spPr>
          <a:xfrm>
            <a:off x="311700" y="1452734"/>
            <a:ext cx="662361" cy="523220"/>
          </a:xfrm>
          <a:prstGeom prst="rect">
            <a:avLst/>
          </a:prstGeom>
          <a:noFill/>
          <a:ln w="19050">
            <a:solidFill>
              <a:schemeClr val="tx1"/>
            </a:solidFill>
          </a:ln>
        </p:spPr>
        <p:txBody>
          <a:bodyPr wrap="none" rtlCol="0">
            <a:spAutoFit/>
          </a:bodyPr>
          <a:lstStyle/>
          <a:p>
            <a:pPr algn="ctr"/>
            <a:r>
              <a:rPr lang="en-US" dirty="0"/>
              <a:t>Short </a:t>
            </a:r>
          </a:p>
          <a:p>
            <a:pPr algn="ctr"/>
            <a:r>
              <a:rPr lang="en-US" dirty="0"/>
              <a:t>reads</a:t>
            </a:r>
          </a:p>
        </p:txBody>
      </p:sp>
      <p:sp>
        <p:nvSpPr>
          <p:cNvPr id="10" name="TextBox 9">
            <a:extLst>
              <a:ext uri="{FF2B5EF4-FFF2-40B4-BE49-F238E27FC236}">
                <a16:creationId xmlns:a16="http://schemas.microsoft.com/office/drawing/2014/main" id="{ADB65609-D652-2E50-B6EE-47403B10C939}"/>
              </a:ext>
            </a:extLst>
          </p:cNvPr>
          <p:cNvSpPr txBox="1"/>
          <p:nvPr/>
        </p:nvSpPr>
        <p:spPr>
          <a:xfrm>
            <a:off x="1441234" y="2263657"/>
            <a:ext cx="1786066" cy="261610"/>
          </a:xfrm>
          <a:prstGeom prst="rect">
            <a:avLst/>
          </a:prstGeom>
          <a:noFill/>
        </p:spPr>
        <p:txBody>
          <a:bodyPr wrap="none" rtlCol="0">
            <a:spAutoFit/>
          </a:bodyPr>
          <a:lstStyle/>
          <a:p>
            <a:r>
              <a:rPr lang="en-US" sz="1100" dirty="0"/>
              <a:t>Get rid of bad quality stuff</a:t>
            </a:r>
          </a:p>
        </p:txBody>
      </p:sp>
      <p:sp>
        <p:nvSpPr>
          <p:cNvPr id="11" name="TextBox 10">
            <a:extLst>
              <a:ext uri="{FF2B5EF4-FFF2-40B4-BE49-F238E27FC236}">
                <a16:creationId xmlns:a16="http://schemas.microsoft.com/office/drawing/2014/main" id="{9A926BE6-C818-3089-49A4-54CC3E01C0D5}"/>
              </a:ext>
            </a:extLst>
          </p:cNvPr>
          <p:cNvSpPr txBox="1"/>
          <p:nvPr/>
        </p:nvSpPr>
        <p:spPr>
          <a:xfrm>
            <a:off x="3416260" y="2248268"/>
            <a:ext cx="2176944" cy="430887"/>
          </a:xfrm>
          <a:prstGeom prst="rect">
            <a:avLst/>
          </a:prstGeom>
          <a:noFill/>
        </p:spPr>
        <p:txBody>
          <a:bodyPr wrap="square" rtlCol="0">
            <a:spAutoFit/>
          </a:bodyPr>
          <a:lstStyle/>
          <a:p>
            <a:pPr algn="ctr"/>
            <a:r>
              <a:rPr lang="en-US" sz="1100" dirty="0"/>
              <a:t>Figure out what genes the reads belong to</a:t>
            </a:r>
          </a:p>
        </p:txBody>
      </p:sp>
      <p:sp>
        <p:nvSpPr>
          <p:cNvPr id="12" name="TextBox 11">
            <a:extLst>
              <a:ext uri="{FF2B5EF4-FFF2-40B4-BE49-F238E27FC236}">
                <a16:creationId xmlns:a16="http://schemas.microsoft.com/office/drawing/2014/main" id="{670DEB39-D3E6-DACF-AD19-26C0CC6605FE}"/>
              </a:ext>
            </a:extLst>
          </p:cNvPr>
          <p:cNvSpPr txBox="1"/>
          <p:nvPr/>
        </p:nvSpPr>
        <p:spPr>
          <a:xfrm>
            <a:off x="5782165" y="2263657"/>
            <a:ext cx="2176944" cy="430887"/>
          </a:xfrm>
          <a:prstGeom prst="rect">
            <a:avLst/>
          </a:prstGeom>
          <a:noFill/>
        </p:spPr>
        <p:txBody>
          <a:bodyPr wrap="square" rtlCol="0">
            <a:spAutoFit/>
          </a:bodyPr>
          <a:lstStyle/>
          <a:p>
            <a:pPr algn="ctr"/>
            <a:r>
              <a:rPr lang="en-US" sz="1100" dirty="0"/>
              <a:t>Count how many copies of each gene there were</a:t>
            </a:r>
          </a:p>
        </p:txBody>
      </p:sp>
      <p:sp>
        <p:nvSpPr>
          <p:cNvPr id="13" name="TextBox 12">
            <a:extLst>
              <a:ext uri="{FF2B5EF4-FFF2-40B4-BE49-F238E27FC236}">
                <a16:creationId xmlns:a16="http://schemas.microsoft.com/office/drawing/2014/main" id="{54E65A4A-5835-41E2-4E56-86273E990A51}"/>
              </a:ext>
            </a:extLst>
          </p:cNvPr>
          <p:cNvSpPr txBox="1"/>
          <p:nvPr/>
        </p:nvSpPr>
        <p:spPr>
          <a:xfrm>
            <a:off x="8166162" y="1434586"/>
            <a:ext cx="712054" cy="523220"/>
          </a:xfrm>
          <a:prstGeom prst="rect">
            <a:avLst/>
          </a:prstGeom>
          <a:noFill/>
          <a:ln w="19050">
            <a:solidFill>
              <a:schemeClr val="tx1"/>
            </a:solidFill>
          </a:ln>
        </p:spPr>
        <p:txBody>
          <a:bodyPr wrap="none" rtlCol="0">
            <a:spAutoFit/>
          </a:bodyPr>
          <a:lstStyle/>
          <a:p>
            <a:pPr algn="ctr"/>
            <a:r>
              <a:rPr lang="en-US" dirty="0"/>
              <a:t>Count </a:t>
            </a:r>
          </a:p>
          <a:p>
            <a:pPr algn="ctr"/>
            <a:r>
              <a:rPr lang="en-US" dirty="0"/>
              <a:t>matrix</a:t>
            </a:r>
          </a:p>
        </p:txBody>
      </p:sp>
      <p:cxnSp>
        <p:nvCxnSpPr>
          <p:cNvPr id="15" name="Straight Arrow Connector 14">
            <a:extLst>
              <a:ext uri="{FF2B5EF4-FFF2-40B4-BE49-F238E27FC236}">
                <a16:creationId xmlns:a16="http://schemas.microsoft.com/office/drawing/2014/main" id="{651F81E8-31A7-B3E7-A8FA-14798449A75E}"/>
              </a:ext>
            </a:extLst>
          </p:cNvPr>
          <p:cNvCxnSpPr>
            <a:cxnSpLocks/>
          </p:cNvCxnSpPr>
          <p:nvPr/>
        </p:nvCxnSpPr>
        <p:spPr>
          <a:xfrm>
            <a:off x="1127661"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A289E61-E212-746B-626F-6F73288007B6}"/>
              </a:ext>
            </a:extLst>
          </p:cNvPr>
          <p:cNvCxnSpPr>
            <a:cxnSpLocks/>
          </p:cNvCxnSpPr>
          <p:nvPr/>
        </p:nvCxnSpPr>
        <p:spPr>
          <a:xfrm>
            <a:off x="335504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A45B7C3-2AFB-4F95-8586-B6A58ABA6210}"/>
              </a:ext>
            </a:extLst>
          </p:cNvPr>
          <p:cNvCxnSpPr>
            <a:cxnSpLocks/>
          </p:cNvCxnSpPr>
          <p:nvPr/>
        </p:nvCxnSpPr>
        <p:spPr>
          <a:xfrm>
            <a:off x="553095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A2B48FD-FCE1-A867-7BBD-D14C8D21A368}"/>
              </a:ext>
            </a:extLst>
          </p:cNvPr>
          <p:cNvCxnSpPr>
            <a:cxnSpLocks/>
          </p:cNvCxnSpPr>
          <p:nvPr/>
        </p:nvCxnSpPr>
        <p:spPr>
          <a:xfrm>
            <a:off x="777129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92CEA37-8794-1732-436A-A2B0859AC90E}"/>
              </a:ext>
            </a:extLst>
          </p:cNvPr>
          <p:cNvSpPr txBox="1"/>
          <p:nvPr/>
        </p:nvSpPr>
        <p:spPr>
          <a:xfrm>
            <a:off x="311700" y="2860779"/>
            <a:ext cx="8719891" cy="1477328"/>
          </a:xfrm>
          <a:prstGeom prst="rect">
            <a:avLst/>
          </a:prstGeom>
          <a:noFill/>
        </p:spPr>
        <p:txBody>
          <a:bodyPr wrap="square">
            <a:spAutoFit/>
          </a:bodyPr>
          <a:lstStyle/>
          <a:p>
            <a:pPr marL="285750" indent="-285750" rtl="0" fontAlgn="base">
              <a:spcBef>
                <a:spcPts val="1200"/>
              </a:spcBef>
              <a:buFont typeface="Arial" panose="020B0604020202020204" pitchFamily="34" charset="0"/>
              <a:buChar char="•"/>
            </a:pPr>
            <a:r>
              <a:rPr lang="en-US" sz="1200" b="1" dirty="0">
                <a:solidFill>
                  <a:schemeClr val="accent5"/>
                </a:solidFill>
              </a:rPr>
              <a:t>Read</a:t>
            </a:r>
            <a:r>
              <a:rPr lang="en-US" sz="1200" dirty="0">
                <a:solidFill>
                  <a:schemeClr val="accent5"/>
                </a:solidFill>
              </a:rPr>
              <a:t>: </a:t>
            </a:r>
            <a:r>
              <a:rPr lang="en-US" sz="1200" dirty="0"/>
              <a:t>a unit of sequencing. A sequence fragment that has been sequenced</a:t>
            </a:r>
          </a:p>
          <a:p>
            <a:pPr marL="285750" indent="-285750" fontAlgn="base">
              <a:spcBef>
                <a:spcPts val="1200"/>
              </a:spcBef>
              <a:buFont typeface="Arial" panose="020B0604020202020204" pitchFamily="34" charset="0"/>
              <a:buChar char="•"/>
            </a:pPr>
            <a:r>
              <a:rPr lang="en-US" sz="1200" b="1" dirty="0">
                <a:solidFill>
                  <a:schemeClr val="accent5"/>
                </a:solidFill>
              </a:rPr>
              <a:t>Depth/coverage</a:t>
            </a:r>
            <a:r>
              <a:rPr lang="en-US" sz="1200" dirty="0">
                <a:solidFill>
                  <a:schemeClr val="accent5"/>
                </a:solidFill>
              </a:rPr>
              <a:t>: </a:t>
            </a:r>
            <a:r>
              <a:rPr lang="en-US" sz="1200" dirty="0"/>
              <a:t>the average number of reads that map to a given region of the genome (or transcriptome). Higher depth means greater sensitivity for detecting lowly expressed genes.</a:t>
            </a:r>
          </a:p>
          <a:p>
            <a:pPr marL="285750" indent="-285750" rtl="0" fontAlgn="base">
              <a:spcBef>
                <a:spcPts val="1200"/>
              </a:spcBef>
              <a:buFont typeface="Arial" panose="020B0604020202020204" pitchFamily="34" charset="0"/>
              <a:buChar char="•"/>
            </a:pPr>
            <a:r>
              <a:rPr lang="en-US" sz="1200" b="1" dirty="0">
                <a:solidFill>
                  <a:schemeClr val="accent5"/>
                </a:solidFill>
              </a:rPr>
              <a:t>Counts matrix</a:t>
            </a:r>
            <a:r>
              <a:rPr lang="en-US" sz="1200" dirty="0">
                <a:solidFill>
                  <a:schemeClr val="accent5"/>
                </a:solidFill>
              </a:rPr>
              <a:t>: </a:t>
            </a:r>
            <a:r>
              <a:rPr lang="en-US" sz="1200" dirty="0"/>
              <a:t>genes as rows, samples as columns, numbers = how many reads mapped to each gene in each sample.</a:t>
            </a:r>
          </a:p>
          <a:p>
            <a:pPr rtl="0" fontAlgn="base">
              <a:spcBef>
                <a:spcPts val="1200"/>
              </a:spcBef>
            </a:pPr>
            <a:r>
              <a:rPr lang="en-US" sz="1200" b="1" dirty="0"/>
              <a:t>	</a:t>
            </a:r>
          </a:p>
        </p:txBody>
      </p:sp>
      <p:sp>
        <p:nvSpPr>
          <p:cNvPr id="22" name="TextBox 21">
            <a:extLst>
              <a:ext uri="{FF2B5EF4-FFF2-40B4-BE49-F238E27FC236}">
                <a16:creationId xmlns:a16="http://schemas.microsoft.com/office/drawing/2014/main" id="{B03FA1A2-7D09-238C-2DF4-1A6E8331531C}"/>
              </a:ext>
            </a:extLst>
          </p:cNvPr>
          <p:cNvSpPr txBox="1"/>
          <p:nvPr/>
        </p:nvSpPr>
        <p:spPr>
          <a:xfrm>
            <a:off x="915705" y="4126069"/>
            <a:ext cx="7511879" cy="307777"/>
          </a:xfrm>
          <a:prstGeom prst="rect">
            <a:avLst/>
          </a:prstGeom>
          <a:solidFill>
            <a:schemeClr val="accent4">
              <a:lumMod val="20000"/>
              <a:lumOff val="80000"/>
            </a:schemeClr>
          </a:solidFill>
        </p:spPr>
        <p:txBody>
          <a:bodyPr wrap="square">
            <a:spAutoFit/>
          </a:bodyPr>
          <a:lstStyle/>
          <a:p>
            <a:pPr rtl="0" fontAlgn="base">
              <a:spcBef>
                <a:spcPts val="1200"/>
              </a:spcBef>
            </a:pPr>
            <a:r>
              <a:rPr lang="en-US" sz="1400" b="1" dirty="0"/>
              <a:t>“Raw counts” </a:t>
            </a:r>
            <a:r>
              <a:rPr lang="en-US" sz="1400" dirty="0"/>
              <a:t>are not directly comparable between samples → </a:t>
            </a:r>
            <a:r>
              <a:rPr lang="en-US" sz="1400" b="1" dirty="0"/>
              <a:t>normalization </a:t>
            </a:r>
            <a:endParaRPr lang="en-US" sz="1400" dirty="0"/>
          </a:p>
        </p:txBody>
      </p:sp>
      <p:sp>
        <p:nvSpPr>
          <p:cNvPr id="24" name="TextBox 23">
            <a:extLst>
              <a:ext uri="{FF2B5EF4-FFF2-40B4-BE49-F238E27FC236}">
                <a16:creationId xmlns:a16="http://schemas.microsoft.com/office/drawing/2014/main" id="{2B140CC9-7738-163A-60DB-512475CF88C3}"/>
              </a:ext>
            </a:extLst>
          </p:cNvPr>
          <p:cNvSpPr txBox="1"/>
          <p:nvPr/>
        </p:nvSpPr>
        <p:spPr>
          <a:xfrm>
            <a:off x="602015" y="4529586"/>
            <a:ext cx="8046724" cy="523220"/>
          </a:xfrm>
          <a:prstGeom prst="rect">
            <a:avLst/>
          </a:prstGeom>
          <a:solidFill>
            <a:schemeClr val="accent6">
              <a:lumMod val="20000"/>
              <a:lumOff val="80000"/>
            </a:schemeClr>
          </a:solidFill>
        </p:spPr>
        <p:txBody>
          <a:bodyPr wrap="square">
            <a:spAutoFit/>
          </a:bodyPr>
          <a:lstStyle/>
          <a:p>
            <a:r>
              <a:rPr lang="en-US" sz="1400" b="1" dirty="0"/>
              <a:t>A bad design can't be fixed computationally, </a:t>
            </a:r>
            <a:r>
              <a:rPr lang="en-US" sz="1400" dirty="0"/>
              <a:t>replication, randomization, and controlling for batch effects must happen before sequencing.</a:t>
            </a:r>
            <a:endParaRPr lang="en-US" dirty="0"/>
          </a:p>
        </p:txBody>
      </p:sp>
      <p:sp>
        <p:nvSpPr>
          <p:cNvPr id="2" name="Google Shape;59;p14">
            <a:extLst>
              <a:ext uri="{FF2B5EF4-FFF2-40B4-BE49-F238E27FC236}">
                <a16:creationId xmlns:a16="http://schemas.microsoft.com/office/drawing/2014/main" id="{98F8F3D4-091D-FB4B-1107-1FA1F15A6A87}"/>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The bulk* RNA-seq workflow</a:t>
            </a:r>
          </a:p>
        </p:txBody>
      </p:sp>
    </p:spTree>
    <p:extLst>
      <p:ext uri="{BB962C8B-B14F-4D97-AF65-F5344CB8AC3E}">
        <p14:creationId xmlns:p14="http://schemas.microsoft.com/office/powerpoint/2010/main" val="2879717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animBg="1"/>
      <p:bldP spid="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B4E8674C-0ED7-5257-0834-5F6E54D20D9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C2B374-36F5-1B3D-1DAE-70E414442E43}"/>
              </a:ext>
            </a:extLst>
          </p:cNvPr>
          <p:cNvSpPr txBox="1"/>
          <p:nvPr/>
        </p:nvSpPr>
        <p:spPr>
          <a:xfrm>
            <a:off x="1521503" y="1980890"/>
            <a:ext cx="4572000" cy="307777"/>
          </a:xfrm>
          <a:prstGeom prst="rect">
            <a:avLst/>
          </a:prstGeom>
          <a:noFill/>
        </p:spPr>
        <p:txBody>
          <a:bodyPr wrap="square">
            <a:spAutoFit/>
          </a:bodyPr>
          <a:lstStyle/>
          <a:p>
            <a:r>
              <a:rPr lang="en-US" b="0" dirty="0">
                <a:effectLst/>
              </a:rPr>
              <a:t> </a:t>
            </a:r>
            <a:endParaRPr lang="en-US" dirty="0"/>
          </a:p>
        </p:txBody>
      </p:sp>
      <p:sp>
        <p:nvSpPr>
          <p:cNvPr id="6" name="Rounded Rectangle 5">
            <a:extLst>
              <a:ext uri="{FF2B5EF4-FFF2-40B4-BE49-F238E27FC236}">
                <a16:creationId xmlns:a16="http://schemas.microsoft.com/office/drawing/2014/main" id="{A9A7EEBD-DA5B-E5CB-3D76-94F5DD31D46D}"/>
              </a:ext>
            </a:extLst>
          </p:cNvPr>
          <p:cNvSpPr/>
          <p:nvPr/>
        </p:nvSpPr>
        <p:spPr>
          <a:xfrm>
            <a:off x="1552940" y="1309045"/>
            <a:ext cx="1625529" cy="867844"/>
          </a:xfrm>
          <a:prstGeom prst="roundRect">
            <a:avLst/>
          </a:prstGeom>
          <a:solidFill>
            <a:schemeClr val="bg1">
              <a:lumMod val="95000"/>
            </a:schemeClr>
          </a:solidFill>
          <a:ln>
            <a:solidFill>
              <a:schemeClr val="bg1">
                <a:lumMod val="5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solidFill>
                  <a:schemeClr val="bg1">
                    <a:lumMod val="85000"/>
                  </a:schemeClr>
                </a:solidFill>
              </a:rPr>
              <a:t>Quality trim and filter</a:t>
            </a:r>
          </a:p>
          <a:p>
            <a:pPr algn="ctr"/>
            <a:r>
              <a:rPr lang="en-US" sz="1050" dirty="0">
                <a:solidFill>
                  <a:schemeClr val="bg1">
                    <a:lumMod val="85000"/>
                  </a:schemeClr>
                </a:solidFill>
              </a:rPr>
              <a:t>(</a:t>
            </a:r>
            <a:r>
              <a:rPr lang="en-US" sz="1050" dirty="0" err="1">
                <a:solidFill>
                  <a:schemeClr val="bg1">
                    <a:lumMod val="85000"/>
                  </a:schemeClr>
                </a:solidFill>
              </a:rPr>
              <a:t>TrimGalore</a:t>
            </a:r>
            <a:r>
              <a:rPr lang="en-US" sz="1050" dirty="0">
                <a:solidFill>
                  <a:schemeClr val="bg1">
                    <a:lumMod val="85000"/>
                  </a:schemeClr>
                </a:solidFill>
              </a:rPr>
              <a:t>)</a:t>
            </a:r>
          </a:p>
        </p:txBody>
      </p:sp>
      <p:sp>
        <p:nvSpPr>
          <p:cNvPr id="7" name="Rounded Rectangle 6">
            <a:extLst>
              <a:ext uri="{FF2B5EF4-FFF2-40B4-BE49-F238E27FC236}">
                <a16:creationId xmlns:a16="http://schemas.microsoft.com/office/drawing/2014/main" id="{C7692445-30A9-EBE9-D975-2187154DB2DD}"/>
              </a:ext>
            </a:extLst>
          </p:cNvPr>
          <p:cNvSpPr/>
          <p:nvPr/>
        </p:nvSpPr>
        <p:spPr>
          <a:xfrm>
            <a:off x="3757347" y="1280422"/>
            <a:ext cx="1625529" cy="867844"/>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Align to genome</a:t>
            </a:r>
          </a:p>
          <a:p>
            <a:pPr algn="ctr"/>
            <a:r>
              <a:rPr lang="en-US" sz="1050" dirty="0"/>
              <a:t>(STAR)</a:t>
            </a:r>
          </a:p>
        </p:txBody>
      </p:sp>
      <p:sp>
        <p:nvSpPr>
          <p:cNvPr id="8" name="Rounded Rectangle 7">
            <a:extLst>
              <a:ext uri="{FF2B5EF4-FFF2-40B4-BE49-F238E27FC236}">
                <a16:creationId xmlns:a16="http://schemas.microsoft.com/office/drawing/2014/main" id="{3C2AFF25-B8F8-6ADA-4225-4C73FD7C5EFA}"/>
              </a:ext>
            </a:extLst>
          </p:cNvPr>
          <p:cNvSpPr/>
          <p:nvPr/>
        </p:nvSpPr>
        <p:spPr>
          <a:xfrm>
            <a:off x="5961754" y="1280422"/>
            <a:ext cx="1625529" cy="867844"/>
          </a:xfrm>
          <a:prstGeom prst="roundRect">
            <a:avLst/>
          </a:prstGeom>
          <a:solidFill>
            <a:schemeClr val="bg1">
              <a:lumMod val="95000"/>
            </a:schemeClr>
          </a:solidFill>
          <a:ln>
            <a:solidFill>
              <a:schemeClr val="bg1">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solidFill>
                  <a:schemeClr val="bg1">
                    <a:lumMod val="85000"/>
                  </a:schemeClr>
                </a:solidFill>
              </a:rPr>
              <a:t>Count reads</a:t>
            </a:r>
          </a:p>
          <a:p>
            <a:pPr algn="ctr"/>
            <a:r>
              <a:rPr lang="en-US" sz="1050" dirty="0">
                <a:solidFill>
                  <a:schemeClr val="bg1">
                    <a:lumMod val="85000"/>
                  </a:schemeClr>
                </a:solidFill>
              </a:rPr>
              <a:t>(</a:t>
            </a:r>
            <a:r>
              <a:rPr lang="en-US" sz="1050" dirty="0" err="1">
                <a:solidFill>
                  <a:schemeClr val="bg1">
                    <a:lumMod val="85000"/>
                  </a:schemeClr>
                </a:solidFill>
              </a:rPr>
              <a:t>featureCounts</a:t>
            </a:r>
            <a:r>
              <a:rPr lang="en-US" sz="1050" dirty="0">
                <a:solidFill>
                  <a:schemeClr val="bg1">
                    <a:lumMod val="85000"/>
                  </a:schemeClr>
                </a:solidFill>
              </a:rPr>
              <a:t>)</a:t>
            </a:r>
          </a:p>
        </p:txBody>
      </p:sp>
      <p:sp>
        <p:nvSpPr>
          <p:cNvPr id="9" name="TextBox 8">
            <a:extLst>
              <a:ext uri="{FF2B5EF4-FFF2-40B4-BE49-F238E27FC236}">
                <a16:creationId xmlns:a16="http://schemas.microsoft.com/office/drawing/2014/main" id="{BB2EA620-D6DA-18F4-BEA5-47451E0C5C11}"/>
              </a:ext>
            </a:extLst>
          </p:cNvPr>
          <p:cNvSpPr txBox="1"/>
          <p:nvPr/>
        </p:nvSpPr>
        <p:spPr>
          <a:xfrm>
            <a:off x="311700" y="1452734"/>
            <a:ext cx="662361" cy="523220"/>
          </a:xfrm>
          <a:prstGeom prst="rect">
            <a:avLst/>
          </a:prstGeom>
          <a:solidFill>
            <a:schemeClr val="bg1">
              <a:lumMod val="95000"/>
            </a:schemeClr>
          </a:solidFill>
          <a:ln w="19050">
            <a:solidFill>
              <a:schemeClr val="bg1">
                <a:lumMod val="50000"/>
              </a:schemeClr>
            </a:solidFill>
          </a:ln>
        </p:spPr>
        <p:txBody>
          <a:bodyPr wrap="none" rtlCol="0">
            <a:spAutoFit/>
          </a:bodyPr>
          <a:lstStyle/>
          <a:p>
            <a:pPr algn="ctr"/>
            <a:r>
              <a:rPr lang="en-US" dirty="0">
                <a:solidFill>
                  <a:schemeClr val="bg1">
                    <a:lumMod val="85000"/>
                  </a:schemeClr>
                </a:solidFill>
              </a:rPr>
              <a:t>Short </a:t>
            </a:r>
          </a:p>
          <a:p>
            <a:pPr algn="ctr"/>
            <a:r>
              <a:rPr lang="en-US" dirty="0">
                <a:solidFill>
                  <a:schemeClr val="bg1">
                    <a:lumMod val="85000"/>
                  </a:schemeClr>
                </a:solidFill>
              </a:rPr>
              <a:t>reads</a:t>
            </a:r>
          </a:p>
        </p:txBody>
      </p:sp>
      <p:sp>
        <p:nvSpPr>
          <p:cNvPr id="10" name="TextBox 9">
            <a:extLst>
              <a:ext uri="{FF2B5EF4-FFF2-40B4-BE49-F238E27FC236}">
                <a16:creationId xmlns:a16="http://schemas.microsoft.com/office/drawing/2014/main" id="{8C14298C-812D-C6A6-FE19-520475CAFDB6}"/>
              </a:ext>
            </a:extLst>
          </p:cNvPr>
          <p:cNvSpPr txBox="1"/>
          <p:nvPr/>
        </p:nvSpPr>
        <p:spPr>
          <a:xfrm>
            <a:off x="1441234" y="2263657"/>
            <a:ext cx="1786066" cy="261610"/>
          </a:xfrm>
          <a:prstGeom prst="rect">
            <a:avLst/>
          </a:prstGeom>
          <a:noFill/>
        </p:spPr>
        <p:txBody>
          <a:bodyPr wrap="none" rtlCol="0">
            <a:spAutoFit/>
          </a:bodyPr>
          <a:lstStyle/>
          <a:p>
            <a:r>
              <a:rPr lang="en-US" sz="1100" dirty="0"/>
              <a:t>Get rid of bad quality stuff</a:t>
            </a:r>
          </a:p>
        </p:txBody>
      </p:sp>
      <p:sp>
        <p:nvSpPr>
          <p:cNvPr id="11" name="TextBox 10">
            <a:extLst>
              <a:ext uri="{FF2B5EF4-FFF2-40B4-BE49-F238E27FC236}">
                <a16:creationId xmlns:a16="http://schemas.microsoft.com/office/drawing/2014/main" id="{29DF3DE8-500B-23D5-4C0F-268D77024773}"/>
              </a:ext>
            </a:extLst>
          </p:cNvPr>
          <p:cNvSpPr txBox="1"/>
          <p:nvPr/>
        </p:nvSpPr>
        <p:spPr>
          <a:xfrm>
            <a:off x="3416260" y="2248268"/>
            <a:ext cx="2176944" cy="430887"/>
          </a:xfrm>
          <a:prstGeom prst="rect">
            <a:avLst/>
          </a:prstGeom>
          <a:noFill/>
        </p:spPr>
        <p:txBody>
          <a:bodyPr wrap="square" rtlCol="0">
            <a:spAutoFit/>
          </a:bodyPr>
          <a:lstStyle/>
          <a:p>
            <a:pPr algn="ctr"/>
            <a:r>
              <a:rPr lang="en-US" sz="1100" dirty="0"/>
              <a:t>Figure out what genes the reads belong to</a:t>
            </a:r>
          </a:p>
        </p:txBody>
      </p:sp>
      <p:sp>
        <p:nvSpPr>
          <p:cNvPr id="12" name="TextBox 11">
            <a:extLst>
              <a:ext uri="{FF2B5EF4-FFF2-40B4-BE49-F238E27FC236}">
                <a16:creationId xmlns:a16="http://schemas.microsoft.com/office/drawing/2014/main" id="{9F7A1D8A-C0E9-58E1-CB03-71A8EDBADA3D}"/>
              </a:ext>
            </a:extLst>
          </p:cNvPr>
          <p:cNvSpPr txBox="1"/>
          <p:nvPr/>
        </p:nvSpPr>
        <p:spPr>
          <a:xfrm>
            <a:off x="5782165" y="2263657"/>
            <a:ext cx="2176944" cy="430887"/>
          </a:xfrm>
          <a:prstGeom prst="rect">
            <a:avLst/>
          </a:prstGeom>
          <a:noFill/>
        </p:spPr>
        <p:txBody>
          <a:bodyPr wrap="square" rtlCol="0">
            <a:spAutoFit/>
          </a:bodyPr>
          <a:lstStyle/>
          <a:p>
            <a:pPr algn="ctr"/>
            <a:r>
              <a:rPr lang="en-US" sz="1100" dirty="0"/>
              <a:t>Count how many copies of each gene there were</a:t>
            </a:r>
          </a:p>
        </p:txBody>
      </p:sp>
      <p:sp>
        <p:nvSpPr>
          <p:cNvPr id="13" name="TextBox 12">
            <a:extLst>
              <a:ext uri="{FF2B5EF4-FFF2-40B4-BE49-F238E27FC236}">
                <a16:creationId xmlns:a16="http://schemas.microsoft.com/office/drawing/2014/main" id="{58A8CFCD-CB57-D854-BE32-20E8337358F6}"/>
              </a:ext>
            </a:extLst>
          </p:cNvPr>
          <p:cNvSpPr txBox="1"/>
          <p:nvPr/>
        </p:nvSpPr>
        <p:spPr>
          <a:xfrm>
            <a:off x="8166162" y="1434586"/>
            <a:ext cx="712054" cy="523220"/>
          </a:xfrm>
          <a:prstGeom prst="rect">
            <a:avLst/>
          </a:prstGeom>
          <a:solidFill>
            <a:schemeClr val="bg1">
              <a:lumMod val="95000"/>
            </a:schemeClr>
          </a:solidFill>
          <a:ln w="19050">
            <a:solidFill>
              <a:schemeClr val="bg1">
                <a:lumMod val="50000"/>
              </a:schemeClr>
            </a:solidFill>
          </a:ln>
        </p:spPr>
        <p:txBody>
          <a:bodyPr wrap="none" rtlCol="0">
            <a:spAutoFit/>
          </a:bodyPr>
          <a:lstStyle/>
          <a:p>
            <a:pPr algn="ctr"/>
            <a:r>
              <a:rPr lang="en-US" dirty="0">
                <a:solidFill>
                  <a:schemeClr val="bg1">
                    <a:lumMod val="85000"/>
                  </a:schemeClr>
                </a:solidFill>
              </a:rPr>
              <a:t>Count </a:t>
            </a:r>
          </a:p>
          <a:p>
            <a:pPr algn="ctr"/>
            <a:r>
              <a:rPr lang="en-US" dirty="0">
                <a:solidFill>
                  <a:schemeClr val="bg1">
                    <a:lumMod val="85000"/>
                  </a:schemeClr>
                </a:solidFill>
              </a:rPr>
              <a:t>matrix</a:t>
            </a:r>
          </a:p>
        </p:txBody>
      </p:sp>
      <p:cxnSp>
        <p:nvCxnSpPr>
          <p:cNvPr id="15" name="Straight Arrow Connector 14">
            <a:extLst>
              <a:ext uri="{FF2B5EF4-FFF2-40B4-BE49-F238E27FC236}">
                <a16:creationId xmlns:a16="http://schemas.microsoft.com/office/drawing/2014/main" id="{7C467669-B304-6F30-9E64-1117C436ACA5}"/>
              </a:ext>
            </a:extLst>
          </p:cNvPr>
          <p:cNvCxnSpPr>
            <a:cxnSpLocks/>
          </p:cNvCxnSpPr>
          <p:nvPr/>
        </p:nvCxnSpPr>
        <p:spPr>
          <a:xfrm>
            <a:off x="1127661"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050881A-C27D-41FE-9D33-C29689A9E516}"/>
              </a:ext>
            </a:extLst>
          </p:cNvPr>
          <p:cNvCxnSpPr>
            <a:cxnSpLocks/>
          </p:cNvCxnSpPr>
          <p:nvPr/>
        </p:nvCxnSpPr>
        <p:spPr>
          <a:xfrm>
            <a:off x="335504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56C7E1B-989A-7AEF-564A-151CBB830BE8}"/>
              </a:ext>
            </a:extLst>
          </p:cNvPr>
          <p:cNvCxnSpPr>
            <a:cxnSpLocks/>
          </p:cNvCxnSpPr>
          <p:nvPr/>
        </p:nvCxnSpPr>
        <p:spPr>
          <a:xfrm>
            <a:off x="553095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AD25028-830B-2CB9-7B97-FDF755BE587F}"/>
              </a:ext>
            </a:extLst>
          </p:cNvPr>
          <p:cNvCxnSpPr>
            <a:cxnSpLocks/>
          </p:cNvCxnSpPr>
          <p:nvPr/>
        </p:nvCxnSpPr>
        <p:spPr>
          <a:xfrm>
            <a:off x="777129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Google Shape;59;p14">
            <a:extLst>
              <a:ext uri="{FF2B5EF4-FFF2-40B4-BE49-F238E27FC236}">
                <a16:creationId xmlns:a16="http://schemas.microsoft.com/office/drawing/2014/main" id="{557DD9D8-0CFB-35E9-CEFD-7BF188E68533}"/>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STAR alignment: Splicing-aware transcriptome mapping</a:t>
            </a:r>
          </a:p>
        </p:txBody>
      </p:sp>
      <p:sp>
        <p:nvSpPr>
          <p:cNvPr id="5" name="TextBox 4">
            <a:extLst>
              <a:ext uri="{FF2B5EF4-FFF2-40B4-BE49-F238E27FC236}">
                <a16:creationId xmlns:a16="http://schemas.microsoft.com/office/drawing/2014/main" id="{F1EFDAFE-8A2A-4366-7588-8D3693829D0E}"/>
              </a:ext>
            </a:extLst>
          </p:cNvPr>
          <p:cNvSpPr txBox="1"/>
          <p:nvPr/>
        </p:nvSpPr>
        <p:spPr>
          <a:xfrm>
            <a:off x="4355698" y="3620397"/>
            <a:ext cx="4441792" cy="1169551"/>
          </a:xfrm>
          <a:prstGeom prst="rect">
            <a:avLst/>
          </a:prstGeom>
          <a:noFill/>
        </p:spPr>
        <p:txBody>
          <a:bodyPr wrap="square" rtlCol="0">
            <a:spAutoFit/>
          </a:bodyPr>
          <a:lstStyle/>
          <a:p>
            <a:pPr marL="285750" lvl="0" indent="-285750" eaLnBrk="0" fontAlgn="base" hangingPunct="0">
              <a:spcBef>
                <a:spcPct val="0"/>
              </a:spcBef>
              <a:spcAft>
                <a:spcPct val="0"/>
              </a:spcAft>
              <a:buClrTx/>
              <a:buFont typeface="Arial" panose="020B0604020202020204" pitchFamily="34" charset="0"/>
              <a:buChar char="•"/>
            </a:pPr>
            <a:r>
              <a:rPr lang="en-US" altLang="en-US" dirty="0">
                <a:solidFill>
                  <a:schemeClr val="tx1"/>
                </a:solidFill>
                <a:latin typeface="Arial" panose="020B0604020202020204" pitchFamily="34" charset="0"/>
              </a:rPr>
              <a:t>Handles spliced reads (exon-exon junctions) </a:t>
            </a:r>
          </a:p>
          <a:p>
            <a:pPr marL="285750" lvl="0" indent="-285750" eaLnBrk="0" fontAlgn="base" hangingPunct="0">
              <a:spcBef>
                <a:spcPct val="0"/>
              </a:spcBef>
              <a:spcAft>
                <a:spcPct val="0"/>
              </a:spcAft>
              <a:buClrTx/>
              <a:buFont typeface="Arial" panose="020B0604020202020204" pitchFamily="34" charset="0"/>
              <a:buChar char="•"/>
            </a:pPr>
            <a:r>
              <a:rPr lang="en-US" altLang="en-US" dirty="0">
                <a:solidFill>
                  <a:schemeClr val="tx1"/>
                </a:solidFill>
                <a:latin typeface="Arial" panose="020B0604020202020204" pitchFamily="34" charset="0"/>
              </a:rPr>
              <a:t>Fast and accurate compared to </a:t>
            </a:r>
            <a:r>
              <a:rPr lang="en-US" altLang="en-US" dirty="0" err="1">
                <a:solidFill>
                  <a:schemeClr val="tx1"/>
                </a:solidFill>
                <a:latin typeface="Arial" panose="020B0604020202020204" pitchFamily="34" charset="0"/>
              </a:rPr>
              <a:t>unspliced</a:t>
            </a:r>
            <a:r>
              <a:rPr lang="en-US" altLang="en-US" dirty="0">
                <a:solidFill>
                  <a:schemeClr val="tx1"/>
                </a:solidFill>
                <a:latin typeface="Arial" panose="020B0604020202020204" pitchFamily="34" charset="0"/>
              </a:rPr>
              <a:t> aligners </a:t>
            </a:r>
          </a:p>
          <a:p>
            <a:pPr marL="285750" lvl="0" indent="-285750" eaLnBrk="0" fontAlgn="base" hangingPunct="0">
              <a:spcBef>
                <a:spcPct val="0"/>
              </a:spcBef>
              <a:spcAft>
                <a:spcPct val="0"/>
              </a:spcAft>
              <a:buClrTx/>
              <a:buFont typeface="Arial" panose="020B0604020202020204" pitchFamily="34" charset="0"/>
              <a:buChar char="•"/>
            </a:pPr>
            <a:r>
              <a:rPr lang="en-US" altLang="en-US" dirty="0">
                <a:solidFill>
                  <a:schemeClr val="tx1"/>
                </a:solidFill>
                <a:latin typeface="Arial" panose="020B0604020202020204" pitchFamily="34" charset="0"/>
              </a:rPr>
              <a:t>Why DNA aligners fail on RNA: reads span introns and need splice-junction detection</a:t>
            </a:r>
          </a:p>
          <a:p>
            <a:pPr marL="285750" indent="-285750">
              <a:buFont typeface="Arial" panose="020B0604020202020204" pitchFamily="34" charset="0"/>
              <a:buChar char="•"/>
            </a:pPr>
            <a:endParaRPr lang="en-US" dirty="0"/>
          </a:p>
        </p:txBody>
      </p:sp>
      <p:sp>
        <p:nvSpPr>
          <p:cNvPr id="14" name="Down Arrow 13">
            <a:extLst>
              <a:ext uri="{FF2B5EF4-FFF2-40B4-BE49-F238E27FC236}">
                <a16:creationId xmlns:a16="http://schemas.microsoft.com/office/drawing/2014/main" id="{C9EEB643-C8CD-C67A-9B10-3507836FB955}"/>
              </a:ext>
            </a:extLst>
          </p:cNvPr>
          <p:cNvSpPr/>
          <p:nvPr/>
        </p:nvSpPr>
        <p:spPr>
          <a:xfrm>
            <a:off x="4452201" y="2820111"/>
            <a:ext cx="235819" cy="524577"/>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22697919-9962-0933-3631-7860505B0E6C}"/>
              </a:ext>
            </a:extLst>
          </p:cNvPr>
          <p:cNvGrpSpPr/>
          <p:nvPr/>
        </p:nvGrpSpPr>
        <p:grpSpPr>
          <a:xfrm>
            <a:off x="522284" y="3167021"/>
            <a:ext cx="3235063" cy="856850"/>
            <a:chOff x="572440" y="3168113"/>
            <a:chExt cx="3235063" cy="856850"/>
          </a:xfrm>
        </p:grpSpPr>
        <p:cxnSp>
          <p:nvCxnSpPr>
            <p:cNvPr id="21" name="Straight Connector 20">
              <a:extLst>
                <a:ext uri="{FF2B5EF4-FFF2-40B4-BE49-F238E27FC236}">
                  <a16:creationId xmlns:a16="http://schemas.microsoft.com/office/drawing/2014/main" id="{A7C087B5-862C-FC95-3C00-6449A08210A5}"/>
                </a:ext>
              </a:extLst>
            </p:cNvPr>
            <p:cNvCxnSpPr>
              <a:cxnSpLocks/>
            </p:cNvCxnSpPr>
            <p:nvPr/>
          </p:nvCxnSpPr>
          <p:spPr>
            <a:xfrm>
              <a:off x="1338155" y="3542094"/>
              <a:ext cx="2469348" cy="0"/>
            </a:xfrm>
            <a:prstGeom prst="line">
              <a:avLst/>
            </a:prstGeom>
            <a:ln w="38100">
              <a:solidFill>
                <a:srgbClr val="A9554C"/>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9A1E0F9-223D-47C9-2D2C-663EDE08A2CF}"/>
                </a:ext>
              </a:extLst>
            </p:cNvPr>
            <p:cNvCxnSpPr>
              <a:cxnSpLocks/>
            </p:cNvCxnSpPr>
            <p:nvPr/>
          </p:nvCxnSpPr>
          <p:spPr>
            <a:xfrm>
              <a:off x="1804737" y="3689683"/>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3E08B16-023F-B2E7-4743-8B43EF61A28A}"/>
                </a:ext>
              </a:extLst>
            </p:cNvPr>
            <p:cNvSpPr txBox="1"/>
            <p:nvPr/>
          </p:nvSpPr>
          <p:spPr>
            <a:xfrm>
              <a:off x="572440" y="3407434"/>
              <a:ext cx="724878" cy="261610"/>
            </a:xfrm>
            <a:prstGeom prst="rect">
              <a:avLst/>
            </a:prstGeom>
            <a:noFill/>
          </p:spPr>
          <p:txBody>
            <a:bodyPr wrap="none" rtlCol="0">
              <a:spAutoFit/>
            </a:bodyPr>
            <a:lstStyle/>
            <a:p>
              <a:r>
                <a:rPr lang="en-US" sz="1050" dirty="0"/>
                <a:t>Genome</a:t>
              </a:r>
            </a:p>
          </p:txBody>
        </p:sp>
        <p:sp>
          <p:nvSpPr>
            <p:cNvPr id="34" name="Right Brace 33">
              <a:extLst>
                <a:ext uri="{FF2B5EF4-FFF2-40B4-BE49-F238E27FC236}">
                  <a16:creationId xmlns:a16="http://schemas.microsoft.com/office/drawing/2014/main" id="{AEA11116-7BB0-D8B1-5439-7EA6E8415A78}"/>
                </a:ext>
              </a:extLst>
            </p:cNvPr>
            <p:cNvSpPr/>
            <p:nvPr/>
          </p:nvSpPr>
          <p:spPr>
            <a:xfrm rot="16200000">
              <a:off x="1902997" y="3072443"/>
              <a:ext cx="86489" cy="689141"/>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5" name="Right Brace 34">
              <a:extLst>
                <a:ext uri="{FF2B5EF4-FFF2-40B4-BE49-F238E27FC236}">
                  <a16:creationId xmlns:a16="http://schemas.microsoft.com/office/drawing/2014/main" id="{42BE6BB8-8357-1DE8-65BE-DE4ED674CF64}"/>
                </a:ext>
              </a:extLst>
            </p:cNvPr>
            <p:cNvSpPr/>
            <p:nvPr/>
          </p:nvSpPr>
          <p:spPr>
            <a:xfrm rot="16200000">
              <a:off x="3135224" y="3058001"/>
              <a:ext cx="86489" cy="689141"/>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6" name="TextBox 35">
              <a:extLst>
                <a:ext uri="{FF2B5EF4-FFF2-40B4-BE49-F238E27FC236}">
                  <a16:creationId xmlns:a16="http://schemas.microsoft.com/office/drawing/2014/main" id="{DFCAAFE6-9B4C-699D-E08F-20511758EE95}"/>
                </a:ext>
              </a:extLst>
            </p:cNvPr>
            <p:cNvSpPr txBox="1"/>
            <p:nvPr/>
          </p:nvSpPr>
          <p:spPr>
            <a:xfrm>
              <a:off x="1759275" y="3169897"/>
              <a:ext cx="449162" cy="215444"/>
            </a:xfrm>
            <a:prstGeom prst="rect">
              <a:avLst/>
            </a:prstGeom>
            <a:noFill/>
          </p:spPr>
          <p:txBody>
            <a:bodyPr wrap="none" rtlCol="0">
              <a:spAutoFit/>
            </a:bodyPr>
            <a:lstStyle/>
            <a:p>
              <a:r>
                <a:rPr lang="en-US" sz="800" dirty="0" err="1"/>
                <a:t>GenA</a:t>
              </a:r>
              <a:endParaRPr lang="en-US" sz="800" dirty="0"/>
            </a:p>
          </p:txBody>
        </p:sp>
        <p:sp>
          <p:nvSpPr>
            <p:cNvPr id="37" name="TextBox 36">
              <a:extLst>
                <a:ext uri="{FF2B5EF4-FFF2-40B4-BE49-F238E27FC236}">
                  <a16:creationId xmlns:a16="http://schemas.microsoft.com/office/drawing/2014/main" id="{8A64F5E6-0B3C-6945-A3F6-C87302D6D8CA}"/>
                </a:ext>
              </a:extLst>
            </p:cNvPr>
            <p:cNvSpPr txBox="1"/>
            <p:nvPr/>
          </p:nvSpPr>
          <p:spPr>
            <a:xfrm>
              <a:off x="2967098" y="3168113"/>
              <a:ext cx="449162" cy="215444"/>
            </a:xfrm>
            <a:prstGeom prst="rect">
              <a:avLst/>
            </a:prstGeom>
            <a:noFill/>
          </p:spPr>
          <p:txBody>
            <a:bodyPr wrap="none" rtlCol="0">
              <a:spAutoFit/>
            </a:bodyPr>
            <a:lstStyle/>
            <a:p>
              <a:r>
                <a:rPr lang="en-US" sz="800" dirty="0" err="1"/>
                <a:t>GenB</a:t>
              </a:r>
              <a:endParaRPr lang="en-US" sz="800" dirty="0"/>
            </a:p>
          </p:txBody>
        </p:sp>
        <p:cxnSp>
          <p:nvCxnSpPr>
            <p:cNvPr id="39" name="Straight Connector 38">
              <a:extLst>
                <a:ext uri="{FF2B5EF4-FFF2-40B4-BE49-F238E27FC236}">
                  <a16:creationId xmlns:a16="http://schemas.microsoft.com/office/drawing/2014/main" id="{1907882B-0692-B1CD-D94B-A7B80AF595BE}"/>
                </a:ext>
              </a:extLst>
            </p:cNvPr>
            <p:cNvCxnSpPr>
              <a:cxnSpLocks/>
            </p:cNvCxnSpPr>
            <p:nvPr/>
          </p:nvCxnSpPr>
          <p:spPr>
            <a:xfrm>
              <a:off x="1601671" y="3689683"/>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324BF88-056E-6F39-A92B-A7E07E629515}"/>
                </a:ext>
              </a:extLst>
            </p:cNvPr>
            <p:cNvCxnSpPr>
              <a:cxnSpLocks/>
            </p:cNvCxnSpPr>
            <p:nvPr/>
          </p:nvCxnSpPr>
          <p:spPr>
            <a:xfrm>
              <a:off x="1937622" y="3784332"/>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C721E0C-DCA7-1322-2975-D2EA6CC76118}"/>
                </a:ext>
              </a:extLst>
            </p:cNvPr>
            <p:cNvCxnSpPr>
              <a:cxnSpLocks/>
            </p:cNvCxnSpPr>
            <p:nvPr/>
          </p:nvCxnSpPr>
          <p:spPr>
            <a:xfrm>
              <a:off x="2141994" y="3784332"/>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255CB63-AD19-2815-836D-2F3E6B30A856}"/>
                </a:ext>
              </a:extLst>
            </p:cNvPr>
            <p:cNvCxnSpPr>
              <a:cxnSpLocks/>
            </p:cNvCxnSpPr>
            <p:nvPr/>
          </p:nvCxnSpPr>
          <p:spPr>
            <a:xfrm>
              <a:off x="2967098" y="3789143"/>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8C465A6-99D6-0136-7C51-28774660A073}"/>
                </a:ext>
              </a:extLst>
            </p:cNvPr>
            <p:cNvCxnSpPr>
              <a:cxnSpLocks/>
            </p:cNvCxnSpPr>
            <p:nvPr/>
          </p:nvCxnSpPr>
          <p:spPr>
            <a:xfrm>
              <a:off x="2049619" y="3689683"/>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1BAD8EC-596D-0B2C-7850-0DE8C06D3DDF}"/>
                </a:ext>
              </a:extLst>
            </p:cNvPr>
            <p:cNvCxnSpPr>
              <a:cxnSpLocks/>
            </p:cNvCxnSpPr>
            <p:nvPr/>
          </p:nvCxnSpPr>
          <p:spPr>
            <a:xfrm>
              <a:off x="3094415" y="3689683"/>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268C9D3-6FD9-0851-F71C-493FF5949B3D}"/>
                </a:ext>
              </a:extLst>
            </p:cNvPr>
            <p:cNvCxnSpPr>
              <a:cxnSpLocks/>
            </p:cNvCxnSpPr>
            <p:nvPr/>
          </p:nvCxnSpPr>
          <p:spPr>
            <a:xfrm>
              <a:off x="3027972" y="3893417"/>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989D520-B351-4D5F-5B88-9BACFF817FAF}"/>
                </a:ext>
              </a:extLst>
            </p:cNvPr>
            <p:cNvCxnSpPr>
              <a:cxnSpLocks/>
            </p:cNvCxnSpPr>
            <p:nvPr/>
          </p:nvCxnSpPr>
          <p:spPr>
            <a:xfrm>
              <a:off x="3227300" y="3792352"/>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92B1690-80E2-2CD5-88B6-12738FA77003}"/>
                </a:ext>
              </a:extLst>
            </p:cNvPr>
            <p:cNvCxnSpPr>
              <a:cxnSpLocks/>
            </p:cNvCxnSpPr>
            <p:nvPr/>
          </p:nvCxnSpPr>
          <p:spPr>
            <a:xfrm>
              <a:off x="3331906" y="3689683"/>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E833209-30C9-14DF-35FC-1AEF348EE3E3}"/>
                </a:ext>
              </a:extLst>
            </p:cNvPr>
            <p:cNvCxnSpPr>
              <a:cxnSpLocks/>
            </p:cNvCxnSpPr>
            <p:nvPr/>
          </p:nvCxnSpPr>
          <p:spPr>
            <a:xfrm>
              <a:off x="3390154" y="3854917"/>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87BED13A-75F3-4765-FA00-12AD5EB414BA}"/>
                </a:ext>
              </a:extLst>
            </p:cNvPr>
            <p:cNvCxnSpPr>
              <a:cxnSpLocks/>
            </p:cNvCxnSpPr>
            <p:nvPr/>
          </p:nvCxnSpPr>
          <p:spPr>
            <a:xfrm>
              <a:off x="2834213" y="3689683"/>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96CBB18-586D-7A77-D7B4-34AC0A4FEA81}"/>
                </a:ext>
              </a:extLst>
            </p:cNvPr>
            <p:cNvCxnSpPr>
              <a:cxnSpLocks/>
            </p:cNvCxnSpPr>
            <p:nvPr/>
          </p:nvCxnSpPr>
          <p:spPr>
            <a:xfrm>
              <a:off x="2833898" y="3893417"/>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C33B2BD4-AFBA-7052-AB80-EB9E5B07EB92}"/>
                </a:ext>
              </a:extLst>
            </p:cNvPr>
            <p:cNvCxnSpPr>
              <a:cxnSpLocks/>
            </p:cNvCxnSpPr>
            <p:nvPr/>
          </p:nvCxnSpPr>
          <p:spPr>
            <a:xfrm>
              <a:off x="3227300" y="3960795"/>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5805DC5-9346-32C8-192B-1CE586716C03}"/>
                </a:ext>
              </a:extLst>
            </p:cNvPr>
            <p:cNvCxnSpPr>
              <a:cxnSpLocks/>
            </p:cNvCxnSpPr>
            <p:nvPr/>
          </p:nvCxnSpPr>
          <p:spPr>
            <a:xfrm>
              <a:off x="3416260" y="3784332"/>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F210171D-CDEF-A5E3-FA3B-1CFC6C1074C9}"/>
                </a:ext>
              </a:extLst>
            </p:cNvPr>
            <p:cNvCxnSpPr>
              <a:cxnSpLocks/>
            </p:cNvCxnSpPr>
            <p:nvPr/>
          </p:nvCxnSpPr>
          <p:spPr>
            <a:xfrm>
              <a:off x="3355046" y="4024963"/>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2BFF504-9643-8453-65B3-8511C210DC3F}"/>
                </a:ext>
              </a:extLst>
            </p:cNvPr>
            <p:cNvCxnSpPr>
              <a:cxnSpLocks/>
            </p:cNvCxnSpPr>
            <p:nvPr/>
          </p:nvCxnSpPr>
          <p:spPr>
            <a:xfrm>
              <a:off x="1754071" y="3842083"/>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C672F87-A599-04A7-8164-CCF43C5433F7}"/>
                </a:ext>
              </a:extLst>
            </p:cNvPr>
            <p:cNvCxnSpPr>
              <a:cxnSpLocks/>
            </p:cNvCxnSpPr>
            <p:nvPr/>
          </p:nvCxnSpPr>
          <p:spPr>
            <a:xfrm>
              <a:off x="2961264" y="3960795"/>
              <a:ext cx="13288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grpSp>
      <p:graphicFrame>
        <p:nvGraphicFramePr>
          <p:cNvPr id="59" name="Table 58">
            <a:extLst>
              <a:ext uri="{FF2B5EF4-FFF2-40B4-BE49-F238E27FC236}">
                <a16:creationId xmlns:a16="http://schemas.microsoft.com/office/drawing/2014/main" id="{0348D440-A30F-4603-6DDA-740316ECC556}"/>
              </a:ext>
            </a:extLst>
          </p:cNvPr>
          <p:cNvGraphicFramePr>
            <a:graphicFrameLocks noGrp="1"/>
          </p:cNvGraphicFramePr>
          <p:nvPr>
            <p:extLst>
              <p:ext uri="{D42A27DB-BD31-4B8C-83A1-F6EECF244321}">
                <p14:modId xmlns:p14="http://schemas.microsoft.com/office/powerpoint/2010/main" val="502453779"/>
              </p:ext>
            </p:extLst>
          </p:nvPr>
        </p:nvGraphicFramePr>
        <p:xfrm>
          <a:off x="1551515" y="4228956"/>
          <a:ext cx="1962236" cy="700935"/>
        </p:xfrm>
        <a:graphic>
          <a:graphicData uri="http://schemas.openxmlformats.org/drawingml/2006/table">
            <a:tbl>
              <a:tblPr firstRow="1" bandRow="1">
                <a:tableStyleId>{D1E8DE8F-3FD5-44BD-BD6F-004C10B1D515}</a:tableStyleId>
              </a:tblPr>
              <a:tblGrid>
                <a:gridCol w="981118">
                  <a:extLst>
                    <a:ext uri="{9D8B030D-6E8A-4147-A177-3AD203B41FA5}">
                      <a16:colId xmlns:a16="http://schemas.microsoft.com/office/drawing/2014/main" val="1662088545"/>
                    </a:ext>
                  </a:extLst>
                </a:gridCol>
                <a:gridCol w="981118">
                  <a:extLst>
                    <a:ext uri="{9D8B030D-6E8A-4147-A177-3AD203B41FA5}">
                      <a16:colId xmlns:a16="http://schemas.microsoft.com/office/drawing/2014/main" val="813139519"/>
                    </a:ext>
                  </a:extLst>
                </a:gridCol>
              </a:tblGrid>
              <a:tr h="233645">
                <a:tc>
                  <a:txBody>
                    <a:bodyPr/>
                    <a:lstStyle/>
                    <a:p>
                      <a:endParaRPr lang="en-US" sz="800" dirty="0"/>
                    </a:p>
                  </a:txBody>
                  <a:tcPr/>
                </a:tc>
                <a:tc>
                  <a:txBody>
                    <a:bodyPr/>
                    <a:lstStyle/>
                    <a:p>
                      <a:r>
                        <a:rPr lang="en-US" sz="800" dirty="0"/>
                        <a:t>Raw counts</a:t>
                      </a:r>
                    </a:p>
                  </a:txBody>
                  <a:tcPr/>
                </a:tc>
                <a:extLst>
                  <a:ext uri="{0D108BD9-81ED-4DB2-BD59-A6C34878D82A}">
                    <a16:rowId xmlns:a16="http://schemas.microsoft.com/office/drawing/2014/main" val="202383154"/>
                  </a:ext>
                </a:extLst>
              </a:tr>
              <a:tr h="233645">
                <a:tc>
                  <a:txBody>
                    <a:bodyPr/>
                    <a:lstStyle/>
                    <a:p>
                      <a:r>
                        <a:rPr lang="en-US" sz="800" dirty="0" err="1"/>
                        <a:t>GeneA</a:t>
                      </a:r>
                      <a:endParaRPr lang="en-US" sz="800" dirty="0"/>
                    </a:p>
                  </a:txBody>
                  <a:tcPr/>
                </a:tc>
                <a:tc>
                  <a:txBody>
                    <a:bodyPr/>
                    <a:lstStyle/>
                    <a:p>
                      <a:r>
                        <a:rPr lang="en-US" sz="800" dirty="0"/>
                        <a:t>6</a:t>
                      </a:r>
                    </a:p>
                  </a:txBody>
                  <a:tcPr/>
                </a:tc>
                <a:extLst>
                  <a:ext uri="{0D108BD9-81ED-4DB2-BD59-A6C34878D82A}">
                    <a16:rowId xmlns:a16="http://schemas.microsoft.com/office/drawing/2014/main" val="2621786924"/>
                  </a:ext>
                </a:extLst>
              </a:tr>
              <a:tr h="233645">
                <a:tc>
                  <a:txBody>
                    <a:bodyPr/>
                    <a:lstStyle/>
                    <a:p>
                      <a:r>
                        <a:rPr lang="en-US" sz="800" dirty="0" err="1"/>
                        <a:t>GeneB</a:t>
                      </a:r>
                      <a:endParaRPr lang="en-US" sz="800" dirty="0"/>
                    </a:p>
                  </a:txBody>
                  <a:tcPr/>
                </a:tc>
                <a:tc>
                  <a:txBody>
                    <a:bodyPr/>
                    <a:lstStyle/>
                    <a:p>
                      <a:r>
                        <a:rPr lang="en-US" sz="800" dirty="0"/>
                        <a:t>12</a:t>
                      </a:r>
                    </a:p>
                  </a:txBody>
                  <a:tcPr/>
                </a:tc>
                <a:extLst>
                  <a:ext uri="{0D108BD9-81ED-4DB2-BD59-A6C34878D82A}">
                    <a16:rowId xmlns:a16="http://schemas.microsoft.com/office/drawing/2014/main" val="3521696423"/>
                  </a:ext>
                </a:extLst>
              </a:tr>
            </a:tbl>
          </a:graphicData>
        </a:graphic>
      </p:graphicFrame>
    </p:spTree>
    <p:extLst>
      <p:ext uri="{BB962C8B-B14F-4D97-AF65-F5344CB8AC3E}">
        <p14:creationId xmlns:p14="http://schemas.microsoft.com/office/powerpoint/2010/main" val="3702395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6807DC48-BCC8-70AE-A52B-FFC0BD6379C6}"/>
            </a:ext>
          </a:extLst>
        </p:cNvPr>
        <p:cNvGrpSpPr/>
        <p:nvPr/>
      </p:nvGrpSpPr>
      <p:grpSpPr>
        <a:xfrm>
          <a:off x="0" y="0"/>
          <a:ext cx="0" cy="0"/>
          <a:chOff x="0" y="0"/>
          <a:chExt cx="0" cy="0"/>
        </a:xfrm>
      </p:grpSpPr>
      <p:sp>
        <p:nvSpPr>
          <p:cNvPr id="2" name="Google Shape;59;p14">
            <a:extLst>
              <a:ext uri="{FF2B5EF4-FFF2-40B4-BE49-F238E27FC236}">
                <a16:creationId xmlns:a16="http://schemas.microsoft.com/office/drawing/2014/main" id="{8E17A4A4-D987-2E30-D33C-888319B8CD4F}"/>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STAR alignment: Splicing-aware transcriptome mapping</a:t>
            </a:r>
          </a:p>
        </p:txBody>
      </p:sp>
      <p:pic>
        <p:nvPicPr>
          <p:cNvPr id="4" name="Picture 3">
            <a:extLst>
              <a:ext uri="{FF2B5EF4-FFF2-40B4-BE49-F238E27FC236}">
                <a16:creationId xmlns:a16="http://schemas.microsoft.com/office/drawing/2014/main" id="{4540FEB5-EB8A-55D8-E7CE-2021BD50958E}"/>
              </a:ext>
            </a:extLst>
          </p:cNvPr>
          <p:cNvPicPr>
            <a:picLocks noChangeAspect="1"/>
          </p:cNvPicPr>
          <p:nvPr/>
        </p:nvPicPr>
        <p:blipFill>
          <a:blip r:embed="rId3"/>
          <a:stretch>
            <a:fillRect/>
          </a:stretch>
        </p:blipFill>
        <p:spPr>
          <a:xfrm>
            <a:off x="724300" y="2571750"/>
            <a:ext cx="7772400" cy="2206571"/>
          </a:xfrm>
          <a:prstGeom prst="rect">
            <a:avLst/>
          </a:prstGeom>
        </p:spPr>
      </p:pic>
      <p:sp>
        <p:nvSpPr>
          <p:cNvPr id="19" name="TextBox 18">
            <a:extLst>
              <a:ext uri="{FF2B5EF4-FFF2-40B4-BE49-F238E27FC236}">
                <a16:creationId xmlns:a16="http://schemas.microsoft.com/office/drawing/2014/main" id="{6191241F-8A7F-C892-B922-471A4FE05E7C}"/>
              </a:ext>
            </a:extLst>
          </p:cNvPr>
          <p:cNvSpPr txBox="1"/>
          <p:nvPr/>
        </p:nvSpPr>
        <p:spPr>
          <a:xfrm>
            <a:off x="2729029" y="1243368"/>
            <a:ext cx="4441792" cy="1169551"/>
          </a:xfrm>
          <a:prstGeom prst="rect">
            <a:avLst/>
          </a:prstGeom>
          <a:noFill/>
        </p:spPr>
        <p:txBody>
          <a:bodyPr wrap="square" rtlCol="0">
            <a:spAutoFit/>
          </a:bodyPr>
          <a:lstStyle/>
          <a:p>
            <a:pPr marL="285750" lvl="0" indent="-285750" eaLnBrk="0" fontAlgn="base" hangingPunct="0">
              <a:spcBef>
                <a:spcPct val="0"/>
              </a:spcBef>
              <a:spcAft>
                <a:spcPct val="0"/>
              </a:spcAft>
              <a:buClrTx/>
              <a:buFont typeface="Arial" panose="020B0604020202020204" pitchFamily="34" charset="0"/>
              <a:buChar char="•"/>
            </a:pPr>
            <a:r>
              <a:rPr lang="en-US" altLang="en-US" dirty="0">
                <a:solidFill>
                  <a:schemeClr val="tx1"/>
                </a:solidFill>
                <a:latin typeface="Arial" panose="020B0604020202020204" pitchFamily="34" charset="0"/>
              </a:rPr>
              <a:t>Handles spliced reads (exon-exon junctions) </a:t>
            </a:r>
          </a:p>
          <a:p>
            <a:pPr marL="285750" lvl="0" indent="-285750" eaLnBrk="0" fontAlgn="base" hangingPunct="0">
              <a:spcBef>
                <a:spcPct val="0"/>
              </a:spcBef>
              <a:spcAft>
                <a:spcPct val="0"/>
              </a:spcAft>
              <a:buClrTx/>
              <a:buFont typeface="Arial" panose="020B0604020202020204" pitchFamily="34" charset="0"/>
              <a:buChar char="•"/>
            </a:pPr>
            <a:r>
              <a:rPr lang="en-US" altLang="en-US" dirty="0">
                <a:solidFill>
                  <a:schemeClr val="tx1"/>
                </a:solidFill>
                <a:latin typeface="Arial" panose="020B0604020202020204" pitchFamily="34" charset="0"/>
              </a:rPr>
              <a:t>Fast and accurate compared to </a:t>
            </a:r>
            <a:r>
              <a:rPr lang="en-US" altLang="en-US" dirty="0" err="1">
                <a:solidFill>
                  <a:schemeClr val="tx1"/>
                </a:solidFill>
                <a:latin typeface="Arial" panose="020B0604020202020204" pitchFamily="34" charset="0"/>
              </a:rPr>
              <a:t>unspliced</a:t>
            </a:r>
            <a:r>
              <a:rPr lang="en-US" altLang="en-US" dirty="0">
                <a:solidFill>
                  <a:schemeClr val="tx1"/>
                </a:solidFill>
                <a:latin typeface="Arial" panose="020B0604020202020204" pitchFamily="34" charset="0"/>
              </a:rPr>
              <a:t> aligners </a:t>
            </a:r>
          </a:p>
          <a:p>
            <a:pPr marL="285750" lvl="0" indent="-285750" eaLnBrk="0" fontAlgn="base" hangingPunct="0">
              <a:spcBef>
                <a:spcPct val="0"/>
              </a:spcBef>
              <a:spcAft>
                <a:spcPct val="0"/>
              </a:spcAft>
              <a:buClrTx/>
              <a:buFont typeface="Arial" panose="020B0604020202020204" pitchFamily="34" charset="0"/>
              <a:buChar char="•"/>
            </a:pPr>
            <a:r>
              <a:rPr lang="en-US" altLang="en-US" dirty="0">
                <a:solidFill>
                  <a:schemeClr val="tx1"/>
                </a:solidFill>
                <a:latin typeface="Arial" panose="020B0604020202020204" pitchFamily="34" charset="0"/>
              </a:rPr>
              <a:t>Why DNA aligners fail on RNA: reads span introns and need splice-junction detection</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609783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59;p14">
            <a:extLst>
              <a:ext uri="{FF2B5EF4-FFF2-40B4-BE49-F238E27FC236}">
                <a16:creationId xmlns:a16="http://schemas.microsoft.com/office/drawing/2014/main" id="{FB765238-D992-CA2E-9AF3-2660E5350AC6}"/>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STAR alignment: Splicing-aware transcriptome mapping</a:t>
            </a:r>
          </a:p>
        </p:txBody>
      </p:sp>
      <p:sp>
        <p:nvSpPr>
          <p:cNvPr id="5" name="Rounded Rectangle 4">
            <a:extLst>
              <a:ext uri="{FF2B5EF4-FFF2-40B4-BE49-F238E27FC236}">
                <a16:creationId xmlns:a16="http://schemas.microsoft.com/office/drawing/2014/main" id="{F5870039-3F02-D60F-3787-225C5CA180F6}"/>
              </a:ext>
            </a:extLst>
          </p:cNvPr>
          <p:cNvSpPr/>
          <p:nvPr/>
        </p:nvSpPr>
        <p:spPr>
          <a:xfrm>
            <a:off x="965581" y="2286975"/>
            <a:ext cx="1217596" cy="69003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Genome indexing</a:t>
            </a:r>
          </a:p>
        </p:txBody>
      </p:sp>
      <p:sp>
        <p:nvSpPr>
          <p:cNvPr id="10" name="Rounded Rectangle 9">
            <a:extLst>
              <a:ext uri="{FF2B5EF4-FFF2-40B4-BE49-F238E27FC236}">
                <a16:creationId xmlns:a16="http://schemas.microsoft.com/office/drawing/2014/main" id="{B8AC84D6-37A3-9FF0-4141-E0992315A7B7}"/>
              </a:ext>
            </a:extLst>
          </p:cNvPr>
          <p:cNvSpPr/>
          <p:nvPr/>
        </p:nvSpPr>
        <p:spPr>
          <a:xfrm>
            <a:off x="2932343" y="2286975"/>
            <a:ext cx="1217596" cy="69003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Seed searching</a:t>
            </a:r>
          </a:p>
        </p:txBody>
      </p:sp>
      <p:sp>
        <p:nvSpPr>
          <p:cNvPr id="11" name="Rounded Rectangle 10">
            <a:extLst>
              <a:ext uri="{FF2B5EF4-FFF2-40B4-BE49-F238E27FC236}">
                <a16:creationId xmlns:a16="http://schemas.microsoft.com/office/drawing/2014/main" id="{0C838F0F-3667-C99B-7CDA-5324F2D6C27C}"/>
              </a:ext>
            </a:extLst>
          </p:cNvPr>
          <p:cNvSpPr/>
          <p:nvPr/>
        </p:nvSpPr>
        <p:spPr>
          <a:xfrm>
            <a:off x="4863013" y="2286975"/>
            <a:ext cx="1217596" cy="69003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Clustering</a:t>
            </a:r>
          </a:p>
        </p:txBody>
      </p:sp>
      <p:sp>
        <p:nvSpPr>
          <p:cNvPr id="12" name="Rounded Rectangle 11">
            <a:extLst>
              <a:ext uri="{FF2B5EF4-FFF2-40B4-BE49-F238E27FC236}">
                <a16:creationId xmlns:a16="http://schemas.microsoft.com/office/drawing/2014/main" id="{0E405A97-0930-86B2-9A8C-AC661CC7FFC3}"/>
              </a:ext>
            </a:extLst>
          </p:cNvPr>
          <p:cNvSpPr/>
          <p:nvPr/>
        </p:nvSpPr>
        <p:spPr>
          <a:xfrm>
            <a:off x="6892340" y="2286975"/>
            <a:ext cx="1217596" cy="69003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Junction detection</a:t>
            </a:r>
          </a:p>
        </p:txBody>
      </p:sp>
      <p:sp>
        <p:nvSpPr>
          <p:cNvPr id="14" name="TextBox 13">
            <a:extLst>
              <a:ext uri="{FF2B5EF4-FFF2-40B4-BE49-F238E27FC236}">
                <a16:creationId xmlns:a16="http://schemas.microsoft.com/office/drawing/2014/main" id="{A437B613-93AA-1873-0733-067A8DFCCFB7}"/>
              </a:ext>
            </a:extLst>
          </p:cNvPr>
          <p:cNvSpPr txBox="1"/>
          <p:nvPr/>
        </p:nvSpPr>
        <p:spPr>
          <a:xfrm>
            <a:off x="2932343" y="3022702"/>
            <a:ext cx="1369996" cy="400110"/>
          </a:xfrm>
          <a:prstGeom prst="rect">
            <a:avLst/>
          </a:prstGeom>
          <a:noFill/>
        </p:spPr>
        <p:txBody>
          <a:bodyPr wrap="square" rtlCol="0">
            <a:spAutoFit/>
          </a:bodyPr>
          <a:lstStyle/>
          <a:p>
            <a:r>
              <a:rPr lang="en-US" sz="1000" dirty="0"/>
              <a:t>Genome index scans for short k-</a:t>
            </a:r>
            <a:r>
              <a:rPr lang="en-US" sz="1000" dirty="0" err="1"/>
              <a:t>mers</a:t>
            </a:r>
            <a:endParaRPr lang="en-US" sz="1000" dirty="0"/>
          </a:p>
        </p:txBody>
      </p:sp>
      <p:sp>
        <p:nvSpPr>
          <p:cNvPr id="15" name="TextBox 14">
            <a:extLst>
              <a:ext uri="{FF2B5EF4-FFF2-40B4-BE49-F238E27FC236}">
                <a16:creationId xmlns:a16="http://schemas.microsoft.com/office/drawing/2014/main" id="{6E68B8FD-C808-BC27-F423-BDEE81F86AEE}"/>
              </a:ext>
            </a:extLst>
          </p:cNvPr>
          <p:cNvSpPr txBox="1"/>
          <p:nvPr/>
        </p:nvSpPr>
        <p:spPr>
          <a:xfrm>
            <a:off x="6892340" y="3028748"/>
            <a:ext cx="1369996" cy="553998"/>
          </a:xfrm>
          <a:prstGeom prst="rect">
            <a:avLst/>
          </a:prstGeom>
          <a:noFill/>
        </p:spPr>
        <p:txBody>
          <a:bodyPr wrap="square" rtlCol="0">
            <a:spAutoFit/>
          </a:bodyPr>
          <a:lstStyle/>
          <a:p>
            <a:r>
              <a:rPr lang="en-US" sz="1000" dirty="0"/>
              <a:t>Distinguishes real junctions from sequencing artifacts</a:t>
            </a:r>
          </a:p>
        </p:txBody>
      </p:sp>
      <p:sp>
        <p:nvSpPr>
          <p:cNvPr id="16" name="TextBox 15">
            <a:extLst>
              <a:ext uri="{FF2B5EF4-FFF2-40B4-BE49-F238E27FC236}">
                <a16:creationId xmlns:a16="http://schemas.microsoft.com/office/drawing/2014/main" id="{F257E496-52B6-E8D1-A729-4A5BC0447C14}"/>
              </a:ext>
            </a:extLst>
          </p:cNvPr>
          <p:cNvSpPr txBox="1"/>
          <p:nvPr/>
        </p:nvSpPr>
        <p:spPr>
          <a:xfrm>
            <a:off x="4810874" y="3028748"/>
            <a:ext cx="1369996" cy="400110"/>
          </a:xfrm>
          <a:prstGeom prst="rect">
            <a:avLst/>
          </a:prstGeom>
          <a:noFill/>
        </p:spPr>
        <p:txBody>
          <a:bodyPr wrap="square" rtlCol="0">
            <a:spAutoFit/>
          </a:bodyPr>
          <a:lstStyle/>
          <a:p>
            <a:r>
              <a:rPr lang="en-US" sz="1000" dirty="0"/>
              <a:t>Group seeds by position in genome</a:t>
            </a:r>
          </a:p>
        </p:txBody>
      </p:sp>
      <p:sp>
        <p:nvSpPr>
          <p:cNvPr id="17" name="TextBox 16">
            <a:extLst>
              <a:ext uri="{FF2B5EF4-FFF2-40B4-BE49-F238E27FC236}">
                <a16:creationId xmlns:a16="http://schemas.microsoft.com/office/drawing/2014/main" id="{3EB59E16-7CCA-58F4-E2D9-E9779303C05D}"/>
              </a:ext>
            </a:extLst>
          </p:cNvPr>
          <p:cNvSpPr txBox="1"/>
          <p:nvPr/>
        </p:nvSpPr>
        <p:spPr>
          <a:xfrm>
            <a:off x="889381" y="3022702"/>
            <a:ext cx="1369996" cy="553998"/>
          </a:xfrm>
          <a:prstGeom prst="rect">
            <a:avLst/>
          </a:prstGeom>
          <a:noFill/>
        </p:spPr>
        <p:txBody>
          <a:bodyPr wrap="square" rtlCol="0">
            <a:spAutoFit/>
          </a:bodyPr>
          <a:lstStyle/>
          <a:p>
            <a:r>
              <a:rPr lang="en-US" sz="1000" dirty="0"/>
              <a:t>Creates a searchable data structure</a:t>
            </a:r>
          </a:p>
        </p:txBody>
      </p:sp>
      <p:sp>
        <p:nvSpPr>
          <p:cNvPr id="18" name="Rounded Rectangle 17">
            <a:extLst>
              <a:ext uri="{FF2B5EF4-FFF2-40B4-BE49-F238E27FC236}">
                <a16:creationId xmlns:a16="http://schemas.microsoft.com/office/drawing/2014/main" id="{EC3D23A7-FD13-AB9A-8B11-197A9151B613}"/>
              </a:ext>
            </a:extLst>
          </p:cNvPr>
          <p:cNvSpPr/>
          <p:nvPr/>
        </p:nvSpPr>
        <p:spPr>
          <a:xfrm>
            <a:off x="3963202" y="1004939"/>
            <a:ext cx="1217596" cy="69003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STAR</a:t>
            </a:r>
          </a:p>
        </p:txBody>
      </p:sp>
      <p:sp>
        <p:nvSpPr>
          <p:cNvPr id="19" name="Right Arrow 18">
            <a:extLst>
              <a:ext uri="{FF2B5EF4-FFF2-40B4-BE49-F238E27FC236}">
                <a16:creationId xmlns:a16="http://schemas.microsoft.com/office/drawing/2014/main" id="{619103B0-DA97-D310-9379-A4F86510E65C}"/>
              </a:ext>
            </a:extLst>
          </p:cNvPr>
          <p:cNvSpPr/>
          <p:nvPr/>
        </p:nvSpPr>
        <p:spPr>
          <a:xfrm>
            <a:off x="2425414" y="2538297"/>
            <a:ext cx="228600" cy="6830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8D445A3F-8A4B-4F55-7115-7BA06697CD66}"/>
              </a:ext>
            </a:extLst>
          </p:cNvPr>
          <p:cNvSpPr/>
          <p:nvPr/>
        </p:nvSpPr>
        <p:spPr>
          <a:xfrm>
            <a:off x="4392176" y="2538297"/>
            <a:ext cx="228600" cy="6830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1" name="Right Arrow 20">
            <a:extLst>
              <a:ext uri="{FF2B5EF4-FFF2-40B4-BE49-F238E27FC236}">
                <a16:creationId xmlns:a16="http://schemas.microsoft.com/office/drawing/2014/main" id="{B9A73EC3-A40C-477B-94AE-E536DB375EC5}"/>
              </a:ext>
            </a:extLst>
          </p:cNvPr>
          <p:cNvSpPr/>
          <p:nvPr/>
        </p:nvSpPr>
        <p:spPr>
          <a:xfrm>
            <a:off x="6372174" y="2538297"/>
            <a:ext cx="228600" cy="6830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2" name="Right Brace 21">
            <a:extLst>
              <a:ext uri="{FF2B5EF4-FFF2-40B4-BE49-F238E27FC236}">
                <a16:creationId xmlns:a16="http://schemas.microsoft.com/office/drawing/2014/main" id="{899AD844-CACE-F1A1-6DE1-AFF3BE4DDB7E}"/>
              </a:ext>
            </a:extLst>
          </p:cNvPr>
          <p:cNvSpPr/>
          <p:nvPr/>
        </p:nvSpPr>
        <p:spPr>
          <a:xfrm rot="16200000">
            <a:off x="4480841" y="-1628239"/>
            <a:ext cx="182318" cy="7144355"/>
          </a:xfrm>
          <a:prstGeom prst="rightBrace">
            <a:avLst>
              <a:gd name="adj1" fmla="val 0"/>
              <a:gd name="adj2" fmla="val 50078"/>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9512438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DD6DD-EABF-6419-3A16-B473DBD40F4C}"/>
            </a:ext>
          </a:extLst>
        </p:cNvPr>
        <p:cNvGrpSpPr/>
        <p:nvPr/>
      </p:nvGrpSpPr>
      <p:grpSpPr>
        <a:xfrm>
          <a:off x="0" y="0"/>
          <a:ext cx="0" cy="0"/>
          <a:chOff x="0" y="0"/>
          <a:chExt cx="0" cy="0"/>
        </a:xfrm>
      </p:grpSpPr>
      <p:sp>
        <p:nvSpPr>
          <p:cNvPr id="4" name="Google Shape;59;p14">
            <a:extLst>
              <a:ext uri="{FF2B5EF4-FFF2-40B4-BE49-F238E27FC236}">
                <a16:creationId xmlns:a16="http://schemas.microsoft.com/office/drawing/2014/main" id="{9BA2CDFA-11B5-85EE-CB17-A26032EB922E}"/>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STAR alignment: Splicing-aware transcriptome mapping</a:t>
            </a:r>
          </a:p>
        </p:txBody>
      </p:sp>
      <p:sp>
        <p:nvSpPr>
          <p:cNvPr id="5" name="Rounded Rectangle 4">
            <a:extLst>
              <a:ext uri="{FF2B5EF4-FFF2-40B4-BE49-F238E27FC236}">
                <a16:creationId xmlns:a16="http://schemas.microsoft.com/office/drawing/2014/main" id="{EB67008D-191C-59A0-7EA1-884E70C04D62}"/>
              </a:ext>
            </a:extLst>
          </p:cNvPr>
          <p:cNvSpPr/>
          <p:nvPr/>
        </p:nvSpPr>
        <p:spPr>
          <a:xfrm>
            <a:off x="965581" y="2286975"/>
            <a:ext cx="1217596" cy="690038"/>
          </a:xfrm>
          <a:prstGeom prst="roundRect">
            <a:avLst/>
          </a:prstGeom>
          <a:solidFill>
            <a:schemeClr val="bg1">
              <a:lumMod val="85000"/>
            </a:schemeClr>
          </a:solidFill>
          <a:ln>
            <a:solidFill>
              <a:schemeClr val="bg1">
                <a:lumMod val="5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Genome indexing</a:t>
            </a:r>
          </a:p>
        </p:txBody>
      </p:sp>
      <p:sp>
        <p:nvSpPr>
          <p:cNvPr id="10" name="Rounded Rectangle 9">
            <a:extLst>
              <a:ext uri="{FF2B5EF4-FFF2-40B4-BE49-F238E27FC236}">
                <a16:creationId xmlns:a16="http://schemas.microsoft.com/office/drawing/2014/main" id="{A2612923-A48E-E288-F83A-BCDBCA1DDF7A}"/>
              </a:ext>
            </a:extLst>
          </p:cNvPr>
          <p:cNvSpPr/>
          <p:nvPr/>
        </p:nvSpPr>
        <p:spPr>
          <a:xfrm>
            <a:off x="2932343" y="2286975"/>
            <a:ext cx="1217596" cy="69003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Seed searching</a:t>
            </a:r>
          </a:p>
        </p:txBody>
      </p:sp>
      <p:sp>
        <p:nvSpPr>
          <p:cNvPr id="11" name="Rounded Rectangle 10">
            <a:extLst>
              <a:ext uri="{FF2B5EF4-FFF2-40B4-BE49-F238E27FC236}">
                <a16:creationId xmlns:a16="http://schemas.microsoft.com/office/drawing/2014/main" id="{8586A995-195F-96AE-916F-05820BDF0D60}"/>
              </a:ext>
            </a:extLst>
          </p:cNvPr>
          <p:cNvSpPr/>
          <p:nvPr/>
        </p:nvSpPr>
        <p:spPr>
          <a:xfrm>
            <a:off x="4863013" y="2286975"/>
            <a:ext cx="1217596" cy="690038"/>
          </a:xfrm>
          <a:prstGeom prst="roundRect">
            <a:avLst/>
          </a:prstGeom>
          <a:solidFill>
            <a:schemeClr val="bg1">
              <a:lumMod val="85000"/>
            </a:schemeClr>
          </a:solidFill>
          <a:ln>
            <a:solidFill>
              <a:schemeClr val="bg1">
                <a:lumMod val="5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Clustering</a:t>
            </a:r>
          </a:p>
        </p:txBody>
      </p:sp>
      <p:sp>
        <p:nvSpPr>
          <p:cNvPr id="12" name="Rounded Rectangle 11">
            <a:extLst>
              <a:ext uri="{FF2B5EF4-FFF2-40B4-BE49-F238E27FC236}">
                <a16:creationId xmlns:a16="http://schemas.microsoft.com/office/drawing/2014/main" id="{9C5D3C3F-7AAB-CBAF-0C03-264D646392C0}"/>
              </a:ext>
            </a:extLst>
          </p:cNvPr>
          <p:cNvSpPr/>
          <p:nvPr/>
        </p:nvSpPr>
        <p:spPr>
          <a:xfrm>
            <a:off x="6892340" y="2286975"/>
            <a:ext cx="1217596" cy="690038"/>
          </a:xfrm>
          <a:prstGeom prst="roundRect">
            <a:avLst/>
          </a:prstGeom>
          <a:solidFill>
            <a:schemeClr val="bg1">
              <a:lumMod val="85000"/>
            </a:schemeClr>
          </a:solidFill>
          <a:ln>
            <a:solidFill>
              <a:schemeClr val="bg1">
                <a:lumMod val="5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Junction detection</a:t>
            </a:r>
          </a:p>
        </p:txBody>
      </p:sp>
      <p:sp>
        <p:nvSpPr>
          <p:cNvPr id="14" name="TextBox 13">
            <a:extLst>
              <a:ext uri="{FF2B5EF4-FFF2-40B4-BE49-F238E27FC236}">
                <a16:creationId xmlns:a16="http://schemas.microsoft.com/office/drawing/2014/main" id="{61565BEA-6A14-A0DF-E8C9-7C54C5DEEDC1}"/>
              </a:ext>
            </a:extLst>
          </p:cNvPr>
          <p:cNvSpPr txBox="1"/>
          <p:nvPr/>
        </p:nvSpPr>
        <p:spPr>
          <a:xfrm>
            <a:off x="2932343" y="3022702"/>
            <a:ext cx="1369996" cy="400110"/>
          </a:xfrm>
          <a:prstGeom prst="rect">
            <a:avLst/>
          </a:prstGeom>
          <a:noFill/>
        </p:spPr>
        <p:txBody>
          <a:bodyPr wrap="square" rtlCol="0">
            <a:spAutoFit/>
          </a:bodyPr>
          <a:lstStyle/>
          <a:p>
            <a:r>
              <a:rPr lang="en-US" sz="1000" dirty="0"/>
              <a:t>Genome index scans for short k-</a:t>
            </a:r>
            <a:r>
              <a:rPr lang="en-US" sz="1000" dirty="0" err="1"/>
              <a:t>mers</a:t>
            </a:r>
            <a:endParaRPr lang="en-US" sz="1000" dirty="0"/>
          </a:p>
        </p:txBody>
      </p:sp>
      <p:sp>
        <p:nvSpPr>
          <p:cNvPr id="15" name="TextBox 14">
            <a:extLst>
              <a:ext uri="{FF2B5EF4-FFF2-40B4-BE49-F238E27FC236}">
                <a16:creationId xmlns:a16="http://schemas.microsoft.com/office/drawing/2014/main" id="{2E699039-25BE-71AF-A5AF-55E04A82FCA3}"/>
              </a:ext>
            </a:extLst>
          </p:cNvPr>
          <p:cNvSpPr txBox="1"/>
          <p:nvPr/>
        </p:nvSpPr>
        <p:spPr>
          <a:xfrm>
            <a:off x="6892340" y="3028748"/>
            <a:ext cx="1369996" cy="553998"/>
          </a:xfrm>
          <a:prstGeom prst="rect">
            <a:avLst/>
          </a:prstGeom>
          <a:noFill/>
        </p:spPr>
        <p:txBody>
          <a:bodyPr wrap="square" rtlCol="0">
            <a:spAutoFit/>
          </a:bodyPr>
          <a:lstStyle/>
          <a:p>
            <a:r>
              <a:rPr lang="en-US" sz="1000" dirty="0">
                <a:solidFill>
                  <a:schemeClr val="bg1">
                    <a:lumMod val="50000"/>
                  </a:schemeClr>
                </a:solidFill>
              </a:rPr>
              <a:t>Distinguishes real junctions from sequencing artifacts</a:t>
            </a:r>
          </a:p>
        </p:txBody>
      </p:sp>
      <p:sp>
        <p:nvSpPr>
          <p:cNvPr id="16" name="TextBox 15">
            <a:extLst>
              <a:ext uri="{FF2B5EF4-FFF2-40B4-BE49-F238E27FC236}">
                <a16:creationId xmlns:a16="http://schemas.microsoft.com/office/drawing/2014/main" id="{6B6904D5-CF67-738A-4AD2-899DC1853AC1}"/>
              </a:ext>
            </a:extLst>
          </p:cNvPr>
          <p:cNvSpPr txBox="1"/>
          <p:nvPr/>
        </p:nvSpPr>
        <p:spPr>
          <a:xfrm>
            <a:off x="4810874" y="3028748"/>
            <a:ext cx="1369996" cy="400110"/>
          </a:xfrm>
          <a:prstGeom prst="rect">
            <a:avLst/>
          </a:prstGeom>
          <a:noFill/>
        </p:spPr>
        <p:txBody>
          <a:bodyPr wrap="square" rtlCol="0">
            <a:spAutoFit/>
          </a:bodyPr>
          <a:lstStyle/>
          <a:p>
            <a:r>
              <a:rPr lang="en-US" sz="1000" dirty="0">
                <a:solidFill>
                  <a:schemeClr val="bg1">
                    <a:lumMod val="50000"/>
                  </a:schemeClr>
                </a:solidFill>
              </a:rPr>
              <a:t>Group seeds by position in genome</a:t>
            </a:r>
          </a:p>
        </p:txBody>
      </p:sp>
      <p:sp>
        <p:nvSpPr>
          <p:cNvPr id="17" name="TextBox 16">
            <a:extLst>
              <a:ext uri="{FF2B5EF4-FFF2-40B4-BE49-F238E27FC236}">
                <a16:creationId xmlns:a16="http://schemas.microsoft.com/office/drawing/2014/main" id="{DA7FF9DF-B4D4-9A0B-32B9-771618AFB98C}"/>
              </a:ext>
            </a:extLst>
          </p:cNvPr>
          <p:cNvSpPr txBox="1"/>
          <p:nvPr/>
        </p:nvSpPr>
        <p:spPr>
          <a:xfrm>
            <a:off x="889381" y="3022702"/>
            <a:ext cx="1369996" cy="553998"/>
          </a:xfrm>
          <a:prstGeom prst="rect">
            <a:avLst/>
          </a:prstGeom>
          <a:noFill/>
        </p:spPr>
        <p:txBody>
          <a:bodyPr wrap="square" rtlCol="0">
            <a:spAutoFit/>
          </a:bodyPr>
          <a:lstStyle/>
          <a:p>
            <a:r>
              <a:rPr lang="en-US" sz="1000" dirty="0">
                <a:solidFill>
                  <a:schemeClr val="bg1">
                    <a:lumMod val="50000"/>
                  </a:schemeClr>
                </a:solidFill>
              </a:rPr>
              <a:t>Creates a searchable data structure</a:t>
            </a:r>
          </a:p>
        </p:txBody>
      </p:sp>
      <p:sp>
        <p:nvSpPr>
          <p:cNvPr id="18" name="Rounded Rectangle 17">
            <a:extLst>
              <a:ext uri="{FF2B5EF4-FFF2-40B4-BE49-F238E27FC236}">
                <a16:creationId xmlns:a16="http://schemas.microsoft.com/office/drawing/2014/main" id="{5F4F37EB-393D-62DA-6892-EF7453E4681F}"/>
              </a:ext>
            </a:extLst>
          </p:cNvPr>
          <p:cNvSpPr/>
          <p:nvPr/>
        </p:nvSpPr>
        <p:spPr>
          <a:xfrm>
            <a:off x="3963202" y="1004939"/>
            <a:ext cx="1217596" cy="69003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STAR</a:t>
            </a:r>
          </a:p>
        </p:txBody>
      </p:sp>
      <p:sp>
        <p:nvSpPr>
          <p:cNvPr id="19" name="Right Arrow 18">
            <a:extLst>
              <a:ext uri="{FF2B5EF4-FFF2-40B4-BE49-F238E27FC236}">
                <a16:creationId xmlns:a16="http://schemas.microsoft.com/office/drawing/2014/main" id="{04015738-0E04-B60E-562A-B785F7A6F4D8}"/>
              </a:ext>
            </a:extLst>
          </p:cNvPr>
          <p:cNvSpPr/>
          <p:nvPr/>
        </p:nvSpPr>
        <p:spPr>
          <a:xfrm>
            <a:off x="2425414" y="2538297"/>
            <a:ext cx="228600" cy="6830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705F88F3-D7E4-BB37-BFA3-28DE62C85771}"/>
              </a:ext>
            </a:extLst>
          </p:cNvPr>
          <p:cNvSpPr/>
          <p:nvPr/>
        </p:nvSpPr>
        <p:spPr>
          <a:xfrm>
            <a:off x="4392176" y="2538297"/>
            <a:ext cx="228600" cy="6830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1" name="Right Arrow 20">
            <a:extLst>
              <a:ext uri="{FF2B5EF4-FFF2-40B4-BE49-F238E27FC236}">
                <a16:creationId xmlns:a16="http://schemas.microsoft.com/office/drawing/2014/main" id="{D5B1DAFD-944D-F873-AF82-D7D5415A8BA8}"/>
              </a:ext>
            </a:extLst>
          </p:cNvPr>
          <p:cNvSpPr/>
          <p:nvPr/>
        </p:nvSpPr>
        <p:spPr>
          <a:xfrm>
            <a:off x="6372174" y="2538297"/>
            <a:ext cx="228600" cy="6830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pic>
        <p:nvPicPr>
          <p:cNvPr id="4099" name="Picture 3" descr="STAR_step1">
            <a:extLst>
              <a:ext uri="{FF2B5EF4-FFF2-40B4-BE49-F238E27FC236}">
                <a16:creationId xmlns:a16="http://schemas.microsoft.com/office/drawing/2014/main" id="{B9A94814-1E53-8B46-4153-015F64DDC9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8520" y="3686705"/>
            <a:ext cx="1653788" cy="1271054"/>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STAR_step2">
            <a:extLst>
              <a:ext uri="{FF2B5EF4-FFF2-40B4-BE49-F238E27FC236}">
                <a16:creationId xmlns:a16="http://schemas.microsoft.com/office/drawing/2014/main" id="{DFD189BB-15D6-7F60-DC41-2EF8F85232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6119" y="3840271"/>
            <a:ext cx="1653788" cy="963922"/>
          </a:xfrm>
          <a:prstGeom prst="rect">
            <a:avLst/>
          </a:prstGeom>
          <a:noFill/>
          <a:extLst>
            <a:ext uri="{909E8E84-426E-40DD-AFC4-6F175D3DCCD1}">
              <a14:hiddenFill xmlns:a14="http://schemas.microsoft.com/office/drawing/2010/main">
                <a:solidFill>
                  <a:srgbClr val="FFFFFF"/>
                </a:solidFill>
              </a14:hiddenFill>
            </a:ext>
          </a:extLst>
        </p:spPr>
      </p:pic>
      <p:sp>
        <p:nvSpPr>
          <p:cNvPr id="13" name="Right Brace 12">
            <a:extLst>
              <a:ext uri="{FF2B5EF4-FFF2-40B4-BE49-F238E27FC236}">
                <a16:creationId xmlns:a16="http://schemas.microsoft.com/office/drawing/2014/main" id="{BF37E06A-1CD0-5D2C-D07D-59BB402CB327}"/>
              </a:ext>
            </a:extLst>
          </p:cNvPr>
          <p:cNvSpPr/>
          <p:nvPr/>
        </p:nvSpPr>
        <p:spPr>
          <a:xfrm rot="16200000">
            <a:off x="4480841" y="-1628239"/>
            <a:ext cx="182318" cy="7144355"/>
          </a:xfrm>
          <a:prstGeom prst="rightBrace">
            <a:avLst>
              <a:gd name="adj1" fmla="val 0"/>
              <a:gd name="adj2" fmla="val 50078"/>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Right Arrow 21">
            <a:extLst>
              <a:ext uri="{FF2B5EF4-FFF2-40B4-BE49-F238E27FC236}">
                <a16:creationId xmlns:a16="http://schemas.microsoft.com/office/drawing/2014/main" id="{172782F2-40FB-6500-1951-62D8DC739434}"/>
              </a:ext>
            </a:extLst>
          </p:cNvPr>
          <p:cNvSpPr/>
          <p:nvPr/>
        </p:nvSpPr>
        <p:spPr>
          <a:xfrm>
            <a:off x="3529913" y="4201687"/>
            <a:ext cx="228600" cy="6830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7619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8189A-38DD-435A-24A3-62B95DA31F13}"/>
            </a:ext>
          </a:extLst>
        </p:cNvPr>
        <p:cNvGrpSpPr/>
        <p:nvPr/>
      </p:nvGrpSpPr>
      <p:grpSpPr>
        <a:xfrm>
          <a:off x="0" y="0"/>
          <a:ext cx="0" cy="0"/>
          <a:chOff x="0" y="0"/>
          <a:chExt cx="0" cy="0"/>
        </a:xfrm>
      </p:grpSpPr>
      <p:sp>
        <p:nvSpPr>
          <p:cNvPr id="4" name="Google Shape;59;p14">
            <a:extLst>
              <a:ext uri="{FF2B5EF4-FFF2-40B4-BE49-F238E27FC236}">
                <a16:creationId xmlns:a16="http://schemas.microsoft.com/office/drawing/2014/main" id="{B39649AF-3C55-E44A-7D17-618A5AB8C396}"/>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STAR alignment: Splicing-aware transcriptome mapping</a:t>
            </a:r>
          </a:p>
        </p:txBody>
      </p:sp>
      <p:sp>
        <p:nvSpPr>
          <p:cNvPr id="5" name="Rounded Rectangle 4">
            <a:extLst>
              <a:ext uri="{FF2B5EF4-FFF2-40B4-BE49-F238E27FC236}">
                <a16:creationId xmlns:a16="http://schemas.microsoft.com/office/drawing/2014/main" id="{3D02C172-414E-611A-3898-F572A91EF9DB}"/>
              </a:ext>
            </a:extLst>
          </p:cNvPr>
          <p:cNvSpPr/>
          <p:nvPr/>
        </p:nvSpPr>
        <p:spPr>
          <a:xfrm>
            <a:off x="965581" y="2286975"/>
            <a:ext cx="1217596" cy="690038"/>
          </a:xfrm>
          <a:prstGeom prst="roundRect">
            <a:avLst/>
          </a:prstGeom>
          <a:solidFill>
            <a:schemeClr val="bg1">
              <a:lumMod val="85000"/>
            </a:schemeClr>
          </a:solidFill>
          <a:ln>
            <a:solidFill>
              <a:schemeClr val="bg1">
                <a:lumMod val="5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Genome indexing</a:t>
            </a:r>
          </a:p>
        </p:txBody>
      </p:sp>
      <p:sp>
        <p:nvSpPr>
          <p:cNvPr id="10" name="Rounded Rectangle 9">
            <a:extLst>
              <a:ext uri="{FF2B5EF4-FFF2-40B4-BE49-F238E27FC236}">
                <a16:creationId xmlns:a16="http://schemas.microsoft.com/office/drawing/2014/main" id="{9F696A60-47E7-17F2-EDCF-2065FB614A18}"/>
              </a:ext>
            </a:extLst>
          </p:cNvPr>
          <p:cNvSpPr/>
          <p:nvPr/>
        </p:nvSpPr>
        <p:spPr>
          <a:xfrm>
            <a:off x="2932343" y="2286975"/>
            <a:ext cx="1217596" cy="690038"/>
          </a:xfrm>
          <a:prstGeom prst="roundRect">
            <a:avLst/>
          </a:prstGeom>
          <a:solidFill>
            <a:schemeClr val="bg1">
              <a:lumMod val="85000"/>
            </a:schemeClr>
          </a:solidFill>
          <a:ln>
            <a:solidFill>
              <a:schemeClr val="bg1">
                <a:lumMod val="5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Seed searching</a:t>
            </a:r>
          </a:p>
        </p:txBody>
      </p:sp>
      <p:sp>
        <p:nvSpPr>
          <p:cNvPr id="11" name="Rounded Rectangle 10">
            <a:extLst>
              <a:ext uri="{FF2B5EF4-FFF2-40B4-BE49-F238E27FC236}">
                <a16:creationId xmlns:a16="http://schemas.microsoft.com/office/drawing/2014/main" id="{00257083-E16D-BA90-3BA8-321B164A416A}"/>
              </a:ext>
            </a:extLst>
          </p:cNvPr>
          <p:cNvSpPr/>
          <p:nvPr/>
        </p:nvSpPr>
        <p:spPr>
          <a:xfrm>
            <a:off x="4863013" y="2286975"/>
            <a:ext cx="1217596" cy="69003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Clustering</a:t>
            </a:r>
          </a:p>
        </p:txBody>
      </p:sp>
      <p:sp>
        <p:nvSpPr>
          <p:cNvPr id="12" name="Rounded Rectangle 11">
            <a:extLst>
              <a:ext uri="{FF2B5EF4-FFF2-40B4-BE49-F238E27FC236}">
                <a16:creationId xmlns:a16="http://schemas.microsoft.com/office/drawing/2014/main" id="{A283B9F5-9740-FA90-A7F3-E98F70EB88B0}"/>
              </a:ext>
            </a:extLst>
          </p:cNvPr>
          <p:cNvSpPr/>
          <p:nvPr/>
        </p:nvSpPr>
        <p:spPr>
          <a:xfrm>
            <a:off x="6892340" y="2286975"/>
            <a:ext cx="1217596" cy="690038"/>
          </a:xfrm>
          <a:prstGeom prst="roundRect">
            <a:avLst/>
          </a:prstGeom>
          <a:solidFill>
            <a:schemeClr val="bg1">
              <a:lumMod val="85000"/>
            </a:schemeClr>
          </a:solidFill>
          <a:ln>
            <a:solidFill>
              <a:schemeClr val="bg1">
                <a:lumMod val="5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Junction detection</a:t>
            </a:r>
          </a:p>
        </p:txBody>
      </p:sp>
      <p:sp>
        <p:nvSpPr>
          <p:cNvPr id="14" name="TextBox 13">
            <a:extLst>
              <a:ext uri="{FF2B5EF4-FFF2-40B4-BE49-F238E27FC236}">
                <a16:creationId xmlns:a16="http://schemas.microsoft.com/office/drawing/2014/main" id="{A5100EAA-A587-B42F-DF6C-31C107D0A2B5}"/>
              </a:ext>
            </a:extLst>
          </p:cNvPr>
          <p:cNvSpPr txBox="1"/>
          <p:nvPr/>
        </p:nvSpPr>
        <p:spPr>
          <a:xfrm>
            <a:off x="2932343" y="3022702"/>
            <a:ext cx="1369996" cy="400110"/>
          </a:xfrm>
          <a:prstGeom prst="rect">
            <a:avLst/>
          </a:prstGeom>
          <a:noFill/>
        </p:spPr>
        <p:txBody>
          <a:bodyPr wrap="square" rtlCol="0">
            <a:spAutoFit/>
          </a:bodyPr>
          <a:lstStyle/>
          <a:p>
            <a:r>
              <a:rPr lang="en-US" sz="1000" dirty="0">
                <a:solidFill>
                  <a:schemeClr val="bg1">
                    <a:lumMod val="50000"/>
                  </a:schemeClr>
                </a:solidFill>
              </a:rPr>
              <a:t>Genome index scans for short k-</a:t>
            </a:r>
            <a:r>
              <a:rPr lang="en-US" sz="1000" dirty="0" err="1">
                <a:solidFill>
                  <a:schemeClr val="bg1">
                    <a:lumMod val="50000"/>
                  </a:schemeClr>
                </a:solidFill>
              </a:rPr>
              <a:t>mers</a:t>
            </a:r>
            <a:endParaRPr lang="en-US" sz="1000" dirty="0">
              <a:solidFill>
                <a:schemeClr val="bg1">
                  <a:lumMod val="50000"/>
                </a:schemeClr>
              </a:solidFill>
            </a:endParaRPr>
          </a:p>
        </p:txBody>
      </p:sp>
      <p:sp>
        <p:nvSpPr>
          <p:cNvPr id="15" name="TextBox 14">
            <a:extLst>
              <a:ext uri="{FF2B5EF4-FFF2-40B4-BE49-F238E27FC236}">
                <a16:creationId xmlns:a16="http://schemas.microsoft.com/office/drawing/2014/main" id="{2AD059C9-B0D9-6B46-4D9D-0670927309E3}"/>
              </a:ext>
            </a:extLst>
          </p:cNvPr>
          <p:cNvSpPr txBox="1"/>
          <p:nvPr/>
        </p:nvSpPr>
        <p:spPr>
          <a:xfrm>
            <a:off x="6892340" y="3028748"/>
            <a:ext cx="1369996" cy="553998"/>
          </a:xfrm>
          <a:prstGeom prst="rect">
            <a:avLst/>
          </a:prstGeom>
          <a:noFill/>
        </p:spPr>
        <p:txBody>
          <a:bodyPr wrap="square" rtlCol="0">
            <a:spAutoFit/>
          </a:bodyPr>
          <a:lstStyle/>
          <a:p>
            <a:r>
              <a:rPr lang="en-US" sz="1000" dirty="0">
                <a:solidFill>
                  <a:schemeClr val="bg1">
                    <a:lumMod val="50000"/>
                  </a:schemeClr>
                </a:solidFill>
              </a:rPr>
              <a:t>Distinguishes real junctions from sequencing artifacts</a:t>
            </a:r>
          </a:p>
        </p:txBody>
      </p:sp>
      <p:sp>
        <p:nvSpPr>
          <p:cNvPr id="16" name="TextBox 15">
            <a:extLst>
              <a:ext uri="{FF2B5EF4-FFF2-40B4-BE49-F238E27FC236}">
                <a16:creationId xmlns:a16="http://schemas.microsoft.com/office/drawing/2014/main" id="{A19B94C1-604C-4999-E0BD-BA5103FD5139}"/>
              </a:ext>
            </a:extLst>
          </p:cNvPr>
          <p:cNvSpPr txBox="1"/>
          <p:nvPr/>
        </p:nvSpPr>
        <p:spPr>
          <a:xfrm>
            <a:off x="4810874" y="3028748"/>
            <a:ext cx="1369996" cy="400110"/>
          </a:xfrm>
          <a:prstGeom prst="rect">
            <a:avLst/>
          </a:prstGeom>
          <a:noFill/>
        </p:spPr>
        <p:txBody>
          <a:bodyPr wrap="square" rtlCol="0">
            <a:spAutoFit/>
          </a:bodyPr>
          <a:lstStyle/>
          <a:p>
            <a:r>
              <a:rPr lang="en-US" sz="1000" dirty="0"/>
              <a:t>Group seeds by position in genome</a:t>
            </a:r>
          </a:p>
        </p:txBody>
      </p:sp>
      <p:sp>
        <p:nvSpPr>
          <p:cNvPr id="17" name="TextBox 16">
            <a:extLst>
              <a:ext uri="{FF2B5EF4-FFF2-40B4-BE49-F238E27FC236}">
                <a16:creationId xmlns:a16="http://schemas.microsoft.com/office/drawing/2014/main" id="{4541C448-933E-3F01-C3C2-67D24D047EBC}"/>
              </a:ext>
            </a:extLst>
          </p:cNvPr>
          <p:cNvSpPr txBox="1"/>
          <p:nvPr/>
        </p:nvSpPr>
        <p:spPr>
          <a:xfrm>
            <a:off x="889381" y="3022702"/>
            <a:ext cx="1369996" cy="553998"/>
          </a:xfrm>
          <a:prstGeom prst="rect">
            <a:avLst/>
          </a:prstGeom>
          <a:noFill/>
        </p:spPr>
        <p:txBody>
          <a:bodyPr wrap="square" rtlCol="0">
            <a:spAutoFit/>
          </a:bodyPr>
          <a:lstStyle/>
          <a:p>
            <a:r>
              <a:rPr lang="en-US" sz="1000" dirty="0">
                <a:solidFill>
                  <a:schemeClr val="bg1">
                    <a:lumMod val="50000"/>
                  </a:schemeClr>
                </a:solidFill>
              </a:rPr>
              <a:t>Creates a searchable data structure</a:t>
            </a:r>
          </a:p>
        </p:txBody>
      </p:sp>
      <p:sp>
        <p:nvSpPr>
          <p:cNvPr id="18" name="Rounded Rectangle 17">
            <a:extLst>
              <a:ext uri="{FF2B5EF4-FFF2-40B4-BE49-F238E27FC236}">
                <a16:creationId xmlns:a16="http://schemas.microsoft.com/office/drawing/2014/main" id="{E8E1A111-ABCE-41F3-24A5-9216CAD56415}"/>
              </a:ext>
            </a:extLst>
          </p:cNvPr>
          <p:cNvSpPr/>
          <p:nvPr/>
        </p:nvSpPr>
        <p:spPr>
          <a:xfrm>
            <a:off x="3963202" y="1004939"/>
            <a:ext cx="1217596" cy="69003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STAR</a:t>
            </a:r>
          </a:p>
        </p:txBody>
      </p:sp>
      <p:sp>
        <p:nvSpPr>
          <p:cNvPr id="19" name="Right Arrow 18">
            <a:extLst>
              <a:ext uri="{FF2B5EF4-FFF2-40B4-BE49-F238E27FC236}">
                <a16:creationId xmlns:a16="http://schemas.microsoft.com/office/drawing/2014/main" id="{39B84AB6-5C60-CAED-57C7-815E26FF26AE}"/>
              </a:ext>
            </a:extLst>
          </p:cNvPr>
          <p:cNvSpPr/>
          <p:nvPr/>
        </p:nvSpPr>
        <p:spPr>
          <a:xfrm>
            <a:off x="2425414" y="2538297"/>
            <a:ext cx="228600" cy="6830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679FEB4A-9BA4-8A8B-E871-4DC9A8FAA4C1}"/>
              </a:ext>
            </a:extLst>
          </p:cNvPr>
          <p:cNvSpPr/>
          <p:nvPr/>
        </p:nvSpPr>
        <p:spPr>
          <a:xfrm>
            <a:off x="4392176" y="2538297"/>
            <a:ext cx="228600" cy="6830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1" name="Right Arrow 20">
            <a:extLst>
              <a:ext uri="{FF2B5EF4-FFF2-40B4-BE49-F238E27FC236}">
                <a16:creationId xmlns:a16="http://schemas.microsoft.com/office/drawing/2014/main" id="{2F662C9F-D46A-77FE-A81C-FE73AF9DEBE8}"/>
              </a:ext>
            </a:extLst>
          </p:cNvPr>
          <p:cNvSpPr/>
          <p:nvPr/>
        </p:nvSpPr>
        <p:spPr>
          <a:xfrm>
            <a:off x="6372174" y="2538297"/>
            <a:ext cx="228600" cy="6830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pic>
        <p:nvPicPr>
          <p:cNvPr id="6148" name="Picture 4" descr="STAR_step5">
            <a:extLst>
              <a:ext uri="{FF2B5EF4-FFF2-40B4-BE49-F238E27FC236}">
                <a16:creationId xmlns:a16="http://schemas.microsoft.com/office/drawing/2014/main" id="{AA6D99A3-4732-5C8D-6181-3A3EF5DC21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6590" y="3747128"/>
            <a:ext cx="1369996" cy="1127311"/>
          </a:xfrm>
          <a:prstGeom prst="rect">
            <a:avLst/>
          </a:prstGeom>
          <a:noFill/>
          <a:extLst>
            <a:ext uri="{909E8E84-426E-40DD-AFC4-6F175D3DCCD1}">
              <a14:hiddenFill xmlns:a14="http://schemas.microsoft.com/office/drawing/2010/main">
                <a:solidFill>
                  <a:srgbClr val="FFFFFF"/>
                </a:solidFill>
              </a14:hiddenFill>
            </a:ext>
          </a:extLst>
        </p:spPr>
      </p:pic>
      <p:sp>
        <p:nvSpPr>
          <p:cNvPr id="2" name="Right Brace 1">
            <a:extLst>
              <a:ext uri="{FF2B5EF4-FFF2-40B4-BE49-F238E27FC236}">
                <a16:creationId xmlns:a16="http://schemas.microsoft.com/office/drawing/2014/main" id="{036EF4FE-EC17-F880-DF5C-70B21B76E8EF}"/>
              </a:ext>
            </a:extLst>
          </p:cNvPr>
          <p:cNvSpPr/>
          <p:nvPr/>
        </p:nvSpPr>
        <p:spPr>
          <a:xfrm rot="16200000">
            <a:off x="4480841" y="-1628239"/>
            <a:ext cx="182318" cy="7144355"/>
          </a:xfrm>
          <a:prstGeom prst="rightBrace">
            <a:avLst>
              <a:gd name="adj1" fmla="val 0"/>
              <a:gd name="adj2" fmla="val 50078"/>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4555171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9356B-966C-0DF7-227C-0E404055D578}"/>
            </a:ext>
          </a:extLst>
        </p:cNvPr>
        <p:cNvGrpSpPr/>
        <p:nvPr/>
      </p:nvGrpSpPr>
      <p:grpSpPr>
        <a:xfrm>
          <a:off x="0" y="0"/>
          <a:ext cx="0" cy="0"/>
          <a:chOff x="0" y="0"/>
          <a:chExt cx="0" cy="0"/>
        </a:xfrm>
      </p:grpSpPr>
      <p:sp>
        <p:nvSpPr>
          <p:cNvPr id="4" name="Google Shape;59;p14">
            <a:extLst>
              <a:ext uri="{FF2B5EF4-FFF2-40B4-BE49-F238E27FC236}">
                <a16:creationId xmlns:a16="http://schemas.microsoft.com/office/drawing/2014/main" id="{3B58050E-C32A-0621-478C-06BB97A3F66D}"/>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STAR alignment: Splicing-aware transcriptome mapping</a:t>
            </a:r>
          </a:p>
        </p:txBody>
      </p:sp>
      <p:sp>
        <p:nvSpPr>
          <p:cNvPr id="5" name="Rounded Rectangle 4">
            <a:extLst>
              <a:ext uri="{FF2B5EF4-FFF2-40B4-BE49-F238E27FC236}">
                <a16:creationId xmlns:a16="http://schemas.microsoft.com/office/drawing/2014/main" id="{8D77DF97-BD67-04AF-90A4-4BED82B36B1E}"/>
              </a:ext>
            </a:extLst>
          </p:cNvPr>
          <p:cNvSpPr/>
          <p:nvPr/>
        </p:nvSpPr>
        <p:spPr>
          <a:xfrm>
            <a:off x="965581" y="2286975"/>
            <a:ext cx="1217596" cy="690038"/>
          </a:xfrm>
          <a:prstGeom prst="roundRect">
            <a:avLst/>
          </a:prstGeom>
          <a:solidFill>
            <a:schemeClr val="bg1">
              <a:lumMod val="85000"/>
            </a:schemeClr>
          </a:solidFill>
          <a:ln>
            <a:solidFill>
              <a:schemeClr val="bg1">
                <a:lumMod val="5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Genome indexing</a:t>
            </a:r>
          </a:p>
        </p:txBody>
      </p:sp>
      <p:sp>
        <p:nvSpPr>
          <p:cNvPr id="10" name="Rounded Rectangle 9">
            <a:extLst>
              <a:ext uri="{FF2B5EF4-FFF2-40B4-BE49-F238E27FC236}">
                <a16:creationId xmlns:a16="http://schemas.microsoft.com/office/drawing/2014/main" id="{074C2A89-3983-EB36-195D-E950CFDA4635}"/>
              </a:ext>
            </a:extLst>
          </p:cNvPr>
          <p:cNvSpPr/>
          <p:nvPr/>
        </p:nvSpPr>
        <p:spPr>
          <a:xfrm>
            <a:off x="2932343" y="2286975"/>
            <a:ext cx="1217596" cy="690038"/>
          </a:xfrm>
          <a:prstGeom prst="roundRect">
            <a:avLst/>
          </a:prstGeom>
          <a:solidFill>
            <a:schemeClr val="bg1">
              <a:lumMod val="85000"/>
            </a:schemeClr>
          </a:solidFill>
          <a:ln>
            <a:solidFill>
              <a:schemeClr val="bg1">
                <a:lumMod val="5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Seed searching</a:t>
            </a:r>
          </a:p>
        </p:txBody>
      </p:sp>
      <p:sp>
        <p:nvSpPr>
          <p:cNvPr id="11" name="Rounded Rectangle 10">
            <a:extLst>
              <a:ext uri="{FF2B5EF4-FFF2-40B4-BE49-F238E27FC236}">
                <a16:creationId xmlns:a16="http://schemas.microsoft.com/office/drawing/2014/main" id="{611646F8-DA49-69A6-B896-7F6428667110}"/>
              </a:ext>
            </a:extLst>
          </p:cNvPr>
          <p:cNvSpPr/>
          <p:nvPr/>
        </p:nvSpPr>
        <p:spPr>
          <a:xfrm>
            <a:off x="4863013" y="2286975"/>
            <a:ext cx="1217596" cy="690038"/>
          </a:xfrm>
          <a:prstGeom prst="roundRect">
            <a:avLst/>
          </a:prstGeom>
          <a:solidFill>
            <a:schemeClr val="bg1">
              <a:lumMod val="85000"/>
            </a:schemeClr>
          </a:solidFill>
          <a:ln>
            <a:solidFill>
              <a:schemeClr val="bg1">
                <a:lumMod val="5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Clustering</a:t>
            </a:r>
          </a:p>
        </p:txBody>
      </p:sp>
      <p:sp>
        <p:nvSpPr>
          <p:cNvPr id="12" name="Rounded Rectangle 11">
            <a:extLst>
              <a:ext uri="{FF2B5EF4-FFF2-40B4-BE49-F238E27FC236}">
                <a16:creationId xmlns:a16="http://schemas.microsoft.com/office/drawing/2014/main" id="{BADC7433-34F5-FEEA-6E58-7A9677022048}"/>
              </a:ext>
            </a:extLst>
          </p:cNvPr>
          <p:cNvSpPr/>
          <p:nvPr/>
        </p:nvSpPr>
        <p:spPr>
          <a:xfrm>
            <a:off x="6892340" y="2286975"/>
            <a:ext cx="1217596" cy="69003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Junction detection</a:t>
            </a:r>
          </a:p>
        </p:txBody>
      </p:sp>
      <p:sp>
        <p:nvSpPr>
          <p:cNvPr id="14" name="TextBox 13">
            <a:extLst>
              <a:ext uri="{FF2B5EF4-FFF2-40B4-BE49-F238E27FC236}">
                <a16:creationId xmlns:a16="http://schemas.microsoft.com/office/drawing/2014/main" id="{225FC5A0-F319-04A0-91EE-6631C49C1EAF}"/>
              </a:ext>
            </a:extLst>
          </p:cNvPr>
          <p:cNvSpPr txBox="1"/>
          <p:nvPr/>
        </p:nvSpPr>
        <p:spPr>
          <a:xfrm>
            <a:off x="2932343" y="3022702"/>
            <a:ext cx="1369996" cy="400110"/>
          </a:xfrm>
          <a:prstGeom prst="rect">
            <a:avLst/>
          </a:prstGeom>
          <a:noFill/>
        </p:spPr>
        <p:txBody>
          <a:bodyPr wrap="square" rtlCol="0">
            <a:spAutoFit/>
          </a:bodyPr>
          <a:lstStyle/>
          <a:p>
            <a:r>
              <a:rPr lang="en-US" sz="1000" dirty="0">
                <a:solidFill>
                  <a:schemeClr val="bg1">
                    <a:lumMod val="50000"/>
                  </a:schemeClr>
                </a:solidFill>
              </a:rPr>
              <a:t>Genome index scans for short k-</a:t>
            </a:r>
            <a:r>
              <a:rPr lang="en-US" sz="1000" dirty="0" err="1">
                <a:solidFill>
                  <a:schemeClr val="bg1">
                    <a:lumMod val="50000"/>
                  </a:schemeClr>
                </a:solidFill>
              </a:rPr>
              <a:t>mers</a:t>
            </a:r>
            <a:endParaRPr lang="en-US" sz="1000" dirty="0">
              <a:solidFill>
                <a:schemeClr val="bg1">
                  <a:lumMod val="50000"/>
                </a:schemeClr>
              </a:solidFill>
            </a:endParaRPr>
          </a:p>
        </p:txBody>
      </p:sp>
      <p:sp>
        <p:nvSpPr>
          <p:cNvPr id="15" name="TextBox 14">
            <a:extLst>
              <a:ext uri="{FF2B5EF4-FFF2-40B4-BE49-F238E27FC236}">
                <a16:creationId xmlns:a16="http://schemas.microsoft.com/office/drawing/2014/main" id="{204E199B-59F9-1AEA-0190-EAEF2CA94A28}"/>
              </a:ext>
            </a:extLst>
          </p:cNvPr>
          <p:cNvSpPr txBox="1"/>
          <p:nvPr/>
        </p:nvSpPr>
        <p:spPr>
          <a:xfrm>
            <a:off x="6892340" y="3028748"/>
            <a:ext cx="1369996" cy="553998"/>
          </a:xfrm>
          <a:prstGeom prst="rect">
            <a:avLst/>
          </a:prstGeom>
          <a:noFill/>
        </p:spPr>
        <p:txBody>
          <a:bodyPr wrap="square" rtlCol="0">
            <a:spAutoFit/>
          </a:bodyPr>
          <a:lstStyle/>
          <a:p>
            <a:r>
              <a:rPr lang="en-US" sz="1000" dirty="0"/>
              <a:t>Distinguishes real junctions from sequencing artifacts</a:t>
            </a:r>
          </a:p>
        </p:txBody>
      </p:sp>
      <p:sp>
        <p:nvSpPr>
          <p:cNvPr id="16" name="TextBox 15">
            <a:extLst>
              <a:ext uri="{FF2B5EF4-FFF2-40B4-BE49-F238E27FC236}">
                <a16:creationId xmlns:a16="http://schemas.microsoft.com/office/drawing/2014/main" id="{C26E06AF-552F-0EB1-9AD1-C7C427DAB2F5}"/>
              </a:ext>
            </a:extLst>
          </p:cNvPr>
          <p:cNvSpPr txBox="1"/>
          <p:nvPr/>
        </p:nvSpPr>
        <p:spPr>
          <a:xfrm>
            <a:off x="4810874" y="3028748"/>
            <a:ext cx="1369996" cy="400110"/>
          </a:xfrm>
          <a:prstGeom prst="rect">
            <a:avLst/>
          </a:prstGeom>
          <a:noFill/>
        </p:spPr>
        <p:txBody>
          <a:bodyPr wrap="square" rtlCol="0">
            <a:spAutoFit/>
          </a:bodyPr>
          <a:lstStyle/>
          <a:p>
            <a:r>
              <a:rPr lang="en-US" sz="1000" dirty="0">
                <a:solidFill>
                  <a:schemeClr val="bg1">
                    <a:lumMod val="50000"/>
                  </a:schemeClr>
                </a:solidFill>
              </a:rPr>
              <a:t>Group seeds by position in genome</a:t>
            </a:r>
          </a:p>
        </p:txBody>
      </p:sp>
      <p:sp>
        <p:nvSpPr>
          <p:cNvPr id="17" name="TextBox 16">
            <a:extLst>
              <a:ext uri="{FF2B5EF4-FFF2-40B4-BE49-F238E27FC236}">
                <a16:creationId xmlns:a16="http://schemas.microsoft.com/office/drawing/2014/main" id="{F118EBBC-360F-3385-6BA3-6DC94BA38380}"/>
              </a:ext>
            </a:extLst>
          </p:cNvPr>
          <p:cNvSpPr txBox="1"/>
          <p:nvPr/>
        </p:nvSpPr>
        <p:spPr>
          <a:xfrm>
            <a:off x="889381" y="3022702"/>
            <a:ext cx="1369996" cy="553998"/>
          </a:xfrm>
          <a:prstGeom prst="rect">
            <a:avLst/>
          </a:prstGeom>
          <a:noFill/>
        </p:spPr>
        <p:txBody>
          <a:bodyPr wrap="square" rtlCol="0">
            <a:spAutoFit/>
          </a:bodyPr>
          <a:lstStyle/>
          <a:p>
            <a:r>
              <a:rPr lang="en-US" sz="1000" dirty="0">
                <a:solidFill>
                  <a:schemeClr val="bg1">
                    <a:lumMod val="50000"/>
                  </a:schemeClr>
                </a:solidFill>
              </a:rPr>
              <a:t>Creates a searchable data structure</a:t>
            </a:r>
          </a:p>
        </p:txBody>
      </p:sp>
      <p:sp>
        <p:nvSpPr>
          <p:cNvPr id="18" name="Rounded Rectangle 17">
            <a:extLst>
              <a:ext uri="{FF2B5EF4-FFF2-40B4-BE49-F238E27FC236}">
                <a16:creationId xmlns:a16="http://schemas.microsoft.com/office/drawing/2014/main" id="{F7996CAD-2809-65B9-EFFD-F54AF47B667A}"/>
              </a:ext>
            </a:extLst>
          </p:cNvPr>
          <p:cNvSpPr/>
          <p:nvPr/>
        </p:nvSpPr>
        <p:spPr>
          <a:xfrm>
            <a:off x="3963202" y="1004939"/>
            <a:ext cx="1217596" cy="690038"/>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050" dirty="0"/>
              <a:t>STAR</a:t>
            </a:r>
          </a:p>
        </p:txBody>
      </p:sp>
      <p:sp>
        <p:nvSpPr>
          <p:cNvPr id="19" name="Right Arrow 18">
            <a:extLst>
              <a:ext uri="{FF2B5EF4-FFF2-40B4-BE49-F238E27FC236}">
                <a16:creationId xmlns:a16="http://schemas.microsoft.com/office/drawing/2014/main" id="{E3E9ABED-2314-1E2F-590F-1F1D3EBE19E0}"/>
              </a:ext>
            </a:extLst>
          </p:cNvPr>
          <p:cNvSpPr/>
          <p:nvPr/>
        </p:nvSpPr>
        <p:spPr>
          <a:xfrm>
            <a:off x="2425414" y="2538297"/>
            <a:ext cx="228600" cy="6830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0" name="Right Arrow 19">
            <a:extLst>
              <a:ext uri="{FF2B5EF4-FFF2-40B4-BE49-F238E27FC236}">
                <a16:creationId xmlns:a16="http://schemas.microsoft.com/office/drawing/2014/main" id="{57F06DA5-4AF0-A2C1-8B2D-3FB0429296B9}"/>
              </a:ext>
            </a:extLst>
          </p:cNvPr>
          <p:cNvSpPr/>
          <p:nvPr/>
        </p:nvSpPr>
        <p:spPr>
          <a:xfrm>
            <a:off x="4392176" y="2538297"/>
            <a:ext cx="228600" cy="6830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1" name="Right Arrow 20">
            <a:extLst>
              <a:ext uri="{FF2B5EF4-FFF2-40B4-BE49-F238E27FC236}">
                <a16:creationId xmlns:a16="http://schemas.microsoft.com/office/drawing/2014/main" id="{3231A6F4-316C-D4A6-C1AF-93D665B62C6D}"/>
              </a:ext>
            </a:extLst>
          </p:cNvPr>
          <p:cNvSpPr/>
          <p:nvPr/>
        </p:nvSpPr>
        <p:spPr>
          <a:xfrm>
            <a:off x="6372174" y="2538297"/>
            <a:ext cx="228600" cy="68301"/>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22" name="Right Brace 21">
            <a:extLst>
              <a:ext uri="{FF2B5EF4-FFF2-40B4-BE49-F238E27FC236}">
                <a16:creationId xmlns:a16="http://schemas.microsoft.com/office/drawing/2014/main" id="{D85ED133-7A7C-6D2E-CC92-AAEF52E8EDA9}"/>
              </a:ext>
            </a:extLst>
          </p:cNvPr>
          <p:cNvSpPr/>
          <p:nvPr/>
        </p:nvSpPr>
        <p:spPr>
          <a:xfrm rot="16200000">
            <a:off x="4480841" y="-1628239"/>
            <a:ext cx="182318" cy="7144355"/>
          </a:xfrm>
          <a:prstGeom prst="rightBrace">
            <a:avLst>
              <a:gd name="adj1" fmla="val 0"/>
              <a:gd name="adj2" fmla="val 50078"/>
            </a:avLst>
          </a:prstGeom>
          <a:ln>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8194" name="Picture 2" descr="STAR_step3">
            <a:extLst>
              <a:ext uri="{FF2B5EF4-FFF2-40B4-BE49-F238E27FC236}">
                <a16:creationId xmlns:a16="http://schemas.microsoft.com/office/drawing/2014/main" id="{3D0F7166-A68E-F26C-9E97-7340371465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3381" y="3480212"/>
            <a:ext cx="1203093" cy="1581348"/>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STAR_step4">
            <a:extLst>
              <a:ext uri="{FF2B5EF4-FFF2-40B4-BE49-F238E27FC236}">
                <a16:creationId xmlns:a16="http://schemas.microsoft.com/office/drawing/2014/main" id="{09C24E09-9289-CA5E-484F-6C6DB31DD4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2340" y="3970663"/>
            <a:ext cx="1556575" cy="947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2709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22FDE06F-D4CB-9D7C-12C3-3EC0112F99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74FE219-CC95-1CB7-E34C-870090E59398}"/>
              </a:ext>
            </a:extLst>
          </p:cNvPr>
          <p:cNvSpPr txBox="1"/>
          <p:nvPr/>
        </p:nvSpPr>
        <p:spPr>
          <a:xfrm>
            <a:off x="1521503" y="1980890"/>
            <a:ext cx="4572000" cy="307777"/>
          </a:xfrm>
          <a:prstGeom prst="rect">
            <a:avLst/>
          </a:prstGeom>
          <a:noFill/>
        </p:spPr>
        <p:txBody>
          <a:bodyPr wrap="square">
            <a:spAutoFit/>
          </a:bodyPr>
          <a:lstStyle/>
          <a:p>
            <a:r>
              <a:rPr lang="en-US" b="0" dirty="0">
                <a:effectLst/>
              </a:rPr>
              <a:t> </a:t>
            </a:r>
            <a:endParaRPr lang="en-US" dirty="0"/>
          </a:p>
        </p:txBody>
      </p:sp>
      <p:sp>
        <p:nvSpPr>
          <p:cNvPr id="6" name="Rounded Rectangle 5">
            <a:extLst>
              <a:ext uri="{FF2B5EF4-FFF2-40B4-BE49-F238E27FC236}">
                <a16:creationId xmlns:a16="http://schemas.microsoft.com/office/drawing/2014/main" id="{8C49A85E-DF70-FE27-66D2-40F8A239A20E}"/>
              </a:ext>
            </a:extLst>
          </p:cNvPr>
          <p:cNvSpPr/>
          <p:nvPr/>
        </p:nvSpPr>
        <p:spPr>
          <a:xfrm>
            <a:off x="1552940" y="1309045"/>
            <a:ext cx="1625529" cy="867844"/>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Quality trim and filter</a:t>
            </a:r>
          </a:p>
          <a:p>
            <a:pPr algn="ctr"/>
            <a:r>
              <a:rPr lang="en-US" sz="1050" dirty="0"/>
              <a:t>(</a:t>
            </a:r>
            <a:r>
              <a:rPr lang="en-US" sz="1050" dirty="0" err="1"/>
              <a:t>TrimGalore</a:t>
            </a:r>
            <a:r>
              <a:rPr lang="en-US" sz="1050" dirty="0"/>
              <a:t>)</a:t>
            </a:r>
          </a:p>
        </p:txBody>
      </p:sp>
      <p:sp>
        <p:nvSpPr>
          <p:cNvPr id="7" name="Rounded Rectangle 6">
            <a:extLst>
              <a:ext uri="{FF2B5EF4-FFF2-40B4-BE49-F238E27FC236}">
                <a16:creationId xmlns:a16="http://schemas.microsoft.com/office/drawing/2014/main" id="{E480F138-FCB5-BF0C-19C2-0FCC5F66BB53}"/>
              </a:ext>
            </a:extLst>
          </p:cNvPr>
          <p:cNvSpPr/>
          <p:nvPr/>
        </p:nvSpPr>
        <p:spPr>
          <a:xfrm>
            <a:off x="3757347" y="1280422"/>
            <a:ext cx="1625529" cy="867844"/>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Align to genome</a:t>
            </a:r>
          </a:p>
          <a:p>
            <a:pPr algn="ctr"/>
            <a:r>
              <a:rPr lang="en-US" sz="1050" dirty="0"/>
              <a:t>(STAR)</a:t>
            </a:r>
          </a:p>
        </p:txBody>
      </p:sp>
      <p:sp>
        <p:nvSpPr>
          <p:cNvPr id="8" name="Rounded Rectangle 7">
            <a:extLst>
              <a:ext uri="{FF2B5EF4-FFF2-40B4-BE49-F238E27FC236}">
                <a16:creationId xmlns:a16="http://schemas.microsoft.com/office/drawing/2014/main" id="{B0A8F28C-3E4B-9F96-B40A-4C891D52CC85}"/>
              </a:ext>
            </a:extLst>
          </p:cNvPr>
          <p:cNvSpPr/>
          <p:nvPr/>
        </p:nvSpPr>
        <p:spPr>
          <a:xfrm>
            <a:off x="5961754" y="1280422"/>
            <a:ext cx="1625529" cy="867844"/>
          </a:xfrm>
          <a:prstGeom prst="roundRect">
            <a:avLst/>
          </a:prstGeom>
          <a:solidFill>
            <a:schemeClr val="tx1">
              <a:lumMod val="75000"/>
              <a:lumOff val="25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Count reads</a:t>
            </a:r>
          </a:p>
          <a:p>
            <a:pPr algn="ctr"/>
            <a:r>
              <a:rPr lang="en-US" sz="1050" dirty="0"/>
              <a:t>(</a:t>
            </a:r>
            <a:r>
              <a:rPr lang="en-US" sz="1050" dirty="0" err="1"/>
              <a:t>featureCounts</a:t>
            </a:r>
            <a:r>
              <a:rPr lang="en-US" sz="1050" dirty="0"/>
              <a:t>)</a:t>
            </a:r>
          </a:p>
        </p:txBody>
      </p:sp>
      <p:sp>
        <p:nvSpPr>
          <p:cNvPr id="9" name="TextBox 8">
            <a:extLst>
              <a:ext uri="{FF2B5EF4-FFF2-40B4-BE49-F238E27FC236}">
                <a16:creationId xmlns:a16="http://schemas.microsoft.com/office/drawing/2014/main" id="{E5527512-CAAD-BCA7-CABF-22DDB7D2A6F6}"/>
              </a:ext>
            </a:extLst>
          </p:cNvPr>
          <p:cNvSpPr txBox="1"/>
          <p:nvPr/>
        </p:nvSpPr>
        <p:spPr>
          <a:xfrm>
            <a:off x="311700" y="1452734"/>
            <a:ext cx="662361" cy="523220"/>
          </a:xfrm>
          <a:prstGeom prst="rect">
            <a:avLst/>
          </a:prstGeom>
          <a:noFill/>
          <a:ln w="19050">
            <a:solidFill>
              <a:schemeClr val="tx1"/>
            </a:solidFill>
          </a:ln>
        </p:spPr>
        <p:txBody>
          <a:bodyPr wrap="none" rtlCol="0">
            <a:spAutoFit/>
          </a:bodyPr>
          <a:lstStyle/>
          <a:p>
            <a:pPr algn="ctr"/>
            <a:r>
              <a:rPr lang="en-US" dirty="0"/>
              <a:t>Short </a:t>
            </a:r>
          </a:p>
          <a:p>
            <a:pPr algn="ctr"/>
            <a:r>
              <a:rPr lang="en-US" dirty="0"/>
              <a:t>reads</a:t>
            </a:r>
          </a:p>
        </p:txBody>
      </p:sp>
      <p:sp>
        <p:nvSpPr>
          <p:cNvPr id="10" name="TextBox 9">
            <a:extLst>
              <a:ext uri="{FF2B5EF4-FFF2-40B4-BE49-F238E27FC236}">
                <a16:creationId xmlns:a16="http://schemas.microsoft.com/office/drawing/2014/main" id="{4B0E6C29-8DB3-AEA9-51AA-9EE68AA2BFCF}"/>
              </a:ext>
            </a:extLst>
          </p:cNvPr>
          <p:cNvSpPr txBox="1"/>
          <p:nvPr/>
        </p:nvSpPr>
        <p:spPr>
          <a:xfrm>
            <a:off x="1441234" y="2263657"/>
            <a:ext cx="1786066" cy="261610"/>
          </a:xfrm>
          <a:prstGeom prst="rect">
            <a:avLst/>
          </a:prstGeom>
          <a:noFill/>
        </p:spPr>
        <p:txBody>
          <a:bodyPr wrap="none" rtlCol="0">
            <a:spAutoFit/>
          </a:bodyPr>
          <a:lstStyle/>
          <a:p>
            <a:r>
              <a:rPr lang="en-US" sz="1100" dirty="0"/>
              <a:t>Get rid of bad quality stuff</a:t>
            </a:r>
          </a:p>
        </p:txBody>
      </p:sp>
      <p:sp>
        <p:nvSpPr>
          <p:cNvPr id="11" name="TextBox 10">
            <a:extLst>
              <a:ext uri="{FF2B5EF4-FFF2-40B4-BE49-F238E27FC236}">
                <a16:creationId xmlns:a16="http://schemas.microsoft.com/office/drawing/2014/main" id="{59EEBC29-9A1C-FA5D-F941-C3955C23A814}"/>
              </a:ext>
            </a:extLst>
          </p:cNvPr>
          <p:cNvSpPr txBox="1"/>
          <p:nvPr/>
        </p:nvSpPr>
        <p:spPr>
          <a:xfrm>
            <a:off x="3416260" y="2248268"/>
            <a:ext cx="2176944" cy="430887"/>
          </a:xfrm>
          <a:prstGeom prst="rect">
            <a:avLst/>
          </a:prstGeom>
          <a:noFill/>
        </p:spPr>
        <p:txBody>
          <a:bodyPr wrap="square" rtlCol="0">
            <a:spAutoFit/>
          </a:bodyPr>
          <a:lstStyle/>
          <a:p>
            <a:pPr algn="ctr"/>
            <a:r>
              <a:rPr lang="en-US" sz="1100" dirty="0"/>
              <a:t>Figure out what genes the reads belong to</a:t>
            </a:r>
          </a:p>
        </p:txBody>
      </p:sp>
      <p:sp>
        <p:nvSpPr>
          <p:cNvPr id="12" name="TextBox 11">
            <a:extLst>
              <a:ext uri="{FF2B5EF4-FFF2-40B4-BE49-F238E27FC236}">
                <a16:creationId xmlns:a16="http://schemas.microsoft.com/office/drawing/2014/main" id="{3BEC9664-504E-AD9B-C7BD-91A3507A0F1A}"/>
              </a:ext>
            </a:extLst>
          </p:cNvPr>
          <p:cNvSpPr txBox="1"/>
          <p:nvPr/>
        </p:nvSpPr>
        <p:spPr>
          <a:xfrm>
            <a:off x="5782165" y="2263657"/>
            <a:ext cx="2176944" cy="430887"/>
          </a:xfrm>
          <a:prstGeom prst="rect">
            <a:avLst/>
          </a:prstGeom>
          <a:noFill/>
        </p:spPr>
        <p:txBody>
          <a:bodyPr wrap="square" rtlCol="0">
            <a:spAutoFit/>
          </a:bodyPr>
          <a:lstStyle/>
          <a:p>
            <a:pPr algn="ctr"/>
            <a:r>
              <a:rPr lang="en-US" sz="1100" dirty="0"/>
              <a:t>Count how many copies of each gene there were</a:t>
            </a:r>
          </a:p>
        </p:txBody>
      </p:sp>
      <p:sp>
        <p:nvSpPr>
          <p:cNvPr id="13" name="TextBox 12">
            <a:extLst>
              <a:ext uri="{FF2B5EF4-FFF2-40B4-BE49-F238E27FC236}">
                <a16:creationId xmlns:a16="http://schemas.microsoft.com/office/drawing/2014/main" id="{15305274-4DC1-479D-1106-92267C7AF7D7}"/>
              </a:ext>
            </a:extLst>
          </p:cNvPr>
          <p:cNvSpPr txBox="1"/>
          <p:nvPr/>
        </p:nvSpPr>
        <p:spPr>
          <a:xfrm>
            <a:off x="8166162" y="1434586"/>
            <a:ext cx="712054" cy="523220"/>
          </a:xfrm>
          <a:prstGeom prst="rect">
            <a:avLst/>
          </a:prstGeom>
          <a:noFill/>
          <a:ln w="19050">
            <a:solidFill>
              <a:schemeClr val="tx1"/>
            </a:solidFill>
          </a:ln>
        </p:spPr>
        <p:txBody>
          <a:bodyPr wrap="none" rtlCol="0">
            <a:spAutoFit/>
          </a:bodyPr>
          <a:lstStyle/>
          <a:p>
            <a:pPr algn="ctr"/>
            <a:r>
              <a:rPr lang="en-US" dirty="0"/>
              <a:t>Count </a:t>
            </a:r>
          </a:p>
          <a:p>
            <a:pPr algn="ctr"/>
            <a:r>
              <a:rPr lang="en-US" dirty="0"/>
              <a:t>matrix</a:t>
            </a:r>
          </a:p>
        </p:txBody>
      </p:sp>
      <p:cxnSp>
        <p:nvCxnSpPr>
          <p:cNvPr id="15" name="Straight Arrow Connector 14">
            <a:extLst>
              <a:ext uri="{FF2B5EF4-FFF2-40B4-BE49-F238E27FC236}">
                <a16:creationId xmlns:a16="http://schemas.microsoft.com/office/drawing/2014/main" id="{88310FCD-8C31-B676-D35F-223DB820B907}"/>
              </a:ext>
            </a:extLst>
          </p:cNvPr>
          <p:cNvCxnSpPr>
            <a:cxnSpLocks/>
          </p:cNvCxnSpPr>
          <p:nvPr/>
        </p:nvCxnSpPr>
        <p:spPr>
          <a:xfrm>
            <a:off x="1127661"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1374CF8-59E9-7A2F-8254-B0E4ACB0FC23}"/>
              </a:ext>
            </a:extLst>
          </p:cNvPr>
          <p:cNvCxnSpPr>
            <a:cxnSpLocks/>
          </p:cNvCxnSpPr>
          <p:nvPr/>
        </p:nvCxnSpPr>
        <p:spPr>
          <a:xfrm>
            <a:off x="335504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CBD5646-4A56-FFCF-4D28-08411C072813}"/>
              </a:ext>
            </a:extLst>
          </p:cNvPr>
          <p:cNvCxnSpPr>
            <a:cxnSpLocks/>
          </p:cNvCxnSpPr>
          <p:nvPr/>
        </p:nvCxnSpPr>
        <p:spPr>
          <a:xfrm>
            <a:off x="553095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E614E7C-5EEA-9F22-E586-27CF735651F5}"/>
              </a:ext>
            </a:extLst>
          </p:cNvPr>
          <p:cNvCxnSpPr>
            <a:cxnSpLocks/>
          </p:cNvCxnSpPr>
          <p:nvPr/>
        </p:nvCxnSpPr>
        <p:spPr>
          <a:xfrm>
            <a:off x="777129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Google Shape;59;p14">
            <a:extLst>
              <a:ext uri="{FF2B5EF4-FFF2-40B4-BE49-F238E27FC236}">
                <a16:creationId xmlns:a16="http://schemas.microsoft.com/office/drawing/2014/main" id="{DB2DBBD7-8303-78FD-9AF6-48C2F949CF8E}"/>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The bulk* RNA-seq workflow</a:t>
            </a:r>
          </a:p>
        </p:txBody>
      </p:sp>
    </p:spTree>
    <p:extLst>
      <p:ext uri="{BB962C8B-B14F-4D97-AF65-F5344CB8AC3E}">
        <p14:creationId xmlns:p14="http://schemas.microsoft.com/office/powerpoint/2010/main" val="1941695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F27AB808-9201-B48C-21AB-2127610442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DF30298-EADD-C9DB-8601-01F0A8675AEA}"/>
              </a:ext>
            </a:extLst>
          </p:cNvPr>
          <p:cNvSpPr txBox="1"/>
          <p:nvPr/>
        </p:nvSpPr>
        <p:spPr>
          <a:xfrm>
            <a:off x="1521503" y="1980890"/>
            <a:ext cx="4572000" cy="307777"/>
          </a:xfrm>
          <a:prstGeom prst="rect">
            <a:avLst/>
          </a:prstGeom>
          <a:noFill/>
        </p:spPr>
        <p:txBody>
          <a:bodyPr wrap="square">
            <a:spAutoFit/>
          </a:bodyPr>
          <a:lstStyle/>
          <a:p>
            <a:r>
              <a:rPr lang="en-US" b="0" dirty="0">
                <a:effectLst/>
              </a:rPr>
              <a:t> </a:t>
            </a:r>
            <a:endParaRPr lang="en-US" dirty="0"/>
          </a:p>
        </p:txBody>
      </p:sp>
      <p:sp>
        <p:nvSpPr>
          <p:cNvPr id="6" name="Rounded Rectangle 5">
            <a:extLst>
              <a:ext uri="{FF2B5EF4-FFF2-40B4-BE49-F238E27FC236}">
                <a16:creationId xmlns:a16="http://schemas.microsoft.com/office/drawing/2014/main" id="{8A9C4BBB-652F-08EE-ACB2-15F7A321748C}"/>
              </a:ext>
            </a:extLst>
          </p:cNvPr>
          <p:cNvSpPr/>
          <p:nvPr/>
        </p:nvSpPr>
        <p:spPr>
          <a:xfrm>
            <a:off x="1552940" y="1309045"/>
            <a:ext cx="1625529" cy="867844"/>
          </a:xfrm>
          <a:prstGeom prst="roundRect">
            <a:avLst/>
          </a:prstGeom>
          <a:solidFill>
            <a:schemeClr val="bg1">
              <a:lumMod val="50000"/>
            </a:schemeClr>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Quality trim and filter</a:t>
            </a:r>
          </a:p>
          <a:p>
            <a:pPr algn="ctr"/>
            <a:r>
              <a:rPr lang="en-US" sz="1050" dirty="0"/>
              <a:t>(</a:t>
            </a:r>
            <a:r>
              <a:rPr lang="en-US" sz="1050" dirty="0" err="1"/>
              <a:t>TrimGalore</a:t>
            </a:r>
            <a:r>
              <a:rPr lang="en-US" sz="1050" dirty="0"/>
              <a:t>)</a:t>
            </a:r>
          </a:p>
        </p:txBody>
      </p:sp>
      <p:sp>
        <p:nvSpPr>
          <p:cNvPr id="7" name="Rounded Rectangle 6">
            <a:extLst>
              <a:ext uri="{FF2B5EF4-FFF2-40B4-BE49-F238E27FC236}">
                <a16:creationId xmlns:a16="http://schemas.microsoft.com/office/drawing/2014/main" id="{876E7E08-E4F7-AE31-8F86-927BDC40755E}"/>
              </a:ext>
            </a:extLst>
          </p:cNvPr>
          <p:cNvSpPr/>
          <p:nvPr/>
        </p:nvSpPr>
        <p:spPr>
          <a:xfrm>
            <a:off x="3757347" y="1280422"/>
            <a:ext cx="1625529" cy="867844"/>
          </a:xfrm>
          <a:prstGeom prst="roundRect">
            <a:avLst/>
          </a:prstGeom>
          <a:solidFill>
            <a:schemeClr val="bg1">
              <a:lumMod val="50000"/>
            </a:schemeClr>
          </a:solidFill>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Align to genome</a:t>
            </a:r>
          </a:p>
          <a:p>
            <a:pPr algn="ctr"/>
            <a:r>
              <a:rPr lang="en-US" sz="1050" dirty="0"/>
              <a:t>(STAR)</a:t>
            </a:r>
          </a:p>
        </p:txBody>
      </p:sp>
      <p:sp>
        <p:nvSpPr>
          <p:cNvPr id="8" name="Rounded Rectangle 7">
            <a:extLst>
              <a:ext uri="{FF2B5EF4-FFF2-40B4-BE49-F238E27FC236}">
                <a16:creationId xmlns:a16="http://schemas.microsoft.com/office/drawing/2014/main" id="{0225E272-AE64-A726-503A-F2C04F120DA9}"/>
              </a:ext>
            </a:extLst>
          </p:cNvPr>
          <p:cNvSpPr/>
          <p:nvPr/>
        </p:nvSpPr>
        <p:spPr>
          <a:xfrm>
            <a:off x="5961754" y="1280422"/>
            <a:ext cx="1625529" cy="867844"/>
          </a:xfrm>
          <a:prstGeom prst="roundRect">
            <a:avLst/>
          </a:prstGeom>
          <a:solidFill>
            <a:schemeClr val="bg1">
              <a:lumMod val="50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Count reads</a:t>
            </a:r>
          </a:p>
          <a:p>
            <a:pPr algn="ctr"/>
            <a:r>
              <a:rPr lang="en-US" sz="1050" dirty="0"/>
              <a:t>(</a:t>
            </a:r>
            <a:r>
              <a:rPr lang="en-US" sz="1050" dirty="0" err="1"/>
              <a:t>featureCounts</a:t>
            </a:r>
            <a:r>
              <a:rPr lang="en-US" sz="1050" dirty="0"/>
              <a:t>)</a:t>
            </a:r>
          </a:p>
        </p:txBody>
      </p:sp>
      <p:sp>
        <p:nvSpPr>
          <p:cNvPr id="9" name="TextBox 8">
            <a:extLst>
              <a:ext uri="{FF2B5EF4-FFF2-40B4-BE49-F238E27FC236}">
                <a16:creationId xmlns:a16="http://schemas.microsoft.com/office/drawing/2014/main" id="{CF041515-D908-4324-40E6-D18D2AD3DE0F}"/>
              </a:ext>
            </a:extLst>
          </p:cNvPr>
          <p:cNvSpPr txBox="1"/>
          <p:nvPr/>
        </p:nvSpPr>
        <p:spPr>
          <a:xfrm>
            <a:off x="311700" y="1452734"/>
            <a:ext cx="662361" cy="523220"/>
          </a:xfrm>
          <a:prstGeom prst="rect">
            <a:avLst/>
          </a:prstGeom>
          <a:noFill/>
          <a:ln w="19050">
            <a:solidFill>
              <a:schemeClr val="tx1"/>
            </a:solidFill>
          </a:ln>
        </p:spPr>
        <p:txBody>
          <a:bodyPr wrap="none" rtlCol="0">
            <a:spAutoFit/>
          </a:bodyPr>
          <a:lstStyle/>
          <a:p>
            <a:pPr algn="ctr"/>
            <a:r>
              <a:rPr lang="en-US" dirty="0"/>
              <a:t>Short </a:t>
            </a:r>
          </a:p>
          <a:p>
            <a:pPr algn="ctr"/>
            <a:r>
              <a:rPr lang="en-US" dirty="0"/>
              <a:t>reads</a:t>
            </a:r>
          </a:p>
        </p:txBody>
      </p:sp>
      <p:sp>
        <p:nvSpPr>
          <p:cNvPr id="10" name="TextBox 9">
            <a:extLst>
              <a:ext uri="{FF2B5EF4-FFF2-40B4-BE49-F238E27FC236}">
                <a16:creationId xmlns:a16="http://schemas.microsoft.com/office/drawing/2014/main" id="{8791A6D0-99A4-B449-8398-6D90626D1569}"/>
              </a:ext>
            </a:extLst>
          </p:cNvPr>
          <p:cNvSpPr txBox="1"/>
          <p:nvPr/>
        </p:nvSpPr>
        <p:spPr>
          <a:xfrm>
            <a:off x="1441234" y="2263657"/>
            <a:ext cx="1786066" cy="261610"/>
          </a:xfrm>
          <a:prstGeom prst="rect">
            <a:avLst/>
          </a:prstGeom>
          <a:noFill/>
        </p:spPr>
        <p:txBody>
          <a:bodyPr wrap="none" rtlCol="0">
            <a:spAutoFit/>
          </a:bodyPr>
          <a:lstStyle/>
          <a:p>
            <a:r>
              <a:rPr lang="en-US" sz="1100" dirty="0">
                <a:solidFill>
                  <a:schemeClr val="bg1">
                    <a:lumMod val="50000"/>
                  </a:schemeClr>
                </a:solidFill>
              </a:rPr>
              <a:t>Get rid of bad quality stuff</a:t>
            </a:r>
          </a:p>
        </p:txBody>
      </p:sp>
      <p:sp>
        <p:nvSpPr>
          <p:cNvPr id="11" name="TextBox 10">
            <a:extLst>
              <a:ext uri="{FF2B5EF4-FFF2-40B4-BE49-F238E27FC236}">
                <a16:creationId xmlns:a16="http://schemas.microsoft.com/office/drawing/2014/main" id="{E05D0BAB-8435-339A-22E0-C5F13E78224C}"/>
              </a:ext>
            </a:extLst>
          </p:cNvPr>
          <p:cNvSpPr txBox="1"/>
          <p:nvPr/>
        </p:nvSpPr>
        <p:spPr>
          <a:xfrm>
            <a:off x="3416260" y="2248268"/>
            <a:ext cx="2176944" cy="430887"/>
          </a:xfrm>
          <a:prstGeom prst="rect">
            <a:avLst/>
          </a:prstGeom>
          <a:noFill/>
        </p:spPr>
        <p:txBody>
          <a:bodyPr wrap="square" rtlCol="0">
            <a:spAutoFit/>
          </a:bodyPr>
          <a:lstStyle/>
          <a:p>
            <a:pPr algn="ctr"/>
            <a:r>
              <a:rPr lang="en-US" sz="1100" dirty="0">
                <a:solidFill>
                  <a:schemeClr val="bg1">
                    <a:lumMod val="50000"/>
                  </a:schemeClr>
                </a:solidFill>
              </a:rPr>
              <a:t>Figure out what genes the reads belong to</a:t>
            </a:r>
          </a:p>
        </p:txBody>
      </p:sp>
      <p:sp>
        <p:nvSpPr>
          <p:cNvPr id="12" name="TextBox 11">
            <a:extLst>
              <a:ext uri="{FF2B5EF4-FFF2-40B4-BE49-F238E27FC236}">
                <a16:creationId xmlns:a16="http://schemas.microsoft.com/office/drawing/2014/main" id="{F30641E4-B9A8-3889-31AA-A00B3206F708}"/>
              </a:ext>
            </a:extLst>
          </p:cNvPr>
          <p:cNvSpPr txBox="1"/>
          <p:nvPr/>
        </p:nvSpPr>
        <p:spPr>
          <a:xfrm>
            <a:off x="5782165" y="2263657"/>
            <a:ext cx="2176944" cy="430887"/>
          </a:xfrm>
          <a:prstGeom prst="rect">
            <a:avLst/>
          </a:prstGeom>
          <a:noFill/>
        </p:spPr>
        <p:txBody>
          <a:bodyPr wrap="square" rtlCol="0">
            <a:spAutoFit/>
          </a:bodyPr>
          <a:lstStyle/>
          <a:p>
            <a:pPr algn="ctr"/>
            <a:r>
              <a:rPr lang="en-US" sz="1100" dirty="0">
                <a:solidFill>
                  <a:schemeClr val="bg1">
                    <a:lumMod val="50000"/>
                  </a:schemeClr>
                </a:solidFill>
              </a:rPr>
              <a:t>Count how many copies of each gene there were</a:t>
            </a:r>
          </a:p>
        </p:txBody>
      </p:sp>
      <p:sp>
        <p:nvSpPr>
          <p:cNvPr id="13" name="TextBox 12">
            <a:extLst>
              <a:ext uri="{FF2B5EF4-FFF2-40B4-BE49-F238E27FC236}">
                <a16:creationId xmlns:a16="http://schemas.microsoft.com/office/drawing/2014/main" id="{8B6D1F5E-AA3B-2595-43E7-C3AFA09BEFE8}"/>
              </a:ext>
            </a:extLst>
          </p:cNvPr>
          <p:cNvSpPr txBox="1"/>
          <p:nvPr/>
        </p:nvSpPr>
        <p:spPr>
          <a:xfrm>
            <a:off x="8166162" y="1434586"/>
            <a:ext cx="712054" cy="523220"/>
          </a:xfrm>
          <a:prstGeom prst="rect">
            <a:avLst/>
          </a:prstGeom>
          <a:noFill/>
          <a:ln w="19050">
            <a:solidFill>
              <a:schemeClr val="tx1"/>
            </a:solidFill>
          </a:ln>
        </p:spPr>
        <p:txBody>
          <a:bodyPr wrap="none" rtlCol="0">
            <a:spAutoFit/>
          </a:bodyPr>
          <a:lstStyle/>
          <a:p>
            <a:pPr algn="ctr"/>
            <a:r>
              <a:rPr lang="en-US" dirty="0"/>
              <a:t>Count </a:t>
            </a:r>
          </a:p>
          <a:p>
            <a:pPr algn="ctr"/>
            <a:r>
              <a:rPr lang="en-US" dirty="0"/>
              <a:t>matrix</a:t>
            </a:r>
          </a:p>
        </p:txBody>
      </p:sp>
      <p:cxnSp>
        <p:nvCxnSpPr>
          <p:cNvPr id="15" name="Straight Arrow Connector 14">
            <a:extLst>
              <a:ext uri="{FF2B5EF4-FFF2-40B4-BE49-F238E27FC236}">
                <a16:creationId xmlns:a16="http://schemas.microsoft.com/office/drawing/2014/main" id="{92AE22BB-9BE9-DC85-1125-551D38272D49}"/>
              </a:ext>
            </a:extLst>
          </p:cNvPr>
          <p:cNvCxnSpPr>
            <a:cxnSpLocks/>
          </p:cNvCxnSpPr>
          <p:nvPr/>
        </p:nvCxnSpPr>
        <p:spPr>
          <a:xfrm>
            <a:off x="1127661"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6920325-B009-5D13-485C-C0AECA6DDC1C}"/>
              </a:ext>
            </a:extLst>
          </p:cNvPr>
          <p:cNvCxnSpPr>
            <a:cxnSpLocks/>
          </p:cNvCxnSpPr>
          <p:nvPr/>
        </p:nvCxnSpPr>
        <p:spPr>
          <a:xfrm>
            <a:off x="335504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3EDCEB5-CF9B-5F32-F62F-D026CDBABA2A}"/>
              </a:ext>
            </a:extLst>
          </p:cNvPr>
          <p:cNvCxnSpPr>
            <a:cxnSpLocks/>
          </p:cNvCxnSpPr>
          <p:nvPr/>
        </p:nvCxnSpPr>
        <p:spPr>
          <a:xfrm>
            <a:off x="553095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364F267-4FCB-C1A2-6D22-3A458AF1F531}"/>
              </a:ext>
            </a:extLst>
          </p:cNvPr>
          <p:cNvCxnSpPr>
            <a:cxnSpLocks/>
          </p:cNvCxnSpPr>
          <p:nvPr/>
        </p:nvCxnSpPr>
        <p:spPr>
          <a:xfrm>
            <a:off x="777129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Rounded Rectangle 1">
            <a:extLst>
              <a:ext uri="{FF2B5EF4-FFF2-40B4-BE49-F238E27FC236}">
                <a16:creationId xmlns:a16="http://schemas.microsoft.com/office/drawing/2014/main" id="{D011FFDE-57DB-2014-6C94-384E72FB94C8}"/>
              </a:ext>
            </a:extLst>
          </p:cNvPr>
          <p:cNvSpPr/>
          <p:nvPr/>
        </p:nvSpPr>
        <p:spPr>
          <a:xfrm>
            <a:off x="2603495" y="3085423"/>
            <a:ext cx="1625529" cy="86784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050" dirty="0">
                <a:solidFill>
                  <a:schemeClr val="tx1"/>
                </a:solidFill>
              </a:rPr>
              <a:t>Library prep quality check</a:t>
            </a:r>
          </a:p>
        </p:txBody>
      </p:sp>
      <p:cxnSp>
        <p:nvCxnSpPr>
          <p:cNvPr id="4" name="Straight Arrow Connector 3">
            <a:extLst>
              <a:ext uri="{FF2B5EF4-FFF2-40B4-BE49-F238E27FC236}">
                <a16:creationId xmlns:a16="http://schemas.microsoft.com/office/drawing/2014/main" id="{54137B5C-C8F0-2E37-68FD-4911875FF3CA}"/>
              </a:ext>
            </a:extLst>
          </p:cNvPr>
          <p:cNvCxnSpPr>
            <a:cxnSpLocks/>
          </p:cNvCxnSpPr>
          <p:nvPr/>
        </p:nvCxnSpPr>
        <p:spPr>
          <a:xfrm>
            <a:off x="2615551" y="2665077"/>
            <a:ext cx="243824" cy="31182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7F72EDF-3946-3CF2-F2D8-846CE508000B}"/>
              </a:ext>
            </a:extLst>
          </p:cNvPr>
          <p:cNvCxnSpPr>
            <a:cxnSpLocks/>
          </p:cNvCxnSpPr>
          <p:nvPr/>
        </p:nvCxnSpPr>
        <p:spPr>
          <a:xfrm flipV="1">
            <a:off x="4157476" y="2677072"/>
            <a:ext cx="143096" cy="287837"/>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8F4DC28-B636-9C52-7568-593FB479887F}"/>
              </a:ext>
            </a:extLst>
          </p:cNvPr>
          <p:cNvSpPr txBox="1"/>
          <p:nvPr/>
        </p:nvSpPr>
        <p:spPr>
          <a:xfrm>
            <a:off x="2493492" y="4070038"/>
            <a:ext cx="1925527" cy="954107"/>
          </a:xfrm>
          <a:prstGeom prst="rect">
            <a:avLst/>
          </a:prstGeom>
          <a:noFill/>
        </p:spPr>
        <p:txBody>
          <a:bodyPr wrap="none" rtlCol="0">
            <a:spAutoFit/>
          </a:bodyPr>
          <a:lstStyle/>
          <a:p>
            <a:r>
              <a:rPr lang="en-US" dirty="0"/>
              <a:t>Check the content of: </a:t>
            </a:r>
          </a:p>
          <a:p>
            <a:pPr marL="285750" indent="-285750">
              <a:buFontTx/>
              <a:buChar char="-"/>
            </a:pPr>
            <a:r>
              <a:rPr lang="en-US" dirty="0"/>
              <a:t>Ribosomal RNA</a:t>
            </a:r>
          </a:p>
          <a:p>
            <a:pPr marL="285750" indent="-285750">
              <a:buFontTx/>
              <a:buChar char="-"/>
            </a:pPr>
            <a:r>
              <a:rPr lang="en-US" dirty="0"/>
              <a:t>Duplication</a:t>
            </a:r>
          </a:p>
          <a:p>
            <a:pPr marL="285750" indent="-285750">
              <a:buFontTx/>
              <a:buChar char="-"/>
            </a:pPr>
            <a:r>
              <a:rPr lang="en-US" dirty="0"/>
              <a:t>Seq depth </a:t>
            </a:r>
          </a:p>
        </p:txBody>
      </p:sp>
      <p:sp>
        <p:nvSpPr>
          <p:cNvPr id="23" name="Rounded Rectangle 22">
            <a:extLst>
              <a:ext uri="{FF2B5EF4-FFF2-40B4-BE49-F238E27FC236}">
                <a16:creationId xmlns:a16="http://schemas.microsoft.com/office/drawing/2014/main" id="{F511273E-ACFC-5DC4-E844-489D841ACFF2}"/>
              </a:ext>
            </a:extLst>
          </p:cNvPr>
          <p:cNvSpPr/>
          <p:nvPr/>
        </p:nvSpPr>
        <p:spPr>
          <a:xfrm>
            <a:off x="5154919" y="3085423"/>
            <a:ext cx="1625529" cy="867844"/>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1050" dirty="0">
                <a:solidFill>
                  <a:schemeClr val="tx1"/>
                </a:solidFill>
              </a:rPr>
              <a:t>Alignment quality check</a:t>
            </a:r>
          </a:p>
        </p:txBody>
      </p:sp>
      <p:sp>
        <p:nvSpPr>
          <p:cNvPr id="25" name="TextBox 24">
            <a:extLst>
              <a:ext uri="{FF2B5EF4-FFF2-40B4-BE49-F238E27FC236}">
                <a16:creationId xmlns:a16="http://schemas.microsoft.com/office/drawing/2014/main" id="{F5D05D2B-313C-111F-583D-D9ED5BDA2781}"/>
              </a:ext>
            </a:extLst>
          </p:cNvPr>
          <p:cNvSpPr txBox="1"/>
          <p:nvPr/>
        </p:nvSpPr>
        <p:spPr>
          <a:xfrm>
            <a:off x="5130740" y="4070037"/>
            <a:ext cx="2640556" cy="954107"/>
          </a:xfrm>
          <a:prstGeom prst="rect">
            <a:avLst/>
          </a:prstGeom>
          <a:noFill/>
        </p:spPr>
        <p:txBody>
          <a:bodyPr wrap="square" rtlCol="0">
            <a:spAutoFit/>
          </a:bodyPr>
          <a:lstStyle/>
          <a:p>
            <a:r>
              <a:rPr lang="en-US" dirty="0"/>
              <a:t>Check:</a:t>
            </a:r>
          </a:p>
          <a:p>
            <a:pPr marL="285750" indent="-285750">
              <a:buFontTx/>
              <a:buChar char="-"/>
            </a:pPr>
            <a:r>
              <a:rPr lang="en-US" dirty="0"/>
              <a:t>Alignment quality</a:t>
            </a:r>
          </a:p>
          <a:p>
            <a:pPr marL="285750" indent="-285750">
              <a:buFontTx/>
              <a:buChar char="-"/>
            </a:pPr>
            <a:r>
              <a:rPr lang="en-US" dirty="0"/>
              <a:t>Most of reads are mapping to genome uniquely</a:t>
            </a:r>
          </a:p>
        </p:txBody>
      </p:sp>
      <p:cxnSp>
        <p:nvCxnSpPr>
          <p:cNvPr id="26" name="Straight Arrow Connector 25">
            <a:extLst>
              <a:ext uri="{FF2B5EF4-FFF2-40B4-BE49-F238E27FC236}">
                <a16:creationId xmlns:a16="http://schemas.microsoft.com/office/drawing/2014/main" id="{7B6EDA19-11C2-E606-F8A8-DDEDA2F2C0E5}"/>
              </a:ext>
            </a:extLst>
          </p:cNvPr>
          <p:cNvCxnSpPr>
            <a:cxnSpLocks/>
          </p:cNvCxnSpPr>
          <p:nvPr/>
        </p:nvCxnSpPr>
        <p:spPr>
          <a:xfrm>
            <a:off x="5154919" y="2685355"/>
            <a:ext cx="243824" cy="311825"/>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CF19749-6A90-2B9A-6109-AE3E36C4E85C}"/>
              </a:ext>
            </a:extLst>
          </p:cNvPr>
          <p:cNvCxnSpPr>
            <a:cxnSpLocks/>
          </p:cNvCxnSpPr>
          <p:nvPr/>
        </p:nvCxnSpPr>
        <p:spPr>
          <a:xfrm flipV="1">
            <a:off x="6702970" y="2715305"/>
            <a:ext cx="143096" cy="287837"/>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Google Shape;59;p14">
            <a:extLst>
              <a:ext uri="{FF2B5EF4-FFF2-40B4-BE49-F238E27FC236}">
                <a16:creationId xmlns:a16="http://schemas.microsoft.com/office/drawing/2014/main" id="{0BCE3B3D-AADB-6380-DEEA-BEE010802017}"/>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Quality checks!!</a:t>
            </a:r>
          </a:p>
        </p:txBody>
      </p:sp>
    </p:spTree>
    <p:extLst>
      <p:ext uri="{BB962C8B-B14F-4D97-AF65-F5344CB8AC3E}">
        <p14:creationId xmlns:p14="http://schemas.microsoft.com/office/powerpoint/2010/main" val="33194132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26676426-5602-7B3B-2D43-1DA00BD46B27}"/>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4B058935-E7F0-92A6-B0D7-CF9B4BC3DA7B}"/>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dirty="0"/>
              <a:t>Output of quality trim and red flags</a:t>
            </a:r>
            <a:endParaRPr dirty="0"/>
          </a:p>
        </p:txBody>
      </p:sp>
      <p:sp>
        <p:nvSpPr>
          <p:cNvPr id="5" name="TextBox 4">
            <a:extLst>
              <a:ext uri="{FF2B5EF4-FFF2-40B4-BE49-F238E27FC236}">
                <a16:creationId xmlns:a16="http://schemas.microsoft.com/office/drawing/2014/main" id="{A3F8D282-2227-D309-60A0-02BDD39BE543}"/>
              </a:ext>
            </a:extLst>
          </p:cNvPr>
          <p:cNvSpPr txBox="1"/>
          <p:nvPr/>
        </p:nvSpPr>
        <p:spPr>
          <a:xfrm>
            <a:off x="2286000" y="927738"/>
            <a:ext cx="4572000" cy="307777"/>
          </a:xfrm>
          <a:prstGeom prst="rect">
            <a:avLst/>
          </a:prstGeom>
          <a:solidFill>
            <a:schemeClr val="accent4">
              <a:lumMod val="20000"/>
              <a:lumOff val="80000"/>
            </a:schemeClr>
          </a:solidFill>
        </p:spPr>
        <p:txBody>
          <a:bodyPr wrap="square">
            <a:spAutoFit/>
          </a:bodyPr>
          <a:lstStyle/>
          <a:p>
            <a:r>
              <a:rPr lang="en-US" dirty="0"/>
              <a:t>Not all reads coming off the sequencer are trustworthy </a:t>
            </a:r>
          </a:p>
        </p:txBody>
      </p:sp>
      <p:sp>
        <p:nvSpPr>
          <p:cNvPr id="6" name="TextBox 5">
            <a:extLst>
              <a:ext uri="{FF2B5EF4-FFF2-40B4-BE49-F238E27FC236}">
                <a16:creationId xmlns:a16="http://schemas.microsoft.com/office/drawing/2014/main" id="{393573E5-EB26-01C8-A4DA-758E26F0AE22}"/>
              </a:ext>
            </a:extLst>
          </p:cNvPr>
          <p:cNvSpPr txBox="1"/>
          <p:nvPr/>
        </p:nvSpPr>
        <p:spPr>
          <a:xfrm>
            <a:off x="685416" y="4095009"/>
            <a:ext cx="7773168" cy="523220"/>
          </a:xfrm>
          <a:prstGeom prst="rect">
            <a:avLst/>
          </a:prstGeom>
          <a:solidFill>
            <a:schemeClr val="accent4">
              <a:lumMod val="20000"/>
              <a:lumOff val="80000"/>
            </a:schemeClr>
          </a:solidFill>
        </p:spPr>
        <p:txBody>
          <a:bodyPr wrap="square" rtlCol="0">
            <a:spAutoFit/>
          </a:bodyPr>
          <a:lstStyle/>
          <a:p>
            <a:r>
              <a:rPr lang="en-US" dirty="0"/>
              <a:t>Keeping low-quality reads introduces </a:t>
            </a:r>
            <a:r>
              <a:rPr lang="en-US" b="1" dirty="0"/>
              <a:t>errors downstream</a:t>
            </a:r>
            <a:r>
              <a:rPr lang="en-US" dirty="0"/>
              <a:t>. A misread base can cause a read to map to the wrong gene, or not map at all, corrupting your count matrix.</a:t>
            </a:r>
          </a:p>
        </p:txBody>
      </p:sp>
      <p:sp>
        <p:nvSpPr>
          <p:cNvPr id="7" name="TextBox 6">
            <a:extLst>
              <a:ext uri="{FF2B5EF4-FFF2-40B4-BE49-F238E27FC236}">
                <a16:creationId xmlns:a16="http://schemas.microsoft.com/office/drawing/2014/main" id="{58F4692A-52D5-BF57-4B6D-DB8893DE6693}"/>
              </a:ext>
            </a:extLst>
          </p:cNvPr>
          <p:cNvSpPr txBox="1"/>
          <p:nvPr/>
        </p:nvSpPr>
        <p:spPr>
          <a:xfrm>
            <a:off x="6567300" y="2832901"/>
            <a:ext cx="1777920" cy="830997"/>
          </a:xfrm>
          <a:prstGeom prst="rect">
            <a:avLst/>
          </a:prstGeom>
          <a:solidFill>
            <a:schemeClr val="bg1">
              <a:lumMod val="95000"/>
            </a:schemeClr>
          </a:solidFill>
          <a:ln w="28575">
            <a:solidFill>
              <a:schemeClr val="bg1">
                <a:lumMod val="50000"/>
              </a:schemeClr>
            </a:solidFill>
          </a:ln>
        </p:spPr>
        <p:txBody>
          <a:bodyPr wrap="square" rtlCol="0">
            <a:spAutoFit/>
          </a:bodyPr>
          <a:lstStyle/>
          <a:p>
            <a:pPr lvl="0" algn="ctr" eaLnBrk="0" fontAlgn="base" hangingPunct="0">
              <a:spcBef>
                <a:spcPct val="0"/>
              </a:spcBef>
              <a:spcAft>
                <a:spcPct val="0"/>
              </a:spcAft>
              <a:buClrTx/>
            </a:pPr>
            <a:r>
              <a:rPr lang="en-US" altLang="en-US" sz="1200" b="1" dirty="0">
                <a:solidFill>
                  <a:schemeClr val="tx1"/>
                </a:solidFill>
                <a:latin typeface="Arial" panose="020B0604020202020204" pitchFamily="34" charset="0"/>
              </a:rPr>
              <a:t>Very short reads</a:t>
            </a:r>
            <a:r>
              <a:rPr lang="en-US" altLang="en-US" sz="1200" dirty="0">
                <a:solidFill>
                  <a:schemeClr val="tx1"/>
                </a:solidFill>
                <a:latin typeface="Arial" panose="020B0604020202020204" pitchFamily="34" charset="0"/>
              </a:rPr>
              <a:t> </a:t>
            </a:r>
          </a:p>
          <a:p>
            <a:pPr lvl="0" algn="ctr" eaLnBrk="0" fontAlgn="base" hangingPunct="0">
              <a:spcBef>
                <a:spcPct val="0"/>
              </a:spcBef>
              <a:spcAft>
                <a:spcPct val="0"/>
              </a:spcAft>
              <a:buClrTx/>
            </a:pPr>
            <a:r>
              <a:rPr lang="en-US" altLang="en-US" sz="1200" dirty="0">
                <a:solidFill>
                  <a:schemeClr val="tx1"/>
                </a:solidFill>
                <a:latin typeface="Arial" panose="020B0604020202020204" pitchFamily="34" charset="0"/>
              </a:rPr>
              <a:t>that remain after trimming and are uninformative</a:t>
            </a:r>
          </a:p>
        </p:txBody>
      </p:sp>
      <p:pic>
        <p:nvPicPr>
          <p:cNvPr id="1026" name="Picture 2" descr="Per Base Sequence Quality">
            <a:extLst>
              <a:ext uri="{FF2B5EF4-FFF2-40B4-BE49-F238E27FC236}">
                <a16:creationId xmlns:a16="http://schemas.microsoft.com/office/drawing/2014/main" id="{22389DEB-FDCF-5A80-C3C5-E656250CB9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951" y="1451944"/>
            <a:ext cx="1805749" cy="135431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B4CD730-FE1C-7C8E-5B28-3EFFC415DF89}"/>
              </a:ext>
            </a:extLst>
          </p:cNvPr>
          <p:cNvSpPr txBox="1"/>
          <p:nvPr/>
        </p:nvSpPr>
        <p:spPr>
          <a:xfrm>
            <a:off x="715867" y="2930331"/>
            <a:ext cx="1895708" cy="646331"/>
          </a:xfrm>
          <a:prstGeom prst="rect">
            <a:avLst/>
          </a:prstGeom>
          <a:solidFill>
            <a:schemeClr val="bg1">
              <a:lumMod val="95000"/>
            </a:schemeClr>
          </a:solidFill>
          <a:ln w="28575">
            <a:solidFill>
              <a:schemeClr val="bg1">
                <a:lumMod val="50000"/>
              </a:schemeClr>
            </a:solidFill>
          </a:ln>
        </p:spPr>
        <p:txBody>
          <a:bodyPr wrap="square" rtlCol="0">
            <a:spAutoFit/>
          </a:bodyPr>
          <a:lstStyle/>
          <a:p>
            <a:pPr algn="ctr"/>
            <a:r>
              <a:rPr lang="en-US" altLang="en-US" sz="1200" b="1" dirty="0">
                <a:solidFill>
                  <a:schemeClr val="tx1"/>
                </a:solidFill>
                <a:latin typeface="Arial" panose="020B0604020202020204" pitchFamily="34" charset="0"/>
              </a:rPr>
              <a:t>Low-quality bases</a:t>
            </a:r>
            <a:r>
              <a:rPr lang="en-US" altLang="en-US" sz="1200" dirty="0">
                <a:solidFill>
                  <a:schemeClr val="tx1"/>
                </a:solidFill>
                <a:latin typeface="Arial" panose="020B0604020202020204" pitchFamily="34" charset="0"/>
              </a:rPr>
              <a:t> </a:t>
            </a:r>
          </a:p>
          <a:p>
            <a:pPr algn="ctr"/>
            <a:r>
              <a:rPr lang="en-US" altLang="en-US" sz="1200" dirty="0">
                <a:solidFill>
                  <a:schemeClr val="tx1"/>
                </a:solidFill>
                <a:latin typeface="Arial" panose="020B0604020202020204" pitchFamily="34" charset="0"/>
              </a:rPr>
              <a:t>at the ends of reads (the machine gets tired) </a:t>
            </a:r>
          </a:p>
        </p:txBody>
      </p:sp>
      <p:sp>
        <p:nvSpPr>
          <p:cNvPr id="4" name="TextBox 3">
            <a:extLst>
              <a:ext uri="{FF2B5EF4-FFF2-40B4-BE49-F238E27FC236}">
                <a16:creationId xmlns:a16="http://schemas.microsoft.com/office/drawing/2014/main" id="{ABDE87BB-DDFC-88CC-B789-79A130C3E847}"/>
              </a:ext>
            </a:extLst>
          </p:cNvPr>
          <p:cNvSpPr txBox="1"/>
          <p:nvPr/>
        </p:nvSpPr>
        <p:spPr>
          <a:xfrm>
            <a:off x="3450888" y="2837997"/>
            <a:ext cx="2309955" cy="830997"/>
          </a:xfrm>
          <a:prstGeom prst="rect">
            <a:avLst/>
          </a:prstGeom>
          <a:solidFill>
            <a:schemeClr val="bg1">
              <a:lumMod val="95000"/>
            </a:schemeClr>
          </a:solidFill>
          <a:ln w="28575">
            <a:solidFill>
              <a:schemeClr val="bg1">
                <a:lumMod val="50000"/>
              </a:schemeClr>
            </a:solidFill>
          </a:ln>
        </p:spPr>
        <p:txBody>
          <a:bodyPr wrap="square" rtlCol="0">
            <a:spAutoFit/>
          </a:bodyPr>
          <a:lstStyle/>
          <a:p>
            <a:pPr algn="ctr"/>
            <a:r>
              <a:rPr lang="en-US" altLang="en-US" sz="1200" b="1" dirty="0">
                <a:solidFill>
                  <a:schemeClr val="tx1"/>
                </a:solidFill>
                <a:latin typeface="Arial" panose="020B0604020202020204" pitchFamily="34" charset="0"/>
              </a:rPr>
              <a:t>Adapter sequences </a:t>
            </a:r>
          </a:p>
          <a:p>
            <a:pPr algn="ctr"/>
            <a:r>
              <a:rPr lang="en-US" altLang="en-US" sz="1200" dirty="0">
                <a:solidFill>
                  <a:schemeClr val="tx1"/>
                </a:solidFill>
                <a:latin typeface="Arial" panose="020B0604020202020204" pitchFamily="34" charset="0"/>
              </a:rPr>
              <a:t>synthetic sequences added during library prep that are not biological signal </a:t>
            </a:r>
          </a:p>
        </p:txBody>
      </p:sp>
      <p:pic>
        <p:nvPicPr>
          <p:cNvPr id="1028" name="Picture 4" descr="fastqc gc-content peak and adapter content">
            <a:extLst>
              <a:ext uri="{FF2B5EF4-FFF2-40B4-BE49-F238E27FC236}">
                <a16:creationId xmlns:a16="http://schemas.microsoft.com/office/drawing/2014/main" id="{F015688A-CA65-2E48-D985-2718CD1D5A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69125" y="1405802"/>
            <a:ext cx="1805750" cy="1391351"/>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16D37E68-0DC9-AA89-D6D7-B1540F4A1C64}"/>
              </a:ext>
            </a:extLst>
          </p:cNvPr>
          <p:cNvGrpSpPr/>
          <p:nvPr/>
        </p:nvGrpSpPr>
        <p:grpSpPr>
          <a:xfrm>
            <a:off x="6567300" y="1731470"/>
            <a:ext cx="1552992" cy="658301"/>
            <a:chOff x="6592601" y="1364909"/>
            <a:chExt cx="1552992" cy="658301"/>
          </a:xfrm>
        </p:grpSpPr>
        <p:sp>
          <p:nvSpPr>
            <p:cNvPr id="8" name="Rectangle 7">
              <a:extLst>
                <a:ext uri="{FF2B5EF4-FFF2-40B4-BE49-F238E27FC236}">
                  <a16:creationId xmlns:a16="http://schemas.microsoft.com/office/drawing/2014/main" id="{EE1B2D90-78C4-6076-E8FB-E83C98C6DEA4}"/>
                </a:ext>
              </a:extLst>
            </p:cNvPr>
            <p:cNvSpPr/>
            <p:nvPr/>
          </p:nvSpPr>
          <p:spPr>
            <a:xfrm>
              <a:off x="6592601" y="1364909"/>
              <a:ext cx="686915" cy="6244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472F9F-C8A6-F9AD-159B-2634577B7706}"/>
                </a:ext>
              </a:extLst>
            </p:cNvPr>
            <p:cNvSpPr/>
            <p:nvPr/>
          </p:nvSpPr>
          <p:spPr>
            <a:xfrm>
              <a:off x="7115221" y="1502992"/>
              <a:ext cx="686915" cy="6244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42F0CA7-21FB-433B-1DCD-5584794845F0}"/>
                </a:ext>
              </a:extLst>
            </p:cNvPr>
            <p:cNvSpPr/>
            <p:nvPr/>
          </p:nvSpPr>
          <p:spPr>
            <a:xfrm>
              <a:off x="6713777" y="1825580"/>
              <a:ext cx="686915" cy="6244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CD5989B-F9F7-4DA4-DD94-5D3B84B4084F}"/>
                </a:ext>
              </a:extLst>
            </p:cNvPr>
            <p:cNvSpPr/>
            <p:nvPr/>
          </p:nvSpPr>
          <p:spPr>
            <a:xfrm>
              <a:off x="7458678" y="1689123"/>
              <a:ext cx="686915" cy="62447"/>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5D77C83-A49E-DAB9-C195-885CDA011726}"/>
                </a:ext>
              </a:extLst>
            </p:cNvPr>
            <p:cNvSpPr/>
            <p:nvPr/>
          </p:nvSpPr>
          <p:spPr>
            <a:xfrm>
              <a:off x="7458678" y="1364909"/>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386A1FB-0005-3747-B8FD-A37FB1875817}"/>
                </a:ext>
              </a:extLst>
            </p:cNvPr>
            <p:cNvSpPr/>
            <p:nvPr/>
          </p:nvSpPr>
          <p:spPr>
            <a:xfrm>
              <a:off x="6805961" y="1602731"/>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34E377A-F6D2-4F27-BB17-565F0DDCC4D1}"/>
                </a:ext>
              </a:extLst>
            </p:cNvPr>
            <p:cNvSpPr/>
            <p:nvPr/>
          </p:nvSpPr>
          <p:spPr>
            <a:xfrm>
              <a:off x="7140499" y="1602000"/>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CC650DA-0EBB-0C68-FA5B-7AA6B07DC854}"/>
                </a:ext>
              </a:extLst>
            </p:cNvPr>
            <p:cNvSpPr/>
            <p:nvPr/>
          </p:nvSpPr>
          <p:spPr>
            <a:xfrm>
              <a:off x="6985124" y="1708542"/>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833177E-A160-0625-E972-FDB343ED56EF}"/>
                </a:ext>
              </a:extLst>
            </p:cNvPr>
            <p:cNvSpPr/>
            <p:nvPr/>
          </p:nvSpPr>
          <p:spPr>
            <a:xfrm>
              <a:off x="7541942" y="1825039"/>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CBCE1AF-44A8-4451-AEBD-18DA214AB4AE}"/>
                </a:ext>
              </a:extLst>
            </p:cNvPr>
            <p:cNvSpPr/>
            <p:nvPr/>
          </p:nvSpPr>
          <p:spPr>
            <a:xfrm>
              <a:off x="7802135" y="1950345"/>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61C0207-4EAC-CE44-A976-FFEBF51D0466}"/>
                </a:ext>
              </a:extLst>
            </p:cNvPr>
            <p:cNvSpPr/>
            <p:nvPr/>
          </p:nvSpPr>
          <p:spPr>
            <a:xfrm>
              <a:off x="7370210" y="1960763"/>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7319833-3395-E17D-8E2A-BA279CD68B80}"/>
                </a:ext>
              </a:extLst>
            </p:cNvPr>
            <p:cNvSpPr/>
            <p:nvPr/>
          </p:nvSpPr>
          <p:spPr>
            <a:xfrm>
              <a:off x="6999247" y="1958634"/>
              <a:ext cx="260193" cy="62447"/>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44883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E8AB2D83-00A6-F3C0-2E94-58701551952A}"/>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5F416DAC-F381-9EFD-D994-235C2D3C0EAE}"/>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dirty="0"/>
              <a:t>Output of quality trim and red flags</a:t>
            </a:r>
            <a:endParaRPr dirty="0"/>
          </a:p>
        </p:txBody>
      </p:sp>
      <p:sp>
        <p:nvSpPr>
          <p:cNvPr id="8" name="TextBox 7">
            <a:extLst>
              <a:ext uri="{FF2B5EF4-FFF2-40B4-BE49-F238E27FC236}">
                <a16:creationId xmlns:a16="http://schemas.microsoft.com/office/drawing/2014/main" id="{E7A2B444-6296-C654-D886-6807B6F17548}"/>
              </a:ext>
            </a:extLst>
          </p:cNvPr>
          <p:cNvSpPr txBox="1"/>
          <p:nvPr/>
        </p:nvSpPr>
        <p:spPr>
          <a:xfrm>
            <a:off x="447625" y="1048085"/>
            <a:ext cx="7311273" cy="3600986"/>
          </a:xfrm>
          <a:prstGeom prst="rect">
            <a:avLst/>
          </a:prstGeom>
          <a:noFill/>
        </p:spPr>
        <p:txBody>
          <a:bodyPr wrap="square">
            <a:spAutoFit/>
          </a:bodyPr>
          <a:lstStyle/>
          <a:p>
            <a:pPr marL="285750" indent="-285750">
              <a:buFont typeface="Arial" panose="020B0604020202020204" pitchFamily="34" charset="0"/>
              <a:buChar char="•"/>
            </a:pPr>
            <a:r>
              <a:rPr lang="en-US" sz="1200" b="1" dirty="0"/>
              <a:t>High adapter content (&gt;10–15% of reads)</a:t>
            </a:r>
            <a:r>
              <a:rPr lang="en-US" sz="1200" dirty="0"/>
              <a:t> Suggests </a:t>
            </a:r>
            <a:r>
              <a:rPr lang="en-US" sz="1200" b="1" dirty="0">
                <a:solidFill>
                  <a:schemeClr val="accent5"/>
                </a:solidFill>
              </a:rPr>
              <a:t>library prep issues </a:t>
            </a:r>
            <a:r>
              <a:rPr lang="en-US" sz="1200" dirty="0"/>
              <a:t>or very short insert sizes. A little adapter is normal; a lot means something went wrong during library construction.</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b="1" dirty="0"/>
              <a:t>Very high duplication rates (&gt;50–60%)</a:t>
            </a:r>
            <a:r>
              <a:rPr lang="en-US" sz="1200" dirty="0"/>
              <a:t> </a:t>
            </a:r>
            <a:r>
              <a:rPr lang="en-US" sz="1200" b="1" dirty="0">
                <a:solidFill>
                  <a:schemeClr val="accent5"/>
                </a:solidFill>
              </a:rPr>
              <a:t>Reads are identical copies of the same original molecule</a:t>
            </a:r>
            <a:r>
              <a:rPr lang="en-US" sz="1200" dirty="0"/>
              <a:t>, usually from over-amplification during PCR. In extreme cases it means you sequenced the same few molecules over and over and have little real coverage.</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b="1" dirty="0"/>
              <a:t>Poor per-base sequence quality at read ends</a:t>
            </a:r>
            <a:r>
              <a:rPr lang="en-US" sz="1200" dirty="0"/>
              <a:t> Expected and fixable by trimming — but if quality drops early (first 20–30 bases) rather than just at the tail, it may indicate a sequencing run problem.</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b="1" dirty="0"/>
              <a:t>Overrepresented sequences that are not adapters</a:t>
            </a:r>
            <a:r>
              <a:rPr lang="en-US" sz="1200" dirty="0"/>
              <a:t> Could be rRNA </a:t>
            </a:r>
            <a:r>
              <a:rPr lang="en-US" sz="1200" b="1" dirty="0">
                <a:solidFill>
                  <a:schemeClr val="accent5"/>
                </a:solidFill>
              </a:rPr>
              <a:t>contamination</a:t>
            </a:r>
            <a:r>
              <a:rPr lang="en-US" sz="1200" dirty="0"/>
              <a:t> (very common if mRNA enrichment failed), primers, or other contaminants. rRNA reads are uninformative and inflate your total read count without adding gene-level data.</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b="1" dirty="0"/>
              <a:t>Reads getting trimmed to very short lengths (&lt;20–25 bp)</a:t>
            </a:r>
            <a:r>
              <a:rPr lang="en-US" sz="1200" dirty="0"/>
              <a:t> If most reads are being cut down to almost nothing, the original insert was tiny — </a:t>
            </a:r>
            <a:r>
              <a:rPr lang="en-US" sz="1200" b="1" dirty="0">
                <a:solidFill>
                  <a:schemeClr val="accent5"/>
                </a:solidFill>
              </a:rPr>
              <a:t>a library prep problem </a:t>
            </a:r>
            <a:r>
              <a:rPr lang="en-US" sz="1200" dirty="0"/>
              <a:t>that trimming cannot recover.</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r>
              <a:rPr lang="en-US" sz="1200" b="1" dirty="0"/>
              <a:t>Low % reads surviving trimming (&lt;70–75%)</a:t>
            </a:r>
            <a:r>
              <a:rPr lang="en-US" sz="1200" dirty="0"/>
              <a:t> Means a large fraction of your data was unusable before you even started.</a:t>
            </a:r>
          </a:p>
        </p:txBody>
      </p:sp>
      <p:pic>
        <p:nvPicPr>
          <p:cNvPr id="3074" name="Picture 2" descr="Is my window too high off the floor for proper egress? Manufactured Homes  Rules.">
            <a:extLst>
              <a:ext uri="{FF2B5EF4-FFF2-40B4-BE49-F238E27FC236}">
                <a16:creationId xmlns:a16="http://schemas.microsoft.com/office/drawing/2014/main" id="{62E4CF9E-A871-0071-9EF7-8E44F09165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6094" y="92886"/>
            <a:ext cx="1128744" cy="1123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83636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C786C7EB-8514-7A1D-FBF1-88DACC3DD5F4}"/>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5BE68C60-5115-4612-BDB7-EBBE0639F460}"/>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dirty="0"/>
              <a:t>Alignment check and red flags</a:t>
            </a:r>
            <a:endParaRPr dirty="0"/>
          </a:p>
        </p:txBody>
      </p:sp>
      <p:sp>
        <p:nvSpPr>
          <p:cNvPr id="3" name="TextBox 2">
            <a:extLst>
              <a:ext uri="{FF2B5EF4-FFF2-40B4-BE49-F238E27FC236}">
                <a16:creationId xmlns:a16="http://schemas.microsoft.com/office/drawing/2014/main" id="{51FB95E2-2415-6423-1B0E-B2540FC3CACB}"/>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5" name="TextBox 4">
            <a:extLst>
              <a:ext uri="{FF2B5EF4-FFF2-40B4-BE49-F238E27FC236}">
                <a16:creationId xmlns:a16="http://schemas.microsoft.com/office/drawing/2014/main" id="{71DE1F4A-5571-9E94-50F1-24F2FB50023D}"/>
              </a:ext>
            </a:extLst>
          </p:cNvPr>
          <p:cNvSpPr txBox="1"/>
          <p:nvPr/>
        </p:nvSpPr>
        <p:spPr>
          <a:xfrm>
            <a:off x="414037" y="936382"/>
            <a:ext cx="6263313" cy="3970318"/>
          </a:xfrm>
          <a:prstGeom prst="rect">
            <a:avLst/>
          </a:prstGeom>
          <a:noFill/>
        </p:spPr>
        <p:txBody>
          <a:bodyPr wrap="square">
            <a:spAutoFit/>
          </a:bodyPr>
          <a:lstStyle/>
          <a:p>
            <a:pPr>
              <a:buNone/>
            </a:pPr>
            <a:r>
              <a:rPr lang="en-US" sz="1200" b="1" dirty="0"/>
              <a:t>Low overall mapping rate (&lt;70–75%)</a:t>
            </a:r>
            <a:r>
              <a:rPr lang="en-US" sz="1200" dirty="0"/>
              <a:t> The most important metric. Reads that don't map are invisible to all downstream analysis. Common causes:</a:t>
            </a:r>
          </a:p>
          <a:p>
            <a:pPr marL="171450" lvl="2" indent="-171450">
              <a:buFont typeface="Arial" panose="020B0604020202020204" pitchFamily="34" charset="0"/>
              <a:buChar char="•"/>
            </a:pPr>
            <a:r>
              <a:rPr lang="en-US" sz="1050" dirty="0"/>
              <a:t>Wrong reference genome or annotation </a:t>
            </a:r>
          </a:p>
          <a:p>
            <a:pPr marL="171450" lvl="2" indent="-171450">
              <a:buFont typeface="Arial" panose="020B0604020202020204" pitchFamily="34" charset="0"/>
              <a:buChar char="•"/>
            </a:pPr>
            <a:r>
              <a:rPr lang="en-US" sz="1050" dirty="0"/>
              <a:t>Heavy rRNA or adapter contamination</a:t>
            </a:r>
          </a:p>
          <a:p>
            <a:pPr marL="171450" lvl="1" indent="-171450">
              <a:buFont typeface="Arial" panose="020B0604020202020204" pitchFamily="34" charset="0"/>
              <a:buChar char="•"/>
            </a:pPr>
            <a:r>
              <a:rPr lang="en-US" sz="1050" dirty="0"/>
              <a:t>RNA degradation</a:t>
            </a:r>
          </a:p>
          <a:p>
            <a:pPr marL="171450" lvl="1" indent="-171450">
              <a:buFont typeface="Arial" panose="020B0604020202020204" pitchFamily="34" charset="0"/>
              <a:buChar char="•"/>
            </a:pPr>
            <a:r>
              <a:rPr lang="en-US" sz="1050" dirty="0"/>
              <a:t>Sequencing of a divergent strain with significant genomic differences from the reference</a:t>
            </a:r>
          </a:p>
          <a:p>
            <a:pPr lvl="1"/>
            <a:endParaRPr lang="en-US" sz="1200" dirty="0"/>
          </a:p>
          <a:p>
            <a:pPr>
              <a:buNone/>
            </a:pPr>
            <a:r>
              <a:rPr lang="en-US" sz="1200" b="1" dirty="0">
                <a:solidFill>
                  <a:schemeClr val="bg1">
                    <a:lumMod val="85000"/>
                  </a:schemeClr>
                </a:solidFill>
              </a:rPr>
              <a:t>Very high multimapping rate</a:t>
            </a:r>
            <a:r>
              <a:rPr lang="en-US" sz="1200" dirty="0">
                <a:solidFill>
                  <a:schemeClr val="bg1">
                    <a:lumMod val="85000"/>
                  </a:schemeClr>
                </a:solidFill>
              </a:rPr>
              <a:t> Reads mapping to many genomic locations equally well (repetitive elements or paralogous gene families)</a:t>
            </a:r>
          </a:p>
          <a:p>
            <a:pPr>
              <a:buNone/>
            </a:pPr>
            <a:endParaRPr lang="en-US" sz="1200" dirty="0">
              <a:solidFill>
                <a:schemeClr val="bg1">
                  <a:lumMod val="85000"/>
                </a:schemeClr>
              </a:solidFill>
            </a:endParaRPr>
          </a:p>
          <a:p>
            <a:r>
              <a:rPr lang="en-US" sz="1200" b="1" dirty="0">
                <a:solidFill>
                  <a:schemeClr val="bg1">
                    <a:lumMod val="85000"/>
                  </a:schemeClr>
                </a:solidFill>
              </a:rPr>
              <a:t>Uneven coverage across gene bodies</a:t>
            </a:r>
            <a:r>
              <a:rPr lang="en-US" sz="1200" dirty="0">
                <a:solidFill>
                  <a:schemeClr val="bg1">
                    <a:lumMod val="85000"/>
                  </a:schemeClr>
                </a:solidFill>
              </a:rPr>
              <a:t> - some genes are being undercounted</a:t>
            </a:r>
          </a:p>
          <a:p>
            <a:pPr marL="171450" lvl="2" indent="-171450">
              <a:buFont typeface="Arial" panose="020B0604020202020204" pitchFamily="34" charset="0"/>
              <a:buChar char="•"/>
            </a:pPr>
            <a:r>
              <a:rPr lang="en-US" sz="1050" dirty="0">
                <a:solidFill>
                  <a:schemeClr val="bg1">
                    <a:lumMod val="85000"/>
                  </a:schemeClr>
                </a:solidFill>
              </a:rPr>
              <a:t>3’ bias = RNA degradation (RNA degrades from the 5' end first). </a:t>
            </a:r>
          </a:p>
          <a:p>
            <a:pPr marL="171450" lvl="2" indent="-171450">
              <a:buFont typeface="Arial" panose="020B0604020202020204" pitchFamily="34" charset="0"/>
              <a:buChar char="•"/>
            </a:pPr>
            <a:r>
              <a:rPr lang="en-US" sz="1050" dirty="0">
                <a:solidFill>
                  <a:schemeClr val="bg1">
                    <a:lumMod val="85000"/>
                  </a:schemeClr>
                </a:solidFill>
              </a:rPr>
              <a:t>5' bias = problems library prep chemistry. Either pattern means </a:t>
            </a:r>
          </a:p>
          <a:p>
            <a:pPr lvl="2"/>
            <a:r>
              <a:rPr lang="en-US" sz="1050" dirty="0">
                <a:solidFill>
                  <a:schemeClr val="bg1">
                    <a:lumMod val="85000"/>
                  </a:schemeClr>
                </a:solidFill>
              </a:rPr>
              <a:t>(look at genes individually in IGV)</a:t>
            </a:r>
          </a:p>
          <a:p>
            <a:pPr lvl="2"/>
            <a:endParaRPr lang="en-US" sz="1200" b="1" dirty="0">
              <a:solidFill>
                <a:schemeClr val="bg1">
                  <a:lumMod val="85000"/>
                </a:schemeClr>
              </a:solidFill>
            </a:endParaRPr>
          </a:p>
          <a:p>
            <a:pPr lvl="2"/>
            <a:r>
              <a:rPr lang="en-US" sz="1200" b="1" dirty="0">
                <a:solidFill>
                  <a:schemeClr val="bg1">
                    <a:lumMod val="85000"/>
                  </a:schemeClr>
                </a:solidFill>
              </a:rPr>
              <a:t>Strand-specificity mismatch</a:t>
            </a:r>
            <a:r>
              <a:rPr lang="en-US" sz="1200" dirty="0">
                <a:solidFill>
                  <a:schemeClr val="bg1">
                    <a:lumMod val="85000"/>
                  </a:schemeClr>
                </a:solidFill>
              </a:rPr>
              <a:t> If the alignment parameters don't match how the library was actually prepared (stranded vs. </a:t>
            </a:r>
            <a:r>
              <a:rPr lang="en-US" sz="1200" dirty="0" err="1">
                <a:solidFill>
                  <a:schemeClr val="bg1">
                    <a:lumMod val="85000"/>
                  </a:schemeClr>
                </a:solidFill>
              </a:rPr>
              <a:t>unstranded</a:t>
            </a:r>
            <a:r>
              <a:rPr lang="en-US" sz="1200" dirty="0">
                <a:solidFill>
                  <a:schemeClr val="bg1">
                    <a:lumMod val="85000"/>
                  </a:schemeClr>
                </a:solidFill>
              </a:rPr>
              <a:t>), reads get assigned to the wrong gene or discarded. </a:t>
            </a:r>
            <a:r>
              <a:rPr lang="en-US" sz="1050" dirty="0">
                <a:solidFill>
                  <a:schemeClr val="bg1">
                    <a:lumMod val="85000"/>
                  </a:schemeClr>
                </a:solidFill>
              </a:rPr>
              <a:t>Ask your sequencers!, pick the STAR out for your sequencing parameters</a:t>
            </a:r>
            <a:endParaRPr lang="en-US" sz="1200" dirty="0">
              <a:solidFill>
                <a:schemeClr val="bg1">
                  <a:lumMod val="85000"/>
                </a:schemeClr>
              </a:solidFill>
            </a:endParaRPr>
          </a:p>
          <a:p>
            <a:pPr lvl="2"/>
            <a:endParaRPr lang="en-US" sz="1200" b="1" dirty="0">
              <a:solidFill>
                <a:schemeClr val="bg1">
                  <a:lumMod val="85000"/>
                </a:schemeClr>
              </a:solidFill>
            </a:endParaRPr>
          </a:p>
          <a:p>
            <a:pPr lvl="2"/>
            <a:r>
              <a:rPr lang="en-US" sz="1200" b="1" dirty="0">
                <a:solidFill>
                  <a:schemeClr val="bg1">
                    <a:lumMod val="85000"/>
                  </a:schemeClr>
                </a:solidFill>
              </a:rPr>
              <a:t>Inconsistent mapping rates across samples</a:t>
            </a:r>
            <a:r>
              <a:rPr lang="en-US" sz="1200" dirty="0">
                <a:solidFill>
                  <a:schemeClr val="bg1">
                    <a:lumMod val="85000"/>
                  </a:schemeClr>
                </a:solidFill>
              </a:rPr>
              <a:t> If one sample maps at 90% and another at 40%, they are not comparable. </a:t>
            </a:r>
            <a:r>
              <a:rPr lang="en-US" sz="1050" dirty="0">
                <a:solidFill>
                  <a:schemeClr val="bg1">
                    <a:lumMod val="85000"/>
                  </a:schemeClr>
                </a:solidFill>
              </a:rPr>
              <a:t>The low-quality sample may need to be excluded, which affects your statistical power and experimental design. (analysis)</a:t>
            </a:r>
            <a:endParaRPr lang="en-US" sz="1200" dirty="0">
              <a:solidFill>
                <a:schemeClr val="bg1">
                  <a:lumMod val="85000"/>
                </a:schemeClr>
              </a:solidFill>
            </a:endParaRPr>
          </a:p>
        </p:txBody>
      </p:sp>
      <p:graphicFrame>
        <p:nvGraphicFramePr>
          <p:cNvPr id="4" name="Table 3">
            <a:extLst>
              <a:ext uri="{FF2B5EF4-FFF2-40B4-BE49-F238E27FC236}">
                <a16:creationId xmlns:a16="http://schemas.microsoft.com/office/drawing/2014/main" id="{1874EAB5-BE20-2331-765E-6320B48B71BE}"/>
              </a:ext>
            </a:extLst>
          </p:cNvPr>
          <p:cNvGraphicFramePr>
            <a:graphicFrameLocks noGrp="1"/>
          </p:cNvGraphicFramePr>
          <p:nvPr/>
        </p:nvGraphicFramePr>
        <p:xfrm>
          <a:off x="7159082" y="308167"/>
          <a:ext cx="1371600" cy="1828800"/>
        </p:xfrm>
        <a:graphic>
          <a:graphicData uri="http://schemas.openxmlformats.org/drawingml/2006/table">
            <a:tbl>
              <a:tblPr>
                <a:tableStyleId>{D1E8DE8F-3FD5-44BD-BD6F-004C10B1D515}</a:tableStyleId>
              </a:tblPr>
              <a:tblGrid>
                <a:gridCol w="826761">
                  <a:extLst>
                    <a:ext uri="{9D8B030D-6E8A-4147-A177-3AD203B41FA5}">
                      <a16:colId xmlns:a16="http://schemas.microsoft.com/office/drawing/2014/main" val="3970334090"/>
                    </a:ext>
                  </a:extLst>
                </a:gridCol>
                <a:gridCol w="544839">
                  <a:extLst>
                    <a:ext uri="{9D8B030D-6E8A-4147-A177-3AD203B41FA5}">
                      <a16:colId xmlns:a16="http://schemas.microsoft.com/office/drawing/2014/main" val="3519308625"/>
                    </a:ext>
                  </a:extLst>
                </a:gridCol>
              </a:tblGrid>
              <a:tr h="203200">
                <a:tc>
                  <a:txBody>
                    <a:bodyPr/>
                    <a:lstStyle/>
                    <a:p>
                      <a:pPr algn="ctr" fontAlgn="b">
                        <a:buNone/>
                      </a:pPr>
                      <a:r>
                        <a:rPr lang="en-US" sz="1200" u="none" strike="noStrike">
                          <a:effectLst/>
                        </a:rPr>
                        <a:t>D0_R1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84.65%</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75617912"/>
                  </a:ext>
                </a:extLst>
              </a:tr>
              <a:tr h="203200">
                <a:tc>
                  <a:txBody>
                    <a:bodyPr/>
                    <a:lstStyle/>
                    <a:p>
                      <a:pPr algn="ctr" fontAlgn="b">
                        <a:buNone/>
                      </a:pPr>
                      <a:r>
                        <a:rPr lang="en-US" sz="1200" u="none" strike="noStrike">
                          <a:effectLst/>
                        </a:rPr>
                        <a:t>D0_R2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86.06%</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11252452"/>
                  </a:ext>
                </a:extLst>
              </a:tr>
              <a:tr h="203200">
                <a:tc>
                  <a:txBody>
                    <a:bodyPr/>
                    <a:lstStyle/>
                    <a:p>
                      <a:pPr algn="ctr" fontAlgn="b">
                        <a:buNone/>
                      </a:pPr>
                      <a:r>
                        <a:rPr lang="en-US" sz="1200" u="none" strike="noStrike">
                          <a:effectLst/>
                        </a:rPr>
                        <a:t>D0_R3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84.39%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84871284"/>
                  </a:ext>
                </a:extLst>
              </a:tr>
              <a:tr h="203200">
                <a:tc>
                  <a:txBody>
                    <a:bodyPr/>
                    <a:lstStyle/>
                    <a:p>
                      <a:pPr algn="ctr" fontAlgn="b">
                        <a:buNone/>
                      </a:pPr>
                      <a:r>
                        <a:rPr lang="en-US" sz="1200" u="none" strike="noStrike">
                          <a:effectLst/>
                        </a:rPr>
                        <a:t>D7_R1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85.29%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04548614"/>
                  </a:ext>
                </a:extLst>
              </a:tr>
              <a:tr h="203200">
                <a:tc>
                  <a:txBody>
                    <a:bodyPr/>
                    <a:lstStyle/>
                    <a:p>
                      <a:pPr algn="ctr" fontAlgn="b">
                        <a:buNone/>
                      </a:pPr>
                      <a:r>
                        <a:rPr lang="en-US" sz="1200" u="none" strike="noStrike">
                          <a:effectLst/>
                        </a:rPr>
                        <a:t>D7_R2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85.59%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979677"/>
                  </a:ext>
                </a:extLst>
              </a:tr>
              <a:tr h="203200">
                <a:tc>
                  <a:txBody>
                    <a:bodyPr/>
                    <a:lstStyle/>
                    <a:p>
                      <a:pPr algn="ctr" fontAlgn="b">
                        <a:buNone/>
                      </a:pPr>
                      <a:r>
                        <a:rPr lang="en-US" sz="1200" u="none" strike="noStrike">
                          <a:effectLst/>
                        </a:rPr>
                        <a:t>D7_R3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81.25%</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2779054"/>
                  </a:ext>
                </a:extLst>
              </a:tr>
              <a:tr h="203200">
                <a:tc>
                  <a:txBody>
                    <a:bodyPr/>
                    <a:lstStyle/>
                    <a:p>
                      <a:pPr algn="ctr" fontAlgn="b">
                        <a:buNone/>
                      </a:pPr>
                      <a:r>
                        <a:rPr lang="en-US" sz="1200" u="none" strike="noStrike">
                          <a:effectLst/>
                        </a:rPr>
                        <a:t>D14_R1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84.81%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60283115"/>
                  </a:ext>
                </a:extLst>
              </a:tr>
              <a:tr h="203200">
                <a:tc>
                  <a:txBody>
                    <a:bodyPr/>
                    <a:lstStyle/>
                    <a:p>
                      <a:pPr algn="ctr" fontAlgn="b">
                        <a:buNone/>
                      </a:pPr>
                      <a:r>
                        <a:rPr lang="en-US" sz="1200" u="none" strike="noStrike">
                          <a:effectLst/>
                        </a:rPr>
                        <a:t>D14_R2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84.21%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96874646"/>
                  </a:ext>
                </a:extLst>
              </a:tr>
              <a:tr h="203200">
                <a:tc>
                  <a:txBody>
                    <a:bodyPr/>
                    <a:lstStyle/>
                    <a:p>
                      <a:pPr algn="ctr" fontAlgn="b">
                        <a:buNone/>
                      </a:pPr>
                      <a:r>
                        <a:rPr lang="en-US" sz="1200" u="none" strike="noStrike">
                          <a:effectLst/>
                        </a:rPr>
                        <a:t>D14_R3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dirty="0">
                          <a:effectLst/>
                        </a:rPr>
                        <a:t>84.65%</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39908669"/>
                  </a:ext>
                </a:extLst>
              </a:tr>
            </a:tbl>
          </a:graphicData>
        </a:graphic>
      </p:graphicFrame>
    </p:spTree>
    <p:extLst>
      <p:ext uri="{BB962C8B-B14F-4D97-AF65-F5344CB8AC3E}">
        <p14:creationId xmlns:p14="http://schemas.microsoft.com/office/powerpoint/2010/main" val="26205758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B3FE5495-E954-BFF9-4D44-C06D2F4D2911}"/>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1AAAB966-79EF-85F6-8641-45C85ED2B211}"/>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dirty="0"/>
              <a:t>Alignment check and red flags</a:t>
            </a:r>
            <a:endParaRPr dirty="0"/>
          </a:p>
        </p:txBody>
      </p:sp>
      <p:sp>
        <p:nvSpPr>
          <p:cNvPr id="3" name="TextBox 2">
            <a:extLst>
              <a:ext uri="{FF2B5EF4-FFF2-40B4-BE49-F238E27FC236}">
                <a16:creationId xmlns:a16="http://schemas.microsoft.com/office/drawing/2014/main" id="{D59C0030-20DF-586A-D726-158AE6D669F5}"/>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5" name="TextBox 4">
            <a:extLst>
              <a:ext uri="{FF2B5EF4-FFF2-40B4-BE49-F238E27FC236}">
                <a16:creationId xmlns:a16="http://schemas.microsoft.com/office/drawing/2014/main" id="{D18E9F90-F6DD-8774-4DE6-FC2141F95706}"/>
              </a:ext>
            </a:extLst>
          </p:cNvPr>
          <p:cNvSpPr txBox="1"/>
          <p:nvPr/>
        </p:nvSpPr>
        <p:spPr>
          <a:xfrm>
            <a:off x="414037" y="936382"/>
            <a:ext cx="6263313" cy="3970318"/>
          </a:xfrm>
          <a:prstGeom prst="rect">
            <a:avLst/>
          </a:prstGeom>
          <a:noFill/>
        </p:spPr>
        <p:txBody>
          <a:bodyPr wrap="square">
            <a:spAutoFit/>
          </a:bodyPr>
          <a:lstStyle/>
          <a:p>
            <a:pPr>
              <a:buNone/>
            </a:pPr>
            <a:r>
              <a:rPr lang="en-US" sz="1200" b="1" dirty="0"/>
              <a:t>Low overall mapping rate (&lt;70–75%)</a:t>
            </a:r>
            <a:r>
              <a:rPr lang="en-US" sz="1200" dirty="0"/>
              <a:t> The most important metric. Reads that don't map are invisible to all downstream analysis. Common causes:</a:t>
            </a:r>
          </a:p>
          <a:p>
            <a:pPr marL="171450" lvl="2" indent="-171450">
              <a:buFont typeface="Arial" panose="020B0604020202020204" pitchFamily="34" charset="0"/>
              <a:buChar char="•"/>
            </a:pPr>
            <a:r>
              <a:rPr lang="en-US" sz="1050" dirty="0"/>
              <a:t>Wrong reference genome or annotation </a:t>
            </a:r>
          </a:p>
          <a:p>
            <a:pPr marL="171450" lvl="2" indent="-171450">
              <a:buFont typeface="Arial" panose="020B0604020202020204" pitchFamily="34" charset="0"/>
              <a:buChar char="•"/>
            </a:pPr>
            <a:r>
              <a:rPr lang="en-US" sz="1050" dirty="0"/>
              <a:t>Heavy rRNA or adapter contamination</a:t>
            </a:r>
          </a:p>
          <a:p>
            <a:pPr marL="171450" lvl="1" indent="-171450">
              <a:buFont typeface="Arial" panose="020B0604020202020204" pitchFamily="34" charset="0"/>
              <a:buChar char="•"/>
            </a:pPr>
            <a:r>
              <a:rPr lang="en-US" sz="1050" dirty="0"/>
              <a:t>RNA degradation</a:t>
            </a:r>
          </a:p>
          <a:p>
            <a:pPr marL="171450" lvl="1" indent="-171450">
              <a:buFont typeface="Arial" panose="020B0604020202020204" pitchFamily="34" charset="0"/>
              <a:buChar char="•"/>
            </a:pPr>
            <a:r>
              <a:rPr lang="en-US" sz="1050" dirty="0"/>
              <a:t>Sequencing of a divergent strain with significant genomic differences from the reference</a:t>
            </a:r>
          </a:p>
          <a:p>
            <a:pPr lvl="1"/>
            <a:endParaRPr lang="en-US" sz="1200" dirty="0"/>
          </a:p>
          <a:p>
            <a:pPr>
              <a:buNone/>
            </a:pPr>
            <a:r>
              <a:rPr lang="en-US" sz="1200" b="1" dirty="0"/>
              <a:t>Very high multimapping rate</a:t>
            </a:r>
            <a:r>
              <a:rPr lang="en-US" sz="1200" dirty="0"/>
              <a:t> Reads mapping to many genomic locations equally well (repetitive elements or paralogous gene families)</a:t>
            </a:r>
          </a:p>
          <a:p>
            <a:pPr>
              <a:buNone/>
            </a:pPr>
            <a:endParaRPr lang="en-US" sz="1200" dirty="0"/>
          </a:p>
          <a:p>
            <a:r>
              <a:rPr lang="en-US" sz="1200" b="1" dirty="0">
                <a:solidFill>
                  <a:schemeClr val="bg1">
                    <a:lumMod val="85000"/>
                  </a:schemeClr>
                </a:solidFill>
              </a:rPr>
              <a:t>Uneven coverage across gene bodies</a:t>
            </a:r>
            <a:r>
              <a:rPr lang="en-US" sz="1200" dirty="0">
                <a:solidFill>
                  <a:schemeClr val="bg1">
                    <a:lumMod val="85000"/>
                  </a:schemeClr>
                </a:solidFill>
              </a:rPr>
              <a:t> - some genes are being undercounted</a:t>
            </a:r>
          </a:p>
          <a:p>
            <a:pPr marL="171450" lvl="2" indent="-171450">
              <a:buFont typeface="Arial" panose="020B0604020202020204" pitchFamily="34" charset="0"/>
              <a:buChar char="•"/>
            </a:pPr>
            <a:r>
              <a:rPr lang="en-US" sz="1050" dirty="0">
                <a:solidFill>
                  <a:schemeClr val="bg1">
                    <a:lumMod val="85000"/>
                  </a:schemeClr>
                </a:solidFill>
              </a:rPr>
              <a:t>3’ bias = RNA degradation (RNA degrades from the 5' end first). </a:t>
            </a:r>
          </a:p>
          <a:p>
            <a:pPr marL="171450" lvl="2" indent="-171450">
              <a:buFont typeface="Arial" panose="020B0604020202020204" pitchFamily="34" charset="0"/>
              <a:buChar char="•"/>
            </a:pPr>
            <a:r>
              <a:rPr lang="en-US" sz="1050" dirty="0">
                <a:solidFill>
                  <a:schemeClr val="bg1">
                    <a:lumMod val="85000"/>
                  </a:schemeClr>
                </a:solidFill>
              </a:rPr>
              <a:t>5' bias = problems library prep chemistry. Either pattern means </a:t>
            </a:r>
          </a:p>
          <a:p>
            <a:pPr lvl="2"/>
            <a:r>
              <a:rPr lang="en-US" sz="1050" dirty="0">
                <a:solidFill>
                  <a:schemeClr val="bg1">
                    <a:lumMod val="85000"/>
                  </a:schemeClr>
                </a:solidFill>
              </a:rPr>
              <a:t>(look at genes individually in IGV)</a:t>
            </a:r>
          </a:p>
          <a:p>
            <a:pPr lvl="2"/>
            <a:endParaRPr lang="en-US" sz="1200" b="1" dirty="0">
              <a:solidFill>
                <a:schemeClr val="bg1">
                  <a:lumMod val="85000"/>
                </a:schemeClr>
              </a:solidFill>
            </a:endParaRPr>
          </a:p>
          <a:p>
            <a:pPr lvl="2"/>
            <a:r>
              <a:rPr lang="en-US" sz="1200" b="1" dirty="0">
                <a:solidFill>
                  <a:schemeClr val="bg1">
                    <a:lumMod val="85000"/>
                  </a:schemeClr>
                </a:solidFill>
              </a:rPr>
              <a:t>Strand-specificity mismatch</a:t>
            </a:r>
            <a:r>
              <a:rPr lang="en-US" sz="1200" dirty="0">
                <a:solidFill>
                  <a:schemeClr val="bg1">
                    <a:lumMod val="85000"/>
                  </a:schemeClr>
                </a:solidFill>
              </a:rPr>
              <a:t> If the alignment parameters don't match how the library was actually prepared (stranded vs. </a:t>
            </a:r>
            <a:r>
              <a:rPr lang="en-US" sz="1200" dirty="0" err="1">
                <a:solidFill>
                  <a:schemeClr val="bg1">
                    <a:lumMod val="85000"/>
                  </a:schemeClr>
                </a:solidFill>
              </a:rPr>
              <a:t>unstranded</a:t>
            </a:r>
            <a:r>
              <a:rPr lang="en-US" sz="1200" dirty="0">
                <a:solidFill>
                  <a:schemeClr val="bg1">
                    <a:lumMod val="85000"/>
                  </a:schemeClr>
                </a:solidFill>
              </a:rPr>
              <a:t>), reads get assigned to the wrong gene or discarded. </a:t>
            </a:r>
            <a:r>
              <a:rPr lang="en-US" sz="1050" dirty="0">
                <a:solidFill>
                  <a:schemeClr val="bg1">
                    <a:lumMod val="85000"/>
                  </a:schemeClr>
                </a:solidFill>
              </a:rPr>
              <a:t>Ask your sequencers!, pick the STAR out for your sequencing parameters</a:t>
            </a:r>
            <a:endParaRPr lang="en-US" sz="1200" dirty="0">
              <a:solidFill>
                <a:schemeClr val="bg1">
                  <a:lumMod val="85000"/>
                </a:schemeClr>
              </a:solidFill>
            </a:endParaRPr>
          </a:p>
          <a:p>
            <a:pPr lvl="2"/>
            <a:endParaRPr lang="en-US" sz="1200" b="1" dirty="0">
              <a:solidFill>
                <a:schemeClr val="bg1">
                  <a:lumMod val="85000"/>
                </a:schemeClr>
              </a:solidFill>
            </a:endParaRPr>
          </a:p>
          <a:p>
            <a:pPr lvl="2"/>
            <a:r>
              <a:rPr lang="en-US" sz="1200" b="1" dirty="0">
                <a:solidFill>
                  <a:schemeClr val="bg1">
                    <a:lumMod val="85000"/>
                  </a:schemeClr>
                </a:solidFill>
              </a:rPr>
              <a:t>Inconsistent mapping rates across samples</a:t>
            </a:r>
            <a:r>
              <a:rPr lang="en-US" sz="1200" dirty="0">
                <a:solidFill>
                  <a:schemeClr val="bg1">
                    <a:lumMod val="85000"/>
                  </a:schemeClr>
                </a:solidFill>
              </a:rPr>
              <a:t> If one sample maps at 90% and another at 40%, they are not comparable. </a:t>
            </a:r>
            <a:r>
              <a:rPr lang="en-US" sz="1050" dirty="0">
                <a:solidFill>
                  <a:schemeClr val="bg1">
                    <a:lumMod val="85000"/>
                  </a:schemeClr>
                </a:solidFill>
              </a:rPr>
              <a:t>The low-quality sample may need to be excluded, which affects your statistical power and experimental design. (analysis)</a:t>
            </a:r>
            <a:endParaRPr lang="en-US" sz="1200" dirty="0">
              <a:solidFill>
                <a:schemeClr val="bg1">
                  <a:lumMod val="85000"/>
                </a:schemeClr>
              </a:solidFill>
            </a:endParaRPr>
          </a:p>
        </p:txBody>
      </p:sp>
      <p:graphicFrame>
        <p:nvGraphicFramePr>
          <p:cNvPr id="4" name="Table 3">
            <a:extLst>
              <a:ext uri="{FF2B5EF4-FFF2-40B4-BE49-F238E27FC236}">
                <a16:creationId xmlns:a16="http://schemas.microsoft.com/office/drawing/2014/main" id="{2D25F322-666E-607F-5A10-3F371D911C68}"/>
              </a:ext>
            </a:extLst>
          </p:cNvPr>
          <p:cNvGraphicFramePr>
            <a:graphicFrameLocks noGrp="1"/>
          </p:cNvGraphicFramePr>
          <p:nvPr>
            <p:extLst>
              <p:ext uri="{D42A27DB-BD31-4B8C-83A1-F6EECF244321}">
                <p14:modId xmlns:p14="http://schemas.microsoft.com/office/powerpoint/2010/main" val="596743783"/>
              </p:ext>
            </p:extLst>
          </p:nvPr>
        </p:nvGraphicFramePr>
        <p:xfrm>
          <a:off x="7159082" y="308167"/>
          <a:ext cx="1371600" cy="1828800"/>
        </p:xfrm>
        <a:graphic>
          <a:graphicData uri="http://schemas.openxmlformats.org/drawingml/2006/table">
            <a:tbl>
              <a:tblPr>
                <a:tableStyleId>{D1E8DE8F-3FD5-44BD-BD6F-004C10B1D515}</a:tableStyleId>
              </a:tblPr>
              <a:tblGrid>
                <a:gridCol w="826761">
                  <a:extLst>
                    <a:ext uri="{9D8B030D-6E8A-4147-A177-3AD203B41FA5}">
                      <a16:colId xmlns:a16="http://schemas.microsoft.com/office/drawing/2014/main" val="3970334090"/>
                    </a:ext>
                  </a:extLst>
                </a:gridCol>
                <a:gridCol w="544839">
                  <a:extLst>
                    <a:ext uri="{9D8B030D-6E8A-4147-A177-3AD203B41FA5}">
                      <a16:colId xmlns:a16="http://schemas.microsoft.com/office/drawing/2014/main" val="3519308625"/>
                    </a:ext>
                  </a:extLst>
                </a:gridCol>
              </a:tblGrid>
              <a:tr h="203200">
                <a:tc>
                  <a:txBody>
                    <a:bodyPr/>
                    <a:lstStyle/>
                    <a:p>
                      <a:pPr algn="ctr" fontAlgn="b">
                        <a:buNone/>
                      </a:pPr>
                      <a:r>
                        <a:rPr lang="en-US" sz="1200" u="none" strike="noStrike">
                          <a:effectLst/>
                        </a:rPr>
                        <a:t>D0_R1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84.65%</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75617912"/>
                  </a:ext>
                </a:extLst>
              </a:tr>
              <a:tr h="203200">
                <a:tc>
                  <a:txBody>
                    <a:bodyPr/>
                    <a:lstStyle/>
                    <a:p>
                      <a:pPr algn="ctr" fontAlgn="b">
                        <a:buNone/>
                      </a:pPr>
                      <a:r>
                        <a:rPr lang="en-US" sz="1200" u="none" strike="noStrike">
                          <a:effectLst/>
                        </a:rPr>
                        <a:t>D0_R2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86.06%</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11252452"/>
                  </a:ext>
                </a:extLst>
              </a:tr>
              <a:tr h="203200">
                <a:tc>
                  <a:txBody>
                    <a:bodyPr/>
                    <a:lstStyle/>
                    <a:p>
                      <a:pPr algn="ctr" fontAlgn="b">
                        <a:buNone/>
                      </a:pPr>
                      <a:r>
                        <a:rPr lang="en-US" sz="1200" u="none" strike="noStrike">
                          <a:effectLst/>
                        </a:rPr>
                        <a:t>D0_R3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84.39%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84871284"/>
                  </a:ext>
                </a:extLst>
              </a:tr>
              <a:tr h="203200">
                <a:tc>
                  <a:txBody>
                    <a:bodyPr/>
                    <a:lstStyle/>
                    <a:p>
                      <a:pPr algn="ctr" fontAlgn="b">
                        <a:buNone/>
                      </a:pPr>
                      <a:r>
                        <a:rPr lang="en-US" sz="1200" u="none" strike="noStrike">
                          <a:effectLst/>
                        </a:rPr>
                        <a:t>D7_R1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85.29%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04548614"/>
                  </a:ext>
                </a:extLst>
              </a:tr>
              <a:tr h="203200">
                <a:tc>
                  <a:txBody>
                    <a:bodyPr/>
                    <a:lstStyle/>
                    <a:p>
                      <a:pPr algn="ctr" fontAlgn="b">
                        <a:buNone/>
                      </a:pPr>
                      <a:r>
                        <a:rPr lang="en-US" sz="1200" u="none" strike="noStrike">
                          <a:effectLst/>
                        </a:rPr>
                        <a:t>D7_R2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85.59%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979677"/>
                  </a:ext>
                </a:extLst>
              </a:tr>
              <a:tr h="203200">
                <a:tc>
                  <a:txBody>
                    <a:bodyPr/>
                    <a:lstStyle/>
                    <a:p>
                      <a:pPr algn="ctr" fontAlgn="b">
                        <a:buNone/>
                      </a:pPr>
                      <a:r>
                        <a:rPr lang="en-US" sz="1200" u="none" strike="noStrike">
                          <a:effectLst/>
                        </a:rPr>
                        <a:t>D7_R3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81.25%</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2779054"/>
                  </a:ext>
                </a:extLst>
              </a:tr>
              <a:tr h="203200">
                <a:tc>
                  <a:txBody>
                    <a:bodyPr/>
                    <a:lstStyle/>
                    <a:p>
                      <a:pPr algn="ctr" fontAlgn="b">
                        <a:buNone/>
                      </a:pPr>
                      <a:r>
                        <a:rPr lang="en-US" sz="1200" u="none" strike="noStrike">
                          <a:effectLst/>
                        </a:rPr>
                        <a:t>D14_R1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84.81%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60283115"/>
                  </a:ext>
                </a:extLst>
              </a:tr>
              <a:tr h="203200">
                <a:tc>
                  <a:txBody>
                    <a:bodyPr/>
                    <a:lstStyle/>
                    <a:p>
                      <a:pPr algn="ctr" fontAlgn="b">
                        <a:buNone/>
                      </a:pPr>
                      <a:r>
                        <a:rPr lang="en-US" sz="1200" u="none" strike="noStrike">
                          <a:effectLst/>
                        </a:rPr>
                        <a:t>D14_R2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84.21%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96874646"/>
                  </a:ext>
                </a:extLst>
              </a:tr>
              <a:tr h="203200">
                <a:tc>
                  <a:txBody>
                    <a:bodyPr/>
                    <a:lstStyle/>
                    <a:p>
                      <a:pPr algn="ctr" fontAlgn="b">
                        <a:buNone/>
                      </a:pPr>
                      <a:r>
                        <a:rPr lang="en-US" sz="1200" u="none" strike="noStrike">
                          <a:effectLst/>
                        </a:rPr>
                        <a:t>D14_R3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dirty="0">
                          <a:effectLst/>
                        </a:rPr>
                        <a:t>84.65%</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39908669"/>
                  </a:ext>
                </a:extLst>
              </a:tr>
            </a:tbl>
          </a:graphicData>
        </a:graphic>
      </p:graphicFrame>
    </p:spTree>
    <p:extLst>
      <p:ext uri="{BB962C8B-B14F-4D97-AF65-F5344CB8AC3E}">
        <p14:creationId xmlns:p14="http://schemas.microsoft.com/office/powerpoint/2010/main" val="17303847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AD3C66E4-66B9-5A8A-D3BB-B29A3665151E}"/>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FF8DF097-D26E-2D0D-2711-92A74CBCB2EC}"/>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dirty="0"/>
              <a:t>Alignment check and red flags</a:t>
            </a:r>
            <a:endParaRPr dirty="0"/>
          </a:p>
        </p:txBody>
      </p:sp>
      <p:sp>
        <p:nvSpPr>
          <p:cNvPr id="3" name="TextBox 2">
            <a:extLst>
              <a:ext uri="{FF2B5EF4-FFF2-40B4-BE49-F238E27FC236}">
                <a16:creationId xmlns:a16="http://schemas.microsoft.com/office/drawing/2014/main" id="{BD3477B4-77A0-ACC2-1B28-296344B9F3E2}"/>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graphicFrame>
        <p:nvGraphicFramePr>
          <p:cNvPr id="4" name="Table 3">
            <a:extLst>
              <a:ext uri="{FF2B5EF4-FFF2-40B4-BE49-F238E27FC236}">
                <a16:creationId xmlns:a16="http://schemas.microsoft.com/office/drawing/2014/main" id="{886F095C-EF17-EC9E-0093-1D3CB1915AE3}"/>
              </a:ext>
            </a:extLst>
          </p:cNvPr>
          <p:cNvGraphicFramePr>
            <a:graphicFrameLocks noGrp="1"/>
          </p:cNvGraphicFramePr>
          <p:nvPr/>
        </p:nvGraphicFramePr>
        <p:xfrm>
          <a:off x="7159082" y="308167"/>
          <a:ext cx="1371600" cy="1828800"/>
        </p:xfrm>
        <a:graphic>
          <a:graphicData uri="http://schemas.openxmlformats.org/drawingml/2006/table">
            <a:tbl>
              <a:tblPr>
                <a:tableStyleId>{D1E8DE8F-3FD5-44BD-BD6F-004C10B1D515}</a:tableStyleId>
              </a:tblPr>
              <a:tblGrid>
                <a:gridCol w="826761">
                  <a:extLst>
                    <a:ext uri="{9D8B030D-6E8A-4147-A177-3AD203B41FA5}">
                      <a16:colId xmlns:a16="http://schemas.microsoft.com/office/drawing/2014/main" val="3970334090"/>
                    </a:ext>
                  </a:extLst>
                </a:gridCol>
                <a:gridCol w="544839">
                  <a:extLst>
                    <a:ext uri="{9D8B030D-6E8A-4147-A177-3AD203B41FA5}">
                      <a16:colId xmlns:a16="http://schemas.microsoft.com/office/drawing/2014/main" val="3519308625"/>
                    </a:ext>
                  </a:extLst>
                </a:gridCol>
              </a:tblGrid>
              <a:tr h="203200">
                <a:tc>
                  <a:txBody>
                    <a:bodyPr/>
                    <a:lstStyle/>
                    <a:p>
                      <a:pPr algn="ctr" fontAlgn="b">
                        <a:buNone/>
                      </a:pPr>
                      <a:r>
                        <a:rPr lang="en-US" sz="1200" u="none" strike="noStrike">
                          <a:effectLst/>
                        </a:rPr>
                        <a:t>D0_R1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84.65%</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75617912"/>
                  </a:ext>
                </a:extLst>
              </a:tr>
              <a:tr h="203200">
                <a:tc>
                  <a:txBody>
                    <a:bodyPr/>
                    <a:lstStyle/>
                    <a:p>
                      <a:pPr algn="ctr" fontAlgn="b">
                        <a:buNone/>
                      </a:pPr>
                      <a:r>
                        <a:rPr lang="en-US" sz="1200" u="none" strike="noStrike">
                          <a:effectLst/>
                        </a:rPr>
                        <a:t>D0_R2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86.06%</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11252452"/>
                  </a:ext>
                </a:extLst>
              </a:tr>
              <a:tr h="203200">
                <a:tc>
                  <a:txBody>
                    <a:bodyPr/>
                    <a:lstStyle/>
                    <a:p>
                      <a:pPr algn="ctr" fontAlgn="b">
                        <a:buNone/>
                      </a:pPr>
                      <a:r>
                        <a:rPr lang="en-US" sz="1200" u="none" strike="noStrike">
                          <a:effectLst/>
                        </a:rPr>
                        <a:t>D0_R3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84.39%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84871284"/>
                  </a:ext>
                </a:extLst>
              </a:tr>
              <a:tr h="203200">
                <a:tc>
                  <a:txBody>
                    <a:bodyPr/>
                    <a:lstStyle/>
                    <a:p>
                      <a:pPr algn="ctr" fontAlgn="b">
                        <a:buNone/>
                      </a:pPr>
                      <a:r>
                        <a:rPr lang="en-US" sz="1200" u="none" strike="noStrike">
                          <a:effectLst/>
                        </a:rPr>
                        <a:t>D7_R1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85.29%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04548614"/>
                  </a:ext>
                </a:extLst>
              </a:tr>
              <a:tr h="203200">
                <a:tc>
                  <a:txBody>
                    <a:bodyPr/>
                    <a:lstStyle/>
                    <a:p>
                      <a:pPr algn="ctr" fontAlgn="b">
                        <a:buNone/>
                      </a:pPr>
                      <a:r>
                        <a:rPr lang="en-US" sz="1200" u="none" strike="noStrike">
                          <a:effectLst/>
                        </a:rPr>
                        <a:t>D7_R2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85.59%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979677"/>
                  </a:ext>
                </a:extLst>
              </a:tr>
              <a:tr h="203200">
                <a:tc>
                  <a:txBody>
                    <a:bodyPr/>
                    <a:lstStyle/>
                    <a:p>
                      <a:pPr algn="ctr" fontAlgn="b">
                        <a:buNone/>
                      </a:pPr>
                      <a:r>
                        <a:rPr lang="en-US" sz="1200" u="none" strike="noStrike">
                          <a:effectLst/>
                        </a:rPr>
                        <a:t>D7_R3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81.25%</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2779054"/>
                  </a:ext>
                </a:extLst>
              </a:tr>
              <a:tr h="203200">
                <a:tc>
                  <a:txBody>
                    <a:bodyPr/>
                    <a:lstStyle/>
                    <a:p>
                      <a:pPr algn="ctr" fontAlgn="b">
                        <a:buNone/>
                      </a:pPr>
                      <a:r>
                        <a:rPr lang="en-US" sz="1200" u="none" strike="noStrike">
                          <a:effectLst/>
                        </a:rPr>
                        <a:t>D14_R1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84.81%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60283115"/>
                  </a:ext>
                </a:extLst>
              </a:tr>
              <a:tr h="203200">
                <a:tc>
                  <a:txBody>
                    <a:bodyPr/>
                    <a:lstStyle/>
                    <a:p>
                      <a:pPr algn="ctr" fontAlgn="b">
                        <a:buNone/>
                      </a:pPr>
                      <a:r>
                        <a:rPr lang="en-US" sz="1200" u="none" strike="noStrike">
                          <a:effectLst/>
                        </a:rPr>
                        <a:t>D14_R2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84.21%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96874646"/>
                  </a:ext>
                </a:extLst>
              </a:tr>
              <a:tr h="203200">
                <a:tc>
                  <a:txBody>
                    <a:bodyPr/>
                    <a:lstStyle/>
                    <a:p>
                      <a:pPr algn="ctr" fontAlgn="b">
                        <a:buNone/>
                      </a:pPr>
                      <a:r>
                        <a:rPr lang="en-US" sz="1200" u="none" strike="noStrike">
                          <a:effectLst/>
                        </a:rPr>
                        <a:t>D14_R3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dirty="0">
                          <a:effectLst/>
                        </a:rPr>
                        <a:t>84.65%</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39908669"/>
                  </a:ext>
                </a:extLst>
              </a:tr>
            </a:tbl>
          </a:graphicData>
        </a:graphic>
      </p:graphicFrame>
      <p:pic>
        <p:nvPicPr>
          <p:cNvPr id="2" name="Picture 1">
            <a:extLst>
              <a:ext uri="{FF2B5EF4-FFF2-40B4-BE49-F238E27FC236}">
                <a16:creationId xmlns:a16="http://schemas.microsoft.com/office/drawing/2014/main" id="{BEE0AF18-FA34-5298-290F-7C1E3F1E13CC}"/>
              </a:ext>
            </a:extLst>
          </p:cNvPr>
          <p:cNvPicPr>
            <a:picLocks noChangeAspect="1"/>
          </p:cNvPicPr>
          <p:nvPr/>
        </p:nvPicPr>
        <p:blipFill>
          <a:blip r:embed="rId3"/>
          <a:stretch>
            <a:fillRect/>
          </a:stretch>
        </p:blipFill>
        <p:spPr>
          <a:xfrm>
            <a:off x="854746" y="947775"/>
            <a:ext cx="4014474" cy="3899025"/>
          </a:xfrm>
          <a:prstGeom prst="rect">
            <a:avLst/>
          </a:prstGeom>
        </p:spPr>
      </p:pic>
      <p:sp>
        <p:nvSpPr>
          <p:cNvPr id="6" name="Oval 5">
            <a:extLst>
              <a:ext uri="{FF2B5EF4-FFF2-40B4-BE49-F238E27FC236}">
                <a16:creationId xmlns:a16="http://schemas.microsoft.com/office/drawing/2014/main" id="{16B68088-BBEE-150D-A3CE-4E017741F7D7}"/>
              </a:ext>
            </a:extLst>
          </p:cNvPr>
          <p:cNvSpPr/>
          <p:nvPr/>
        </p:nvSpPr>
        <p:spPr>
          <a:xfrm>
            <a:off x="1016991" y="3525624"/>
            <a:ext cx="2975146" cy="221185"/>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83E4471-B3AC-AC1C-A24C-09A55E5EAE82}"/>
              </a:ext>
            </a:extLst>
          </p:cNvPr>
          <p:cNvSpPr txBox="1"/>
          <p:nvPr/>
        </p:nvSpPr>
        <p:spPr>
          <a:xfrm>
            <a:off x="4081806" y="3456878"/>
            <a:ext cx="2063385" cy="307777"/>
          </a:xfrm>
          <a:prstGeom prst="rect">
            <a:avLst/>
          </a:prstGeom>
          <a:noFill/>
        </p:spPr>
        <p:txBody>
          <a:bodyPr wrap="none" rtlCol="0">
            <a:spAutoFit/>
          </a:bodyPr>
          <a:lstStyle/>
          <a:p>
            <a:r>
              <a:rPr lang="en-US" dirty="0"/>
              <a:t>10 or more loci that the </a:t>
            </a:r>
          </a:p>
        </p:txBody>
      </p:sp>
      <p:sp>
        <p:nvSpPr>
          <p:cNvPr id="8" name="Oval 7">
            <a:extLst>
              <a:ext uri="{FF2B5EF4-FFF2-40B4-BE49-F238E27FC236}">
                <a16:creationId xmlns:a16="http://schemas.microsoft.com/office/drawing/2014/main" id="{5B8D34E0-8005-BEDE-63C8-102C8C3CEFC1}"/>
              </a:ext>
            </a:extLst>
          </p:cNvPr>
          <p:cNvSpPr/>
          <p:nvPr/>
        </p:nvSpPr>
        <p:spPr>
          <a:xfrm>
            <a:off x="1061826" y="3304439"/>
            <a:ext cx="2975146" cy="221185"/>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58D5000-B4E6-5F71-4B64-D64FE55CD469}"/>
              </a:ext>
            </a:extLst>
          </p:cNvPr>
          <p:cNvSpPr txBox="1"/>
          <p:nvPr/>
        </p:nvSpPr>
        <p:spPr>
          <a:xfrm>
            <a:off x="4244052" y="3217847"/>
            <a:ext cx="3182281" cy="307777"/>
          </a:xfrm>
          <a:prstGeom prst="rect">
            <a:avLst/>
          </a:prstGeom>
          <a:noFill/>
        </p:spPr>
        <p:txBody>
          <a:bodyPr wrap="none" rtlCol="0">
            <a:spAutoFit/>
          </a:bodyPr>
          <a:lstStyle/>
          <a:p>
            <a:r>
              <a:rPr lang="en-US" dirty="0"/>
              <a:t>Number of reads mapped to 1&lt;10 loci</a:t>
            </a:r>
          </a:p>
        </p:txBody>
      </p:sp>
      <p:sp>
        <p:nvSpPr>
          <p:cNvPr id="10" name="Oval 9">
            <a:extLst>
              <a:ext uri="{FF2B5EF4-FFF2-40B4-BE49-F238E27FC236}">
                <a16:creationId xmlns:a16="http://schemas.microsoft.com/office/drawing/2014/main" id="{CAE642A6-E8F6-D162-F46B-5FC3717CB709}"/>
              </a:ext>
            </a:extLst>
          </p:cNvPr>
          <p:cNvSpPr/>
          <p:nvPr/>
        </p:nvSpPr>
        <p:spPr>
          <a:xfrm>
            <a:off x="1268906" y="4146549"/>
            <a:ext cx="2975146" cy="221185"/>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FA9EE1D-CAC7-78A0-D384-00867177AF93}"/>
              </a:ext>
            </a:extLst>
          </p:cNvPr>
          <p:cNvSpPr txBox="1"/>
          <p:nvPr/>
        </p:nvSpPr>
        <p:spPr>
          <a:xfrm>
            <a:off x="4251687" y="4059957"/>
            <a:ext cx="1518364" cy="307777"/>
          </a:xfrm>
          <a:prstGeom prst="rect">
            <a:avLst/>
          </a:prstGeom>
          <a:noFill/>
        </p:spPr>
        <p:txBody>
          <a:bodyPr wrap="none" rtlCol="0">
            <a:spAutoFit/>
          </a:bodyPr>
          <a:lstStyle/>
          <a:p>
            <a:r>
              <a:rPr lang="en-US" dirty="0"/>
              <a:t>Partially mapped</a:t>
            </a:r>
          </a:p>
        </p:txBody>
      </p:sp>
    </p:spTree>
    <p:extLst>
      <p:ext uri="{BB962C8B-B14F-4D97-AF65-F5344CB8AC3E}">
        <p14:creationId xmlns:p14="http://schemas.microsoft.com/office/powerpoint/2010/main" val="36098980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ADFF734B-75D1-226A-C9C5-37B1B5172957}"/>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8CF9F1B8-E785-B6D4-E68B-2B4FED96251A}"/>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dirty="0"/>
              <a:t>Alignment check and red flags</a:t>
            </a:r>
            <a:endParaRPr dirty="0"/>
          </a:p>
        </p:txBody>
      </p:sp>
      <p:sp>
        <p:nvSpPr>
          <p:cNvPr id="3" name="TextBox 2">
            <a:extLst>
              <a:ext uri="{FF2B5EF4-FFF2-40B4-BE49-F238E27FC236}">
                <a16:creationId xmlns:a16="http://schemas.microsoft.com/office/drawing/2014/main" id="{84831471-BBDF-5D5C-1E33-4077A25A2E9C}"/>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pic>
        <p:nvPicPr>
          <p:cNvPr id="7170" name="Picture 2" descr="How to Get Started Using IGV">
            <a:extLst>
              <a:ext uri="{FF2B5EF4-FFF2-40B4-BE49-F238E27FC236}">
                <a16:creationId xmlns:a16="http://schemas.microsoft.com/office/drawing/2014/main" id="{0634DFAE-3CC8-F49A-F68E-C91AB59856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0512" y="999791"/>
            <a:ext cx="4554255" cy="2855222"/>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Genome Browser - CRCD User Manual">
            <a:extLst>
              <a:ext uri="{FF2B5EF4-FFF2-40B4-BE49-F238E27FC236}">
                <a16:creationId xmlns:a16="http://schemas.microsoft.com/office/drawing/2014/main" id="{3FAED171-4C82-1972-5993-B76E073440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2321" y="2772347"/>
            <a:ext cx="3914037" cy="2280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63535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02B4F42C-58E8-CA02-9F00-20739DA808E1}"/>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924C9D79-02C8-B1FF-A092-5CBB7CE7E774}"/>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dirty="0"/>
              <a:t>Alignment check and red flags</a:t>
            </a:r>
            <a:endParaRPr dirty="0"/>
          </a:p>
        </p:txBody>
      </p:sp>
      <p:sp>
        <p:nvSpPr>
          <p:cNvPr id="3" name="TextBox 2">
            <a:extLst>
              <a:ext uri="{FF2B5EF4-FFF2-40B4-BE49-F238E27FC236}">
                <a16:creationId xmlns:a16="http://schemas.microsoft.com/office/drawing/2014/main" id="{F2A95C25-0482-646D-9406-3B76070E7723}"/>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5" name="TextBox 4">
            <a:extLst>
              <a:ext uri="{FF2B5EF4-FFF2-40B4-BE49-F238E27FC236}">
                <a16:creationId xmlns:a16="http://schemas.microsoft.com/office/drawing/2014/main" id="{5ECFF41D-DE47-44AE-D1FA-DEB2093D5068}"/>
              </a:ext>
            </a:extLst>
          </p:cNvPr>
          <p:cNvSpPr txBox="1"/>
          <p:nvPr/>
        </p:nvSpPr>
        <p:spPr>
          <a:xfrm>
            <a:off x="414037" y="936382"/>
            <a:ext cx="6263313" cy="3970318"/>
          </a:xfrm>
          <a:prstGeom prst="rect">
            <a:avLst/>
          </a:prstGeom>
          <a:noFill/>
        </p:spPr>
        <p:txBody>
          <a:bodyPr wrap="square">
            <a:spAutoFit/>
          </a:bodyPr>
          <a:lstStyle/>
          <a:p>
            <a:pPr>
              <a:buNone/>
            </a:pPr>
            <a:r>
              <a:rPr lang="en-US" sz="1200" b="1" dirty="0"/>
              <a:t>Low overall mapping rate (&lt;70–75%)</a:t>
            </a:r>
            <a:r>
              <a:rPr lang="en-US" sz="1200" dirty="0"/>
              <a:t> The most important metric. Reads that don't map are invisible to all downstream analysis. Common causes:</a:t>
            </a:r>
          </a:p>
          <a:p>
            <a:pPr marL="171450" lvl="2" indent="-171450">
              <a:buFont typeface="Arial" panose="020B0604020202020204" pitchFamily="34" charset="0"/>
              <a:buChar char="•"/>
            </a:pPr>
            <a:r>
              <a:rPr lang="en-US" sz="1050" dirty="0"/>
              <a:t>Wrong reference genome or annotation </a:t>
            </a:r>
          </a:p>
          <a:p>
            <a:pPr marL="171450" lvl="2" indent="-171450">
              <a:buFont typeface="Arial" panose="020B0604020202020204" pitchFamily="34" charset="0"/>
              <a:buChar char="•"/>
            </a:pPr>
            <a:r>
              <a:rPr lang="en-US" sz="1050" dirty="0"/>
              <a:t>Heavy rRNA or adapter contamination</a:t>
            </a:r>
          </a:p>
          <a:p>
            <a:pPr marL="171450" lvl="1" indent="-171450">
              <a:buFont typeface="Arial" panose="020B0604020202020204" pitchFamily="34" charset="0"/>
              <a:buChar char="•"/>
            </a:pPr>
            <a:r>
              <a:rPr lang="en-US" sz="1050" dirty="0"/>
              <a:t>RNA degradation</a:t>
            </a:r>
          </a:p>
          <a:p>
            <a:pPr marL="171450" lvl="1" indent="-171450">
              <a:buFont typeface="Arial" panose="020B0604020202020204" pitchFamily="34" charset="0"/>
              <a:buChar char="•"/>
            </a:pPr>
            <a:r>
              <a:rPr lang="en-US" sz="1050" dirty="0"/>
              <a:t>Sequencing of a divergent strain with significant genomic differences from the reference</a:t>
            </a:r>
          </a:p>
          <a:p>
            <a:pPr lvl="1"/>
            <a:endParaRPr lang="en-US" sz="1200" dirty="0"/>
          </a:p>
          <a:p>
            <a:pPr>
              <a:buNone/>
            </a:pPr>
            <a:r>
              <a:rPr lang="en-US" sz="1200" b="1" dirty="0"/>
              <a:t>Very high multimapping rate</a:t>
            </a:r>
            <a:r>
              <a:rPr lang="en-US" sz="1200" dirty="0"/>
              <a:t> Reads mapping to many genomic locations equally well (repetitive elements or paralogous gene families)</a:t>
            </a:r>
          </a:p>
          <a:p>
            <a:pPr>
              <a:buNone/>
            </a:pPr>
            <a:endParaRPr lang="en-US" sz="1200" dirty="0"/>
          </a:p>
          <a:p>
            <a:r>
              <a:rPr lang="en-US" sz="1200" b="1" dirty="0"/>
              <a:t>Uneven coverage across gene bodies</a:t>
            </a:r>
            <a:r>
              <a:rPr lang="en-US" sz="1200" dirty="0"/>
              <a:t> - some genes are being undercounted</a:t>
            </a:r>
          </a:p>
          <a:p>
            <a:pPr marL="171450" lvl="2" indent="-171450">
              <a:buFont typeface="Arial" panose="020B0604020202020204" pitchFamily="34" charset="0"/>
              <a:buChar char="•"/>
            </a:pPr>
            <a:r>
              <a:rPr lang="en-US" sz="1050" dirty="0"/>
              <a:t>3’ bias = RNA degradation (RNA degrades from the 5' end first). </a:t>
            </a:r>
          </a:p>
          <a:p>
            <a:pPr marL="171450" lvl="2" indent="-171450">
              <a:buFont typeface="Arial" panose="020B0604020202020204" pitchFamily="34" charset="0"/>
              <a:buChar char="•"/>
            </a:pPr>
            <a:r>
              <a:rPr lang="en-US" sz="1050" dirty="0"/>
              <a:t>5' bias = problems library prep chemistry. Either pattern means </a:t>
            </a:r>
          </a:p>
          <a:p>
            <a:pPr lvl="2"/>
            <a:r>
              <a:rPr lang="en-US" sz="1050" dirty="0"/>
              <a:t>(look at genes individually in IGV)</a:t>
            </a:r>
          </a:p>
          <a:p>
            <a:pPr lvl="2"/>
            <a:endParaRPr lang="en-US" sz="1200" b="1" dirty="0"/>
          </a:p>
          <a:p>
            <a:pPr lvl="2"/>
            <a:r>
              <a:rPr lang="en-US" sz="1200" b="1" dirty="0"/>
              <a:t>Strand-specificity mismatch</a:t>
            </a:r>
            <a:r>
              <a:rPr lang="en-US" sz="1200" dirty="0"/>
              <a:t> If the alignment parameters don't match how the library was actually prepared (stranded vs. </a:t>
            </a:r>
            <a:r>
              <a:rPr lang="en-US" sz="1200" dirty="0" err="1"/>
              <a:t>unstranded</a:t>
            </a:r>
            <a:r>
              <a:rPr lang="en-US" sz="1200" dirty="0"/>
              <a:t>), reads get assigned to the wrong gene or discarded. </a:t>
            </a:r>
            <a:r>
              <a:rPr lang="en-US" sz="1050" dirty="0">
                <a:solidFill>
                  <a:srgbClr val="FF0000"/>
                </a:solidFill>
              </a:rPr>
              <a:t>Ask your sequencers!, pick the STAR out for your sequencing parameters</a:t>
            </a:r>
            <a:endParaRPr lang="en-US" sz="1200" dirty="0">
              <a:solidFill>
                <a:srgbClr val="FF0000"/>
              </a:solidFill>
            </a:endParaRPr>
          </a:p>
          <a:p>
            <a:pPr lvl="2"/>
            <a:endParaRPr lang="en-US" sz="1200" b="1" dirty="0"/>
          </a:p>
          <a:p>
            <a:pPr lvl="2"/>
            <a:r>
              <a:rPr lang="en-US" sz="1200" b="1" dirty="0"/>
              <a:t>Inconsistent mapping rates across samples</a:t>
            </a:r>
            <a:r>
              <a:rPr lang="en-US" sz="1200" dirty="0"/>
              <a:t> If one sample maps at 90% and another at 40%, they are not comparable. </a:t>
            </a:r>
            <a:r>
              <a:rPr lang="en-US" sz="1050" dirty="0"/>
              <a:t>The low-quality sample may need to be excluded, which affects your statistical power and experimental design. </a:t>
            </a:r>
            <a:r>
              <a:rPr lang="en-US" sz="1050" dirty="0">
                <a:solidFill>
                  <a:srgbClr val="FF0000"/>
                </a:solidFill>
              </a:rPr>
              <a:t>(analysis)</a:t>
            </a:r>
            <a:endParaRPr lang="en-US" sz="1200" dirty="0">
              <a:solidFill>
                <a:srgbClr val="FF0000"/>
              </a:solidFill>
            </a:endParaRPr>
          </a:p>
        </p:txBody>
      </p:sp>
      <p:graphicFrame>
        <p:nvGraphicFramePr>
          <p:cNvPr id="4" name="Table 3">
            <a:extLst>
              <a:ext uri="{FF2B5EF4-FFF2-40B4-BE49-F238E27FC236}">
                <a16:creationId xmlns:a16="http://schemas.microsoft.com/office/drawing/2014/main" id="{DEAE7972-0C3D-911A-52AE-50E79A9050E0}"/>
              </a:ext>
            </a:extLst>
          </p:cNvPr>
          <p:cNvGraphicFramePr>
            <a:graphicFrameLocks noGrp="1"/>
          </p:cNvGraphicFramePr>
          <p:nvPr/>
        </p:nvGraphicFramePr>
        <p:xfrm>
          <a:off x="7159082" y="308167"/>
          <a:ext cx="1371600" cy="1828800"/>
        </p:xfrm>
        <a:graphic>
          <a:graphicData uri="http://schemas.openxmlformats.org/drawingml/2006/table">
            <a:tbl>
              <a:tblPr>
                <a:tableStyleId>{D1E8DE8F-3FD5-44BD-BD6F-004C10B1D515}</a:tableStyleId>
              </a:tblPr>
              <a:tblGrid>
                <a:gridCol w="826761">
                  <a:extLst>
                    <a:ext uri="{9D8B030D-6E8A-4147-A177-3AD203B41FA5}">
                      <a16:colId xmlns:a16="http://schemas.microsoft.com/office/drawing/2014/main" val="3970334090"/>
                    </a:ext>
                  </a:extLst>
                </a:gridCol>
                <a:gridCol w="544839">
                  <a:extLst>
                    <a:ext uri="{9D8B030D-6E8A-4147-A177-3AD203B41FA5}">
                      <a16:colId xmlns:a16="http://schemas.microsoft.com/office/drawing/2014/main" val="3519308625"/>
                    </a:ext>
                  </a:extLst>
                </a:gridCol>
              </a:tblGrid>
              <a:tr h="203200">
                <a:tc>
                  <a:txBody>
                    <a:bodyPr/>
                    <a:lstStyle/>
                    <a:p>
                      <a:pPr algn="ctr" fontAlgn="b">
                        <a:buNone/>
                      </a:pPr>
                      <a:r>
                        <a:rPr lang="en-US" sz="1200" u="none" strike="noStrike">
                          <a:effectLst/>
                        </a:rPr>
                        <a:t>D0_R1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84.65%</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75617912"/>
                  </a:ext>
                </a:extLst>
              </a:tr>
              <a:tr h="203200">
                <a:tc>
                  <a:txBody>
                    <a:bodyPr/>
                    <a:lstStyle/>
                    <a:p>
                      <a:pPr algn="ctr" fontAlgn="b">
                        <a:buNone/>
                      </a:pPr>
                      <a:r>
                        <a:rPr lang="en-US" sz="1200" u="none" strike="noStrike">
                          <a:effectLst/>
                        </a:rPr>
                        <a:t>D0_R2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86.06%</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11252452"/>
                  </a:ext>
                </a:extLst>
              </a:tr>
              <a:tr h="203200">
                <a:tc>
                  <a:txBody>
                    <a:bodyPr/>
                    <a:lstStyle/>
                    <a:p>
                      <a:pPr algn="ctr" fontAlgn="b">
                        <a:buNone/>
                      </a:pPr>
                      <a:r>
                        <a:rPr lang="en-US" sz="1200" u="none" strike="noStrike">
                          <a:effectLst/>
                        </a:rPr>
                        <a:t>D0_R3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84.39%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84871284"/>
                  </a:ext>
                </a:extLst>
              </a:tr>
              <a:tr h="203200">
                <a:tc>
                  <a:txBody>
                    <a:bodyPr/>
                    <a:lstStyle/>
                    <a:p>
                      <a:pPr algn="ctr" fontAlgn="b">
                        <a:buNone/>
                      </a:pPr>
                      <a:r>
                        <a:rPr lang="en-US" sz="1200" u="none" strike="noStrike">
                          <a:effectLst/>
                        </a:rPr>
                        <a:t>D7_R1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85.29%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04548614"/>
                  </a:ext>
                </a:extLst>
              </a:tr>
              <a:tr h="203200">
                <a:tc>
                  <a:txBody>
                    <a:bodyPr/>
                    <a:lstStyle/>
                    <a:p>
                      <a:pPr algn="ctr" fontAlgn="b">
                        <a:buNone/>
                      </a:pPr>
                      <a:r>
                        <a:rPr lang="en-US" sz="1200" u="none" strike="noStrike">
                          <a:effectLst/>
                        </a:rPr>
                        <a:t>D7_R2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85.59%</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979677"/>
                  </a:ext>
                </a:extLst>
              </a:tr>
              <a:tr h="203200">
                <a:tc>
                  <a:txBody>
                    <a:bodyPr/>
                    <a:lstStyle/>
                    <a:p>
                      <a:pPr algn="ctr" fontAlgn="b">
                        <a:buNone/>
                      </a:pPr>
                      <a:r>
                        <a:rPr lang="en-US" sz="1200" u="none" strike="noStrike">
                          <a:effectLst/>
                        </a:rPr>
                        <a:t>D7_R3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81.25%</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2779054"/>
                  </a:ext>
                </a:extLst>
              </a:tr>
              <a:tr h="203200">
                <a:tc>
                  <a:txBody>
                    <a:bodyPr/>
                    <a:lstStyle/>
                    <a:p>
                      <a:pPr algn="ctr" fontAlgn="b">
                        <a:buNone/>
                      </a:pPr>
                      <a:r>
                        <a:rPr lang="en-US" sz="1200" u="none" strike="noStrike">
                          <a:effectLst/>
                        </a:rPr>
                        <a:t>D14_R1</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84.81%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60283115"/>
                  </a:ext>
                </a:extLst>
              </a:tr>
              <a:tr h="203200">
                <a:tc>
                  <a:txBody>
                    <a:bodyPr/>
                    <a:lstStyle/>
                    <a:p>
                      <a:pPr algn="ctr" fontAlgn="b">
                        <a:buNone/>
                      </a:pPr>
                      <a:r>
                        <a:rPr lang="en-US" sz="1200" u="none" strike="noStrike">
                          <a:effectLst/>
                        </a:rPr>
                        <a:t>D14_R2</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a:effectLst/>
                        </a:rPr>
                        <a:t>84.21%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96874646"/>
                  </a:ext>
                </a:extLst>
              </a:tr>
              <a:tr h="203200">
                <a:tc>
                  <a:txBody>
                    <a:bodyPr/>
                    <a:lstStyle/>
                    <a:p>
                      <a:pPr algn="ctr" fontAlgn="b">
                        <a:buNone/>
                      </a:pPr>
                      <a:r>
                        <a:rPr lang="en-US" sz="1200" u="none" strike="noStrike">
                          <a:effectLst/>
                        </a:rPr>
                        <a:t>D14_R3</a:t>
                      </a:r>
                      <a:endParaRPr lang="en-US" sz="12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buNone/>
                      </a:pPr>
                      <a:r>
                        <a:rPr lang="en-US" sz="1200" u="none" strike="noStrike" dirty="0">
                          <a:effectLst/>
                        </a:rPr>
                        <a:t>84.65%</a:t>
                      </a:r>
                      <a:endParaRPr lang="en-US"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39908669"/>
                  </a:ext>
                </a:extLst>
              </a:tr>
            </a:tbl>
          </a:graphicData>
        </a:graphic>
      </p:graphicFrame>
    </p:spTree>
    <p:extLst>
      <p:ext uri="{BB962C8B-B14F-4D97-AF65-F5344CB8AC3E}">
        <p14:creationId xmlns:p14="http://schemas.microsoft.com/office/powerpoint/2010/main" val="32011294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73C54B44-6354-F39A-8DAA-060FED3A58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54040D-F9D0-711A-8A6A-BC150420C553}"/>
              </a:ext>
            </a:extLst>
          </p:cNvPr>
          <p:cNvSpPr txBox="1"/>
          <p:nvPr/>
        </p:nvSpPr>
        <p:spPr>
          <a:xfrm>
            <a:off x="1521503" y="1980890"/>
            <a:ext cx="4572000" cy="307777"/>
          </a:xfrm>
          <a:prstGeom prst="rect">
            <a:avLst/>
          </a:prstGeom>
          <a:noFill/>
        </p:spPr>
        <p:txBody>
          <a:bodyPr wrap="square">
            <a:spAutoFit/>
          </a:bodyPr>
          <a:lstStyle/>
          <a:p>
            <a:r>
              <a:rPr lang="en-US" b="0" dirty="0">
                <a:effectLst/>
              </a:rPr>
              <a:t> </a:t>
            </a:r>
            <a:endParaRPr lang="en-US" dirty="0"/>
          </a:p>
        </p:txBody>
      </p:sp>
      <p:sp>
        <p:nvSpPr>
          <p:cNvPr id="6" name="Rounded Rectangle 5">
            <a:extLst>
              <a:ext uri="{FF2B5EF4-FFF2-40B4-BE49-F238E27FC236}">
                <a16:creationId xmlns:a16="http://schemas.microsoft.com/office/drawing/2014/main" id="{B9B81EE4-3B74-D0E8-689C-A4D660B636E9}"/>
              </a:ext>
            </a:extLst>
          </p:cNvPr>
          <p:cNvSpPr/>
          <p:nvPr/>
        </p:nvSpPr>
        <p:spPr>
          <a:xfrm>
            <a:off x="1552940" y="1309045"/>
            <a:ext cx="1625529" cy="867844"/>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t>Quality trim and filter</a:t>
            </a:r>
          </a:p>
          <a:p>
            <a:pPr algn="ctr"/>
            <a:r>
              <a:rPr lang="en-US" sz="1050" dirty="0"/>
              <a:t>(</a:t>
            </a:r>
            <a:r>
              <a:rPr lang="en-US" sz="1050" dirty="0" err="1"/>
              <a:t>TrimGalore</a:t>
            </a:r>
            <a:r>
              <a:rPr lang="en-US" sz="1050" dirty="0"/>
              <a:t>)</a:t>
            </a:r>
          </a:p>
        </p:txBody>
      </p:sp>
      <p:sp>
        <p:nvSpPr>
          <p:cNvPr id="7" name="Rounded Rectangle 6">
            <a:extLst>
              <a:ext uri="{FF2B5EF4-FFF2-40B4-BE49-F238E27FC236}">
                <a16:creationId xmlns:a16="http://schemas.microsoft.com/office/drawing/2014/main" id="{D9E3B058-D339-FCD5-CEFA-67E3043A9CB2}"/>
              </a:ext>
            </a:extLst>
          </p:cNvPr>
          <p:cNvSpPr/>
          <p:nvPr/>
        </p:nvSpPr>
        <p:spPr>
          <a:xfrm>
            <a:off x="3757347" y="1280422"/>
            <a:ext cx="1625529" cy="867844"/>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Align to genome</a:t>
            </a:r>
          </a:p>
          <a:p>
            <a:pPr algn="ctr"/>
            <a:r>
              <a:rPr lang="en-US" sz="1050" dirty="0"/>
              <a:t>(STAR)</a:t>
            </a:r>
          </a:p>
        </p:txBody>
      </p:sp>
      <p:sp>
        <p:nvSpPr>
          <p:cNvPr id="8" name="Rounded Rectangle 7">
            <a:extLst>
              <a:ext uri="{FF2B5EF4-FFF2-40B4-BE49-F238E27FC236}">
                <a16:creationId xmlns:a16="http://schemas.microsoft.com/office/drawing/2014/main" id="{C5D0C333-9292-0128-5317-305175DECE99}"/>
              </a:ext>
            </a:extLst>
          </p:cNvPr>
          <p:cNvSpPr/>
          <p:nvPr/>
        </p:nvSpPr>
        <p:spPr>
          <a:xfrm>
            <a:off x="5961754" y="1280422"/>
            <a:ext cx="1625529" cy="867844"/>
          </a:xfrm>
          <a:prstGeom prst="roundRect">
            <a:avLst/>
          </a:prstGeom>
          <a:solidFill>
            <a:schemeClr val="tx1">
              <a:lumMod val="75000"/>
              <a:lumOff val="25000"/>
            </a:schemeClr>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Count reads</a:t>
            </a:r>
          </a:p>
          <a:p>
            <a:pPr algn="ctr"/>
            <a:r>
              <a:rPr lang="en-US" sz="1050" dirty="0"/>
              <a:t>(</a:t>
            </a:r>
            <a:r>
              <a:rPr lang="en-US" sz="1050" dirty="0" err="1"/>
              <a:t>featureCounts</a:t>
            </a:r>
            <a:r>
              <a:rPr lang="en-US" sz="1050" dirty="0"/>
              <a:t>)</a:t>
            </a:r>
          </a:p>
        </p:txBody>
      </p:sp>
      <p:sp>
        <p:nvSpPr>
          <p:cNvPr id="9" name="TextBox 8">
            <a:extLst>
              <a:ext uri="{FF2B5EF4-FFF2-40B4-BE49-F238E27FC236}">
                <a16:creationId xmlns:a16="http://schemas.microsoft.com/office/drawing/2014/main" id="{9AC36824-40A6-A3E6-BE77-A31A9CEC8F2E}"/>
              </a:ext>
            </a:extLst>
          </p:cNvPr>
          <p:cNvSpPr txBox="1"/>
          <p:nvPr/>
        </p:nvSpPr>
        <p:spPr>
          <a:xfrm>
            <a:off x="311700" y="1452734"/>
            <a:ext cx="662361" cy="523220"/>
          </a:xfrm>
          <a:prstGeom prst="rect">
            <a:avLst/>
          </a:prstGeom>
          <a:noFill/>
          <a:ln w="19050">
            <a:solidFill>
              <a:schemeClr val="tx1"/>
            </a:solidFill>
          </a:ln>
        </p:spPr>
        <p:txBody>
          <a:bodyPr wrap="none" rtlCol="0">
            <a:spAutoFit/>
          </a:bodyPr>
          <a:lstStyle/>
          <a:p>
            <a:pPr algn="ctr"/>
            <a:r>
              <a:rPr lang="en-US" dirty="0"/>
              <a:t>Short </a:t>
            </a:r>
          </a:p>
          <a:p>
            <a:pPr algn="ctr"/>
            <a:r>
              <a:rPr lang="en-US" dirty="0"/>
              <a:t>reads</a:t>
            </a:r>
          </a:p>
        </p:txBody>
      </p:sp>
      <p:sp>
        <p:nvSpPr>
          <p:cNvPr id="10" name="TextBox 9">
            <a:extLst>
              <a:ext uri="{FF2B5EF4-FFF2-40B4-BE49-F238E27FC236}">
                <a16:creationId xmlns:a16="http://schemas.microsoft.com/office/drawing/2014/main" id="{5C818ADE-EA92-4C2E-E840-843197E7108C}"/>
              </a:ext>
            </a:extLst>
          </p:cNvPr>
          <p:cNvSpPr txBox="1"/>
          <p:nvPr/>
        </p:nvSpPr>
        <p:spPr>
          <a:xfrm>
            <a:off x="1441234" y="2263657"/>
            <a:ext cx="1786066" cy="261610"/>
          </a:xfrm>
          <a:prstGeom prst="rect">
            <a:avLst/>
          </a:prstGeom>
          <a:noFill/>
        </p:spPr>
        <p:txBody>
          <a:bodyPr wrap="none" rtlCol="0">
            <a:spAutoFit/>
          </a:bodyPr>
          <a:lstStyle/>
          <a:p>
            <a:r>
              <a:rPr lang="en-US" sz="1100" dirty="0"/>
              <a:t>Get rid of bad quality stuff</a:t>
            </a:r>
          </a:p>
        </p:txBody>
      </p:sp>
      <p:sp>
        <p:nvSpPr>
          <p:cNvPr id="11" name="TextBox 10">
            <a:extLst>
              <a:ext uri="{FF2B5EF4-FFF2-40B4-BE49-F238E27FC236}">
                <a16:creationId xmlns:a16="http://schemas.microsoft.com/office/drawing/2014/main" id="{4A467376-F809-D8F4-F1CD-933CBEA29F4D}"/>
              </a:ext>
            </a:extLst>
          </p:cNvPr>
          <p:cNvSpPr txBox="1"/>
          <p:nvPr/>
        </p:nvSpPr>
        <p:spPr>
          <a:xfrm>
            <a:off x="3416260" y="2248268"/>
            <a:ext cx="2176944" cy="430887"/>
          </a:xfrm>
          <a:prstGeom prst="rect">
            <a:avLst/>
          </a:prstGeom>
          <a:noFill/>
        </p:spPr>
        <p:txBody>
          <a:bodyPr wrap="square" rtlCol="0">
            <a:spAutoFit/>
          </a:bodyPr>
          <a:lstStyle/>
          <a:p>
            <a:pPr algn="ctr"/>
            <a:r>
              <a:rPr lang="en-US" sz="1100" dirty="0"/>
              <a:t>Figure out what genes the reads belong to</a:t>
            </a:r>
          </a:p>
        </p:txBody>
      </p:sp>
      <p:sp>
        <p:nvSpPr>
          <p:cNvPr id="12" name="TextBox 11">
            <a:extLst>
              <a:ext uri="{FF2B5EF4-FFF2-40B4-BE49-F238E27FC236}">
                <a16:creationId xmlns:a16="http://schemas.microsoft.com/office/drawing/2014/main" id="{E1F8987C-0536-2F72-2C3E-E79C34A5910E}"/>
              </a:ext>
            </a:extLst>
          </p:cNvPr>
          <p:cNvSpPr txBox="1"/>
          <p:nvPr/>
        </p:nvSpPr>
        <p:spPr>
          <a:xfrm>
            <a:off x="5782165" y="2263657"/>
            <a:ext cx="2176944" cy="430887"/>
          </a:xfrm>
          <a:prstGeom prst="rect">
            <a:avLst/>
          </a:prstGeom>
          <a:noFill/>
        </p:spPr>
        <p:txBody>
          <a:bodyPr wrap="square" rtlCol="0">
            <a:spAutoFit/>
          </a:bodyPr>
          <a:lstStyle/>
          <a:p>
            <a:pPr algn="ctr"/>
            <a:r>
              <a:rPr lang="en-US" sz="1100" dirty="0"/>
              <a:t>Count how many copies of each gene there were</a:t>
            </a:r>
          </a:p>
        </p:txBody>
      </p:sp>
      <p:sp>
        <p:nvSpPr>
          <p:cNvPr id="13" name="TextBox 12">
            <a:extLst>
              <a:ext uri="{FF2B5EF4-FFF2-40B4-BE49-F238E27FC236}">
                <a16:creationId xmlns:a16="http://schemas.microsoft.com/office/drawing/2014/main" id="{EE0CCC2C-ED9B-329E-3810-BE391A767B0E}"/>
              </a:ext>
            </a:extLst>
          </p:cNvPr>
          <p:cNvSpPr txBox="1"/>
          <p:nvPr/>
        </p:nvSpPr>
        <p:spPr>
          <a:xfrm>
            <a:off x="8166162" y="1434586"/>
            <a:ext cx="712054" cy="523220"/>
          </a:xfrm>
          <a:prstGeom prst="rect">
            <a:avLst/>
          </a:prstGeom>
          <a:noFill/>
          <a:ln w="19050">
            <a:solidFill>
              <a:schemeClr val="tx1"/>
            </a:solidFill>
          </a:ln>
        </p:spPr>
        <p:txBody>
          <a:bodyPr wrap="none" rtlCol="0">
            <a:spAutoFit/>
          </a:bodyPr>
          <a:lstStyle/>
          <a:p>
            <a:pPr algn="ctr"/>
            <a:r>
              <a:rPr lang="en-US" dirty="0"/>
              <a:t>Count </a:t>
            </a:r>
          </a:p>
          <a:p>
            <a:pPr algn="ctr"/>
            <a:r>
              <a:rPr lang="en-US" dirty="0"/>
              <a:t>matrix</a:t>
            </a:r>
          </a:p>
        </p:txBody>
      </p:sp>
      <p:cxnSp>
        <p:nvCxnSpPr>
          <p:cNvPr id="15" name="Straight Arrow Connector 14">
            <a:extLst>
              <a:ext uri="{FF2B5EF4-FFF2-40B4-BE49-F238E27FC236}">
                <a16:creationId xmlns:a16="http://schemas.microsoft.com/office/drawing/2014/main" id="{681BAB36-5EB3-D2B3-DEFB-C7C69DDEBF1D}"/>
              </a:ext>
            </a:extLst>
          </p:cNvPr>
          <p:cNvCxnSpPr>
            <a:cxnSpLocks/>
          </p:cNvCxnSpPr>
          <p:nvPr/>
        </p:nvCxnSpPr>
        <p:spPr>
          <a:xfrm>
            <a:off x="1127661"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AF1C0DF-DCBA-A01E-F7A8-7B571ED24A4C}"/>
              </a:ext>
            </a:extLst>
          </p:cNvPr>
          <p:cNvCxnSpPr>
            <a:cxnSpLocks/>
          </p:cNvCxnSpPr>
          <p:nvPr/>
        </p:nvCxnSpPr>
        <p:spPr>
          <a:xfrm>
            <a:off x="335504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CE0D262-6260-8964-A2D3-EDA055D4A64A}"/>
              </a:ext>
            </a:extLst>
          </p:cNvPr>
          <p:cNvCxnSpPr>
            <a:cxnSpLocks/>
          </p:cNvCxnSpPr>
          <p:nvPr/>
        </p:nvCxnSpPr>
        <p:spPr>
          <a:xfrm>
            <a:off x="553095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E247F68-A572-9BA0-EED2-F43714BA3BC9}"/>
              </a:ext>
            </a:extLst>
          </p:cNvPr>
          <p:cNvCxnSpPr>
            <a:cxnSpLocks/>
          </p:cNvCxnSpPr>
          <p:nvPr/>
        </p:nvCxnSpPr>
        <p:spPr>
          <a:xfrm>
            <a:off x="777129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Google Shape;59;p14">
            <a:extLst>
              <a:ext uri="{FF2B5EF4-FFF2-40B4-BE49-F238E27FC236}">
                <a16:creationId xmlns:a16="http://schemas.microsoft.com/office/drawing/2014/main" id="{281D264F-DF86-C288-31A4-F04F3122D040}"/>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The bulk* RNA-seq workflow</a:t>
            </a:r>
          </a:p>
        </p:txBody>
      </p:sp>
    </p:spTree>
    <p:extLst>
      <p:ext uri="{BB962C8B-B14F-4D97-AF65-F5344CB8AC3E}">
        <p14:creationId xmlns:p14="http://schemas.microsoft.com/office/powerpoint/2010/main" val="38341999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F0A545C8-DC68-9FEA-F53A-EAD378CBC985}"/>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F2E970B3-A966-805F-0E05-D089874725D7}"/>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b="1" dirty="0">
                <a:solidFill>
                  <a:srgbClr val="000000"/>
                </a:solidFill>
                <a:latin typeface="Arial" panose="020B0604020202020204" pitchFamily="34" charset="0"/>
              </a:rPr>
              <a:t>The RNA-seq Workflow</a:t>
            </a:r>
            <a:endParaRPr dirty="0"/>
          </a:p>
        </p:txBody>
      </p:sp>
      <p:sp>
        <p:nvSpPr>
          <p:cNvPr id="3" name="TextBox 2">
            <a:extLst>
              <a:ext uri="{FF2B5EF4-FFF2-40B4-BE49-F238E27FC236}">
                <a16:creationId xmlns:a16="http://schemas.microsoft.com/office/drawing/2014/main" id="{C43738E2-E6E8-059E-0C1B-CCC7681AA33B}"/>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pic>
        <p:nvPicPr>
          <p:cNvPr id="5124" name="Picture 4" descr="nf-core/rnaseq metro map">
            <a:extLst>
              <a:ext uri="{FF2B5EF4-FFF2-40B4-BE49-F238E27FC236}">
                <a16:creationId xmlns:a16="http://schemas.microsoft.com/office/drawing/2014/main" id="{78DA5EA1-6525-22A7-C466-CAF524108C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964" y="1029955"/>
            <a:ext cx="7946071" cy="3319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15480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FA13F57A-29E2-13A3-FFF1-15EFC5E34B7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DF21242-94F3-8970-2C27-50500B6546C0}"/>
              </a:ext>
            </a:extLst>
          </p:cNvPr>
          <p:cNvSpPr txBox="1"/>
          <p:nvPr/>
        </p:nvSpPr>
        <p:spPr>
          <a:xfrm>
            <a:off x="1521503" y="1980890"/>
            <a:ext cx="4572000" cy="307777"/>
          </a:xfrm>
          <a:prstGeom prst="rect">
            <a:avLst/>
          </a:prstGeom>
          <a:noFill/>
        </p:spPr>
        <p:txBody>
          <a:bodyPr wrap="square">
            <a:spAutoFit/>
          </a:bodyPr>
          <a:lstStyle/>
          <a:p>
            <a:r>
              <a:rPr lang="en-US" b="0" dirty="0">
                <a:effectLst/>
              </a:rPr>
              <a:t> </a:t>
            </a:r>
            <a:endParaRPr lang="en-US" dirty="0"/>
          </a:p>
        </p:txBody>
      </p:sp>
      <p:sp>
        <p:nvSpPr>
          <p:cNvPr id="6" name="Rounded Rectangle 5">
            <a:extLst>
              <a:ext uri="{FF2B5EF4-FFF2-40B4-BE49-F238E27FC236}">
                <a16:creationId xmlns:a16="http://schemas.microsoft.com/office/drawing/2014/main" id="{C21401EC-3B21-C0EE-7EDE-4FED66F7AEB0}"/>
              </a:ext>
            </a:extLst>
          </p:cNvPr>
          <p:cNvSpPr/>
          <p:nvPr/>
        </p:nvSpPr>
        <p:spPr>
          <a:xfrm>
            <a:off x="1552940" y="1309045"/>
            <a:ext cx="1625529" cy="867844"/>
          </a:xfrm>
          <a:prstGeom prst="roundRect">
            <a:avLst/>
          </a:prstGeom>
          <a:solidFill>
            <a:schemeClr val="bg1">
              <a:lumMod val="95000"/>
            </a:schemeClr>
          </a:solidFill>
          <a:ln>
            <a:solidFill>
              <a:schemeClr val="bg1">
                <a:lumMod val="5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dirty="0">
                <a:solidFill>
                  <a:schemeClr val="bg1">
                    <a:lumMod val="50000"/>
                  </a:schemeClr>
                </a:solidFill>
              </a:rPr>
              <a:t>Quality trim and filter</a:t>
            </a:r>
          </a:p>
          <a:p>
            <a:pPr algn="ctr"/>
            <a:r>
              <a:rPr lang="en-US" sz="1050" dirty="0">
                <a:solidFill>
                  <a:schemeClr val="bg1">
                    <a:lumMod val="50000"/>
                  </a:schemeClr>
                </a:solidFill>
              </a:rPr>
              <a:t>(</a:t>
            </a:r>
            <a:r>
              <a:rPr lang="en-US" sz="1050" dirty="0" err="1">
                <a:solidFill>
                  <a:schemeClr val="bg1">
                    <a:lumMod val="50000"/>
                  </a:schemeClr>
                </a:solidFill>
              </a:rPr>
              <a:t>TrimGalore</a:t>
            </a:r>
            <a:r>
              <a:rPr lang="en-US" sz="1050" dirty="0">
                <a:solidFill>
                  <a:schemeClr val="bg1">
                    <a:lumMod val="50000"/>
                  </a:schemeClr>
                </a:solidFill>
              </a:rPr>
              <a:t>)</a:t>
            </a:r>
          </a:p>
        </p:txBody>
      </p:sp>
      <p:sp>
        <p:nvSpPr>
          <p:cNvPr id="7" name="Rounded Rectangle 6">
            <a:extLst>
              <a:ext uri="{FF2B5EF4-FFF2-40B4-BE49-F238E27FC236}">
                <a16:creationId xmlns:a16="http://schemas.microsoft.com/office/drawing/2014/main" id="{F07DB531-0917-772D-A76F-A354FEF09400}"/>
              </a:ext>
            </a:extLst>
          </p:cNvPr>
          <p:cNvSpPr/>
          <p:nvPr/>
        </p:nvSpPr>
        <p:spPr>
          <a:xfrm>
            <a:off x="3757347" y="1280422"/>
            <a:ext cx="1625529" cy="867844"/>
          </a:xfrm>
          <a:prstGeom prst="roundRect">
            <a:avLst/>
          </a:prstGeom>
          <a:solidFill>
            <a:schemeClr val="bg1">
              <a:lumMod val="95000"/>
            </a:schemeClr>
          </a:solidFill>
          <a:ln>
            <a:solidFill>
              <a:schemeClr val="bg1">
                <a:lumMod val="50000"/>
              </a:schemeClr>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solidFill>
                  <a:schemeClr val="bg1">
                    <a:lumMod val="50000"/>
                  </a:schemeClr>
                </a:solidFill>
              </a:rPr>
              <a:t>Align to genome</a:t>
            </a:r>
          </a:p>
          <a:p>
            <a:pPr algn="ctr"/>
            <a:r>
              <a:rPr lang="en-US" sz="1050" dirty="0">
                <a:solidFill>
                  <a:schemeClr val="bg1">
                    <a:lumMod val="50000"/>
                  </a:schemeClr>
                </a:solidFill>
              </a:rPr>
              <a:t>(STAR)</a:t>
            </a:r>
          </a:p>
        </p:txBody>
      </p:sp>
      <p:sp>
        <p:nvSpPr>
          <p:cNvPr id="8" name="Rounded Rectangle 7">
            <a:extLst>
              <a:ext uri="{FF2B5EF4-FFF2-40B4-BE49-F238E27FC236}">
                <a16:creationId xmlns:a16="http://schemas.microsoft.com/office/drawing/2014/main" id="{4EB0691D-54D5-0128-5315-C279D8E15FB3}"/>
              </a:ext>
            </a:extLst>
          </p:cNvPr>
          <p:cNvSpPr/>
          <p:nvPr/>
        </p:nvSpPr>
        <p:spPr>
          <a:xfrm>
            <a:off x="5961754" y="1280422"/>
            <a:ext cx="1625529" cy="867844"/>
          </a:xfrm>
          <a:prstGeom prst="roundRect">
            <a:avLst/>
          </a:prstGeom>
          <a:solidFill>
            <a:schemeClr val="bg1">
              <a:lumMod val="95000"/>
            </a:schemeClr>
          </a:solidFill>
          <a:ln>
            <a:solidFill>
              <a:schemeClr val="bg1">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solidFill>
                  <a:schemeClr val="bg1">
                    <a:lumMod val="50000"/>
                  </a:schemeClr>
                </a:solidFill>
              </a:rPr>
              <a:t>Count reads</a:t>
            </a:r>
          </a:p>
          <a:p>
            <a:pPr algn="ctr"/>
            <a:r>
              <a:rPr lang="en-US" sz="1050" dirty="0">
                <a:solidFill>
                  <a:schemeClr val="bg1">
                    <a:lumMod val="50000"/>
                  </a:schemeClr>
                </a:solidFill>
              </a:rPr>
              <a:t>(</a:t>
            </a:r>
            <a:r>
              <a:rPr lang="en-US" sz="1050" dirty="0" err="1">
                <a:solidFill>
                  <a:schemeClr val="bg1">
                    <a:lumMod val="50000"/>
                  </a:schemeClr>
                </a:solidFill>
              </a:rPr>
              <a:t>featureCounts</a:t>
            </a:r>
            <a:r>
              <a:rPr lang="en-US" sz="1050" dirty="0">
                <a:solidFill>
                  <a:schemeClr val="bg1">
                    <a:lumMod val="50000"/>
                  </a:schemeClr>
                </a:solidFill>
              </a:rPr>
              <a:t>)</a:t>
            </a:r>
          </a:p>
        </p:txBody>
      </p:sp>
      <p:sp>
        <p:nvSpPr>
          <p:cNvPr id="9" name="TextBox 8">
            <a:extLst>
              <a:ext uri="{FF2B5EF4-FFF2-40B4-BE49-F238E27FC236}">
                <a16:creationId xmlns:a16="http://schemas.microsoft.com/office/drawing/2014/main" id="{E7D100E9-76EC-C7F3-D948-269A1A75CEFF}"/>
              </a:ext>
            </a:extLst>
          </p:cNvPr>
          <p:cNvSpPr txBox="1"/>
          <p:nvPr/>
        </p:nvSpPr>
        <p:spPr>
          <a:xfrm>
            <a:off x="311700" y="1452734"/>
            <a:ext cx="662361" cy="523220"/>
          </a:xfrm>
          <a:prstGeom prst="rect">
            <a:avLst/>
          </a:prstGeom>
          <a:noFill/>
          <a:ln w="19050">
            <a:solidFill>
              <a:schemeClr val="bg1">
                <a:lumMod val="50000"/>
              </a:schemeClr>
            </a:solidFill>
          </a:ln>
        </p:spPr>
        <p:txBody>
          <a:bodyPr wrap="none" rtlCol="0">
            <a:spAutoFit/>
          </a:bodyPr>
          <a:lstStyle/>
          <a:p>
            <a:pPr algn="ctr"/>
            <a:r>
              <a:rPr lang="en-US" dirty="0">
                <a:solidFill>
                  <a:schemeClr val="bg1">
                    <a:lumMod val="50000"/>
                  </a:schemeClr>
                </a:solidFill>
              </a:rPr>
              <a:t>Short </a:t>
            </a:r>
          </a:p>
          <a:p>
            <a:pPr algn="ctr"/>
            <a:r>
              <a:rPr lang="en-US" dirty="0">
                <a:solidFill>
                  <a:schemeClr val="bg1">
                    <a:lumMod val="50000"/>
                  </a:schemeClr>
                </a:solidFill>
              </a:rPr>
              <a:t>reads</a:t>
            </a:r>
          </a:p>
        </p:txBody>
      </p:sp>
      <p:sp>
        <p:nvSpPr>
          <p:cNvPr id="10" name="TextBox 9">
            <a:extLst>
              <a:ext uri="{FF2B5EF4-FFF2-40B4-BE49-F238E27FC236}">
                <a16:creationId xmlns:a16="http://schemas.microsoft.com/office/drawing/2014/main" id="{D955D30D-B9F9-16E1-5BDF-134C8DF82DD0}"/>
              </a:ext>
            </a:extLst>
          </p:cNvPr>
          <p:cNvSpPr txBox="1"/>
          <p:nvPr/>
        </p:nvSpPr>
        <p:spPr>
          <a:xfrm>
            <a:off x="1441234" y="2263657"/>
            <a:ext cx="1786066" cy="261610"/>
          </a:xfrm>
          <a:prstGeom prst="rect">
            <a:avLst/>
          </a:prstGeom>
          <a:noFill/>
        </p:spPr>
        <p:txBody>
          <a:bodyPr wrap="none" rtlCol="0">
            <a:spAutoFit/>
          </a:bodyPr>
          <a:lstStyle/>
          <a:p>
            <a:r>
              <a:rPr lang="en-US" sz="1100" dirty="0">
                <a:solidFill>
                  <a:schemeClr val="bg1">
                    <a:lumMod val="50000"/>
                  </a:schemeClr>
                </a:solidFill>
              </a:rPr>
              <a:t>Get rid of bad quality stuff</a:t>
            </a:r>
          </a:p>
        </p:txBody>
      </p:sp>
      <p:sp>
        <p:nvSpPr>
          <p:cNvPr id="11" name="TextBox 10">
            <a:extLst>
              <a:ext uri="{FF2B5EF4-FFF2-40B4-BE49-F238E27FC236}">
                <a16:creationId xmlns:a16="http://schemas.microsoft.com/office/drawing/2014/main" id="{24F032FE-EE16-BCA4-738A-46A5B5AC3CDD}"/>
              </a:ext>
            </a:extLst>
          </p:cNvPr>
          <p:cNvSpPr txBox="1"/>
          <p:nvPr/>
        </p:nvSpPr>
        <p:spPr>
          <a:xfrm>
            <a:off x="3416260" y="2248268"/>
            <a:ext cx="2176944" cy="430887"/>
          </a:xfrm>
          <a:prstGeom prst="rect">
            <a:avLst/>
          </a:prstGeom>
          <a:noFill/>
        </p:spPr>
        <p:txBody>
          <a:bodyPr wrap="square" rtlCol="0">
            <a:spAutoFit/>
          </a:bodyPr>
          <a:lstStyle/>
          <a:p>
            <a:pPr algn="ctr"/>
            <a:r>
              <a:rPr lang="en-US" sz="1100" dirty="0">
                <a:solidFill>
                  <a:schemeClr val="bg1">
                    <a:lumMod val="50000"/>
                  </a:schemeClr>
                </a:solidFill>
              </a:rPr>
              <a:t>Figure out what genes the reads belong to</a:t>
            </a:r>
          </a:p>
        </p:txBody>
      </p:sp>
      <p:sp>
        <p:nvSpPr>
          <p:cNvPr id="12" name="TextBox 11">
            <a:extLst>
              <a:ext uri="{FF2B5EF4-FFF2-40B4-BE49-F238E27FC236}">
                <a16:creationId xmlns:a16="http://schemas.microsoft.com/office/drawing/2014/main" id="{D22DBC43-199F-7110-17E1-291D1E68093A}"/>
              </a:ext>
            </a:extLst>
          </p:cNvPr>
          <p:cNvSpPr txBox="1"/>
          <p:nvPr/>
        </p:nvSpPr>
        <p:spPr>
          <a:xfrm>
            <a:off x="5782165" y="2263657"/>
            <a:ext cx="2176944" cy="430887"/>
          </a:xfrm>
          <a:prstGeom prst="rect">
            <a:avLst/>
          </a:prstGeom>
          <a:noFill/>
        </p:spPr>
        <p:txBody>
          <a:bodyPr wrap="square" rtlCol="0">
            <a:spAutoFit/>
          </a:bodyPr>
          <a:lstStyle/>
          <a:p>
            <a:pPr algn="ctr"/>
            <a:r>
              <a:rPr lang="en-US" sz="1100" dirty="0">
                <a:solidFill>
                  <a:schemeClr val="bg1">
                    <a:lumMod val="50000"/>
                  </a:schemeClr>
                </a:solidFill>
              </a:rPr>
              <a:t>Count how many copies of each gene there were</a:t>
            </a:r>
          </a:p>
        </p:txBody>
      </p:sp>
      <p:sp>
        <p:nvSpPr>
          <p:cNvPr id="13" name="TextBox 12">
            <a:extLst>
              <a:ext uri="{FF2B5EF4-FFF2-40B4-BE49-F238E27FC236}">
                <a16:creationId xmlns:a16="http://schemas.microsoft.com/office/drawing/2014/main" id="{B0AC63DA-CA82-81C6-B44B-3344A6BAAFF1}"/>
              </a:ext>
            </a:extLst>
          </p:cNvPr>
          <p:cNvSpPr txBox="1"/>
          <p:nvPr/>
        </p:nvSpPr>
        <p:spPr>
          <a:xfrm>
            <a:off x="8166162" y="1434586"/>
            <a:ext cx="712054" cy="523220"/>
          </a:xfrm>
          <a:prstGeom prst="rect">
            <a:avLst/>
          </a:prstGeom>
          <a:solidFill>
            <a:schemeClr val="accent6"/>
          </a:solidFill>
          <a:ln w="19050">
            <a:solidFill>
              <a:schemeClr val="accent6">
                <a:lumMod val="50000"/>
              </a:schemeClr>
            </a:solidFill>
          </a:ln>
        </p:spPr>
        <p:txBody>
          <a:bodyPr wrap="none" rtlCol="0">
            <a:spAutoFit/>
          </a:bodyPr>
          <a:lstStyle/>
          <a:p>
            <a:pPr algn="ctr"/>
            <a:r>
              <a:rPr lang="en-US" dirty="0"/>
              <a:t>Count </a:t>
            </a:r>
          </a:p>
          <a:p>
            <a:pPr algn="ctr"/>
            <a:r>
              <a:rPr lang="en-US" dirty="0"/>
              <a:t>matrix</a:t>
            </a:r>
          </a:p>
        </p:txBody>
      </p:sp>
      <p:cxnSp>
        <p:nvCxnSpPr>
          <p:cNvPr id="15" name="Straight Arrow Connector 14">
            <a:extLst>
              <a:ext uri="{FF2B5EF4-FFF2-40B4-BE49-F238E27FC236}">
                <a16:creationId xmlns:a16="http://schemas.microsoft.com/office/drawing/2014/main" id="{8A389130-BDD0-CC70-F0E1-7BF42A3B96DF}"/>
              </a:ext>
            </a:extLst>
          </p:cNvPr>
          <p:cNvCxnSpPr>
            <a:cxnSpLocks/>
          </p:cNvCxnSpPr>
          <p:nvPr/>
        </p:nvCxnSpPr>
        <p:spPr>
          <a:xfrm>
            <a:off x="1127661"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2813CB0-768E-89A8-6E13-1B346AE84D5C}"/>
              </a:ext>
            </a:extLst>
          </p:cNvPr>
          <p:cNvCxnSpPr>
            <a:cxnSpLocks/>
          </p:cNvCxnSpPr>
          <p:nvPr/>
        </p:nvCxnSpPr>
        <p:spPr>
          <a:xfrm>
            <a:off x="335504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A62224F-D894-B8F5-B47C-839F40589486}"/>
              </a:ext>
            </a:extLst>
          </p:cNvPr>
          <p:cNvCxnSpPr>
            <a:cxnSpLocks/>
          </p:cNvCxnSpPr>
          <p:nvPr/>
        </p:nvCxnSpPr>
        <p:spPr>
          <a:xfrm>
            <a:off x="553095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3E58229-E2BD-0CC9-2F83-4FBCC9BF8891}"/>
              </a:ext>
            </a:extLst>
          </p:cNvPr>
          <p:cNvCxnSpPr>
            <a:cxnSpLocks/>
          </p:cNvCxnSpPr>
          <p:nvPr/>
        </p:nvCxnSpPr>
        <p:spPr>
          <a:xfrm>
            <a:off x="7771296" y="1705270"/>
            <a:ext cx="25120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Google Shape;59;p14">
            <a:extLst>
              <a:ext uri="{FF2B5EF4-FFF2-40B4-BE49-F238E27FC236}">
                <a16:creationId xmlns:a16="http://schemas.microsoft.com/office/drawing/2014/main" id="{0EF1B3A7-1B85-8BAE-EC16-C697045A978D}"/>
              </a:ext>
            </a:extLst>
          </p:cNvPr>
          <p:cNvSpPr txBox="1">
            <a:spLocks/>
          </p:cNvSpPr>
          <p:nvPr/>
        </p:nvSpPr>
        <p:spPr>
          <a:xfrm>
            <a:off x="311700" y="272400"/>
            <a:ext cx="8520600" cy="572700"/>
          </a:xfrm>
          <a:prstGeom prst="rect">
            <a:avLst/>
          </a:prstGeom>
          <a:noFill/>
          <a:ln>
            <a:noFill/>
          </a:ln>
        </p:spPr>
        <p:txBody>
          <a:bodyPr spcFirstLastPara="1" vert="horz" wrap="square" lIns="91425" tIns="91425" rIns="91425" bIns="91425" rtlCol="0"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The bulk* RNA-seq workflow</a:t>
            </a:r>
          </a:p>
        </p:txBody>
      </p:sp>
      <p:pic>
        <p:nvPicPr>
          <p:cNvPr id="17410" name="Picture 2" descr="Victory Celebration Colored Icon In Powerpoint Pptx Png And Editable Eps  Format PPT PowerPoint">
            <a:extLst>
              <a:ext uri="{FF2B5EF4-FFF2-40B4-BE49-F238E27FC236}">
                <a16:creationId xmlns:a16="http://schemas.microsoft.com/office/drawing/2014/main" id="{358A319B-2E20-BFA1-40BB-3D9A362FDF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073" t="18444" r="27153"/>
          <a:stretch>
            <a:fillRect/>
          </a:stretch>
        </p:blipFill>
        <p:spPr bwMode="auto">
          <a:xfrm>
            <a:off x="7063071" y="3162425"/>
            <a:ext cx="1667658" cy="17086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67B9DDC6-5FF0-BC74-57A5-7F42B82FE7E6}"/>
              </a:ext>
            </a:extLst>
          </p:cNvPr>
          <p:cNvGraphicFramePr>
            <a:graphicFrameLocks noGrp="1"/>
          </p:cNvGraphicFramePr>
          <p:nvPr>
            <p:extLst>
              <p:ext uri="{D42A27DB-BD31-4B8C-83A1-F6EECF244321}">
                <p14:modId xmlns:p14="http://schemas.microsoft.com/office/powerpoint/2010/main" val="2938186681"/>
              </p:ext>
            </p:extLst>
          </p:nvPr>
        </p:nvGraphicFramePr>
        <p:xfrm>
          <a:off x="4190265" y="3381832"/>
          <a:ext cx="2658070" cy="1269860"/>
        </p:xfrm>
        <a:graphic>
          <a:graphicData uri="http://schemas.openxmlformats.org/drawingml/2006/table">
            <a:tbl>
              <a:tblPr firstRow="1" bandRow="1">
                <a:tableStyleId>{D1E8DE8F-3FD5-44BD-BD6F-004C10B1D515}</a:tableStyleId>
              </a:tblPr>
              <a:tblGrid>
                <a:gridCol w="531614">
                  <a:extLst>
                    <a:ext uri="{9D8B030D-6E8A-4147-A177-3AD203B41FA5}">
                      <a16:colId xmlns:a16="http://schemas.microsoft.com/office/drawing/2014/main" val="1662088545"/>
                    </a:ext>
                  </a:extLst>
                </a:gridCol>
                <a:gridCol w="531614">
                  <a:extLst>
                    <a:ext uri="{9D8B030D-6E8A-4147-A177-3AD203B41FA5}">
                      <a16:colId xmlns:a16="http://schemas.microsoft.com/office/drawing/2014/main" val="813139519"/>
                    </a:ext>
                  </a:extLst>
                </a:gridCol>
                <a:gridCol w="531614">
                  <a:extLst>
                    <a:ext uri="{9D8B030D-6E8A-4147-A177-3AD203B41FA5}">
                      <a16:colId xmlns:a16="http://schemas.microsoft.com/office/drawing/2014/main" val="2304319734"/>
                    </a:ext>
                  </a:extLst>
                </a:gridCol>
                <a:gridCol w="531614">
                  <a:extLst>
                    <a:ext uri="{9D8B030D-6E8A-4147-A177-3AD203B41FA5}">
                      <a16:colId xmlns:a16="http://schemas.microsoft.com/office/drawing/2014/main" val="3343114773"/>
                    </a:ext>
                  </a:extLst>
                </a:gridCol>
                <a:gridCol w="531614">
                  <a:extLst>
                    <a:ext uri="{9D8B030D-6E8A-4147-A177-3AD203B41FA5}">
                      <a16:colId xmlns:a16="http://schemas.microsoft.com/office/drawing/2014/main" val="4182215396"/>
                    </a:ext>
                  </a:extLst>
                </a:gridCol>
              </a:tblGrid>
              <a:tr h="233645">
                <a:tc>
                  <a:txBody>
                    <a:bodyPr/>
                    <a:lstStyle/>
                    <a:p>
                      <a:endParaRPr lang="en-US" sz="800" dirty="0"/>
                    </a:p>
                  </a:txBody>
                  <a:tcPr/>
                </a:tc>
                <a:tc>
                  <a:txBody>
                    <a:bodyPr/>
                    <a:lstStyle/>
                    <a:p>
                      <a:r>
                        <a:rPr lang="en-US" sz="800" dirty="0"/>
                        <a:t>Sample1</a:t>
                      </a:r>
                    </a:p>
                  </a:txBody>
                  <a:tcPr/>
                </a:tc>
                <a:tc>
                  <a:txBody>
                    <a:bodyPr/>
                    <a:lstStyle/>
                    <a:p>
                      <a:r>
                        <a:rPr lang="en-US" sz="800" dirty="0"/>
                        <a:t>Sample2</a:t>
                      </a:r>
                    </a:p>
                  </a:txBody>
                  <a:tcPr/>
                </a:tc>
                <a:tc>
                  <a:txBody>
                    <a:bodyPr/>
                    <a:lstStyle/>
                    <a:p>
                      <a:r>
                        <a:rPr lang="en-US" sz="800" dirty="0"/>
                        <a:t>Sample3</a:t>
                      </a:r>
                    </a:p>
                  </a:txBody>
                  <a:tcPr/>
                </a:tc>
                <a:tc>
                  <a:txBody>
                    <a:bodyPr/>
                    <a:lstStyle/>
                    <a:p>
                      <a:r>
                        <a:rPr lang="en-US" sz="800" dirty="0"/>
                        <a:t>…</a:t>
                      </a:r>
                    </a:p>
                  </a:txBody>
                  <a:tcPr/>
                </a:tc>
                <a:extLst>
                  <a:ext uri="{0D108BD9-81ED-4DB2-BD59-A6C34878D82A}">
                    <a16:rowId xmlns:a16="http://schemas.microsoft.com/office/drawing/2014/main" val="202383154"/>
                  </a:ext>
                </a:extLst>
              </a:tr>
              <a:tr h="233645">
                <a:tc>
                  <a:txBody>
                    <a:bodyPr/>
                    <a:lstStyle/>
                    <a:p>
                      <a:r>
                        <a:rPr lang="en-US" sz="800" dirty="0" err="1"/>
                        <a:t>GeneA</a:t>
                      </a:r>
                      <a:endParaRPr lang="en-US" sz="800" dirty="0"/>
                    </a:p>
                  </a:txBody>
                  <a:tcPr/>
                </a:tc>
                <a:tc>
                  <a:txBody>
                    <a:bodyPr/>
                    <a:lstStyle/>
                    <a:p>
                      <a:r>
                        <a:rPr lang="en-US" sz="800" dirty="0"/>
                        <a:t>6</a:t>
                      </a:r>
                    </a:p>
                  </a:txBody>
                  <a:tcPr/>
                </a:tc>
                <a:tc>
                  <a:txBody>
                    <a:bodyPr/>
                    <a:lstStyle/>
                    <a:p>
                      <a:r>
                        <a:rPr lang="en-US" sz="800" dirty="0"/>
                        <a:t>2</a:t>
                      </a:r>
                    </a:p>
                  </a:txBody>
                  <a:tcPr/>
                </a:tc>
                <a:tc>
                  <a:txBody>
                    <a:bodyPr/>
                    <a:lstStyle/>
                    <a:p>
                      <a:r>
                        <a:rPr lang="en-US" sz="800" dirty="0"/>
                        <a:t>500</a:t>
                      </a:r>
                    </a:p>
                  </a:txBody>
                  <a:tcPr/>
                </a:tc>
                <a:tc>
                  <a:txBody>
                    <a:bodyPr/>
                    <a:lstStyle/>
                    <a:p>
                      <a:r>
                        <a:rPr lang="en-US" sz="800" dirty="0"/>
                        <a:t>…</a:t>
                      </a:r>
                    </a:p>
                  </a:txBody>
                  <a:tcPr/>
                </a:tc>
                <a:extLst>
                  <a:ext uri="{0D108BD9-81ED-4DB2-BD59-A6C34878D82A}">
                    <a16:rowId xmlns:a16="http://schemas.microsoft.com/office/drawing/2014/main" val="2621786924"/>
                  </a:ext>
                </a:extLst>
              </a:tr>
              <a:tr h="233645">
                <a:tc>
                  <a:txBody>
                    <a:bodyPr/>
                    <a:lstStyle/>
                    <a:p>
                      <a:r>
                        <a:rPr lang="en-US" sz="800" dirty="0" err="1"/>
                        <a:t>GeneB</a:t>
                      </a:r>
                      <a:endParaRPr lang="en-US" sz="800" dirty="0"/>
                    </a:p>
                  </a:txBody>
                  <a:tcPr/>
                </a:tc>
                <a:tc>
                  <a:txBody>
                    <a:bodyPr/>
                    <a:lstStyle/>
                    <a:p>
                      <a:r>
                        <a:rPr lang="en-US" sz="800" dirty="0"/>
                        <a:t>12</a:t>
                      </a:r>
                    </a:p>
                  </a:txBody>
                  <a:tcPr/>
                </a:tc>
                <a:tc>
                  <a:txBody>
                    <a:bodyPr/>
                    <a:lstStyle/>
                    <a:p>
                      <a:r>
                        <a:rPr lang="en-US" sz="800" dirty="0"/>
                        <a:t>20</a:t>
                      </a:r>
                    </a:p>
                  </a:txBody>
                  <a:tcPr/>
                </a:tc>
                <a:tc>
                  <a:txBody>
                    <a:bodyPr/>
                    <a:lstStyle/>
                    <a:p>
                      <a:r>
                        <a:rPr lang="en-US" sz="800" dirty="0"/>
                        <a:t>65</a:t>
                      </a:r>
                    </a:p>
                  </a:txBody>
                  <a:tcPr/>
                </a:tc>
                <a:tc>
                  <a:txBody>
                    <a:bodyPr/>
                    <a:lstStyle/>
                    <a:p>
                      <a:r>
                        <a:rPr lang="en-US" sz="800" dirty="0"/>
                        <a:t>…</a:t>
                      </a:r>
                    </a:p>
                  </a:txBody>
                  <a:tcPr/>
                </a:tc>
                <a:extLst>
                  <a:ext uri="{0D108BD9-81ED-4DB2-BD59-A6C34878D82A}">
                    <a16:rowId xmlns:a16="http://schemas.microsoft.com/office/drawing/2014/main" val="3521696423"/>
                  </a:ext>
                </a:extLst>
              </a:tr>
              <a:tr h="23364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t>GeneC</a:t>
                      </a:r>
                    </a:p>
                  </a:txBody>
                  <a:tcPr/>
                </a:tc>
                <a:tc>
                  <a:txBody>
                    <a:bodyPr/>
                    <a:lstStyle/>
                    <a:p>
                      <a:r>
                        <a:rPr lang="en-US" sz="800" dirty="0"/>
                        <a:t>32</a:t>
                      </a:r>
                    </a:p>
                  </a:txBody>
                  <a:tcPr/>
                </a:tc>
                <a:tc>
                  <a:txBody>
                    <a:bodyPr/>
                    <a:lstStyle/>
                    <a:p>
                      <a:r>
                        <a:rPr lang="en-US" sz="800" dirty="0"/>
                        <a:t>1000</a:t>
                      </a:r>
                    </a:p>
                  </a:txBody>
                  <a:tcPr/>
                </a:tc>
                <a:tc>
                  <a:txBody>
                    <a:bodyPr/>
                    <a:lstStyle/>
                    <a:p>
                      <a:r>
                        <a:rPr lang="en-US" sz="800" dirty="0"/>
                        <a:t>2</a:t>
                      </a:r>
                    </a:p>
                  </a:txBody>
                  <a:tcPr/>
                </a:tc>
                <a:tc>
                  <a:txBody>
                    <a:bodyPr/>
                    <a:lstStyle/>
                    <a:p>
                      <a:r>
                        <a:rPr lang="en-US" sz="800" dirty="0"/>
                        <a:t>…</a:t>
                      </a:r>
                    </a:p>
                  </a:txBody>
                  <a:tcPr/>
                </a:tc>
                <a:extLst>
                  <a:ext uri="{0D108BD9-81ED-4DB2-BD59-A6C34878D82A}">
                    <a16:rowId xmlns:a16="http://schemas.microsoft.com/office/drawing/2014/main" val="1198001085"/>
                  </a:ext>
                </a:extLst>
              </a:tr>
              <a:tr h="23364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t>…</a:t>
                      </a:r>
                    </a:p>
                  </a:txBody>
                  <a:tcPr/>
                </a:tc>
                <a:tc>
                  <a:txBody>
                    <a:bodyPr/>
                    <a:lstStyle/>
                    <a:p>
                      <a:r>
                        <a:rPr lang="en-US" sz="800" dirty="0"/>
                        <a:t>…</a:t>
                      </a:r>
                    </a:p>
                  </a:txBody>
                  <a:tcPr/>
                </a:tc>
                <a:tc>
                  <a:txBody>
                    <a:bodyPr/>
                    <a:lstStyle/>
                    <a:p>
                      <a:r>
                        <a:rPr lang="en-US" sz="800" dirty="0"/>
                        <a:t>…</a:t>
                      </a:r>
                    </a:p>
                  </a:txBody>
                  <a:tcPr/>
                </a:tc>
                <a:tc>
                  <a:txBody>
                    <a:bodyPr/>
                    <a:lstStyle/>
                    <a:p>
                      <a:r>
                        <a:rPr lang="en-US" sz="800" dirty="0"/>
                        <a:t>…</a:t>
                      </a:r>
                    </a:p>
                  </a:txBody>
                  <a:tcPr/>
                </a:tc>
                <a:tc>
                  <a:txBody>
                    <a:bodyPr/>
                    <a:lstStyle/>
                    <a:p>
                      <a:r>
                        <a:rPr lang="en-US" sz="800" dirty="0"/>
                        <a:t>…</a:t>
                      </a:r>
                    </a:p>
                  </a:txBody>
                  <a:tcPr/>
                </a:tc>
                <a:extLst>
                  <a:ext uri="{0D108BD9-81ED-4DB2-BD59-A6C34878D82A}">
                    <a16:rowId xmlns:a16="http://schemas.microsoft.com/office/drawing/2014/main" val="2074897196"/>
                  </a:ext>
                </a:extLst>
              </a:tr>
            </a:tbl>
          </a:graphicData>
        </a:graphic>
      </p:graphicFrame>
      <p:sp>
        <p:nvSpPr>
          <p:cNvPr id="5" name="TextBox 4">
            <a:extLst>
              <a:ext uri="{FF2B5EF4-FFF2-40B4-BE49-F238E27FC236}">
                <a16:creationId xmlns:a16="http://schemas.microsoft.com/office/drawing/2014/main" id="{B9A22EFE-0248-EF6E-E2B0-7B0286874136}"/>
              </a:ext>
            </a:extLst>
          </p:cNvPr>
          <p:cNvSpPr txBox="1"/>
          <p:nvPr/>
        </p:nvSpPr>
        <p:spPr>
          <a:xfrm>
            <a:off x="4124532" y="3135611"/>
            <a:ext cx="1468672" cy="246221"/>
          </a:xfrm>
          <a:prstGeom prst="rect">
            <a:avLst/>
          </a:prstGeom>
          <a:noFill/>
        </p:spPr>
        <p:txBody>
          <a:bodyPr wrap="none" rtlCol="0">
            <a:spAutoFit/>
          </a:bodyPr>
          <a:lstStyle/>
          <a:p>
            <a:r>
              <a:rPr lang="en-US" sz="1000" dirty="0"/>
              <a:t>Raw RNA counts table</a:t>
            </a:r>
          </a:p>
        </p:txBody>
      </p:sp>
    </p:spTree>
    <p:extLst>
      <p:ext uri="{BB962C8B-B14F-4D97-AF65-F5344CB8AC3E}">
        <p14:creationId xmlns:p14="http://schemas.microsoft.com/office/powerpoint/2010/main" val="1902213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1513A-562E-D96B-F38C-A052BA1F2F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0148D3-A4E0-5E2E-5558-342BA9107502}"/>
              </a:ext>
            </a:extLst>
          </p:cNvPr>
          <p:cNvSpPr>
            <a:spLocks noGrp="1"/>
          </p:cNvSpPr>
          <p:nvPr>
            <p:ph type="title"/>
          </p:nvPr>
        </p:nvSpPr>
        <p:spPr>
          <a:xfrm>
            <a:off x="2809455" y="2230511"/>
            <a:ext cx="8520600" cy="572700"/>
          </a:xfrm>
        </p:spPr>
        <p:txBody>
          <a:bodyPr>
            <a:normAutofit fontScale="90000"/>
          </a:bodyPr>
          <a:lstStyle/>
          <a:p>
            <a:r>
              <a:rPr lang="en-US" dirty="0"/>
              <a:t>Differential expression</a:t>
            </a:r>
          </a:p>
        </p:txBody>
      </p:sp>
    </p:spTree>
    <p:extLst>
      <p:ext uri="{BB962C8B-B14F-4D97-AF65-F5344CB8AC3E}">
        <p14:creationId xmlns:p14="http://schemas.microsoft.com/office/powerpoint/2010/main" val="738893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89AF2273-9250-31C4-D5BE-A1D9EC22FFCE}"/>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C6F56270-AFB2-69AA-6A44-0C839D609A86}"/>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b="1" dirty="0">
                <a:solidFill>
                  <a:srgbClr val="000000"/>
                </a:solidFill>
                <a:latin typeface="Arial" panose="020B0604020202020204" pitchFamily="34" charset="0"/>
              </a:rPr>
              <a:t>The Statistics of Differential Expression</a:t>
            </a:r>
            <a:endParaRPr dirty="0"/>
          </a:p>
        </p:txBody>
      </p:sp>
      <p:sp>
        <p:nvSpPr>
          <p:cNvPr id="5" name="TextBox 4">
            <a:extLst>
              <a:ext uri="{FF2B5EF4-FFF2-40B4-BE49-F238E27FC236}">
                <a16:creationId xmlns:a16="http://schemas.microsoft.com/office/drawing/2014/main" id="{E8041737-399F-445C-5B47-91E598D5A02C}"/>
              </a:ext>
            </a:extLst>
          </p:cNvPr>
          <p:cNvSpPr txBox="1"/>
          <p:nvPr/>
        </p:nvSpPr>
        <p:spPr>
          <a:xfrm>
            <a:off x="4453519" y="5556713"/>
            <a:ext cx="7456602" cy="307777"/>
          </a:xfrm>
          <a:prstGeom prst="rect">
            <a:avLst/>
          </a:prstGeom>
          <a:noFill/>
        </p:spPr>
        <p:txBody>
          <a:bodyPr wrap="square">
            <a:spAutoFit/>
          </a:bodyPr>
          <a:lstStyle/>
          <a:p>
            <a:pPr rtl="0" fontAlgn="base">
              <a:spcAft>
                <a:spcPts val="1200"/>
              </a:spcAft>
            </a:pPr>
            <a:r>
              <a:rPr lang="en-US" sz="1400" b="0" i="0" u="none" strike="noStrike" dirty="0">
                <a:solidFill>
                  <a:srgbClr val="000000"/>
                </a:solidFill>
                <a:effectLst/>
                <a:latin typeface="Arial" panose="020B0604020202020204" pitchFamily="34" charset="0"/>
              </a:rPr>
              <a:t>Log2 fold change: what it means, why log2 (doubling = +1, halving = -1 — clean)</a:t>
            </a:r>
          </a:p>
        </p:txBody>
      </p:sp>
      <p:sp>
        <p:nvSpPr>
          <p:cNvPr id="9" name="TextBox 8">
            <a:extLst>
              <a:ext uri="{FF2B5EF4-FFF2-40B4-BE49-F238E27FC236}">
                <a16:creationId xmlns:a16="http://schemas.microsoft.com/office/drawing/2014/main" id="{BCB77EDF-8613-DEBD-4AA5-1EEF904D52C2}"/>
              </a:ext>
            </a:extLst>
          </p:cNvPr>
          <p:cNvSpPr txBox="1"/>
          <p:nvPr/>
        </p:nvSpPr>
        <p:spPr>
          <a:xfrm>
            <a:off x="585955" y="1027894"/>
            <a:ext cx="7972089" cy="307777"/>
          </a:xfrm>
          <a:prstGeom prst="rect">
            <a:avLst/>
          </a:prstGeom>
          <a:solidFill>
            <a:schemeClr val="accent4">
              <a:lumMod val="20000"/>
              <a:lumOff val="80000"/>
            </a:schemeClr>
          </a:solidFill>
          <a:ln w="19050">
            <a:noFill/>
          </a:ln>
        </p:spPr>
        <p:txBody>
          <a:bodyPr wrap="square">
            <a:spAutoFit/>
          </a:bodyPr>
          <a:lstStyle/>
          <a:p>
            <a:r>
              <a:rPr lang="en-US" sz="1400" b="0" i="0" u="none" strike="noStrike" dirty="0">
                <a:solidFill>
                  <a:srgbClr val="000000"/>
                </a:solidFill>
                <a:effectLst/>
                <a:latin typeface="Arial" panose="020B0604020202020204" pitchFamily="34" charset="0"/>
              </a:rPr>
              <a:t>Differential expression: A gene expressed higher in condition A vs B, consistently across replicates</a:t>
            </a:r>
            <a:endParaRPr lang="en-US" dirty="0"/>
          </a:p>
        </p:txBody>
      </p:sp>
      <p:sp>
        <p:nvSpPr>
          <p:cNvPr id="11" name="TextBox 10">
            <a:extLst>
              <a:ext uri="{FF2B5EF4-FFF2-40B4-BE49-F238E27FC236}">
                <a16:creationId xmlns:a16="http://schemas.microsoft.com/office/drawing/2014/main" id="{A5B58109-4C9B-5B00-F53C-1C0253CF2D22}"/>
              </a:ext>
            </a:extLst>
          </p:cNvPr>
          <p:cNvSpPr txBox="1"/>
          <p:nvPr/>
        </p:nvSpPr>
        <p:spPr>
          <a:xfrm>
            <a:off x="683323" y="3583992"/>
            <a:ext cx="2858304" cy="1446550"/>
          </a:xfrm>
          <a:prstGeom prst="rect">
            <a:avLst/>
          </a:prstGeom>
          <a:noFill/>
          <a:ln w="19050">
            <a:solidFill>
              <a:schemeClr val="bg1">
                <a:lumMod val="50000"/>
              </a:schemeClr>
            </a:solidFill>
          </a:ln>
        </p:spPr>
        <p:txBody>
          <a:bodyPr wrap="square">
            <a:spAutoFit/>
          </a:bodyPr>
          <a:lstStyle/>
          <a:p>
            <a:pPr marL="171450" indent="-171450" fontAlgn="base">
              <a:spcBef>
                <a:spcPts val="1200"/>
              </a:spcBef>
              <a:buFont typeface="Arial" panose="020B0604020202020204" pitchFamily="34" charset="0"/>
              <a:buChar char="•"/>
            </a:pPr>
            <a:r>
              <a:rPr lang="en-US" sz="1100" dirty="0">
                <a:latin typeface="Arial" panose="020B0604020202020204" pitchFamily="34" charset="0"/>
              </a:rPr>
              <a:t>Not normal; Counts are over-dispersed: </a:t>
            </a:r>
            <a:r>
              <a:rPr lang="en-US" sz="1100" dirty="0"/>
              <a:t>var &gt; mean</a:t>
            </a:r>
            <a:endParaRPr lang="en-US" altLang="en-US" sz="1100" dirty="0">
              <a:solidFill>
                <a:schemeClr val="tx1"/>
              </a:solidFill>
              <a:latin typeface="Arial" panose="020B0604020202020204" pitchFamily="34" charset="0"/>
            </a:endParaRPr>
          </a:p>
          <a:p>
            <a:pPr marL="171450" lvl="0" indent="-171450" eaLnBrk="0" fontAlgn="base" hangingPunct="0">
              <a:spcBef>
                <a:spcPct val="0"/>
              </a:spcBef>
              <a:spcAft>
                <a:spcPct val="0"/>
              </a:spcAft>
              <a:buClrTx/>
              <a:buFont typeface="Arial" panose="020B0604020202020204" pitchFamily="34" charset="0"/>
              <a:buChar char="•"/>
            </a:pPr>
            <a:r>
              <a:rPr lang="en-US" altLang="en-US" sz="1100" b="1" dirty="0">
                <a:solidFill>
                  <a:schemeClr val="tx1"/>
                </a:solidFill>
                <a:latin typeface="Arial" panose="020B0604020202020204" pitchFamily="34" charset="0"/>
              </a:rPr>
              <a:t>Most</a:t>
            </a:r>
            <a:r>
              <a:rPr lang="en-US" altLang="en-US" sz="1100" dirty="0">
                <a:solidFill>
                  <a:schemeClr val="tx1"/>
                </a:solidFill>
                <a:latin typeface="Arial" panose="020B0604020202020204" pitchFamily="34" charset="0"/>
              </a:rPr>
              <a:t> genes: </a:t>
            </a:r>
            <a:r>
              <a:rPr lang="en-US" altLang="en-US" sz="1100" b="1" dirty="0">
                <a:solidFill>
                  <a:schemeClr val="tx1"/>
                </a:solidFill>
                <a:latin typeface="Arial" panose="020B0604020202020204" pitchFamily="34" charset="0"/>
              </a:rPr>
              <a:t>low counts</a:t>
            </a:r>
            <a:r>
              <a:rPr lang="en-US" altLang="en-US" sz="1100" dirty="0">
                <a:solidFill>
                  <a:schemeClr val="tx1"/>
                </a:solidFill>
                <a:latin typeface="Arial" panose="020B0604020202020204" pitchFamily="34" charset="0"/>
              </a:rPr>
              <a:t> </a:t>
            </a:r>
          </a:p>
          <a:p>
            <a:pPr marL="171450" lvl="0" indent="-171450" eaLnBrk="0" fontAlgn="base" hangingPunct="0">
              <a:spcBef>
                <a:spcPct val="0"/>
              </a:spcBef>
              <a:spcAft>
                <a:spcPct val="0"/>
              </a:spcAft>
              <a:buClrTx/>
              <a:buFont typeface="Arial" panose="020B0604020202020204" pitchFamily="34" charset="0"/>
              <a:buChar char="•"/>
            </a:pPr>
            <a:r>
              <a:rPr lang="en-US" altLang="en-US" sz="1100" b="1" dirty="0">
                <a:solidFill>
                  <a:schemeClr val="tx1"/>
                </a:solidFill>
                <a:latin typeface="Arial" panose="020B0604020202020204" pitchFamily="34" charset="0"/>
              </a:rPr>
              <a:t>Few</a:t>
            </a:r>
            <a:r>
              <a:rPr lang="en-US" altLang="en-US" sz="1100" dirty="0">
                <a:solidFill>
                  <a:schemeClr val="tx1"/>
                </a:solidFill>
                <a:latin typeface="Arial" panose="020B0604020202020204" pitchFamily="34" charset="0"/>
              </a:rPr>
              <a:t> genes: </a:t>
            </a:r>
            <a:r>
              <a:rPr lang="en-US" altLang="en-US" sz="1100" b="1" dirty="0">
                <a:solidFill>
                  <a:schemeClr val="tx1"/>
                </a:solidFill>
                <a:latin typeface="Arial" panose="020B0604020202020204" pitchFamily="34" charset="0"/>
              </a:rPr>
              <a:t>very high counts</a:t>
            </a:r>
            <a:r>
              <a:rPr lang="en-US" altLang="en-US" sz="1100" dirty="0">
                <a:solidFill>
                  <a:schemeClr val="tx1"/>
                </a:solidFill>
                <a:latin typeface="Arial" panose="020B0604020202020204" pitchFamily="34" charset="0"/>
              </a:rPr>
              <a:t> (housekeeping genes, ribosomal genes)</a:t>
            </a:r>
          </a:p>
          <a:p>
            <a:pPr marL="171450" lvl="0" indent="-171450" eaLnBrk="0" fontAlgn="base" hangingPunct="0">
              <a:spcBef>
                <a:spcPct val="0"/>
              </a:spcBef>
              <a:spcAft>
                <a:spcPct val="0"/>
              </a:spcAft>
              <a:buClrTx/>
              <a:buFont typeface="Arial" panose="020B0604020202020204" pitchFamily="34" charset="0"/>
              <a:buChar char="•"/>
            </a:pPr>
            <a:r>
              <a:rPr lang="en-US" altLang="en-US" sz="1100" b="1" dirty="0">
                <a:solidFill>
                  <a:schemeClr val="tx1"/>
                </a:solidFill>
                <a:latin typeface="Arial" panose="020B0604020202020204" pitchFamily="34" charset="0"/>
              </a:rPr>
              <a:t>Bounded at zero </a:t>
            </a:r>
            <a:r>
              <a:rPr lang="en-US" altLang="en-US" sz="1100" dirty="0">
                <a:solidFill>
                  <a:schemeClr val="tx1"/>
                </a:solidFill>
                <a:latin typeface="Arial" panose="020B0604020202020204" pitchFamily="34" charset="0"/>
              </a:rPr>
              <a:t>(you can't have negative counts), which forces any spread to go rightward</a:t>
            </a:r>
          </a:p>
        </p:txBody>
      </p:sp>
      <p:sp>
        <p:nvSpPr>
          <p:cNvPr id="15" name="TextBox 14">
            <a:extLst>
              <a:ext uri="{FF2B5EF4-FFF2-40B4-BE49-F238E27FC236}">
                <a16:creationId xmlns:a16="http://schemas.microsoft.com/office/drawing/2014/main" id="{0F26C9D1-201C-03EE-B9AE-FA2C965650C4}"/>
              </a:ext>
            </a:extLst>
          </p:cNvPr>
          <p:cNvSpPr txBox="1"/>
          <p:nvPr/>
        </p:nvSpPr>
        <p:spPr>
          <a:xfrm>
            <a:off x="4521259" y="4384211"/>
            <a:ext cx="4138925" cy="646331"/>
          </a:xfrm>
          <a:prstGeom prst="rect">
            <a:avLst/>
          </a:prstGeom>
          <a:noFill/>
          <a:ln w="19050">
            <a:solidFill>
              <a:srgbClr val="C00000"/>
            </a:solidFill>
          </a:ln>
        </p:spPr>
        <p:txBody>
          <a:bodyPr wrap="square">
            <a:spAutoFit/>
          </a:bodyPr>
          <a:lstStyle/>
          <a:p>
            <a:r>
              <a:rPr lang="en-US" sz="1200" b="1" dirty="0">
                <a:latin typeface="Arial" panose="020B0604020202020204" pitchFamily="34" charset="0"/>
              </a:rPr>
              <a:t>Multiple testing problem</a:t>
            </a:r>
            <a:r>
              <a:rPr lang="en-US" sz="1200" dirty="0">
                <a:latin typeface="Arial" panose="020B0604020202020204" pitchFamily="34" charset="0"/>
              </a:rPr>
              <a:t> — you're testing 20,000 genes at once. p &lt; 0.05 means 1,000 false positives by chance </a:t>
            </a:r>
            <a:r>
              <a:rPr lang="en-US" sz="1200" dirty="0">
                <a:latin typeface="Arial" panose="020B0604020202020204" pitchFamily="34" charset="0"/>
                <a:sym typeface="Wingdings" pitchFamily="2" charset="2"/>
              </a:rPr>
              <a:t> </a:t>
            </a:r>
            <a:r>
              <a:rPr lang="en-US" sz="1200" b="1" dirty="0">
                <a:latin typeface="Arial" panose="020B0604020202020204" pitchFamily="34" charset="0"/>
              </a:rPr>
              <a:t>FDR and adjusted p-value</a:t>
            </a:r>
          </a:p>
        </p:txBody>
      </p:sp>
      <p:pic>
        <p:nvPicPr>
          <p:cNvPr id="1026" name="Picture 2" descr="Count modeling and hypothesis | Training-modules">
            <a:extLst>
              <a:ext uri="{FF2B5EF4-FFF2-40B4-BE49-F238E27FC236}">
                <a16:creationId xmlns:a16="http://schemas.microsoft.com/office/drawing/2014/main" id="{8EB6D17D-C84F-1984-CA49-17D2D35AA9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389" y="1506690"/>
            <a:ext cx="2487049" cy="181569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E56D468-D3AD-12F9-1151-26D6D283ED2F}"/>
              </a:ext>
            </a:extLst>
          </p:cNvPr>
          <p:cNvSpPr txBox="1"/>
          <p:nvPr/>
        </p:nvSpPr>
        <p:spPr>
          <a:xfrm>
            <a:off x="635972" y="3322382"/>
            <a:ext cx="5954750" cy="261610"/>
          </a:xfrm>
          <a:prstGeom prst="rect">
            <a:avLst/>
          </a:prstGeom>
          <a:noFill/>
        </p:spPr>
        <p:txBody>
          <a:bodyPr wrap="square">
            <a:spAutoFit/>
          </a:bodyPr>
          <a:lstStyle/>
          <a:p>
            <a:pPr fontAlgn="base">
              <a:spcBef>
                <a:spcPts val="1200"/>
              </a:spcBef>
            </a:pPr>
            <a:r>
              <a:rPr lang="en-US" sz="1100" b="1" dirty="0">
                <a:latin typeface="Arial" panose="020B0604020202020204" pitchFamily="34" charset="0"/>
              </a:rPr>
              <a:t>Count distribution:</a:t>
            </a:r>
          </a:p>
        </p:txBody>
      </p:sp>
      <p:pic>
        <p:nvPicPr>
          <p:cNvPr id="1029" name="Picture 5" descr="negative binomial">
            <a:extLst>
              <a:ext uri="{FF2B5EF4-FFF2-40B4-BE49-F238E27FC236}">
                <a16:creationId xmlns:a16="http://schemas.microsoft.com/office/drawing/2014/main" id="{85AF509B-6A63-A2D5-7B71-EF8916F354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5645" y="1502479"/>
            <a:ext cx="4007158" cy="213854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40A11EA2-DD8E-0D7D-B7D1-10B7161A12DF}"/>
              </a:ext>
            </a:extLst>
          </p:cNvPr>
          <p:cNvSpPr txBox="1"/>
          <p:nvPr/>
        </p:nvSpPr>
        <p:spPr>
          <a:xfrm>
            <a:off x="4571999" y="3687188"/>
            <a:ext cx="4138925" cy="677108"/>
          </a:xfrm>
          <a:prstGeom prst="rect">
            <a:avLst/>
          </a:prstGeom>
          <a:noFill/>
        </p:spPr>
        <p:txBody>
          <a:bodyPr wrap="square" rtlCol="0">
            <a:spAutoFit/>
          </a:bodyPr>
          <a:lstStyle/>
          <a:p>
            <a:r>
              <a:rPr lang="en-US" sz="1200" b="1" dirty="0"/>
              <a:t>Negative binomial</a:t>
            </a:r>
            <a:r>
              <a:rPr lang="en-US" sz="1200" dirty="0"/>
              <a:t>: a discrete distribution bounded at zero with a long right tail and a dispersion parameter (α)</a:t>
            </a:r>
          </a:p>
          <a:p>
            <a:r>
              <a:rPr lang="en-US" dirty="0"/>
              <a:t> </a:t>
            </a:r>
          </a:p>
        </p:txBody>
      </p:sp>
    </p:spTree>
    <p:extLst>
      <p:ext uri="{BB962C8B-B14F-4D97-AF65-F5344CB8AC3E}">
        <p14:creationId xmlns:p14="http://schemas.microsoft.com/office/powerpoint/2010/main" val="2497151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3" grpId="0"/>
      <p:bldP spid="1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01280D35-5E27-A008-8744-7EB5807797BB}"/>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6CD334F3-FDAC-9309-8BD5-4A30FE59C11B}"/>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b="1" dirty="0">
                <a:solidFill>
                  <a:srgbClr val="000000"/>
                </a:solidFill>
                <a:latin typeface="Arial" panose="020B0604020202020204" pitchFamily="34" charset="0"/>
              </a:rPr>
              <a:t>DESeq2 </a:t>
            </a:r>
            <a:endParaRPr dirty="0"/>
          </a:p>
        </p:txBody>
      </p:sp>
      <p:sp>
        <p:nvSpPr>
          <p:cNvPr id="2" name="TextBox 1">
            <a:extLst>
              <a:ext uri="{FF2B5EF4-FFF2-40B4-BE49-F238E27FC236}">
                <a16:creationId xmlns:a16="http://schemas.microsoft.com/office/drawing/2014/main" id="{754F4EA2-1C67-D3D5-C9B3-6707BFF78E9D}"/>
              </a:ext>
            </a:extLst>
          </p:cNvPr>
          <p:cNvSpPr txBox="1"/>
          <p:nvPr/>
        </p:nvSpPr>
        <p:spPr>
          <a:xfrm>
            <a:off x="310965" y="729913"/>
            <a:ext cx="6125395" cy="307777"/>
          </a:xfrm>
          <a:prstGeom prst="rect">
            <a:avLst/>
          </a:prstGeom>
          <a:noFill/>
        </p:spPr>
        <p:txBody>
          <a:bodyPr wrap="none" rtlCol="0">
            <a:spAutoFit/>
          </a:bodyPr>
          <a:lstStyle/>
          <a:p>
            <a:r>
              <a:rPr lang="en-US" dirty="0">
                <a:latin typeface="Arial" panose="020B0604020202020204" pitchFamily="34" charset="0"/>
              </a:rPr>
              <a:t>Estimates variance across genes, shrinks noisy estimates, tests each gene</a:t>
            </a:r>
          </a:p>
        </p:txBody>
      </p:sp>
      <p:pic>
        <p:nvPicPr>
          <p:cNvPr id="2050" name="Picture 2" descr="Ensuring Reproducible Transcriptomic Analysis with DESeq2 and tximeta - CZI">
            <a:extLst>
              <a:ext uri="{FF2B5EF4-FFF2-40B4-BE49-F238E27FC236}">
                <a16:creationId xmlns:a16="http://schemas.microsoft.com/office/drawing/2014/main" id="{A1AE0BF5-D7B0-D980-8AB7-C4D3ADB1C5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3643" y="83583"/>
            <a:ext cx="814525" cy="954107"/>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F2202770-D40F-DB89-0E03-0CEB9E3266D0}"/>
              </a:ext>
            </a:extLst>
          </p:cNvPr>
          <p:cNvGrpSpPr/>
          <p:nvPr/>
        </p:nvGrpSpPr>
        <p:grpSpPr>
          <a:xfrm>
            <a:off x="311700" y="1153050"/>
            <a:ext cx="5183039" cy="3753650"/>
            <a:chOff x="167321" y="1329987"/>
            <a:chExt cx="5183039" cy="3753650"/>
          </a:xfrm>
        </p:grpSpPr>
        <p:cxnSp>
          <p:nvCxnSpPr>
            <p:cNvPr id="19" name="Straight Connector 18">
              <a:extLst>
                <a:ext uri="{FF2B5EF4-FFF2-40B4-BE49-F238E27FC236}">
                  <a16:creationId xmlns:a16="http://schemas.microsoft.com/office/drawing/2014/main" id="{68FB6579-941D-17D5-633F-A4E46865A0EC}"/>
                </a:ext>
              </a:extLst>
            </p:cNvPr>
            <p:cNvCxnSpPr>
              <a:cxnSpLocks/>
              <a:stCxn id="11" idx="0"/>
              <a:endCxn id="10" idx="2"/>
            </p:cNvCxnSpPr>
            <p:nvPr/>
          </p:nvCxnSpPr>
          <p:spPr>
            <a:xfrm flipV="1">
              <a:off x="712912" y="4441246"/>
              <a:ext cx="2025475" cy="2140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3D57A05-8866-ADA7-1F94-F85584EE8625}"/>
                </a:ext>
              </a:extLst>
            </p:cNvPr>
            <p:cNvCxnSpPr>
              <a:cxnSpLocks/>
              <a:stCxn id="12" idx="0"/>
              <a:endCxn id="10" idx="2"/>
            </p:cNvCxnSpPr>
            <p:nvPr/>
          </p:nvCxnSpPr>
          <p:spPr>
            <a:xfrm flipV="1">
              <a:off x="2076942" y="4441246"/>
              <a:ext cx="661445" cy="21406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E138487-2452-C472-4997-7940F768B1E1}"/>
                </a:ext>
              </a:extLst>
            </p:cNvPr>
            <p:cNvCxnSpPr>
              <a:cxnSpLocks/>
              <a:stCxn id="13" idx="0"/>
              <a:endCxn id="10" idx="2"/>
            </p:cNvCxnSpPr>
            <p:nvPr/>
          </p:nvCxnSpPr>
          <p:spPr>
            <a:xfrm flipH="1" flipV="1">
              <a:off x="2738387" y="4441246"/>
              <a:ext cx="702585" cy="21315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FD95675-6064-859E-2E71-B73C676678F6}"/>
                </a:ext>
              </a:extLst>
            </p:cNvPr>
            <p:cNvCxnSpPr>
              <a:cxnSpLocks/>
              <a:stCxn id="14" idx="0"/>
              <a:endCxn id="10" idx="2"/>
            </p:cNvCxnSpPr>
            <p:nvPr/>
          </p:nvCxnSpPr>
          <p:spPr>
            <a:xfrm flipH="1" flipV="1">
              <a:off x="2738387" y="4441246"/>
              <a:ext cx="2066382" cy="21360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E2A6348-CA49-A327-C85C-28DAAF2AAD73}"/>
                </a:ext>
              </a:extLst>
            </p:cNvPr>
            <p:cNvCxnSpPr>
              <a:cxnSpLocks/>
              <a:stCxn id="6" idx="0"/>
              <a:endCxn id="10" idx="0"/>
            </p:cNvCxnSpPr>
            <p:nvPr/>
          </p:nvCxnSpPr>
          <p:spPr>
            <a:xfrm>
              <a:off x="2738387" y="1329987"/>
              <a:ext cx="0" cy="2682934"/>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6" name="Rounded Rectangle 5">
              <a:extLst>
                <a:ext uri="{FF2B5EF4-FFF2-40B4-BE49-F238E27FC236}">
                  <a16:creationId xmlns:a16="http://schemas.microsoft.com/office/drawing/2014/main" id="{F029273A-4DC7-2D4F-79CB-D19A68B60428}"/>
                </a:ext>
              </a:extLst>
            </p:cNvPr>
            <p:cNvSpPr/>
            <p:nvPr/>
          </p:nvSpPr>
          <p:spPr>
            <a:xfrm>
              <a:off x="1915427" y="1329987"/>
              <a:ext cx="1645920" cy="428325"/>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Raw count matrix</a:t>
              </a:r>
            </a:p>
          </p:txBody>
        </p:sp>
        <p:sp>
          <p:nvSpPr>
            <p:cNvPr id="7" name="Rounded Rectangle 6">
              <a:extLst>
                <a:ext uri="{FF2B5EF4-FFF2-40B4-BE49-F238E27FC236}">
                  <a16:creationId xmlns:a16="http://schemas.microsoft.com/office/drawing/2014/main" id="{CD87185E-D794-2C19-1F58-7E0CDD9ACBF6}"/>
                </a:ext>
              </a:extLst>
            </p:cNvPr>
            <p:cNvSpPr/>
            <p:nvPr/>
          </p:nvSpPr>
          <p:spPr>
            <a:xfrm>
              <a:off x="1402882" y="1921383"/>
              <a:ext cx="2671010" cy="428325"/>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dirty="0"/>
                <a:t>Step 1: Size factor estimation</a:t>
              </a:r>
            </a:p>
            <a:p>
              <a:pPr algn="ctr"/>
              <a:r>
                <a:rPr lang="en-US" sz="1000" dirty="0"/>
                <a:t>Normalize for sequencing depth</a:t>
              </a:r>
            </a:p>
          </p:txBody>
        </p:sp>
        <p:sp>
          <p:nvSpPr>
            <p:cNvPr id="8" name="Rounded Rectangle 7">
              <a:extLst>
                <a:ext uri="{FF2B5EF4-FFF2-40B4-BE49-F238E27FC236}">
                  <a16:creationId xmlns:a16="http://schemas.microsoft.com/office/drawing/2014/main" id="{22E97C7B-6FDB-BBD7-1F41-4292BE6936BE}"/>
                </a:ext>
              </a:extLst>
            </p:cNvPr>
            <p:cNvSpPr/>
            <p:nvPr/>
          </p:nvSpPr>
          <p:spPr>
            <a:xfrm>
              <a:off x="1402882" y="2656032"/>
              <a:ext cx="2671010" cy="4283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Step 2: Dispersion estimation</a:t>
              </a:r>
            </a:p>
            <a:p>
              <a:pPr algn="ctr"/>
              <a:r>
                <a:rPr lang="en-US" sz="1000" dirty="0"/>
                <a:t>Shrunk towards fitted trend</a:t>
              </a:r>
            </a:p>
          </p:txBody>
        </p:sp>
        <p:sp>
          <p:nvSpPr>
            <p:cNvPr id="9" name="Rounded Rectangle 8">
              <a:extLst>
                <a:ext uri="{FF2B5EF4-FFF2-40B4-BE49-F238E27FC236}">
                  <a16:creationId xmlns:a16="http://schemas.microsoft.com/office/drawing/2014/main" id="{643B7757-AC7C-FF5B-0047-9B29CD25DBC6}"/>
                </a:ext>
              </a:extLst>
            </p:cNvPr>
            <p:cNvSpPr/>
            <p:nvPr/>
          </p:nvSpPr>
          <p:spPr>
            <a:xfrm>
              <a:off x="1402882" y="3372351"/>
              <a:ext cx="2671010" cy="42832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dirty="0"/>
                <a:t>Step 3: GLM fitting and Wald test</a:t>
              </a:r>
            </a:p>
            <a:p>
              <a:pPr algn="ctr"/>
              <a:r>
                <a:rPr lang="en-US" sz="1000" dirty="0"/>
                <a:t>NB GLM per gene, test log, fold change</a:t>
              </a:r>
            </a:p>
          </p:txBody>
        </p:sp>
        <p:sp>
          <p:nvSpPr>
            <p:cNvPr id="10" name="Rounded Rectangle 9">
              <a:extLst>
                <a:ext uri="{FF2B5EF4-FFF2-40B4-BE49-F238E27FC236}">
                  <a16:creationId xmlns:a16="http://schemas.microsoft.com/office/drawing/2014/main" id="{224FA136-80FE-3353-DF07-F7C5ACCD7445}"/>
                </a:ext>
              </a:extLst>
            </p:cNvPr>
            <p:cNvSpPr/>
            <p:nvPr/>
          </p:nvSpPr>
          <p:spPr>
            <a:xfrm>
              <a:off x="1915427" y="4012921"/>
              <a:ext cx="1645920" cy="428325"/>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Results table</a:t>
              </a:r>
            </a:p>
          </p:txBody>
        </p:sp>
        <p:sp>
          <p:nvSpPr>
            <p:cNvPr id="11" name="Rounded Rectangle 10">
              <a:extLst>
                <a:ext uri="{FF2B5EF4-FFF2-40B4-BE49-F238E27FC236}">
                  <a16:creationId xmlns:a16="http://schemas.microsoft.com/office/drawing/2014/main" id="{80552963-6E98-37D4-BF80-3CB13FB9A0DB}"/>
                </a:ext>
              </a:extLst>
            </p:cNvPr>
            <p:cNvSpPr/>
            <p:nvPr/>
          </p:nvSpPr>
          <p:spPr>
            <a:xfrm>
              <a:off x="167321" y="4655312"/>
              <a:ext cx="1091182" cy="428325"/>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Log2 FC</a:t>
              </a:r>
            </a:p>
            <a:p>
              <a:pPr algn="ctr"/>
              <a:r>
                <a:rPr lang="en-US" sz="800" dirty="0">
                  <a:solidFill>
                    <a:schemeClr val="tx1"/>
                  </a:solidFill>
                </a:rPr>
                <a:t>Effect size</a:t>
              </a:r>
            </a:p>
          </p:txBody>
        </p:sp>
        <p:sp>
          <p:nvSpPr>
            <p:cNvPr id="12" name="Rounded Rectangle 11">
              <a:extLst>
                <a:ext uri="{FF2B5EF4-FFF2-40B4-BE49-F238E27FC236}">
                  <a16:creationId xmlns:a16="http://schemas.microsoft.com/office/drawing/2014/main" id="{8EBDA7FE-6280-AA49-DF25-C0C89B7B627A}"/>
                </a:ext>
              </a:extLst>
            </p:cNvPr>
            <p:cNvSpPr/>
            <p:nvPr/>
          </p:nvSpPr>
          <p:spPr>
            <a:xfrm>
              <a:off x="1531351" y="4655311"/>
              <a:ext cx="1091182" cy="428325"/>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p-value</a:t>
              </a:r>
            </a:p>
            <a:p>
              <a:pPr algn="ctr"/>
              <a:r>
                <a:rPr lang="en-US" sz="800" dirty="0">
                  <a:solidFill>
                    <a:schemeClr val="tx1"/>
                  </a:solidFill>
                </a:rPr>
                <a:t>Wald test stat</a:t>
              </a:r>
            </a:p>
          </p:txBody>
        </p:sp>
        <p:sp>
          <p:nvSpPr>
            <p:cNvPr id="13" name="Rounded Rectangle 12">
              <a:extLst>
                <a:ext uri="{FF2B5EF4-FFF2-40B4-BE49-F238E27FC236}">
                  <a16:creationId xmlns:a16="http://schemas.microsoft.com/office/drawing/2014/main" id="{18B40033-50F1-CBF8-F732-5811D163EE04}"/>
                </a:ext>
              </a:extLst>
            </p:cNvPr>
            <p:cNvSpPr/>
            <p:nvPr/>
          </p:nvSpPr>
          <p:spPr>
            <a:xfrm>
              <a:off x="2895381" y="4654401"/>
              <a:ext cx="1091182" cy="428325"/>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padj</a:t>
              </a:r>
              <a:endParaRPr lang="en-US" sz="1200" dirty="0">
                <a:solidFill>
                  <a:schemeClr val="tx1"/>
                </a:solidFill>
              </a:endParaRPr>
            </a:p>
            <a:p>
              <a:pPr algn="ctr"/>
              <a:r>
                <a:rPr lang="en-US" sz="800" dirty="0">
                  <a:solidFill>
                    <a:schemeClr val="tx1"/>
                  </a:solidFill>
                </a:rPr>
                <a:t>BH correction</a:t>
              </a:r>
            </a:p>
          </p:txBody>
        </p:sp>
        <p:sp>
          <p:nvSpPr>
            <p:cNvPr id="14" name="Rounded Rectangle 13">
              <a:extLst>
                <a:ext uri="{FF2B5EF4-FFF2-40B4-BE49-F238E27FC236}">
                  <a16:creationId xmlns:a16="http://schemas.microsoft.com/office/drawing/2014/main" id="{75083265-DDA5-F1EF-44F9-04803638295A}"/>
                </a:ext>
              </a:extLst>
            </p:cNvPr>
            <p:cNvSpPr/>
            <p:nvPr/>
          </p:nvSpPr>
          <p:spPr>
            <a:xfrm>
              <a:off x="4259178" y="4654853"/>
              <a:ext cx="1091182" cy="428325"/>
            </a:xfrm>
            <a:prstGeom prst="roundRect">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err="1">
                  <a:solidFill>
                    <a:schemeClr val="tx1"/>
                  </a:solidFill>
                </a:rPr>
                <a:t>baseMean</a:t>
              </a:r>
              <a:endParaRPr lang="en-US" sz="1200" dirty="0">
                <a:solidFill>
                  <a:schemeClr val="tx1"/>
                </a:solidFill>
              </a:endParaRPr>
            </a:p>
            <a:p>
              <a:pPr algn="ctr"/>
              <a:r>
                <a:rPr lang="en-US" sz="800" dirty="0">
                  <a:solidFill>
                    <a:schemeClr val="tx1"/>
                  </a:solidFill>
                </a:rPr>
                <a:t>average expression</a:t>
              </a:r>
            </a:p>
          </p:txBody>
        </p:sp>
      </p:grpSp>
      <p:sp>
        <p:nvSpPr>
          <p:cNvPr id="34" name="TextBox 33">
            <a:extLst>
              <a:ext uri="{FF2B5EF4-FFF2-40B4-BE49-F238E27FC236}">
                <a16:creationId xmlns:a16="http://schemas.microsoft.com/office/drawing/2014/main" id="{5FCFAB9F-6569-5704-ED1E-B25607FC66F4}"/>
              </a:ext>
            </a:extLst>
          </p:cNvPr>
          <p:cNvSpPr txBox="1"/>
          <p:nvPr/>
        </p:nvSpPr>
        <p:spPr>
          <a:xfrm>
            <a:off x="4843018" y="1430402"/>
            <a:ext cx="3596637" cy="954107"/>
          </a:xfrm>
          <a:prstGeom prst="rect">
            <a:avLst/>
          </a:prstGeom>
          <a:solidFill>
            <a:schemeClr val="accent3">
              <a:lumMod val="20000"/>
              <a:lumOff val="80000"/>
            </a:schemeClr>
          </a:solidFill>
          <a:ln w="19050">
            <a:solidFill>
              <a:schemeClr val="accent5"/>
            </a:solidFill>
          </a:ln>
        </p:spPr>
        <p:txBody>
          <a:bodyPr wrap="square">
            <a:spAutoFit/>
          </a:bodyPr>
          <a:lstStyle/>
          <a:p>
            <a:r>
              <a:rPr lang="en-US" sz="800" dirty="0">
                <a:solidFill>
                  <a:srgbClr val="6E7687"/>
                </a:solidFill>
                <a:effectLst/>
                <a:latin typeface="Menlo" panose="020B0609030804020204" pitchFamily="49" charset="0"/>
                <a:ea typeface="Menlo" panose="020B0609030804020204" pitchFamily="49" charset="0"/>
                <a:cs typeface="Menlo" panose="020B0609030804020204" pitchFamily="49" charset="0"/>
              </a:rPr>
              <a:t># One condition, two groups (e.g. treated vs untreated)</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err="1">
                <a:latin typeface="Menlo" panose="020B0609030804020204" pitchFamily="49" charset="0"/>
                <a:ea typeface="Menlo" panose="020B0609030804020204" pitchFamily="49" charset="0"/>
                <a:cs typeface="Menlo" panose="020B0609030804020204" pitchFamily="49" charset="0"/>
              </a:rPr>
              <a:t>dds</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&lt;-</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err="1">
                <a:latin typeface="Menlo" panose="020B0609030804020204" pitchFamily="49" charset="0"/>
                <a:ea typeface="Menlo" panose="020B0609030804020204" pitchFamily="49" charset="0"/>
                <a:cs typeface="Menlo" panose="020B0609030804020204" pitchFamily="49" charset="0"/>
              </a:rPr>
              <a:t>DESeqDataSetFromMatrix</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err="1">
                <a:latin typeface="Menlo" panose="020B0609030804020204" pitchFamily="49" charset="0"/>
                <a:ea typeface="Menlo" panose="020B0609030804020204" pitchFamily="49" charset="0"/>
                <a:cs typeface="Menlo" panose="020B0609030804020204" pitchFamily="49" charset="0"/>
              </a:rPr>
              <a:t>countData</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counts</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err="1">
                <a:latin typeface="Menlo" panose="020B0609030804020204" pitchFamily="49" charset="0"/>
                <a:ea typeface="Menlo" panose="020B0609030804020204" pitchFamily="49" charset="0"/>
                <a:cs typeface="Menlo" panose="020B0609030804020204" pitchFamily="49" charset="0"/>
              </a:rPr>
              <a:t>colData</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metadata</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a:latin typeface="Menlo" panose="020B0609030804020204" pitchFamily="49" charset="0"/>
                <a:ea typeface="Menlo" panose="020B0609030804020204" pitchFamily="49" charset="0"/>
                <a:cs typeface="Menlo" panose="020B0609030804020204" pitchFamily="49" charset="0"/>
              </a:rPr>
              <a:t>		</a:t>
            </a:r>
            <a:r>
              <a:rPr lang="en-US" sz="800" b="1" dirty="0">
                <a:latin typeface="Menlo" panose="020B0609030804020204" pitchFamily="49" charset="0"/>
                <a:ea typeface="Menlo" panose="020B0609030804020204" pitchFamily="49" charset="0"/>
                <a:cs typeface="Menlo" panose="020B0609030804020204" pitchFamily="49" charset="0"/>
              </a:rPr>
              <a:t>design </a:t>
            </a:r>
            <a:r>
              <a:rPr lang="en-US" sz="800" b="1"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a:t>
            </a:r>
            <a:r>
              <a:rPr lang="en-US" sz="800" b="1"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condition</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p>
          <a:p>
            <a:endParaRPr lang="en-US" sz="800" dirty="0">
              <a:solidFill>
                <a:srgbClr val="2B303B"/>
              </a:solidFill>
              <a:latin typeface="Menlo" panose="020B0609030804020204" pitchFamily="49" charset="0"/>
              <a:ea typeface="Menlo" panose="020B0609030804020204" pitchFamily="49" charset="0"/>
              <a:cs typeface="Menlo" panose="020B0609030804020204" pitchFamily="49" charset="0"/>
            </a:endParaRPr>
          </a:p>
          <a:p>
            <a:r>
              <a:rPr lang="en-US" sz="800" dirty="0">
                <a:solidFill>
                  <a:schemeClr val="bg1">
                    <a:lumMod val="50000"/>
                  </a:schemeClr>
                </a:solidFill>
                <a:latin typeface="Menlo" panose="020B0609030804020204" pitchFamily="49" charset="0"/>
                <a:ea typeface="Menlo" panose="020B0609030804020204" pitchFamily="49" charset="0"/>
                <a:cs typeface="Menlo" panose="020B0609030804020204" pitchFamily="49" charset="0"/>
              </a:rPr>
              <a:t># Then specify the contrast you want explicitly </a:t>
            </a:r>
            <a:r>
              <a:rPr lang="en-US" sz="800" dirty="0">
                <a:latin typeface="Menlo" panose="020B0609030804020204" pitchFamily="49" charset="0"/>
                <a:ea typeface="Menlo" panose="020B0609030804020204" pitchFamily="49" charset="0"/>
                <a:cs typeface="Menlo" panose="020B0609030804020204" pitchFamily="49" charset="0"/>
              </a:rPr>
              <a:t>results(</a:t>
            </a:r>
            <a:r>
              <a:rPr lang="en-US" sz="800" dirty="0" err="1">
                <a:latin typeface="Menlo" panose="020B0609030804020204" pitchFamily="49" charset="0"/>
                <a:ea typeface="Menlo" panose="020B0609030804020204" pitchFamily="49" charset="0"/>
                <a:cs typeface="Menlo" panose="020B0609030804020204" pitchFamily="49" charset="0"/>
              </a:rPr>
              <a:t>dds</a:t>
            </a:r>
            <a:r>
              <a:rPr lang="en-US" sz="800" dirty="0">
                <a:latin typeface="Menlo" panose="020B0609030804020204" pitchFamily="49" charset="0"/>
                <a:ea typeface="Menlo" panose="020B0609030804020204" pitchFamily="49" charset="0"/>
                <a:cs typeface="Menlo" panose="020B0609030804020204" pitchFamily="49" charset="0"/>
              </a:rPr>
              <a:t>, contrast = c("condition", "day7", "day0"))</a:t>
            </a:r>
          </a:p>
        </p:txBody>
      </p:sp>
      <p:sp>
        <p:nvSpPr>
          <p:cNvPr id="36" name="TextBox 35">
            <a:extLst>
              <a:ext uri="{FF2B5EF4-FFF2-40B4-BE49-F238E27FC236}">
                <a16:creationId xmlns:a16="http://schemas.microsoft.com/office/drawing/2014/main" id="{A3D66D15-07A3-6EE3-3E36-58CF5DB2248E}"/>
              </a:ext>
            </a:extLst>
          </p:cNvPr>
          <p:cNvSpPr txBox="1"/>
          <p:nvPr/>
        </p:nvSpPr>
        <p:spPr>
          <a:xfrm>
            <a:off x="4843018" y="2628754"/>
            <a:ext cx="3845557" cy="707886"/>
          </a:xfrm>
          <a:prstGeom prst="rect">
            <a:avLst/>
          </a:prstGeom>
          <a:solidFill>
            <a:schemeClr val="accent3">
              <a:lumMod val="20000"/>
              <a:lumOff val="80000"/>
            </a:schemeClr>
          </a:solidFill>
          <a:ln w="19050">
            <a:solidFill>
              <a:schemeClr val="accent5"/>
            </a:solidFill>
          </a:ln>
        </p:spPr>
        <p:txBody>
          <a:bodyPr wrap="square">
            <a:spAutoFit/>
          </a:bodyPr>
          <a:lstStyle/>
          <a:p>
            <a:r>
              <a:rPr lang="en-US" sz="800" dirty="0">
                <a:solidFill>
                  <a:srgbClr val="6E7687"/>
                </a:solidFill>
                <a:effectLst/>
                <a:latin typeface="Menlo" panose="020B0609030804020204" pitchFamily="49" charset="0"/>
                <a:ea typeface="Menlo" panose="020B0609030804020204" pitchFamily="49" charset="0"/>
                <a:cs typeface="Menlo" panose="020B0609030804020204" pitchFamily="49" charset="0"/>
              </a:rPr>
              <a:t># You have a batch effect you want to account for</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a:solidFill>
                  <a:srgbClr val="6E7687"/>
                </a:solidFill>
                <a:effectLst/>
                <a:latin typeface="Menlo" panose="020B0609030804020204" pitchFamily="49" charset="0"/>
                <a:ea typeface="Menlo" panose="020B0609030804020204" pitchFamily="49" charset="0"/>
                <a:cs typeface="Menlo" panose="020B0609030804020204" pitchFamily="49" charset="0"/>
              </a:rPr>
              <a:t># batch is controlled for, condition is tested</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err="1">
                <a:latin typeface="Menlo" panose="020B0609030804020204" pitchFamily="49" charset="0"/>
                <a:ea typeface="Menlo" panose="020B0609030804020204" pitchFamily="49" charset="0"/>
                <a:cs typeface="Menlo" panose="020B0609030804020204" pitchFamily="49" charset="0"/>
              </a:rPr>
              <a:t>dds</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&lt;-</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err="1">
                <a:latin typeface="Menlo" panose="020B0609030804020204" pitchFamily="49" charset="0"/>
                <a:ea typeface="Menlo" panose="020B0609030804020204" pitchFamily="49" charset="0"/>
                <a:cs typeface="Menlo" panose="020B0609030804020204" pitchFamily="49" charset="0"/>
              </a:rPr>
              <a:t>DESeqDataSetFromMatrix</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err="1">
                <a:latin typeface="Menlo" panose="020B0609030804020204" pitchFamily="49" charset="0"/>
                <a:ea typeface="Menlo" panose="020B0609030804020204" pitchFamily="49" charset="0"/>
                <a:cs typeface="Menlo" panose="020B0609030804020204" pitchFamily="49" charset="0"/>
              </a:rPr>
              <a:t>countData</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counts</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err="1">
                <a:latin typeface="Menlo" panose="020B0609030804020204" pitchFamily="49" charset="0"/>
                <a:ea typeface="Menlo" panose="020B0609030804020204" pitchFamily="49" charset="0"/>
                <a:cs typeface="Menlo" panose="020B0609030804020204" pitchFamily="49" charset="0"/>
              </a:rPr>
              <a:t>colData</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metadata</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b="1" dirty="0">
                <a:latin typeface="Menlo" panose="020B0609030804020204" pitchFamily="49" charset="0"/>
                <a:ea typeface="Menlo" panose="020B0609030804020204" pitchFamily="49" charset="0"/>
                <a:cs typeface="Menlo" panose="020B0609030804020204" pitchFamily="49" charset="0"/>
              </a:rPr>
              <a:t>design </a:t>
            </a:r>
            <a:r>
              <a:rPr lang="en-US" sz="800" b="1"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a:t>
            </a:r>
            <a:r>
              <a:rPr lang="en-US" sz="800" b="1"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batch </a:t>
            </a:r>
            <a:r>
              <a:rPr lang="en-US" sz="800" b="1"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condition</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endParaRPr lang="en-US" sz="800" dirty="0">
              <a:latin typeface="Menlo" panose="020B0609030804020204" pitchFamily="49" charset="0"/>
              <a:ea typeface="Menlo" panose="020B0609030804020204" pitchFamily="49" charset="0"/>
              <a:cs typeface="Menlo" panose="020B0609030804020204" pitchFamily="49" charset="0"/>
            </a:endParaRPr>
          </a:p>
        </p:txBody>
      </p:sp>
      <p:sp>
        <p:nvSpPr>
          <p:cNvPr id="38" name="TextBox 37">
            <a:extLst>
              <a:ext uri="{FF2B5EF4-FFF2-40B4-BE49-F238E27FC236}">
                <a16:creationId xmlns:a16="http://schemas.microsoft.com/office/drawing/2014/main" id="{89D98552-32AD-F200-418E-7C4B39B945A5}"/>
              </a:ext>
            </a:extLst>
          </p:cNvPr>
          <p:cNvSpPr txBox="1"/>
          <p:nvPr/>
        </p:nvSpPr>
        <p:spPr>
          <a:xfrm>
            <a:off x="4843018" y="3586989"/>
            <a:ext cx="3484880" cy="584775"/>
          </a:xfrm>
          <a:prstGeom prst="rect">
            <a:avLst/>
          </a:prstGeom>
          <a:solidFill>
            <a:schemeClr val="accent3">
              <a:lumMod val="20000"/>
              <a:lumOff val="80000"/>
            </a:schemeClr>
          </a:solidFill>
          <a:ln w="19050">
            <a:solidFill>
              <a:schemeClr val="accent5"/>
            </a:solidFill>
          </a:ln>
        </p:spPr>
        <p:txBody>
          <a:bodyPr wrap="square">
            <a:spAutoFit/>
          </a:bodyPr>
          <a:lstStyle/>
          <a:p>
            <a:r>
              <a:rPr lang="en-US" sz="800" dirty="0">
                <a:solidFill>
                  <a:srgbClr val="6E7687"/>
                </a:solidFill>
                <a:effectLst/>
                <a:latin typeface="Menlo" panose="020B0609030804020204" pitchFamily="49" charset="0"/>
                <a:ea typeface="Menlo" panose="020B0609030804020204" pitchFamily="49" charset="0"/>
                <a:cs typeface="Menlo" panose="020B0609030804020204" pitchFamily="49" charset="0"/>
              </a:rPr>
              <a:t># Tests whether treatment effect depends on genotype</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err="1">
                <a:latin typeface="Menlo" panose="020B0609030804020204" pitchFamily="49" charset="0"/>
                <a:ea typeface="Menlo" panose="020B0609030804020204" pitchFamily="49" charset="0"/>
                <a:cs typeface="Menlo" panose="020B0609030804020204" pitchFamily="49" charset="0"/>
              </a:rPr>
              <a:t>dds</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&lt;-</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err="1">
                <a:latin typeface="Menlo" panose="020B0609030804020204" pitchFamily="49" charset="0"/>
                <a:ea typeface="Menlo" panose="020B0609030804020204" pitchFamily="49" charset="0"/>
                <a:cs typeface="Menlo" panose="020B0609030804020204" pitchFamily="49" charset="0"/>
              </a:rPr>
              <a:t>DESeqDataSetFromMatrix</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err="1">
                <a:latin typeface="Menlo" panose="020B0609030804020204" pitchFamily="49" charset="0"/>
                <a:ea typeface="Menlo" panose="020B0609030804020204" pitchFamily="49" charset="0"/>
                <a:cs typeface="Menlo" panose="020B0609030804020204" pitchFamily="49" charset="0"/>
              </a:rPr>
              <a:t>countData</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counts</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err="1">
                <a:latin typeface="Menlo" panose="020B0609030804020204" pitchFamily="49" charset="0"/>
                <a:ea typeface="Menlo" panose="020B0609030804020204" pitchFamily="49" charset="0"/>
                <a:cs typeface="Menlo" panose="020B0609030804020204" pitchFamily="49" charset="0"/>
              </a:rPr>
              <a:t>colData</a:t>
            </a:r>
            <a:r>
              <a:rPr lang="en-US" sz="800" dirty="0">
                <a:latin typeface="Menlo" panose="020B0609030804020204" pitchFamily="49" charset="0"/>
                <a:ea typeface="Menlo" panose="020B0609030804020204" pitchFamily="49" charset="0"/>
                <a:cs typeface="Menlo" panose="020B0609030804020204" pitchFamily="49" charset="0"/>
              </a:rPr>
              <a:t> </a:t>
            </a:r>
            <a:r>
              <a:rPr lang="en-US" sz="800"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metadata</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a:t>
            </a:r>
          </a:p>
          <a:p>
            <a:r>
              <a:rPr lang="en-US" sz="800" dirty="0">
                <a:latin typeface="Menlo" panose="020B0609030804020204" pitchFamily="49" charset="0"/>
                <a:ea typeface="Menlo" panose="020B0609030804020204" pitchFamily="49" charset="0"/>
                <a:cs typeface="Menlo" panose="020B0609030804020204" pitchFamily="49" charset="0"/>
              </a:rPr>
              <a:t>	</a:t>
            </a:r>
            <a:r>
              <a:rPr lang="en-US" sz="800" b="1" dirty="0">
                <a:latin typeface="Menlo" panose="020B0609030804020204" pitchFamily="49" charset="0"/>
                <a:ea typeface="Menlo" panose="020B0609030804020204" pitchFamily="49" charset="0"/>
                <a:cs typeface="Menlo" panose="020B0609030804020204" pitchFamily="49" charset="0"/>
              </a:rPr>
              <a:t>design </a:t>
            </a:r>
            <a:r>
              <a:rPr lang="en-US" sz="800" b="1"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a:t>
            </a:r>
            <a:r>
              <a:rPr lang="en-US" sz="800" b="1" dirty="0">
                <a:solidFill>
                  <a:srgbClr val="14181F"/>
                </a:solidFill>
                <a:effectLst/>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genotype </a:t>
            </a:r>
            <a:r>
              <a:rPr lang="en-US" sz="800" b="1" dirty="0">
                <a:solidFill>
                  <a:srgbClr val="14181F"/>
                </a:solidFill>
                <a:latin typeface="Menlo" panose="020B0609030804020204" pitchFamily="49" charset="0"/>
                <a:ea typeface="Menlo" panose="020B0609030804020204" pitchFamily="49" charset="0"/>
                <a:cs typeface="Menlo" panose="020B0609030804020204" pitchFamily="49" charset="0"/>
              </a:rPr>
              <a:t>*</a:t>
            </a:r>
            <a:r>
              <a:rPr lang="en-US" sz="800" b="1" dirty="0">
                <a:latin typeface="Menlo" panose="020B0609030804020204" pitchFamily="49" charset="0"/>
                <a:ea typeface="Menlo" panose="020B0609030804020204" pitchFamily="49" charset="0"/>
                <a:cs typeface="Menlo" panose="020B0609030804020204" pitchFamily="49" charset="0"/>
              </a:rPr>
              <a:t> treatment</a:t>
            </a:r>
            <a:r>
              <a:rPr lang="en-US" sz="800" dirty="0">
                <a:solidFill>
                  <a:srgbClr val="2B303B"/>
                </a:solidFill>
                <a:effectLst/>
                <a:latin typeface="Menlo" panose="020B0609030804020204" pitchFamily="49" charset="0"/>
                <a:ea typeface="Menlo" panose="020B0609030804020204" pitchFamily="49" charset="0"/>
                <a:cs typeface="Menlo" panose="020B0609030804020204" pitchFamily="49" charset="0"/>
              </a:rPr>
              <a:t>)</a:t>
            </a:r>
            <a:r>
              <a:rPr lang="en-US" sz="800" dirty="0">
                <a:latin typeface="Menlo" panose="020B0609030804020204" pitchFamily="49" charset="0"/>
                <a:ea typeface="Menlo" panose="020B0609030804020204" pitchFamily="49" charset="0"/>
                <a:cs typeface="Menlo" panose="020B0609030804020204" pitchFamily="49" charset="0"/>
              </a:rPr>
              <a:t> </a:t>
            </a:r>
          </a:p>
        </p:txBody>
      </p:sp>
      <p:sp>
        <p:nvSpPr>
          <p:cNvPr id="39" name="TextBox 38">
            <a:extLst>
              <a:ext uri="{FF2B5EF4-FFF2-40B4-BE49-F238E27FC236}">
                <a16:creationId xmlns:a16="http://schemas.microsoft.com/office/drawing/2014/main" id="{300248B8-5EFB-C53E-A38F-AB81EF5D7F29}"/>
              </a:ext>
            </a:extLst>
          </p:cNvPr>
          <p:cNvSpPr txBox="1"/>
          <p:nvPr/>
        </p:nvSpPr>
        <p:spPr>
          <a:xfrm>
            <a:off x="4739165" y="1153050"/>
            <a:ext cx="2379177" cy="261610"/>
          </a:xfrm>
          <a:prstGeom prst="rect">
            <a:avLst/>
          </a:prstGeom>
          <a:noFill/>
        </p:spPr>
        <p:txBody>
          <a:bodyPr wrap="none" rtlCol="0">
            <a:spAutoFit/>
          </a:bodyPr>
          <a:lstStyle/>
          <a:p>
            <a:r>
              <a:rPr lang="en-US" sz="1100" dirty="0">
                <a:solidFill>
                  <a:schemeClr val="accent5"/>
                </a:solidFill>
              </a:rPr>
              <a:t>The model is based on your design</a:t>
            </a:r>
          </a:p>
        </p:txBody>
      </p:sp>
    </p:spTree>
    <p:extLst>
      <p:ext uri="{BB962C8B-B14F-4D97-AF65-F5344CB8AC3E}">
        <p14:creationId xmlns:p14="http://schemas.microsoft.com/office/powerpoint/2010/main" val="440749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6" grpId="0" animBg="1"/>
      <p:bldP spid="38" grpId="0" animBg="1"/>
      <p:bldP spid="3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35"/>
          <p:cNvPicPr preferRelativeResize="0"/>
          <p:nvPr/>
        </p:nvPicPr>
        <p:blipFill>
          <a:blip r:embed="rId3">
            <a:alphaModFix/>
          </a:blip>
          <a:stretch>
            <a:fillRect/>
          </a:stretch>
        </p:blipFill>
        <p:spPr>
          <a:xfrm>
            <a:off x="2922600" y="866001"/>
            <a:ext cx="3482974" cy="323685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25AA5689-F917-36AC-9492-D1056DCE790D}"/>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70D27257-9300-1130-CFA4-F74F020466D2}"/>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pPr lvl="0"/>
            <a:r>
              <a:rPr lang="en-US" dirty="0"/>
              <a:t>Example dataset</a:t>
            </a:r>
            <a:endParaRPr dirty="0"/>
          </a:p>
        </p:txBody>
      </p:sp>
      <p:sp>
        <p:nvSpPr>
          <p:cNvPr id="3" name="TextBox 2">
            <a:extLst>
              <a:ext uri="{FF2B5EF4-FFF2-40B4-BE49-F238E27FC236}">
                <a16:creationId xmlns:a16="http://schemas.microsoft.com/office/drawing/2014/main" id="{DE46A2FF-7600-3866-70B1-FFA47883B426}"/>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pic>
        <p:nvPicPr>
          <p:cNvPr id="4" name="Picture 3">
            <a:extLst>
              <a:ext uri="{FF2B5EF4-FFF2-40B4-BE49-F238E27FC236}">
                <a16:creationId xmlns:a16="http://schemas.microsoft.com/office/drawing/2014/main" id="{CC512644-98EB-AB38-2DA3-0B1B5540440A}"/>
              </a:ext>
            </a:extLst>
          </p:cNvPr>
          <p:cNvPicPr>
            <a:picLocks noChangeAspect="1"/>
          </p:cNvPicPr>
          <p:nvPr/>
        </p:nvPicPr>
        <p:blipFill>
          <a:blip r:embed="rId3"/>
          <a:stretch>
            <a:fillRect/>
          </a:stretch>
        </p:blipFill>
        <p:spPr>
          <a:xfrm>
            <a:off x="4946100" y="517648"/>
            <a:ext cx="3886200" cy="1364890"/>
          </a:xfrm>
          <a:prstGeom prst="rect">
            <a:avLst/>
          </a:prstGeom>
        </p:spPr>
      </p:pic>
      <p:pic>
        <p:nvPicPr>
          <p:cNvPr id="1026" name="Picture 2">
            <a:extLst>
              <a:ext uri="{FF2B5EF4-FFF2-40B4-BE49-F238E27FC236}">
                <a16:creationId xmlns:a16="http://schemas.microsoft.com/office/drawing/2014/main" id="{27BDD232-5F6E-AF39-87A8-AEA046D96BE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5138"/>
          <a:stretch>
            <a:fillRect/>
          </a:stretch>
        </p:blipFill>
        <p:spPr bwMode="auto">
          <a:xfrm>
            <a:off x="230917" y="1003647"/>
            <a:ext cx="4110166" cy="362164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F30AD781-AC88-00A1-9D31-0611E407BBD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5113"/>
          <a:stretch>
            <a:fillRect/>
          </a:stretch>
        </p:blipFill>
        <p:spPr bwMode="auto">
          <a:xfrm>
            <a:off x="4768519" y="2676061"/>
            <a:ext cx="4112846" cy="1949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7788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93CA7223-69BD-56F9-361A-EE2F3AB2842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70FE34-6B5E-DA4A-5F69-6051BB7CE107}"/>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2" name="Google Shape;84;p15">
            <a:extLst>
              <a:ext uri="{FF2B5EF4-FFF2-40B4-BE49-F238E27FC236}">
                <a16:creationId xmlns:a16="http://schemas.microsoft.com/office/drawing/2014/main" id="{0E9750B8-C69B-796A-B72D-79A475952F9B}"/>
              </a:ext>
            </a:extLst>
          </p:cNvPr>
          <p:cNvSpPr txBox="1">
            <a:spLocks/>
          </p:cNvSpPr>
          <p:nvPr/>
        </p:nvSpPr>
        <p:spPr>
          <a:xfrm>
            <a:off x="311700" y="236800"/>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dirty="0"/>
              <a:t>Analysis explanation</a:t>
            </a:r>
          </a:p>
        </p:txBody>
      </p:sp>
      <p:sp>
        <p:nvSpPr>
          <p:cNvPr id="5" name="Rounded Rectangle 4">
            <a:extLst>
              <a:ext uri="{FF2B5EF4-FFF2-40B4-BE49-F238E27FC236}">
                <a16:creationId xmlns:a16="http://schemas.microsoft.com/office/drawing/2014/main" id="{F88E64B5-F1AF-4AB0-745E-DEC5A14803AC}"/>
              </a:ext>
            </a:extLst>
          </p:cNvPr>
          <p:cNvSpPr/>
          <p:nvPr/>
        </p:nvSpPr>
        <p:spPr>
          <a:xfrm>
            <a:off x="4732421" y="1088696"/>
            <a:ext cx="2671010" cy="42832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t>1. Load data, setup and clean</a:t>
            </a:r>
            <a:endParaRPr lang="en-US" sz="1000" dirty="0"/>
          </a:p>
        </p:txBody>
      </p:sp>
      <p:sp>
        <p:nvSpPr>
          <p:cNvPr id="7" name="Rounded Rectangle 6">
            <a:extLst>
              <a:ext uri="{FF2B5EF4-FFF2-40B4-BE49-F238E27FC236}">
                <a16:creationId xmlns:a16="http://schemas.microsoft.com/office/drawing/2014/main" id="{9D3EECAB-57BF-6ACE-A1CA-F2A44CF77D70}"/>
              </a:ext>
            </a:extLst>
          </p:cNvPr>
          <p:cNvSpPr/>
          <p:nvPr/>
        </p:nvSpPr>
        <p:spPr>
          <a:xfrm>
            <a:off x="4732421" y="1704879"/>
            <a:ext cx="2671010" cy="428325"/>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dirty="0"/>
              <a:t>2. Run DESeq2 to find DEGs</a:t>
            </a:r>
            <a:endParaRPr lang="en-US" sz="1000" dirty="0"/>
          </a:p>
        </p:txBody>
      </p:sp>
      <p:sp>
        <p:nvSpPr>
          <p:cNvPr id="8" name="Rounded Rectangle 7">
            <a:extLst>
              <a:ext uri="{FF2B5EF4-FFF2-40B4-BE49-F238E27FC236}">
                <a16:creationId xmlns:a16="http://schemas.microsoft.com/office/drawing/2014/main" id="{70260849-F316-8AE0-E22B-CA3BC072673D}"/>
              </a:ext>
            </a:extLst>
          </p:cNvPr>
          <p:cNvSpPr/>
          <p:nvPr/>
        </p:nvSpPr>
        <p:spPr>
          <a:xfrm>
            <a:off x="4732421" y="2321062"/>
            <a:ext cx="2671010" cy="4283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3. Visualize</a:t>
            </a:r>
            <a:endParaRPr lang="en-US" sz="1000" dirty="0"/>
          </a:p>
        </p:txBody>
      </p:sp>
      <p:sp>
        <p:nvSpPr>
          <p:cNvPr id="9" name="Rounded Rectangle 8">
            <a:extLst>
              <a:ext uri="{FF2B5EF4-FFF2-40B4-BE49-F238E27FC236}">
                <a16:creationId xmlns:a16="http://schemas.microsoft.com/office/drawing/2014/main" id="{946FFA90-1E53-2A9A-6C75-FB7D9BCB5758}"/>
              </a:ext>
            </a:extLst>
          </p:cNvPr>
          <p:cNvSpPr/>
          <p:nvPr/>
        </p:nvSpPr>
        <p:spPr>
          <a:xfrm>
            <a:off x="5773821" y="3303283"/>
            <a:ext cx="1629610" cy="4283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MA plots</a:t>
            </a:r>
            <a:endParaRPr lang="en-US" sz="1000" dirty="0"/>
          </a:p>
        </p:txBody>
      </p:sp>
      <p:sp>
        <p:nvSpPr>
          <p:cNvPr id="10" name="Rounded Rectangle 9">
            <a:extLst>
              <a:ext uri="{FF2B5EF4-FFF2-40B4-BE49-F238E27FC236}">
                <a16:creationId xmlns:a16="http://schemas.microsoft.com/office/drawing/2014/main" id="{6A648697-2AAD-5083-03BA-D833373D6F85}"/>
              </a:ext>
            </a:extLst>
          </p:cNvPr>
          <p:cNvSpPr/>
          <p:nvPr/>
        </p:nvSpPr>
        <p:spPr>
          <a:xfrm>
            <a:off x="5773821" y="3801400"/>
            <a:ext cx="1629610" cy="4283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Volcano</a:t>
            </a:r>
            <a:endParaRPr lang="en-US" sz="1000" dirty="0"/>
          </a:p>
        </p:txBody>
      </p:sp>
      <p:sp>
        <p:nvSpPr>
          <p:cNvPr id="11" name="Rounded Rectangle 10">
            <a:extLst>
              <a:ext uri="{FF2B5EF4-FFF2-40B4-BE49-F238E27FC236}">
                <a16:creationId xmlns:a16="http://schemas.microsoft.com/office/drawing/2014/main" id="{BE018321-2FF9-822A-8EBF-983961E235B6}"/>
              </a:ext>
            </a:extLst>
          </p:cNvPr>
          <p:cNvSpPr/>
          <p:nvPr/>
        </p:nvSpPr>
        <p:spPr>
          <a:xfrm>
            <a:off x="5773821" y="4299515"/>
            <a:ext cx="1629610" cy="4283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Heatmap</a:t>
            </a:r>
            <a:endParaRPr lang="en-US" sz="1000" dirty="0"/>
          </a:p>
        </p:txBody>
      </p:sp>
      <p:sp>
        <p:nvSpPr>
          <p:cNvPr id="13" name="Rounded Rectangle 12">
            <a:extLst>
              <a:ext uri="{FF2B5EF4-FFF2-40B4-BE49-F238E27FC236}">
                <a16:creationId xmlns:a16="http://schemas.microsoft.com/office/drawing/2014/main" id="{AFC0378F-4EEB-581E-92F7-33526A156C54}"/>
              </a:ext>
            </a:extLst>
          </p:cNvPr>
          <p:cNvSpPr/>
          <p:nvPr/>
        </p:nvSpPr>
        <p:spPr>
          <a:xfrm>
            <a:off x="4732421" y="3303283"/>
            <a:ext cx="994610" cy="42832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t>Data prep</a:t>
            </a:r>
            <a:endParaRPr lang="en-US" sz="1000" dirty="0"/>
          </a:p>
        </p:txBody>
      </p:sp>
      <p:sp>
        <p:nvSpPr>
          <p:cNvPr id="14" name="Rounded Rectangle 13">
            <a:extLst>
              <a:ext uri="{FF2B5EF4-FFF2-40B4-BE49-F238E27FC236}">
                <a16:creationId xmlns:a16="http://schemas.microsoft.com/office/drawing/2014/main" id="{38869934-2B93-0FB5-0174-242A743705FF}"/>
              </a:ext>
            </a:extLst>
          </p:cNvPr>
          <p:cNvSpPr/>
          <p:nvPr/>
        </p:nvSpPr>
        <p:spPr>
          <a:xfrm>
            <a:off x="4732421" y="3801399"/>
            <a:ext cx="994610" cy="42832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t>Data prep</a:t>
            </a:r>
            <a:endParaRPr lang="en-US" sz="1000" dirty="0"/>
          </a:p>
        </p:txBody>
      </p:sp>
      <p:sp>
        <p:nvSpPr>
          <p:cNvPr id="15" name="Rounded Rectangle 14">
            <a:extLst>
              <a:ext uri="{FF2B5EF4-FFF2-40B4-BE49-F238E27FC236}">
                <a16:creationId xmlns:a16="http://schemas.microsoft.com/office/drawing/2014/main" id="{DC70935D-710A-13E4-6426-7E6D9BE8C65D}"/>
              </a:ext>
            </a:extLst>
          </p:cNvPr>
          <p:cNvSpPr/>
          <p:nvPr/>
        </p:nvSpPr>
        <p:spPr>
          <a:xfrm>
            <a:off x="4732421" y="4299515"/>
            <a:ext cx="994610" cy="42832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t>Data prep</a:t>
            </a:r>
            <a:endParaRPr lang="en-US" sz="1000" dirty="0"/>
          </a:p>
        </p:txBody>
      </p:sp>
      <p:sp>
        <p:nvSpPr>
          <p:cNvPr id="16" name="Rounded Rectangle 15">
            <a:extLst>
              <a:ext uri="{FF2B5EF4-FFF2-40B4-BE49-F238E27FC236}">
                <a16:creationId xmlns:a16="http://schemas.microsoft.com/office/drawing/2014/main" id="{67942919-F723-2C21-1587-58C8BA89105F}"/>
              </a:ext>
            </a:extLst>
          </p:cNvPr>
          <p:cNvSpPr/>
          <p:nvPr/>
        </p:nvSpPr>
        <p:spPr>
          <a:xfrm>
            <a:off x="5773821" y="2805166"/>
            <a:ext cx="1629610" cy="4283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PCA</a:t>
            </a:r>
            <a:endParaRPr lang="en-US" sz="1000" dirty="0"/>
          </a:p>
        </p:txBody>
      </p:sp>
      <p:sp>
        <p:nvSpPr>
          <p:cNvPr id="17" name="Rounded Rectangle 16">
            <a:extLst>
              <a:ext uri="{FF2B5EF4-FFF2-40B4-BE49-F238E27FC236}">
                <a16:creationId xmlns:a16="http://schemas.microsoft.com/office/drawing/2014/main" id="{36EC44C4-CE3C-19F8-CF4A-CDD837920D4D}"/>
              </a:ext>
            </a:extLst>
          </p:cNvPr>
          <p:cNvSpPr/>
          <p:nvPr/>
        </p:nvSpPr>
        <p:spPr>
          <a:xfrm>
            <a:off x="4732421" y="2805166"/>
            <a:ext cx="994610" cy="428325"/>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dirty="0"/>
              <a:t>Data prep</a:t>
            </a:r>
            <a:endParaRPr lang="en-US" sz="1000" dirty="0"/>
          </a:p>
        </p:txBody>
      </p:sp>
      <p:sp>
        <p:nvSpPr>
          <p:cNvPr id="18" name="TextBox 17">
            <a:extLst>
              <a:ext uri="{FF2B5EF4-FFF2-40B4-BE49-F238E27FC236}">
                <a16:creationId xmlns:a16="http://schemas.microsoft.com/office/drawing/2014/main" id="{0CDA225D-1A33-E8D5-F157-53D89E5C3DE5}"/>
              </a:ext>
            </a:extLst>
          </p:cNvPr>
          <p:cNvSpPr txBox="1"/>
          <p:nvPr/>
        </p:nvSpPr>
        <p:spPr>
          <a:xfrm>
            <a:off x="7659821" y="3861672"/>
            <a:ext cx="663964" cy="307777"/>
          </a:xfrm>
          <a:prstGeom prst="rect">
            <a:avLst/>
          </a:prstGeom>
          <a:noFill/>
        </p:spPr>
        <p:txBody>
          <a:bodyPr wrap="none" rtlCol="0">
            <a:spAutoFit/>
          </a:bodyPr>
          <a:lstStyle/>
          <a:p>
            <a:r>
              <a:rPr lang="en-US" dirty="0">
                <a:solidFill>
                  <a:schemeClr val="accent1"/>
                </a:solidFill>
              </a:rPr>
              <a:t>DEGs</a:t>
            </a:r>
          </a:p>
        </p:txBody>
      </p:sp>
      <p:sp>
        <p:nvSpPr>
          <p:cNvPr id="19" name="TextBox 18">
            <a:extLst>
              <a:ext uri="{FF2B5EF4-FFF2-40B4-BE49-F238E27FC236}">
                <a16:creationId xmlns:a16="http://schemas.microsoft.com/office/drawing/2014/main" id="{4229CAA3-F9E7-16B7-9A99-4BF802312A4E}"/>
              </a:ext>
            </a:extLst>
          </p:cNvPr>
          <p:cNvSpPr txBox="1"/>
          <p:nvPr/>
        </p:nvSpPr>
        <p:spPr>
          <a:xfrm>
            <a:off x="7552499" y="2865439"/>
            <a:ext cx="1516762" cy="307777"/>
          </a:xfrm>
          <a:prstGeom prst="rect">
            <a:avLst/>
          </a:prstGeom>
          <a:noFill/>
        </p:spPr>
        <p:txBody>
          <a:bodyPr wrap="none" rtlCol="0">
            <a:spAutoFit/>
          </a:bodyPr>
          <a:lstStyle/>
          <a:p>
            <a:r>
              <a:rPr lang="en-US" dirty="0">
                <a:solidFill>
                  <a:schemeClr val="accent1"/>
                </a:solidFill>
              </a:rPr>
              <a:t>General patterns</a:t>
            </a:r>
          </a:p>
        </p:txBody>
      </p:sp>
      <p:sp>
        <p:nvSpPr>
          <p:cNvPr id="20" name="Right Brace 19">
            <a:extLst>
              <a:ext uri="{FF2B5EF4-FFF2-40B4-BE49-F238E27FC236}">
                <a16:creationId xmlns:a16="http://schemas.microsoft.com/office/drawing/2014/main" id="{0746A9CC-E7CF-D902-F570-74ECC368746B}"/>
              </a:ext>
            </a:extLst>
          </p:cNvPr>
          <p:cNvSpPr/>
          <p:nvPr/>
        </p:nvSpPr>
        <p:spPr>
          <a:xfrm>
            <a:off x="7565404" y="3347831"/>
            <a:ext cx="94417" cy="1335460"/>
          </a:xfrm>
          <a:prstGeom prst="rightBrace">
            <a:avLst>
              <a:gd name="adj1" fmla="val 8333"/>
              <a:gd name="adj2" fmla="val 49620"/>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521D3330-2E88-5173-BF9A-1F5CE6DC3885}"/>
              </a:ext>
            </a:extLst>
          </p:cNvPr>
          <p:cNvSpPr txBox="1"/>
          <p:nvPr/>
        </p:nvSpPr>
        <p:spPr>
          <a:xfrm>
            <a:off x="571100" y="3019327"/>
            <a:ext cx="3840480" cy="1815882"/>
          </a:xfrm>
          <a:prstGeom prst="rect">
            <a:avLst/>
          </a:prstGeom>
          <a:noFill/>
        </p:spPr>
        <p:txBody>
          <a:bodyPr wrap="square" rtlCol="0">
            <a:spAutoFit/>
          </a:bodyPr>
          <a:lstStyle/>
          <a:p>
            <a:r>
              <a:rPr lang="en-US" b="1" dirty="0"/>
              <a:t>Questions for this dataset:</a:t>
            </a:r>
          </a:p>
          <a:p>
            <a:r>
              <a:rPr lang="en-US" dirty="0"/>
              <a:t>Do we see differences in the expression of genes with time? Are those time trends consistent across animals?</a:t>
            </a:r>
          </a:p>
          <a:p>
            <a:endParaRPr lang="en-US" dirty="0"/>
          </a:p>
          <a:p>
            <a:r>
              <a:rPr lang="en-US" dirty="0"/>
              <a:t>How many genes are expressed differently?</a:t>
            </a:r>
          </a:p>
          <a:p>
            <a:endParaRPr lang="en-US" dirty="0"/>
          </a:p>
          <a:p>
            <a:r>
              <a:rPr lang="en-US" dirty="0"/>
              <a:t>What genes are expressed differently?</a:t>
            </a:r>
          </a:p>
        </p:txBody>
      </p:sp>
      <p:pic>
        <p:nvPicPr>
          <p:cNvPr id="23" name="Picture 22">
            <a:extLst>
              <a:ext uri="{FF2B5EF4-FFF2-40B4-BE49-F238E27FC236}">
                <a16:creationId xmlns:a16="http://schemas.microsoft.com/office/drawing/2014/main" id="{EA90588B-81B3-EAD7-3B79-A6C3A3FB0F8A}"/>
              </a:ext>
            </a:extLst>
          </p:cNvPr>
          <p:cNvPicPr>
            <a:picLocks noChangeAspect="1"/>
          </p:cNvPicPr>
          <p:nvPr/>
        </p:nvPicPr>
        <p:blipFill>
          <a:blip r:embed="rId3"/>
          <a:stretch>
            <a:fillRect/>
          </a:stretch>
        </p:blipFill>
        <p:spPr>
          <a:xfrm>
            <a:off x="636270" y="1093380"/>
            <a:ext cx="1612900" cy="1625600"/>
          </a:xfrm>
          <a:prstGeom prst="rect">
            <a:avLst/>
          </a:prstGeom>
        </p:spPr>
      </p:pic>
      <p:sp>
        <p:nvSpPr>
          <p:cNvPr id="24" name="TextBox 23">
            <a:extLst>
              <a:ext uri="{FF2B5EF4-FFF2-40B4-BE49-F238E27FC236}">
                <a16:creationId xmlns:a16="http://schemas.microsoft.com/office/drawing/2014/main" id="{190C47EF-2D5B-3F64-3AA5-7EE71B9AC56A}"/>
              </a:ext>
            </a:extLst>
          </p:cNvPr>
          <p:cNvSpPr txBox="1"/>
          <p:nvPr/>
        </p:nvSpPr>
        <p:spPr>
          <a:xfrm>
            <a:off x="2377440" y="1317727"/>
            <a:ext cx="1438214" cy="738664"/>
          </a:xfrm>
          <a:prstGeom prst="rect">
            <a:avLst/>
          </a:prstGeom>
          <a:noFill/>
        </p:spPr>
        <p:txBody>
          <a:bodyPr wrap="none" rtlCol="0">
            <a:spAutoFit/>
          </a:bodyPr>
          <a:lstStyle/>
          <a:p>
            <a:r>
              <a:rPr lang="en-US" dirty="0"/>
              <a:t>9 samples</a:t>
            </a:r>
          </a:p>
          <a:p>
            <a:r>
              <a:rPr lang="en-US" dirty="0"/>
              <a:t>3 days</a:t>
            </a:r>
          </a:p>
          <a:p>
            <a:r>
              <a:rPr lang="en-US" dirty="0"/>
              <a:t>3 replicates/day</a:t>
            </a:r>
          </a:p>
        </p:txBody>
      </p:sp>
    </p:spTree>
    <p:extLst>
      <p:ext uri="{BB962C8B-B14F-4D97-AF65-F5344CB8AC3E}">
        <p14:creationId xmlns:p14="http://schemas.microsoft.com/office/powerpoint/2010/main" val="21246624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8"/>
          <p:cNvPicPr preferRelativeResize="0"/>
          <p:nvPr/>
        </p:nvPicPr>
        <p:blipFill rotWithShape="1">
          <a:blip r:embed="rId3">
            <a:alphaModFix/>
          </a:blip>
          <a:srcRect b="10217"/>
          <a:stretch/>
        </p:blipFill>
        <p:spPr>
          <a:xfrm>
            <a:off x="917238" y="468326"/>
            <a:ext cx="7309524" cy="40607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BB67D631-DF79-0FFA-66F2-7F65D95D153B}"/>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E5C7AF78-F6FC-5D90-E32B-4FCBA287F39B}"/>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Interpreting Results: MA plots</a:t>
            </a:r>
            <a:endParaRPr lang="en-US" dirty="0"/>
          </a:p>
        </p:txBody>
      </p:sp>
      <p:sp>
        <p:nvSpPr>
          <p:cNvPr id="3" name="TextBox 2">
            <a:extLst>
              <a:ext uri="{FF2B5EF4-FFF2-40B4-BE49-F238E27FC236}">
                <a16:creationId xmlns:a16="http://schemas.microsoft.com/office/drawing/2014/main" id="{555D4174-81E1-BFDF-7C3E-365D9FE11489}"/>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5" name="TextBox 4">
            <a:extLst>
              <a:ext uri="{FF2B5EF4-FFF2-40B4-BE49-F238E27FC236}">
                <a16:creationId xmlns:a16="http://schemas.microsoft.com/office/drawing/2014/main" id="{3E2AA540-487E-8217-FEE7-CE1028F861BB}"/>
              </a:ext>
            </a:extLst>
          </p:cNvPr>
          <p:cNvSpPr txBox="1"/>
          <p:nvPr/>
        </p:nvSpPr>
        <p:spPr>
          <a:xfrm>
            <a:off x="560312" y="1121048"/>
            <a:ext cx="3610552" cy="3785652"/>
          </a:xfrm>
          <a:prstGeom prst="rect">
            <a:avLst/>
          </a:prstGeom>
          <a:noFill/>
        </p:spPr>
        <p:txBody>
          <a:bodyPr wrap="square">
            <a:spAutoFit/>
          </a:bodyPr>
          <a:lstStyle/>
          <a:p>
            <a:r>
              <a:rPr lang="en-US" b="1" dirty="0"/>
              <a:t>What you're looking at:</a:t>
            </a:r>
            <a:endParaRPr lang="en-US" dirty="0"/>
          </a:p>
          <a:p>
            <a:pPr marL="171450" indent="-171450">
              <a:buFont typeface="Arial" panose="020B0604020202020204" pitchFamily="34" charset="0"/>
              <a:buChar char="•"/>
            </a:pPr>
            <a:r>
              <a:rPr lang="en-US" sz="1200" dirty="0"/>
              <a:t>X-axis (A): Mean expression level — genes on the right are more highly expressed.</a:t>
            </a:r>
          </a:p>
          <a:p>
            <a:pPr marL="171450" indent="-171450">
              <a:buFont typeface="Arial" panose="020B0604020202020204" pitchFamily="34" charset="0"/>
              <a:buChar char="•"/>
            </a:pPr>
            <a:r>
              <a:rPr lang="en-US" sz="1200" dirty="0"/>
              <a:t>Y-axis (M): log₂ fold change — above 0 means upregulated, below 0 means downregulated.</a:t>
            </a:r>
          </a:p>
          <a:p>
            <a:pPr marL="171450" indent="-171450">
              <a:buFont typeface="Arial" panose="020B0604020202020204" pitchFamily="34" charset="0"/>
              <a:buChar char="•"/>
            </a:pPr>
            <a:r>
              <a:rPr lang="en-US" sz="1200" dirty="0"/>
              <a:t>Each dot = one gene</a:t>
            </a:r>
          </a:p>
          <a:p>
            <a:pPr marL="171450" indent="-171450">
              <a:buFont typeface="Arial" panose="020B0604020202020204" pitchFamily="34" charset="0"/>
              <a:buChar char="•"/>
            </a:pPr>
            <a:endParaRPr lang="en-US" sz="1200" dirty="0"/>
          </a:p>
          <a:p>
            <a:r>
              <a:rPr lang="en-US" b="1" dirty="0"/>
              <a:t>How to interpret </a:t>
            </a:r>
          </a:p>
          <a:p>
            <a:r>
              <a:rPr lang="en-US" sz="1200" b="1" dirty="0"/>
              <a:t>Blue points:</a:t>
            </a:r>
            <a:r>
              <a:rPr lang="en-US" sz="1200" dirty="0"/>
              <a:t> Statistically significant DEGs (</a:t>
            </a:r>
            <a:r>
              <a:rPr lang="en-US" sz="1200" dirty="0" err="1"/>
              <a:t>padj</a:t>
            </a:r>
            <a:r>
              <a:rPr lang="en-US" sz="1200" dirty="0"/>
              <a:t> &lt; 0.1 by default).</a:t>
            </a:r>
          </a:p>
          <a:p>
            <a:endParaRPr lang="en-US" dirty="0"/>
          </a:p>
          <a:p>
            <a:r>
              <a:rPr lang="en-US" b="1" dirty="0"/>
              <a:t>What to look for:</a:t>
            </a:r>
            <a:r>
              <a:rPr lang="en-US" dirty="0"/>
              <a:t> </a:t>
            </a:r>
          </a:p>
          <a:p>
            <a:pPr marL="171450" indent="-171450">
              <a:buFont typeface="Arial" panose="020B0604020202020204" pitchFamily="34" charset="0"/>
              <a:buChar char="•"/>
            </a:pPr>
            <a:r>
              <a:rPr lang="en-US" sz="1200" dirty="0"/>
              <a:t>The cloud of grey points should be centered around M = 0 (most genes don’t change). </a:t>
            </a:r>
          </a:p>
          <a:p>
            <a:pPr marL="171450" indent="-171450">
              <a:buFont typeface="Arial" panose="020B0604020202020204" pitchFamily="34" charset="0"/>
              <a:buChar char="•"/>
            </a:pPr>
            <a:r>
              <a:rPr lang="en-US" sz="1200" dirty="0"/>
              <a:t>If the whole cloud is shifted up or down, there may be a </a:t>
            </a:r>
            <a:r>
              <a:rPr lang="en-US" sz="1200" dirty="0" err="1"/>
              <a:t>normalisation</a:t>
            </a:r>
            <a:r>
              <a:rPr lang="en-US" sz="1200" dirty="0"/>
              <a:t> issue. </a:t>
            </a:r>
          </a:p>
          <a:p>
            <a:pPr marL="171450" indent="-171450">
              <a:buFont typeface="Arial" panose="020B0604020202020204" pitchFamily="34" charset="0"/>
              <a:buChar char="•"/>
            </a:pPr>
            <a:r>
              <a:rPr lang="en-US" sz="1200" dirty="0"/>
              <a:t>low-expression genes (left side) have more scatter — this is expected, since estimates are noisier with fewer counts. </a:t>
            </a:r>
          </a:p>
        </p:txBody>
      </p:sp>
      <p:sp>
        <p:nvSpPr>
          <p:cNvPr id="8" name="TextBox 7">
            <a:extLst>
              <a:ext uri="{FF2B5EF4-FFF2-40B4-BE49-F238E27FC236}">
                <a16:creationId xmlns:a16="http://schemas.microsoft.com/office/drawing/2014/main" id="{DF3E095D-F436-CA73-37F1-1F4AFB68F1E7}"/>
              </a:ext>
            </a:extLst>
          </p:cNvPr>
          <p:cNvSpPr txBox="1"/>
          <p:nvPr/>
        </p:nvSpPr>
        <p:spPr>
          <a:xfrm>
            <a:off x="4361054" y="3875196"/>
            <a:ext cx="4572000" cy="523220"/>
          </a:xfrm>
          <a:prstGeom prst="rect">
            <a:avLst/>
          </a:prstGeom>
          <a:solidFill>
            <a:schemeClr val="accent4">
              <a:lumMod val="20000"/>
              <a:lumOff val="80000"/>
            </a:schemeClr>
          </a:solidFill>
        </p:spPr>
        <p:txBody>
          <a:bodyPr wrap="square">
            <a:spAutoFit/>
          </a:bodyPr>
          <a:lstStyle/>
          <a:p>
            <a:r>
              <a:rPr lang="en-US" dirty="0"/>
              <a:t>They show the </a:t>
            </a:r>
            <a:r>
              <a:rPr lang="en-US" b="1" dirty="0"/>
              <a:t>relationship</a:t>
            </a:r>
            <a:r>
              <a:rPr lang="en-US" dirty="0"/>
              <a:t> between expression level and fold change for all genes simultaneously.</a:t>
            </a:r>
          </a:p>
        </p:txBody>
      </p:sp>
      <p:pic>
        <p:nvPicPr>
          <p:cNvPr id="11266" name="Picture 2">
            <a:extLst>
              <a:ext uri="{FF2B5EF4-FFF2-40B4-BE49-F238E27FC236}">
                <a16:creationId xmlns:a16="http://schemas.microsoft.com/office/drawing/2014/main" id="{EB0DCD10-7A04-58ED-8155-62E1C7A533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9218" y="1532115"/>
            <a:ext cx="4157422" cy="2078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75734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D8141C16-BB79-1DA9-CEC1-0F63AD07CFFE}"/>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17DE1150-3921-B55A-549D-4E701A7DBA26}"/>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Interpreting Results: Volcano Plots</a:t>
            </a:r>
            <a:endParaRPr lang="en-US" dirty="0"/>
          </a:p>
        </p:txBody>
      </p:sp>
      <p:sp>
        <p:nvSpPr>
          <p:cNvPr id="3" name="TextBox 2">
            <a:extLst>
              <a:ext uri="{FF2B5EF4-FFF2-40B4-BE49-F238E27FC236}">
                <a16:creationId xmlns:a16="http://schemas.microsoft.com/office/drawing/2014/main" id="{0F70B3F6-FDF2-FA74-0964-830DD211BBAB}"/>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5" name="TextBox 4">
            <a:extLst>
              <a:ext uri="{FF2B5EF4-FFF2-40B4-BE49-F238E27FC236}">
                <a16:creationId xmlns:a16="http://schemas.microsoft.com/office/drawing/2014/main" id="{18DF8084-EB32-77E1-F15C-34708AABCA1A}"/>
              </a:ext>
            </a:extLst>
          </p:cNvPr>
          <p:cNvSpPr txBox="1"/>
          <p:nvPr/>
        </p:nvSpPr>
        <p:spPr>
          <a:xfrm>
            <a:off x="570472" y="1175274"/>
            <a:ext cx="3610552" cy="3570208"/>
          </a:xfrm>
          <a:prstGeom prst="rect">
            <a:avLst/>
          </a:prstGeom>
          <a:noFill/>
        </p:spPr>
        <p:txBody>
          <a:bodyPr wrap="square">
            <a:spAutoFit/>
          </a:bodyPr>
          <a:lstStyle/>
          <a:p>
            <a:r>
              <a:rPr lang="en-US" b="1" dirty="0"/>
              <a:t>What you're looking at:</a:t>
            </a:r>
            <a:endParaRPr lang="en-US" dirty="0"/>
          </a:p>
          <a:p>
            <a:pPr marL="171450" indent="-171450">
              <a:buFont typeface="Arial" panose="020B0604020202020204" pitchFamily="34" charset="0"/>
              <a:buChar char="•"/>
            </a:pPr>
            <a:r>
              <a:rPr lang="en-US" sz="1200" dirty="0"/>
              <a:t>X-axis = log₂ fold change (magnitude of change between conditions)</a:t>
            </a:r>
          </a:p>
          <a:p>
            <a:pPr marL="171450" indent="-171450">
              <a:buFont typeface="Arial" panose="020B0604020202020204" pitchFamily="34" charset="0"/>
              <a:buChar char="•"/>
            </a:pPr>
            <a:r>
              <a:rPr lang="en-US" sz="1200" dirty="0"/>
              <a:t>Y-axis = −log₁₀ adjusted p-value (statistical confidence)</a:t>
            </a:r>
          </a:p>
          <a:p>
            <a:pPr marL="171450" indent="-171450">
              <a:buFont typeface="Arial" panose="020B0604020202020204" pitchFamily="34" charset="0"/>
              <a:buChar char="•"/>
            </a:pPr>
            <a:r>
              <a:rPr lang="en-US" sz="1200" dirty="0"/>
              <a:t>Each dot = one gene</a:t>
            </a:r>
          </a:p>
          <a:p>
            <a:pPr marL="171450" indent="-171450">
              <a:buFont typeface="Arial" panose="020B0604020202020204" pitchFamily="34" charset="0"/>
              <a:buChar char="•"/>
            </a:pPr>
            <a:endParaRPr lang="en-US" sz="1200" dirty="0"/>
          </a:p>
          <a:p>
            <a:r>
              <a:rPr lang="en-US" b="1" dirty="0"/>
              <a:t>How to interpret:</a:t>
            </a:r>
            <a:endParaRPr lang="en-US" dirty="0"/>
          </a:p>
          <a:p>
            <a:pPr marL="171450" indent="-171450">
              <a:buFont typeface="Arial" panose="020B0604020202020204" pitchFamily="34" charset="0"/>
              <a:buChar char="•"/>
            </a:pPr>
            <a:r>
              <a:rPr lang="en-US" sz="1200" b="1" dirty="0"/>
              <a:t>Upper right</a:t>
            </a:r>
            <a:r>
              <a:rPr lang="en-US" sz="1200" dirty="0"/>
              <a:t> = significantly upregulated genes</a:t>
            </a:r>
          </a:p>
          <a:p>
            <a:pPr marL="171450" indent="-171450">
              <a:buFont typeface="Arial" panose="020B0604020202020204" pitchFamily="34" charset="0"/>
              <a:buChar char="•"/>
            </a:pPr>
            <a:r>
              <a:rPr lang="en-US" sz="1200" b="1" dirty="0"/>
              <a:t>Upper left</a:t>
            </a:r>
            <a:r>
              <a:rPr lang="en-US" sz="1200" dirty="0"/>
              <a:t> = significantly downregulated genes</a:t>
            </a:r>
          </a:p>
          <a:p>
            <a:pPr marL="171450" indent="-171450">
              <a:buFont typeface="Arial" panose="020B0604020202020204" pitchFamily="34" charset="0"/>
              <a:buChar char="•"/>
            </a:pPr>
            <a:r>
              <a:rPr lang="en-US" sz="1200" b="1" dirty="0"/>
              <a:t>Bottom/center</a:t>
            </a:r>
            <a:r>
              <a:rPr lang="en-US" sz="1200" dirty="0"/>
              <a:t> = not significant or small effect size</a:t>
            </a:r>
          </a:p>
          <a:p>
            <a:pPr marL="171450" indent="-171450">
              <a:buFont typeface="Arial" panose="020B0604020202020204" pitchFamily="34" charset="0"/>
              <a:buChar char="•"/>
            </a:pPr>
            <a:r>
              <a:rPr lang="en-US" sz="1200" dirty="0"/>
              <a:t>The further from center + higher up → the more biologically and statistically meaningful</a:t>
            </a:r>
          </a:p>
          <a:p>
            <a:endParaRPr lang="en-US" sz="1200" dirty="0"/>
          </a:p>
          <a:p>
            <a:r>
              <a:rPr lang="en-US" b="1" dirty="0"/>
              <a:t>Thresholds typically used:</a:t>
            </a:r>
            <a:endParaRPr lang="en-US" dirty="0"/>
          </a:p>
          <a:p>
            <a:pPr marL="171450" indent="-171450">
              <a:buFont typeface="Arial" panose="020B0604020202020204" pitchFamily="34" charset="0"/>
              <a:buChar char="•"/>
            </a:pPr>
            <a:r>
              <a:rPr lang="en-US" sz="1200" dirty="0"/>
              <a:t>|</a:t>
            </a:r>
            <a:r>
              <a:rPr lang="en-US" sz="1200" dirty="0" err="1"/>
              <a:t>log₂FC</a:t>
            </a:r>
            <a:r>
              <a:rPr lang="en-US" sz="1200" dirty="0"/>
              <a:t>| &gt; 1 (at least 2-fold change)</a:t>
            </a:r>
          </a:p>
          <a:p>
            <a:pPr marL="171450" indent="-171450">
              <a:buFont typeface="Arial" panose="020B0604020202020204" pitchFamily="34" charset="0"/>
              <a:buChar char="•"/>
            </a:pPr>
            <a:r>
              <a:rPr lang="en-US" sz="1200" dirty="0"/>
              <a:t>Adjusted p-value &lt; 0.05 (FDR-corrected)</a:t>
            </a:r>
          </a:p>
        </p:txBody>
      </p:sp>
      <p:pic>
        <p:nvPicPr>
          <p:cNvPr id="2" name="Picture 1">
            <a:extLst>
              <a:ext uri="{FF2B5EF4-FFF2-40B4-BE49-F238E27FC236}">
                <a16:creationId xmlns:a16="http://schemas.microsoft.com/office/drawing/2014/main" id="{BA40595B-215E-95C7-5B1F-98FA76131DE1}"/>
              </a:ext>
            </a:extLst>
          </p:cNvPr>
          <p:cNvPicPr>
            <a:picLocks noChangeAspect="1"/>
          </p:cNvPicPr>
          <p:nvPr/>
        </p:nvPicPr>
        <p:blipFill>
          <a:blip r:embed="rId3"/>
          <a:stretch>
            <a:fillRect/>
          </a:stretch>
        </p:blipFill>
        <p:spPr>
          <a:xfrm>
            <a:off x="4450802" y="1267747"/>
            <a:ext cx="4482252" cy="2299672"/>
          </a:xfrm>
          <a:prstGeom prst="rect">
            <a:avLst/>
          </a:prstGeom>
        </p:spPr>
      </p:pic>
      <p:sp>
        <p:nvSpPr>
          <p:cNvPr id="8" name="TextBox 7">
            <a:extLst>
              <a:ext uri="{FF2B5EF4-FFF2-40B4-BE49-F238E27FC236}">
                <a16:creationId xmlns:a16="http://schemas.microsoft.com/office/drawing/2014/main" id="{B704C960-2E3D-0C30-1C41-F084E761C293}"/>
              </a:ext>
            </a:extLst>
          </p:cNvPr>
          <p:cNvSpPr txBox="1"/>
          <p:nvPr/>
        </p:nvSpPr>
        <p:spPr>
          <a:xfrm>
            <a:off x="4361054" y="3875196"/>
            <a:ext cx="4572000" cy="523220"/>
          </a:xfrm>
          <a:prstGeom prst="rect">
            <a:avLst/>
          </a:prstGeom>
          <a:solidFill>
            <a:schemeClr val="accent4">
              <a:lumMod val="20000"/>
              <a:lumOff val="80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i="0" u="none" strike="noStrike" cap="none" normalizeH="0" baseline="0" dirty="0">
                <a:ln>
                  <a:noFill/>
                </a:ln>
                <a:solidFill>
                  <a:schemeClr val="tx1"/>
                </a:solidFill>
                <a:effectLst/>
                <a:latin typeface="Arial" panose="020B0604020202020204" pitchFamily="34" charset="0"/>
              </a:rPr>
              <a:t>They show: </a:t>
            </a:r>
            <a:r>
              <a:rPr lang="en-US" altLang="en-US" b="1" dirty="0">
                <a:solidFill>
                  <a:schemeClr val="tx1"/>
                </a:solidFill>
                <a:latin typeface="Arial" panose="020B0604020202020204" pitchFamily="34" charset="0"/>
              </a:rPr>
              <a:t>w</a:t>
            </a:r>
            <a:r>
              <a:rPr kumimoji="0" lang="en-US" altLang="en-US" sz="1400" b="1" i="0" u="none" strike="noStrike" cap="none" normalizeH="0" baseline="0" dirty="0">
                <a:ln>
                  <a:noFill/>
                </a:ln>
                <a:solidFill>
                  <a:schemeClr val="tx1"/>
                </a:solidFill>
                <a:effectLst/>
                <a:latin typeface="Arial" panose="020B0604020202020204" pitchFamily="34" charset="0"/>
              </a:rPr>
              <a:t>hich individual genes changed most significantly</a:t>
            </a:r>
            <a:r>
              <a:rPr kumimoji="0" lang="en-US" altLang="en-US" sz="1400" b="0" i="0" u="none" strike="noStrike" cap="none" normalizeH="0" baseline="0" dirty="0">
                <a:ln>
                  <a:noFill/>
                </a:ln>
                <a:solidFill>
                  <a:schemeClr val="tx1"/>
                </a:solidFill>
                <a:effectLst/>
                <a:latin typeface="Arial" panose="020B0604020202020204" pitchFamily="34" charset="0"/>
              </a:rPr>
              <a:t> between two conditions</a:t>
            </a:r>
          </a:p>
        </p:txBody>
      </p:sp>
    </p:spTree>
    <p:extLst>
      <p:ext uri="{BB962C8B-B14F-4D97-AF65-F5344CB8AC3E}">
        <p14:creationId xmlns:p14="http://schemas.microsoft.com/office/powerpoint/2010/main" val="26832845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6482F6C2-1396-9350-3834-A7911B77194F}"/>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213EC83C-1D2F-62AD-BE63-E31B7FA945D0}"/>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Interpreting Results: Heatmaps</a:t>
            </a:r>
            <a:endParaRPr lang="en-US" dirty="0"/>
          </a:p>
        </p:txBody>
      </p:sp>
      <p:sp>
        <p:nvSpPr>
          <p:cNvPr id="3" name="TextBox 2">
            <a:extLst>
              <a:ext uri="{FF2B5EF4-FFF2-40B4-BE49-F238E27FC236}">
                <a16:creationId xmlns:a16="http://schemas.microsoft.com/office/drawing/2014/main" id="{67526BF7-5AFA-4CBA-8562-97208EB3E2F5}"/>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pic>
        <p:nvPicPr>
          <p:cNvPr id="4" name="Picture 3">
            <a:extLst>
              <a:ext uri="{FF2B5EF4-FFF2-40B4-BE49-F238E27FC236}">
                <a16:creationId xmlns:a16="http://schemas.microsoft.com/office/drawing/2014/main" id="{093F046D-7DD2-4924-B909-7DF643855997}"/>
              </a:ext>
            </a:extLst>
          </p:cNvPr>
          <p:cNvPicPr>
            <a:picLocks noChangeAspect="1"/>
          </p:cNvPicPr>
          <p:nvPr/>
        </p:nvPicPr>
        <p:blipFill>
          <a:blip r:embed="rId3"/>
          <a:stretch>
            <a:fillRect/>
          </a:stretch>
        </p:blipFill>
        <p:spPr>
          <a:xfrm>
            <a:off x="5492364" y="745195"/>
            <a:ext cx="3402978" cy="4161505"/>
          </a:xfrm>
          <a:prstGeom prst="rect">
            <a:avLst/>
          </a:prstGeom>
        </p:spPr>
      </p:pic>
      <p:sp>
        <p:nvSpPr>
          <p:cNvPr id="7" name="TextBox 6">
            <a:extLst>
              <a:ext uri="{FF2B5EF4-FFF2-40B4-BE49-F238E27FC236}">
                <a16:creationId xmlns:a16="http://schemas.microsoft.com/office/drawing/2014/main" id="{484C88B6-CC93-EBD5-14D9-517F1F81BEEB}"/>
              </a:ext>
            </a:extLst>
          </p:cNvPr>
          <p:cNvSpPr txBox="1"/>
          <p:nvPr/>
        </p:nvSpPr>
        <p:spPr>
          <a:xfrm>
            <a:off x="481422" y="1001811"/>
            <a:ext cx="4572000" cy="3447098"/>
          </a:xfrm>
          <a:prstGeom prst="rect">
            <a:avLst/>
          </a:prstGeom>
          <a:noFill/>
        </p:spPr>
        <p:txBody>
          <a:bodyPr wrap="square">
            <a:spAutoFit/>
          </a:bodyPr>
          <a:lstStyle/>
          <a:p>
            <a:r>
              <a:rPr lang="en-US" b="1" dirty="0"/>
              <a:t>What you're looking at:</a:t>
            </a:r>
            <a:endParaRPr lang="en-US" dirty="0"/>
          </a:p>
          <a:p>
            <a:pPr marL="285750" indent="-285750">
              <a:buFont typeface="Arial" panose="020B0604020202020204" pitchFamily="34" charset="0"/>
              <a:buChar char="•"/>
            </a:pPr>
            <a:r>
              <a:rPr lang="en-US" sz="1200" b="1" dirty="0"/>
              <a:t>Rows</a:t>
            </a:r>
            <a:r>
              <a:rPr lang="en-US" sz="1200" dirty="0"/>
              <a:t> = individual genes (here, the top 50 differentially expressed genes)</a:t>
            </a:r>
          </a:p>
          <a:p>
            <a:pPr marL="285750" indent="-285750">
              <a:buFont typeface="Arial" panose="020B0604020202020204" pitchFamily="34" charset="0"/>
              <a:buChar char="•"/>
            </a:pPr>
            <a:r>
              <a:rPr lang="en-US" sz="1200" b="1" dirty="0"/>
              <a:t>Columns</a:t>
            </a:r>
            <a:r>
              <a:rPr lang="en-US" sz="1200" dirty="0"/>
              <a:t> = individual samples, grouped by timepoint (D0, D7, D14)</a:t>
            </a:r>
          </a:p>
          <a:p>
            <a:pPr marL="285750" indent="-285750">
              <a:buFont typeface="Arial" panose="020B0604020202020204" pitchFamily="34" charset="0"/>
              <a:buChar char="•"/>
            </a:pPr>
            <a:r>
              <a:rPr lang="en-US" sz="1200" b="1" dirty="0"/>
              <a:t>Color</a:t>
            </a:r>
            <a:r>
              <a:rPr lang="en-US" sz="1200" dirty="0"/>
              <a:t> = scaled expression level (VST-normalized counts) </a:t>
            </a:r>
          </a:p>
          <a:p>
            <a:pPr lvl="8"/>
            <a:r>
              <a:rPr lang="en-US" sz="1200" dirty="0"/>
              <a:t>	Red → high expression</a:t>
            </a:r>
          </a:p>
          <a:p>
            <a:pPr lvl="1"/>
            <a:r>
              <a:rPr lang="en-US" sz="1200" dirty="0"/>
              <a:t> 	Blue → low expression</a:t>
            </a:r>
          </a:p>
          <a:p>
            <a:pPr lvl="1"/>
            <a:r>
              <a:rPr lang="en-US" sz="1200" dirty="0"/>
              <a:t> 	Yellow/white → near-average expression</a:t>
            </a:r>
          </a:p>
          <a:p>
            <a:endParaRPr lang="en-US" b="1" dirty="0"/>
          </a:p>
          <a:p>
            <a:r>
              <a:rPr lang="en-US" b="1" dirty="0"/>
              <a:t>The dendrogram (tree structure):</a:t>
            </a:r>
            <a:endParaRPr lang="en-US" dirty="0"/>
          </a:p>
          <a:p>
            <a:pPr marL="285750" indent="-285750">
              <a:buFont typeface="Arial" panose="020B0604020202020204" pitchFamily="34" charset="0"/>
              <a:buChar char="•"/>
            </a:pPr>
            <a:r>
              <a:rPr lang="en-US" sz="1200" dirty="0"/>
              <a:t>Samples and genes are clustered by similarity in expression patterns</a:t>
            </a:r>
          </a:p>
          <a:p>
            <a:pPr marL="285750" indent="-285750">
              <a:buFont typeface="Arial" panose="020B0604020202020204" pitchFamily="34" charset="0"/>
              <a:buChar char="•"/>
            </a:pPr>
            <a:r>
              <a:rPr lang="en-US" sz="1200" dirty="0"/>
              <a:t>Branches that join early (lower) = more similar to each other</a:t>
            </a:r>
          </a:p>
          <a:p>
            <a:pPr marL="285750" indent="-285750">
              <a:buFont typeface="Arial" panose="020B0604020202020204" pitchFamily="34" charset="0"/>
              <a:buChar char="•"/>
            </a:pPr>
            <a:r>
              <a:rPr lang="en-US" sz="1200" dirty="0"/>
              <a:t>Reveals groups of genes that behave the same way across conditions</a:t>
            </a:r>
          </a:p>
          <a:p>
            <a:pPr fontAlgn="base"/>
            <a:endParaRPr lang="en-US" dirty="0"/>
          </a:p>
        </p:txBody>
      </p:sp>
      <p:sp>
        <p:nvSpPr>
          <p:cNvPr id="5" name="TextBox 4">
            <a:extLst>
              <a:ext uri="{FF2B5EF4-FFF2-40B4-BE49-F238E27FC236}">
                <a16:creationId xmlns:a16="http://schemas.microsoft.com/office/drawing/2014/main" id="{532C8820-FFF1-613D-6494-2535243CCA1C}"/>
              </a:ext>
            </a:extLst>
          </p:cNvPr>
          <p:cNvSpPr txBox="1"/>
          <p:nvPr/>
        </p:nvSpPr>
        <p:spPr>
          <a:xfrm>
            <a:off x="544464" y="4290238"/>
            <a:ext cx="4572000" cy="738664"/>
          </a:xfrm>
          <a:prstGeom prst="rect">
            <a:avLst/>
          </a:prstGeom>
          <a:solidFill>
            <a:schemeClr val="accent4">
              <a:lumMod val="20000"/>
              <a:lumOff val="80000"/>
            </a:schemeClr>
          </a:solid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tx1"/>
                </a:solidFill>
                <a:latin typeface="Arial" panose="020B0604020202020204" pitchFamily="34" charset="0"/>
              </a:rPr>
              <a:t>T</a:t>
            </a:r>
            <a:r>
              <a:rPr kumimoji="0" lang="en-US" altLang="en-US" sz="1400" b="0" i="0" u="none" strike="noStrike" cap="none" normalizeH="0" baseline="0" dirty="0">
                <a:ln>
                  <a:noFill/>
                </a:ln>
                <a:solidFill>
                  <a:schemeClr val="tx1"/>
                </a:solidFill>
                <a:effectLst/>
                <a:latin typeface="Arial" panose="020B0604020202020204" pitchFamily="34" charset="0"/>
              </a:rPr>
              <a:t>hey show: </a:t>
            </a:r>
            <a:r>
              <a:rPr kumimoji="0" lang="en-US" altLang="en-US" sz="1400" b="1" i="0" u="none" strike="noStrike" cap="none" normalizeH="0" baseline="0" dirty="0">
                <a:ln>
                  <a:noFill/>
                </a:ln>
                <a:solidFill>
                  <a:schemeClr val="tx1"/>
                </a:solidFill>
                <a:effectLst/>
                <a:latin typeface="Arial" panose="020B0604020202020204" pitchFamily="34" charset="0"/>
              </a:rPr>
              <a:t>expression patterns across many genes and samples at once</a:t>
            </a:r>
            <a:r>
              <a:rPr kumimoji="0" lang="en-US" altLang="en-US" sz="1400" b="0" i="0" u="none" strike="noStrike" cap="none" normalizeH="0" baseline="0" dirty="0">
                <a:ln>
                  <a:noFill/>
                </a:ln>
                <a:solidFill>
                  <a:schemeClr val="tx1"/>
                </a:solidFill>
                <a:effectLst/>
                <a:latin typeface="Arial" panose="020B0604020202020204" pitchFamily="34" charset="0"/>
              </a:rPr>
              <a:t> — good for identifying clusters of co-regulated genes </a:t>
            </a:r>
          </a:p>
        </p:txBody>
      </p:sp>
      <p:sp>
        <p:nvSpPr>
          <p:cNvPr id="6" name="TextBox 5">
            <a:extLst>
              <a:ext uri="{FF2B5EF4-FFF2-40B4-BE49-F238E27FC236}">
                <a16:creationId xmlns:a16="http://schemas.microsoft.com/office/drawing/2014/main" id="{8766ACF1-8EB6-92D8-F51F-94A9ED2B5DE4}"/>
              </a:ext>
            </a:extLst>
          </p:cNvPr>
          <p:cNvSpPr txBox="1"/>
          <p:nvPr/>
        </p:nvSpPr>
        <p:spPr>
          <a:xfrm>
            <a:off x="6742381" y="4906700"/>
            <a:ext cx="2401619" cy="253916"/>
          </a:xfrm>
          <a:prstGeom prst="rect">
            <a:avLst/>
          </a:prstGeom>
          <a:noFill/>
        </p:spPr>
        <p:txBody>
          <a:bodyPr wrap="none" rtlCol="0">
            <a:spAutoFit/>
          </a:bodyPr>
          <a:lstStyle/>
          <a:p>
            <a:r>
              <a:rPr lang="en-US" sz="1050" dirty="0">
                <a:solidFill>
                  <a:schemeClr val="bg1">
                    <a:lumMod val="65000"/>
                  </a:schemeClr>
                </a:solidFill>
              </a:rPr>
              <a:t>*DEG = differentially expressed gene</a:t>
            </a:r>
          </a:p>
        </p:txBody>
      </p:sp>
    </p:spTree>
    <p:extLst>
      <p:ext uri="{BB962C8B-B14F-4D97-AF65-F5344CB8AC3E}">
        <p14:creationId xmlns:p14="http://schemas.microsoft.com/office/powerpoint/2010/main" val="13500950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16055E1F-6B8E-CF7C-E39A-7690CCD6869A}"/>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24A95CA4-4EBE-D58F-5D3B-1F7DDC03B116}"/>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Extra activities</a:t>
            </a:r>
            <a:endParaRPr lang="en-US" dirty="0"/>
          </a:p>
        </p:txBody>
      </p:sp>
      <p:sp>
        <p:nvSpPr>
          <p:cNvPr id="8" name="TextBox 7">
            <a:extLst>
              <a:ext uri="{FF2B5EF4-FFF2-40B4-BE49-F238E27FC236}">
                <a16:creationId xmlns:a16="http://schemas.microsoft.com/office/drawing/2014/main" id="{43295A08-C5F4-0D95-4292-C1B53811B142}"/>
              </a:ext>
            </a:extLst>
          </p:cNvPr>
          <p:cNvSpPr txBox="1"/>
          <p:nvPr/>
        </p:nvSpPr>
        <p:spPr>
          <a:xfrm>
            <a:off x="421640" y="1037089"/>
            <a:ext cx="7005320" cy="3693319"/>
          </a:xfrm>
          <a:prstGeom prst="rect">
            <a:avLst/>
          </a:prstGeom>
          <a:noFill/>
        </p:spPr>
        <p:txBody>
          <a:bodyPr wrap="square">
            <a:spAutoFit/>
          </a:bodyPr>
          <a:lstStyle/>
          <a:p>
            <a:pPr>
              <a:buNone/>
            </a:pPr>
            <a:r>
              <a:rPr lang="en-US" b="1" dirty="0">
                <a:solidFill>
                  <a:srgbClr val="83CB99"/>
                </a:solidFill>
              </a:rPr>
              <a:t>Easy </a:t>
            </a:r>
            <a:r>
              <a:rPr lang="en-US" b="1" dirty="0"/>
              <a:t>— change a parameter and see what happens</a:t>
            </a:r>
            <a:endParaRPr lang="en-US" dirty="0"/>
          </a:p>
          <a:p>
            <a:pPr marL="285750" indent="-285750">
              <a:buFont typeface="Arial" panose="020B0604020202020204" pitchFamily="34" charset="0"/>
              <a:buChar char="•"/>
            </a:pPr>
            <a:r>
              <a:rPr lang="en-US" sz="1200" dirty="0"/>
              <a:t>Change the fold-change threshold in the volcano plot from 1 to 0.5 or 2 and describe how the number of DEGs changes</a:t>
            </a:r>
          </a:p>
          <a:p>
            <a:pPr marL="285750" indent="-285750">
              <a:buFont typeface="Arial" panose="020B0604020202020204" pitchFamily="34" charset="0"/>
              <a:buChar char="•"/>
            </a:pPr>
            <a:r>
              <a:rPr lang="en-US" sz="1200" dirty="0"/>
              <a:t>Change </a:t>
            </a:r>
            <a:r>
              <a:rPr lang="en-US" sz="1200" dirty="0">
                <a:latin typeface="Courier New" panose="02070309020205020404" pitchFamily="49" charset="0"/>
              </a:rPr>
              <a:t>n = 50</a:t>
            </a:r>
            <a:r>
              <a:rPr lang="en-US" sz="1200" dirty="0"/>
              <a:t> in the heatmap to 25 or 100 — does the biological story change?</a:t>
            </a:r>
          </a:p>
          <a:p>
            <a:pPr marL="285750" indent="-285750">
              <a:buFont typeface="Arial" panose="020B0604020202020204" pitchFamily="34" charset="0"/>
              <a:buChar char="•"/>
            </a:pPr>
            <a:r>
              <a:rPr lang="en-US" sz="1200" dirty="0"/>
              <a:t>Change </a:t>
            </a:r>
            <a:r>
              <a:rPr lang="en-US" sz="1200" dirty="0" err="1">
                <a:latin typeface="Courier New" panose="02070309020205020404" pitchFamily="49" charset="0"/>
              </a:rPr>
              <a:t>padj</a:t>
            </a:r>
            <a:r>
              <a:rPr lang="en-US" sz="1200" dirty="0">
                <a:latin typeface="Courier New" panose="02070309020205020404" pitchFamily="49" charset="0"/>
              </a:rPr>
              <a:t> &lt; 0.05</a:t>
            </a:r>
            <a:r>
              <a:rPr lang="en-US" sz="1200" dirty="0"/>
              <a:t> to </a:t>
            </a:r>
            <a:r>
              <a:rPr lang="en-US" sz="1200" dirty="0" err="1">
                <a:latin typeface="Courier New" panose="02070309020205020404" pitchFamily="49" charset="0"/>
              </a:rPr>
              <a:t>padj</a:t>
            </a:r>
            <a:r>
              <a:rPr lang="en-US" sz="1200" dirty="0">
                <a:latin typeface="Courier New" panose="02070309020205020404" pitchFamily="49" charset="0"/>
              </a:rPr>
              <a:t> &lt; 0.01</a:t>
            </a:r>
            <a:r>
              <a:rPr lang="en-US" sz="1200" dirty="0"/>
              <a:t> — how many genes do you lose?</a:t>
            </a:r>
          </a:p>
          <a:p>
            <a:pPr marL="285750" indent="-285750">
              <a:buFont typeface="Arial" panose="020B0604020202020204" pitchFamily="34" charset="0"/>
              <a:buChar char="•"/>
            </a:pPr>
            <a:r>
              <a:rPr lang="en-US" sz="1200" dirty="0"/>
              <a:t>Add labels for the top 10 most significant genes on the volcano plot using </a:t>
            </a:r>
            <a:r>
              <a:rPr lang="en-US" sz="1200" dirty="0" err="1">
                <a:latin typeface="Courier New" panose="02070309020205020404" pitchFamily="49" charset="0"/>
              </a:rPr>
              <a:t>ggrepel</a:t>
            </a:r>
            <a:endParaRPr lang="en-US" sz="1200" dirty="0"/>
          </a:p>
          <a:p>
            <a:pPr>
              <a:buNone/>
            </a:pPr>
            <a:r>
              <a:rPr lang="en-US" b="1" dirty="0">
                <a:solidFill>
                  <a:srgbClr val="FDCD0F"/>
                </a:solidFill>
              </a:rPr>
              <a:t>Medium</a:t>
            </a:r>
            <a:r>
              <a:rPr lang="en-US" b="1" dirty="0"/>
              <a:t> — extract and explore the results</a:t>
            </a:r>
            <a:endParaRPr lang="en-US" dirty="0"/>
          </a:p>
          <a:p>
            <a:pPr marL="285750" indent="-285750">
              <a:buFont typeface="Arial" panose="020B0604020202020204" pitchFamily="34" charset="0"/>
              <a:buChar char="•"/>
            </a:pPr>
            <a:r>
              <a:rPr lang="en-US" sz="1200" dirty="0"/>
              <a:t>Write code to count exactly how many genes are Up, Down, and NS in each contrast — present it as a table</a:t>
            </a:r>
          </a:p>
          <a:p>
            <a:pPr marL="285750" indent="-285750">
              <a:buFont typeface="Arial" panose="020B0604020202020204" pitchFamily="34" charset="0"/>
              <a:buChar char="•"/>
            </a:pPr>
            <a:r>
              <a:rPr lang="en-US" sz="1200" dirty="0"/>
              <a:t>Filter the results to only significant DEGs (</a:t>
            </a:r>
            <a:r>
              <a:rPr lang="en-US" sz="1200" dirty="0" err="1"/>
              <a:t>padj</a:t>
            </a:r>
            <a:r>
              <a:rPr lang="en-US" sz="1200" dirty="0"/>
              <a:t> &lt; 0.05, |log2FC| &gt; 1) and save them to a CSV file</a:t>
            </a:r>
          </a:p>
          <a:p>
            <a:pPr marL="285750" indent="-285750">
              <a:buFont typeface="Arial" panose="020B0604020202020204" pitchFamily="34" charset="0"/>
              <a:buChar char="•"/>
            </a:pPr>
            <a:r>
              <a:rPr lang="en-US" sz="1200" dirty="0"/>
              <a:t>Add a third contrast: D14 vs D7 — what genes are still changing between those two time points?</a:t>
            </a:r>
          </a:p>
          <a:p>
            <a:pPr marL="285750" indent="-285750">
              <a:buFont typeface="Arial" panose="020B0604020202020204" pitchFamily="34" charset="0"/>
              <a:buChar char="•"/>
            </a:pPr>
            <a:r>
              <a:rPr lang="en-US" sz="1200" dirty="0" err="1"/>
              <a:t>Colour</a:t>
            </a:r>
            <a:r>
              <a:rPr lang="en-US" sz="1200" dirty="0"/>
              <a:t> the PCA plot by a different variable (e.g., replicate number) to check for batch effects</a:t>
            </a:r>
          </a:p>
          <a:p>
            <a:pPr>
              <a:buNone/>
            </a:pPr>
            <a:r>
              <a:rPr lang="en-US" b="1" dirty="0">
                <a:solidFill>
                  <a:srgbClr val="F3534D"/>
                </a:solidFill>
              </a:rPr>
              <a:t>Hard</a:t>
            </a:r>
            <a:r>
              <a:rPr lang="en-US" b="1" dirty="0"/>
              <a:t> — extend the analysis</a:t>
            </a:r>
            <a:endParaRPr lang="en-US" dirty="0"/>
          </a:p>
          <a:p>
            <a:pPr marL="285750" indent="-285750">
              <a:buFont typeface="Arial" panose="020B0604020202020204" pitchFamily="34" charset="0"/>
              <a:buChar char="•"/>
            </a:pPr>
            <a:r>
              <a:rPr lang="en-US" sz="1200" dirty="0"/>
              <a:t>Look up what the top 10 DEGs actually are — do they make biological sense for a time-course experiment?</a:t>
            </a:r>
          </a:p>
          <a:p>
            <a:pPr marL="285750" indent="-285750">
              <a:buFont typeface="Arial" panose="020B0604020202020204" pitchFamily="34" charset="0"/>
              <a:buChar char="•"/>
            </a:pPr>
            <a:r>
              <a:rPr lang="en-US" sz="1200" dirty="0"/>
              <a:t>Instead of pooling both contrasts for the heatmap, make separate heatmaps for D7-specific and D14-specific DEGs and compare the patterns</a:t>
            </a:r>
          </a:p>
          <a:p>
            <a:pPr marL="285750" indent="-285750">
              <a:buFont typeface="Arial" panose="020B0604020202020204" pitchFamily="34" charset="0"/>
              <a:buChar char="•"/>
            </a:pPr>
            <a:r>
              <a:rPr lang="en-US" sz="1200" dirty="0"/>
              <a:t>Apply </a:t>
            </a:r>
            <a:r>
              <a:rPr lang="en-US" sz="1200" dirty="0" err="1">
                <a:latin typeface="Courier New" panose="02070309020205020404" pitchFamily="49" charset="0"/>
              </a:rPr>
              <a:t>lfcShrink</a:t>
            </a:r>
            <a:r>
              <a:rPr lang="en-US" sz="1200" dirty="0">
                <a:latin typeface="Courier New" panose="02070309020205020404" pitchFamily="49" charset="0"/>
              </a:rPr>
              <a:t>()</a:t>
            </a:r>
            <a:r>
              <a:rPr lang="en-US" sz="1200" dirty="0"/>
              <a:t> to the results and compare the MA plot before and after — why does shrinkage matter?</a:t>
            </a:r>
          </a:p>
        </p:txBody>
      </p:sp>
      <p:pic>
        <p:nvPicPr>
          <p:cNvPr id="9" name="Picture 2" descr="difficulty levels symbol, Easy medium hard icon vector Illustrations Stock  Vector | Adobe Stock">
            <a:extLst>
              <a:ext uri="{FF2B5EF4-FFF2-40B4-BE49-F238E27FC236}">
                <a16:creationId xmlns:a16="http://schemas.microsoft.com/office/drawing/2014/main" id="{B4FF218D-49E8-8E7E-F4E0-46A09773F2E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2" r="70889"/>
          <a:stretch>
            <a:fillRect/>
          </a:stretch>
        </p:blipFill>
        <p:spPr bwMode="auto">
          <a:xfrm>
            <a:off x="7625915" y="1127824"/>
            <a:ext cx="1060188" cy="92333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difficulty levels symbol, Easy medium hard icon vector Illustrations Stock  Vector | Adobe Stock">
            <a:extLst>
              <a:ext uri="{FF2B5EF4-FFF2-40B4-BE49-F238E27FC236}">
                <a16:creationId xmlns:a16="http://schemas.microsoft.com/office/drawing/2014/main" id="{2FB17D57-9583-91B0-EDDA-32354B72CC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5699" r="34788"/>
          <a:stretch>
            <a:fillRect/>
          </a:stretch>
        </p:blipFill>
        <p:spPr bwMode="auto">
          <a:xfrm>
            <a:off x="7625915" y="2330221"/>
            <a:ext cx="1060188" cy="92333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difficulty levels symbol, Easy medium hard icon vector Illustrations Stock  Vector | Adobe Stock">
            <a:extLst>
              <a:ext uri="{FF2B5EF4-FFF2-40B4-BE49-F238E27FC236}">
                <a16:creationId xmlns:a16="http://schemas.microsoft.com/office/drawing/2014/main" id="{8A11BB95-8B16-7251-362D-7975804B6D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487"/>
          <a:stretch>
            <a:fillRect/>
          </a:stretch>
        </p:blipFill>
        <p:spPr bwMode="auto">
          <a:xfrm>
            <a:off x="7625915" y="3571875"/>
            <a:ext cx="1060188" cy="92333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B07D72D-FC3F-1483-379E-7DEEA465EFAE}"/>
              </a:ext>
            </a:extLst>
          </p:cNvPr>
          <p:cNvSpPr txBox="1"/>
          <p:nvPr/>
        </p:nvSpPr>
        <p:spPr>
          <a:xfrm>
            <a:off x="711200" y="4730408"/>
            <a:ext cx="4897495" cy="276999"/>
          </a:xfrm>
          <a:prstGeom prst="rect">
            <a:avLst/>
          </a:prstGeom>
          <a:noFill/>
        </p:spPr>
        <p:txBody>
          <a:bodyPr wrap="none" rtlCol="0">
            <a:spAutoFit/>
          </a:bodyPr>
          <a:lstStyle/>
          <a:p>
            <a:r>
              <a:rPr lang="en-US" sz="1200" dirty="0">
                <a:solidFill>
                  <a:schemeClr val="bg1">
                    <a:lumMod val="50000"/>
                  </a:schemeClr>
                </a:solidFill>
              </a:rPr>
              <a:t>or… go back to day 2 and try to run DESeq2 on the microbiome data!</a:t>
            </a:r>
          </a:p>
        </p:txBody>
      </p:sp>
    </p:spTree>
    <p:extLst>
      <p:ext uri="{BB962C8B-B14F-4D97-AF65-F5344CB8AC3E}">
        <p14:creationId xmlns:p14="http://schemas.microsoft.com/office/powerpoint/2010/main" val="29345573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85">
          <a:extLst>
            <a:ext uri="{FF2B5EF4-FFF2-40B4-BE49-F238E27FC236}">
              <a16:creationId xmlns:a16="http://schemas.microsoft.com/office/drawing/2014/main" id="{E0F1AA87-9A41-C0CF-DDD0-26A75923CEA0}"/>
            </a:ext>
          </a:extLst>
        </p:cNvPr>
        <p:cNvGrpSpPr/>
        <p:nvPr/>
      </p:nvGrpSpPr>
      <p:grpSpPr>
        <a:xfrm>
          <a:off x="0" y="0"/>
          <a:ext cx="0" cy="0"/>
          <a:chOff x="0" y="0"/>
          <a:chExt cx="0" cy="0"/>
        </a:xfrm>
      </p:grpSpPr>
      <p:pic>
        <p:nvPicPr>
          <p:cNvPr id="186" name="Google Shape;186;p30">
            <a:extLst>
              <a:ext uri="{FF2B5EF4-FFF2-40B4-BE49-F238E27FC236}">
                <a16:creationId xmlns:a16="http://schemas.microsoft.com/office/drawing/2014/main" id="{00E632A1-F27C-FE0A-1DCB-790C1DEB7CFE}"/>
              </a:ext>
            </a:extLst>
          </p:cNvPr>
          <p:cNvPicPr preferRelativeResize="0"/>
          <p:nvPr/>
        </p:nvPicPr>
        <p:blipFill>
          <a:blip r:embed="rId3">
            <a:alphaModFix/>
          </a:blip>
          <a:stretch>
            <a:fillRect/>
          </a:stretch>
        </p:blipFill>
        <p:spPr>
          <a:xfrm>
            <a:off x="2454251" y="1013639"/>
            <a:ext cx="4570450" cy="3116225"/>
          </a:xfrm>
          <a:prstGeom prst="rect">
            <a:avLst/>
          </a:prstGeom>
          <a:noFill/>
          <a:ln>
            <a:noFill/>
          </a:ln>
        </p:spPr>
      </p:pic>
    </p:spTree>
    <p:extLst>
      <p:ext uri="{BB962C8B-B14F-4D97-AF65-F5344CB8AC3E}">
        <p14:creationId xmlns:p14="http://schemas.microsoft.com/office/powerpoint/2010/main" val="11777519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868D3E65-1B05-EA2E-2868-AEEC8218A155}"/>
              </a:ext>
            </a:extLst>
          </p:cNvPr>
          <p:cNvSpPr txBox="1">
            <a:spLocks/>
          </p:cNvSpPr>
          <p:nvPr/>
        </p:nvSpPr>
        <p:spPr>
          <a:xfrm>
            <a:off x="171930" y="216848"/>
            <a:ext cx="7886700" cy="534791"/>
          </a:xfrm>
          <a:prstGeom prst="rect">
            <a:avLst/>
          </a:prstGeom>
        </p:spPr>
        <p:txBody>
          <a:bodyPr vert="horz" lIns="68580" tIns="34290" rIns="68580" bIns="3429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700" dirty="0"/>
              <a:t>Networks</a:t>
            </a:r>
          </a:p>
        </p:txBody>
      </p:sp>
      <p:sp>
        <p:nvSpPr>
          <p:cNvPr id="3" name="TextBox 2">
            <a:extLst>
              <a:ext uri="{FF2B5EF4-FFF2-40B4-BE49-F238E27FC236}">
                <a16:creationId xmlns:a16="http://schemas.microsoft.com/office/drawing/2014/main" id="{457D83C1-0CF1-FC76-6B48-63216879CC68}"/>
              </a:ext>
            </a:extLst>
          </p:cNvPr>
          <p:cNvSpPr txBox="1"/>
          <p:nvPr/>
        </p:nvSpPr>
        <p:spPr>
          <a:xfrm>
            <a:off x="171931" y="727623"/>
            <a:ext cx="6564150" cy="253916"/>
          </a:xfrm>
          <a:prstGeom prst="rect">
            <a:avLst/>
          </a:prstGeom>
          <a:noFill/>
        </p:spPr>
        <p:txBody>
          <a:bodyPr wrap="square">
            <a:spAutoFit/>
          </a:bodyPr>
          <a:lstStyle/>
          <a:p>
            <a:r>
              <a:rPr lang="en-US" sz="1050" dirty="0">
                <a:solidFill>
                  <a:srgbClr val="333333"/>
                </a:solidFill>
                <a:latin typeface="+mn-lt"/>
              </a:rPr>
              <a:t>Networks encode the</a:t>
            </a:r>
            <a:r>
              <a:rPr lang="en-US" sz="1050" b="1" dirty="0">
                <a:solidFill>
                  <a:srgbClr val="333333"/>
                </a:solidFill>
                <a:latin typeface="+mn-lt"/>
              </a:rPr>
              <a:t> interactions between the components </a:t>
            </a:r>
            <a:r>
              <a:rPr lang="en-US" sz="1050" dirty="0">
                <a:solidFill>
                  <a:srgbClr val="333333"/>
                </a:solidFill>
                <a:latin typeface="+mn-lt"/>
              </a:rPr>
              <a:t>in complex systems</a:t>
            </a:r>
            <a:endParaRPr lang="en-US" sz="1050" dirty="0">
              <a:latin typeface="+mn-lt"/>
            </a:endParaRPr>
          </a:p>
        </p:txBody>
      </p:sp>
      <p:pic>
        <p:nvPicPr>
          <p:cNvPr id="1026" name="Picture 2">
            <a:extLst>
              <a:ext uri="{FF2B5EF4-FFF2-40B4-BE49-F238E27FC236}">
                <a16:creationId xmlns:a16="http://schemas.microsoft.com/office/drawing/2014/main" id="{40FC9F5A-70F0-4192-9792-DB2312B68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477" y="1384055"/>
            <a:ext cx="4399532" cy="338606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18401ED-E1C7-5F19-1580-6BD27214F307}"/>
              </a:ext>
            </a:extLst>
          </p:cNvPr>
          <p:cNvSpPr txBox="1"/>
          <p:nvPr/>
        </p:nvSpPr>
        <p:spPr>
          <a:xfrm>
            <a:off x="3478912" y="4770119"/>
            <a:ext cx="1107996" cy="230832"/>
          </a:xfrm>
          <a:prstGeom prst="rect">
            <a:avLst/>
          </a:prstGeom>
          <a:noFill/>
        </p:spPr>
        <p:txBody>
          <a:bodyPr wrap="none" rtlCol="0">
            <a:spAutoFit/>
          </a:bodyPr>
          <a:lstStyle/>
          <a:p>
            <a:r>
              <a:rPr lang="en-US" sz="900" dirty="0">
                <a:latin typeface="+mj-lt"/>
                <a:hlinkClick r:id="rId4"/>
              </a:rPr>
              <a:t>Bruder et.al. 2019</a:t>
            </a:r>
            <a:endParaRPr lang="en-US" sz="900" dirty="0">
              <a:latin typeface="+mj-lt"/>
            </a:endParaRPr>
          </a:p>
        </p:txBody>
      </p:sp>
      <p:pic>
        <p:nvPicPr>
          <p:cNvPr id="1028" name="Picture 4">
            <a:extLst>
              <a:ext uri="{FF2B5EF4-FFF2-40B4-BE49-F238E27FC236}">
                <a16:creationId xmlns:a16="http://schemas.microsoft.com/office/drawing/2014/main" id="{BCBF3513-D46C-09E1-9E75-EAF57B20B0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01782" y="1025813"/>
            <a:ext cx="3010699" cy="395205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3661DE2-5CC0-E796-1515-A1CE6D3CBF7B}"/>
              </a:ext>
            </a:extLst>
          </p:cNvPr>
          <p:cNvSpPr txBox="1"/>
          <p:nvPr/>
        </p:nvSpPr>
        <p:spPr>
          <a:xfrm>
            <a:off x="7475220" y="4770119"/>
            <a:ext cx="1075936" cy="230832"/>
          </a:xfrm>
          <a:prstGeom prst="rect">
            <a:avLst/>
          </a:prstGeom>
          <a:noFill/>
        </p:spPr>
        <p:txBody>
          <a:bodyPr wrap="none" rtlCol="0">
            <a:spAutoFit/>
          </a:bodyPr>
          <a:lstStyle/>
          <a:p>
            <a:r>
              <a:rPr lang="en-US" sz="900" dirty="0">
                <a:latin typeface="+mj-lt"/>
                <a:hlinkClick r:id="rId6"/>
              </a:rPr>
              <a:t>Meyer et.al. 2020</a:t>
            </a:r>
            <a:endParaRPr lang="en-US" sz="900" dirty="0">
              <a:latin typeface="+mj-lt"/>
            </a:endParaRPr>
          </a:p>
        </p:txBody>
      </p:sp>
    </p:spTree>
    <p:extLst>
      <p:ext uri="{BB962C8B-B14F-4D97-AF65-F5344CB8AC3E}">
        <p14:creationId xmlns:p14="http://schemas.microsoft.com/office/powerpoint/2010/main" val="3058876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2AF63FAC-9511-D85D-9A45-43C7148809B0}"/>
              </a:ext>
            </a:extLst>
          </p:cNvPr>
          <p:cNvSpPr/>
          <p:nvPr/>
        </p:nvSpPr>
        <p:spPr>
          <a:xfrm>
            <a:off x="3023297" y="2558034"/>
            <a:ext cx="420624" cy="429768"/>
          </a:xfrm>
          <a:prstGeom prst="ellipse">
            <a:avLst/>
          </a:prstGeom>
          <a:solidFill>
            <a:schemeClr val="accent5">
              <a:lumMod val="7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 name="Oval 4">
            <a:extLst>
              <a:ext uri="{FF2B5EF4-FFF2-40B4-BE49-F238E27FC236}">
                <a16:creationId xmlns:a16="http://schemas.microsoft.com/office/drawing/2014/main" id="{F9DD5A6F-88B8-F462-70FF-2BEF526D7BD9}"/>
              </a:ext>
            </a:extLst>
          </p:cNvPr>
          <p:cNvSpPr/>
          <p:nvPr/>
        </p:nvSpPr>
        <p:spPr>
          <a:xfrm>
            <a:off x="4353749" y="1897380"/>
            <a:ext cx="420624" cy="429768"/>
          </a:xfrm>
          <a:prstGeom prst="ellipse">
            <a:avLst/>
          </a:prstGeom>
          <a:solidFill>
            <a:schemeClr val="accent5">
              <a:lumMod val="7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Oval 5">
            <a:extLst>
              <a:ext uri="{FF2B5EF4-FFF2-40B4-BE49-F238E27FC236}">
                <a16:creationId xmlns:a16="http://schemas.microsoft.com/office/drawing/2014/main" id="{BA0AE158-BB00-FEC6-3D23-BDE149868329}"/>
              </a:ext>
            </a:extLst>
          </p:cNvPr>
          <p:cNvSpPr/>
          <p:nvPr/>
        </p:nvSpPr>
        <p:spPr>
          <a:xfrm>
            <a:off x="5592761" y="2663190"/>
            <a:ext cx="420624" cy="429768"/>
          </a:xfrm>
          <a:prstGeom prst="ellipse">
            <a:avLst/>
          </a:prstGeom>
          <a:solidFill>
            <a:schemeClr val="accent5">
              <a:lumMod val="7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 name="Oval 6">
            <a:extLst>
              <a:ext uri="{FF2B5EF4-FFF2-40B4-BE49-F238E27FC236}">
                <a16:creationId xmlns:a16="http://schemas.microsoft.com/office/drawing/2014/main" id="{80480E6B-AD8C-199A-541D-782D1164FB59}"/>
              </a:ext>
            </a:extLst>
          </p:cNvPr>
          <p:cNvSpPr/>
          <p:nvPr/>
        </p:nvSpPr>
        <p:spPr>
          <a:xfrm>
            <a:off x="4884101" y="3463290"/>
            <a:ext cx="420624" cy="429768"/>
          </a:xfrm>
          <a:prstGeom prst="ellipse">
            <a:avLst/>
          </a:prstGeom>
          <a:solidFill>
            <a:schemeClr val="accent5">
              <a:lumMod val="75000"/>
            </a:schemeClr>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cxnSp>
        <p:nvCxnSpPr>
          <p:cNvPr id="11" name="Straight Connector 10">
            <a:extLst>
              <a:ext uri="{FF2B5EF4-FFF2-40B4-BE49-F238E27FC236}">
                <a16:creationId xmlns:a16="http://schemas.microsoft.com/office/drawing/2014/main" id="{440F52BD-644B-38AF-DC82-34818A7887B6}"/>
              </a:ext>
            </a:extLst>
          </p:cNvPr>
          <p:cNvCxnSpPr>
            <a:cxnSpLocks/>
            <a:stCxn id="4" idx="7"/>
            <a:endCxn id="5" idx="2"/>
          </p:cNvCxnSpPr>
          <p:nvPr/>
        </p:nvCxnSpPr>
        <p:spPr>
          <a:xfrm flipV="1">
            <a:off x="3382322" y="2112264"/>
            <a:ext cx="971427" cy="50870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432CF60-6A0E-0922-CBCA-A2D95A1455B4}"/>
              </a:ext>
            </a:extLst>
          </p:cNvPr>
          <p:cNvCxnSpPr>
            <a:cxnSpLocks/>
            <a:stCxn id="5" idx="6"/>
            <a:endCxn id="6" idx="1"/>
          </p:cNvCxnSpPr>
          <p:nvPr/>
        </p:nvCxnSpPr>
        <p:spPr>
          <a:xfrm>
            <a:off x="4774373" y="2112264"/>
            <a:ext cx="879987" cy="6138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6760757-B491-60D7-BDD7-8EEF57711683}"/>
              </a:ext>
            </a:extLst>
          </p:cNvPr>
          <p:cNvCxnSpPr>
            <a:cxnSpLocks/>
            <a:endCxn id="6" idx="3"/>
          </p:cNvCxnSpPr>
          <p:nvPr/>
        </p:nvCxnSpPr>
        <p:spPr>
          <a:xfrm flipV="1">
            <a:off x="5240717" y="3030020"/>
            <a:ext cx="413643" cy="5013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970DAF-A398-E25D-B62A-B93EE71EC7F4}"/>
              </a:ext>
            </a:extLst>
          </p:cNvPr>
          <p:cNvCxnSpPr>
            <a:cxnSpLocks/>
            <a:stCxn id="7" idx="0"/>
          </p:cNvCxnSpPr>
          <p:nvPr/>
        </p:nvCxnSpPr>
        <p:spPr>
          <a:xfrm flipH="1" flipV="1">
            <a:off x="4572000" y="2334469"/>
            <a:ext cx="522413" cy="11288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C8F0EC9-865A-8F82-FD4E-4A33E45F4C38}"/>
              </a:ext>
            </a:extLst>
          </p:cNvPr>
          <p:cNvSpPr txBox="1"/>
          <p:nvPr/>
        </p:nvSpPr>
        <p:spPr>
          <a:xfrm>
            <a:off x="2973805" y="2237405"/>
            <a:ext cx="486030" cy="253916"/>
          </a:xfrm>
          <a:prstGeom prst="rect">
            <a:avLst/>
          </a:prstGeom>
          <a:noFill/>
        </p:spPr>
        <p:txBody>
          <a:bodyPr wrap="none" rtlCol="0">
            <a:spAutoFit/>
          </a:bodyPr>
          <a:lstStyle/>
          <a:p>
            <a:r>
              <a:rPr lang="en-US" sz="1050" dirty="0">
                <a:solidFill>
                  <a:schemeClr val="accent5">
                    <a:lumMod val="75000"/>
                  </a:schemeClr>
                </a:solidFill>
                <a:latin typeface="+mn-lt"/>
              </a:rPr>
              <a:t>node</a:t>
            </a:r>
          </a:p>
        </p:txBody>
      </p:sp>
      <p:sp>
        <p:nvSpPr>
          <p:cNvPr id="25" name="TextBox 24">
            <a:extLst>
              <a:ext uri="{FF2B5EF4-FFF2-40B4-BE49-F238E27FC236}">
                <a16:creationId xmlns:a16="http://schemas.microsoft.com/office/drawing/2014/main" id="{16C79CC1-8006-2ACA-5FEF-27A0060E9D4C}"/>
              </a:ext>
            </a:extLst>
          </p:cNvPr>
          <p:cNvSpPr txBox="1"/>
          <p:nvPr/>
        </p:nvSpPr>
        <p:spPr>
          <a:xfrm rot="2094181">
            <a:off x="5069649" y="2159875"/>
            <a:ext cx="486030" cy="253916"/>
          </a:xfrm>
          <a:prstGeom prst="rect">
            <a:avLst/>
          </a:prstGeom>
          <a:noFill/>
        </p:spPr>
        <p:txBody>
          <a:bodyPr wrap="none" rtlCol="0">
            <a:spAutoFit/>
          </a:bodyPr>
          <a:lstStyle/>
          <a:p>
            <a:r>
              <a:rPr lang="en-US" sz="1050" dirty="0">
                <a:latin typeface="+mn-lt"/>
              </a:rPr>
              <a:t>edge</a:t>
            </a:r>
          </a:p>
        </p:txBody>
      </p:sp>
      <p:sp>
        <p:nvSpPr>
          <p:cNvPr id="26" name="Title 1">
            <a:extLst>
              <a:ext uri="{FF2B5EF4-FFF2-40B4-BE49-F238E27FC236}">
                <a16:creationId xmlns:a16="http://schemas.microsoft.com/office/drawing/2014/main" id="{868D3E65-1B05-EA2E-2868-AEEC8218A155}"/>
              </a:ext>
            </a:extLst>
          </p:cNvPr>
          <p:cNvSpPr txBox="1">
            <a:spLocks/>
          </p:cNvSpPr>
          <p:nvPr/>
        </p:nvSpPr>
        <p:spPr>
          <a:xfrm>
            <a:off x="171930" y="216848"/>
            <a:ext cx="7886700" cy="534791"/>
          </a:xfrm>
          <a:prstGeom prst="rect">
            <a:avLst/>
          </a:prstGeom>
        </p:spPr>
        <p:txBody>
          <a:bodyPr vert="horz" lIns="68580" tIns="34290" rIns="68580" bIns="3429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700" dirty="0"/>
              <a:t>Network components</a:t>
            </a:r>
          </a:p>
        </p:txBody>
      </p:sp>
    </p:spTree>
    <p:extLst>
      <p:ext uri="{BB962C8B-B14F-4D97-AF65-F5344CB8AC3E}">
        <p14:creationId xmlns:p14="http://schemas.microsoft.com/office/powerpoint/2010/main" val="25307843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868D3E65-1B05-EA2E-2868-AEEC8218A155}"/>
              </a:ext>
            </a:extLst>
          </p:cNvPr>
          <p:cNvSpPr txBox="1">
            <a:spLocks/>
          </p:cNvSpPr>
          <p:nvPr/>
        </p:nvSpPr>
        <p:spPr>
          <a:xfrm>
            <a:off x="171930" y="216848"/>
            <a:ext cx="7886700" cy="534791"/>
          </a:xfrm>
          <a:prstGeom prst="rect">
            <a:avLst/>
          </a:prstGeom>
        </p:spPr>
        <p:txBody>
          <a:bodyPr vert="horz" lIns="68580" tIns="34290" rIns="68580" bIns="3429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700" dirty="0"/>
              <a:t>Types of networks</a:t>
            </a:r>
          </a:p>
        </p:txBody>
      </p:sp>
      <p:sp>
        <p:nvSpPr>
          <p:cNvPr id="5" name="TextBox 4">
            <a:extLst>
              <a:ext uri="{FF2B5EF4-FFF2-40B4-BE49-F238E27FC236}">
                <a16:creationId xmlns:a16="http://schemas.microsoft.com/office/drawing/2014/main" id="{62BB9C63-8928-1911-FDBF-A6E4BC5F4B71}"/>
              </a:ext>
            </a:extLst>
          </p:cNvPr>
          <p:cNvSpPr txBox="1"/>
          <p:nvPr/>
        </p:nvSpPr>
        <p:spPr>
          <a:xfrm>
            <a:off x="2705884" y="3621523"/>
            <a:ext cx="1996505" cy="900246"/>
          </a:xfrm>
          <a:prstGeom prst="rect">
            <a:avLst/>
          </a:prstGeom>
          <a:noFill/>
        </p:spPr>
        <p:txBody>
          <a:bodyPr wrap="square" rtlCol="0">
            <a:spAutoFit/>
          </a:bodyPr>
          <a:lstStyle/>
          <a:p>
            <a:r>
              <a:rPr lang="en-US" sz="1050" b="1" dirty="0">
                <a:solidFill>
                  <a:srgbClr val="241F84"/>
                </a:solidFill>
                <a:latin typeface="+mn-lt"/>
              </a:rPr>
              <a:t>Random</a:t>
            </a:r>
          </a:p>
          <a:p>
            <a:r>
              <a:rPr lang="en-US" sz="1050" dirty="0">
                <a:solidFill>
                  <a:srgbClr val="241F84"/>
                </a:solidFill>
                <a:latin typeface="+mn-lt"/>
              </a:rPr>
              <a:t>Each node same # of connections but random</a:t>
            </a:r>
          </a:p>
          <a:p>
            <a:r>
              <a:rPr lang="en-US" sz="1050" dirty="0">
                <a:solidFill>
                  <a:srgbClr val="241F84"/>
                </a:solidFill>
                <a:latin typeface="+mn-lt"/>
              </a:rPr>
              <a:t>Low distance</a:t>
            </a:r>
          </a:p>
          <a:p>
            <a:r>
              <a:rPr lang="en-US" sz="1050" dirty="0">
                <a:solidFill>
                  <a:srgbClr val="241F84"/>
                </a:solidFill>
                <a:latin typeface="+mn-lt"/>
              </a:rPr>
              <a:t>Low clustering</a:t>
            </a:r>
          </a:p>
        </p:txBody>
      </p:sp>
      <p:pic>
        <p:nvPicPr>
          <p:cNvPr id="1030" name="Picture 6" descr="Local Patterns to Global Architectures: Influences of Network Topology on  Human Learning: Trends in Cognitive Sciences">
            <a:extLst>
              <a:ext uri="{FF2B5EF4-FFF2-40B4-BE49-F238E27FC236}">
                <a16:creationId xmlns:a16="http://schemas.microsoft.com/office/drawing/2014/main" id="{A084C179-D0F2-5641-33A6-8F6F7C93F94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7526" r="1" b="18887"/>
          <a:stretch>
            <a:fillRect/>
          </a:stretch>
        </p:blipFill>
        <p:spPr bwMode="auto">
          <a:xfrm>
            <a:off x="2199019" y="1191516"/>
            <a:ext cx="2173177" cy="225670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CB5C0643-9E7A-EE0F-0E3D-C2B0289B8A51}"/>
              </a:ext>
            </a:extLst>
          </p:cNvPr>
          <p:cNvSpPr txBox="1"/>
          <p:nvPr/>
        </p:nvSpPr>
        <p:spPr>
          <a:xfrm>
            <a:off x="5641133" y="3621523"/>
            <a:ext cx="2228371" cy="738664"/>
          </a:xfrm>
          <a:prstGeom prst="rect">
            <a:avLst/>
          </a:prstGeom>
          <a:noFill/>
        </p:spPr>
        <p:txBody>
          <a:bodyPr wrap="square" rtlCol="0">
            <a:spAutoFit/>
          </a:bodyPr>
          <a:lstStyle/>
          <a:p>
            <a:r>
              <a:rPr lang="en-US" sz="1050" b="1" dirty="0">
                <a:solidFill>
                  <a:srgbClr val="4969A0"/>
                </a:solidFill>
                <a:latin typeface="+mn-lt"/>
              </a:rPr>
              <a:t>Scale free</a:t>
            </a:r>
          </a:p>
          <a:p>
            <a:r>
              <a:rPr lang="en-US" sz="1050" dirty="0">
                <a:solidFill>
                  <a:srgbClr val="4969A0"/>
                </a:solidFill>
                <a:latin typeface="+mn-lt"/>
              </a:rPr>
              <a:t>Medium-low distance</a:t>
            </a:r>
          </a:p>
          <a:p>
            <a:r>
              <a:rPr lang="en-US" sz="1050" dirty="0">
                <a:solidFill>
                  <a:srgbClr val="4969A0"/>
                </a:solidFill>
                <a:latin typeface="+mn-lt"/>
              </a:rPr>
              <a:t>Higher clustering</a:t>
            </a:r>
          </a:p>
          <a:p>
            <a:r>
              <a:rPr lang="en-US" sz="1050" dirty="0">
                <a:solidFill>
                  <a:srgbClr val="4969A0"/>
                </a:solidFill>
                <a:latin typeface="+mn-lt"/>
              </a:rPr>
              <a:t>= “Small-world”</a:t>
            </a:r>
          </a:p>
        </p:txBody>
      </p:sp>
      <p:pic>
        <p:nvPicPr>
          <p:cNvPr id="2" name="Picture 6" descr="Local Patterns to Global Architectures: Influences of Network Topology on  Human Learning: Trends in Cognitive Sciences">
            <a:extLst>
              <a:ext uri="{FF2B5EF4-FFF2-40B4-BE49-F238E27FC236}">
                <a16:creationId xmlns:a16="http://schemas.microsoft.com/office/drawing/2014/main" id="{3525CFF6-1991-FB32-9693-FFFB029A162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868" r="31751" b="18887"/>
          <a:stretch>
            <a:fillRect/>
          </a:stretch>
        </p:blipFill>
        <p:spPr bwMode="auto">
          <a:xfrm>
            <a:off x="4884979" y="1023532"/>
            <a:ext cx="2300867" cy="22567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69116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A50FE84-01C6-489E-ACA5-CCD91397ED20}"/>
              </a:ext>
            </a:extLst>
          </p:cNvPr>
          <p:cNvSpPr txBox="1">
            <a:spLocks/>
          </p:cNvSpPr>
          <p:nvPr/>
        </p:nvSpPr>
        <p:spPr>
          <a:xfrm>
            <a:off x="171930" y="216848"/>
            <a:ext cx="7886700" cy="534791"/>
          </a:xfrm>
          <a:prstGeom prst="rect">
            <a:avLst/>
          </a:prstGeom>
        </p:spPr>
        <p:txBody>
          <a:bodyPr vert="horz" lIns="68580" tIns="34290" rIns="68580" bIns="3429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700" dirty="0"/>
              <a:t>Degree distribution</a:t>
            </a:r>
          </a:p>
        </p:txBody>
      </p:sp>
      <p:pic>
        <p:nvPicPr>
          <p:cNvPr id="5" name="Picture 6" descr="Local Patterns to Global Architectures: Influences of Network Topology on  Human Learning: Trends in Cognitive Sciences">
            <a:extLst>
              <a:ext uri="{FF2B5EF4-FFF2-40B4-BE49-F238E27FC236}">
                <a16:creationId xmlns:a16="http://schemas.microsoft.com/office/drawing/2014/main" id="{E0121BC4-3F92-187A-BBD8-52A360EBF45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573" b="18887"/>
          <a:stretch/>
        </p:blipFill>
        <p:spPr bwMode="auto">
          <a:xfrm>
            <a:off x="1772916" y="915116"/>
            <a:ext cx="1724542" cy="179339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scale-free network - node degree distribution - power law">
            <a:extLst>
              <a:ext uri="{FF2B5EF4-FFF2-40B4-BE49-F238E27FC236}">
                <a16:creationId xmlns:a16="http://schemas.microsoft.com/office/drawing/2014/main" id="{A2F59A5B-A38B-0BB8-3829-DBE359A4A33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0725"/>
          <a:stretch>
            <a:fillRect/>
          </a:stretch>
        </p:blipFill>
        <p:spPr bwMode="auto">
          <a:xfrm>
            <a:off x="824245" y="2979606"/>
            <a:ext cx="7243763" cy="20679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Local Patterns to Global Architectures: Influences of Network Topology on  Human Learning: Trends in Cognitive Sciences">
            <a:extLst>
              <a:ext uri="{FF2B5EF4-FFF2-40B4-BE49-F238E27FC236}">
                <a16:creationId xmlns:a16="http://schemas.microsoft.com/office/drawing/2014/main" id="{CDDAEEA9-F9DB-2721-0FD2-678BF0BFA7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370" r="31407" b="18887"/>
          <a:stretch/>
        </p:blipFill>
        <p:spPr bwMode="auto">
          <a:xfrm>
            <a:off x="5413596" y="938686"/>
            <a:ext cx="1724542" cy="160544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5E3D79E-5283-4D77-F09B-7C1377EA6A72}"/>
              </a:ext>
            </a:extLst>
          </p:cNvPr>
          <p:cNvSpPr txBox="1"/>
          <p:nvPr/>
        </p:nvSpPr>
        <p:spPr>
          <a:xfrm>
            <a:off x="1920838" y="2778491"/>
            <a:ext cx="1996505" cy="253916"/>
          </a:xfrm>
          <a:prstGeom prst="rect">
            <a:avLst/>
          </a:prstGeom>
          <a:noFill/>
        </p:spPr>
        <p:txBody>
          <a:bodyPr wrap="square" rtlCol="0">
            <a:spAutoFit/>
          </a:bodyPr>
          <a:lstStyle/>
          <a:p>
            <a:r>
              <a:rPr lang="en-US" sz="1050" b="1" dirty="0">
                <a:solidFill>
                  <a:srgbClr val="241F84"/>
                </a:solidFill>
                <a:latin typeface="+mn-lt"/>
              </a:rPr>
              <a:t>Random networks</a:t>
            </a:r>
          </a:p>
        </p:txBody>
      </p:sp>
      <p:sp>
        <p:nvSpPr>
          <p:cNvPr id="3" name="TextBox 2">
            <a:extLst>
              <a:ext uri="{FF2B5EF4-FFF2-40B4-BE49-F238E27FC236}">
                <a16:creationId xmlns:a16="http://schemas.microsoft.com/office/drawing/2014/main" id="{9DABA01F-B0AC-D8BD-1027-2E0A501CEF7D}"/>
              </a:ext>
            </a:extLst>
          </p:cNvPr>
          <p:cNvSpPr txBox="1"/>
          <p:nvPr/>
        </p:nvSpPr>
        <p:spPr>
          <a:xfrm>
            <a:off x="5413596" y="2776075"/>
            <a:ext cx="2228371" cy="253916"/>
          </a:xfrm>
          <a:prstGeom prst="rect">
            <a:avLst/>
          </a:prstGeom>
          <a:noFill/>
        </p:spPr>
        <p:txBody>
          <a:bodyPr wrap="square" rtlCol="0">
            <a:spAutoFit/>
          </a:bodyPr>
          <a:lstStyle/>
          <a:p>
            <a:r>
              <a:rPr lang="en-US" sz="1050" b="1" dirty="0">
                <a:solidFill>
                  <a:srgbClr val="4969A0"/>
                </a:solidFill>
                <a:latin typeface="+mn-lt"/>
              </a:rPr>
              <a:t>Scale free networks</a:t>
            </a:r>
          </a:p>
        </p:txBody>
      </p:sp>
    </p:spTree>
    <p:extLst>
      <p:ext uri="{BB962C8B-B14F-4D97-AF65-F5344CB8AC3E}">
        <p14:creationId xmlns:p14="http://schemas.microsoft.com/office/powerpoint/2010/main" val="32737589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B0560-4549-2F10-9D14-0F98A2843C9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EBBA3A3-5BED-07F1-3BB9-C5B70203B3A1}"/>
              </a:ext>
            </a:extLst>
          </p:cNvPr>
          <p:cNvSpPr txBox="1"/>
          <p:nvPr/>
        </p:nvSpPr>
        <p:spPr>
          <a:xfrm>
            <a:off x="502006" y="771664"/>
            <a:ext cx="5290231" cy="307777"/>
          </a:xfrm>
          <a:prstGeom prst="rect">
            <a:avLst/>
          </a:prstGeom>
          <a:noFill/>
        </p:spPr>
        <p:txBody>
          <a:bodyPr wrap="none" rtlCol="0">
            <a:spAutoFit/>
          </a:bodyPr>
          <a:lstStyle/>
          <a:p>
            <a:r>
              <a:rPr lang="en-US" dirty="0"/>
              <a:t>Explain how people have used co-expression networks in vet sci</a:t>
            </a:r>
          </a:p>
        </p:txBody>
      </p:sp>
    </p:spTree>
    <p:extLst>
      <p:ext uri="{BB962C8B-B14F-4D97-AF65-F5344CB8AC3E}">
        <p14:creationId xmlns:p14="http://schemas.microsoft.com/office/powerpoint/2010/main" val="22631039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00930F2C-B4B2-C104-A133-A53E1FE602EC}"/>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09C84327-D7A2-2EFE-6F89-D4DE1BEDF89B}"/>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Co-expression Networks: The Concept</a:t>
            </a:r>
            <a:endParaRPr lang="en-US" dirty="0"/>
          </a:p>
        </p:txBody>
      </p:sp>
      <p:sp>
        <p:nvSpPr>
          <p:cNvPr id="3" name="TextBox 2">
            <a:extLst>
              <a:ext uri="{FF2B5EF4-FFF2-40B4-BE49-F238E27FC236}">
                <a16:creationId xmlns:a16="http://schemas.microsoft.com/office/drawing/2014/main" id="{50548EB4-96A1-C21A-2B40-55968ABC9812}"/>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5" name="TextBox 4">
            <a:extLst>
              <a:ext uri="{FF2B5EF4-FFF2-40B4-BE49-F238E27FC236}">
                <a16:creationId xmlns:a16="http://schemas.microsoft.com/office/drawing/2014/main" id="{D32057E0-C1B1-859D-5B7E-F2EB2B43DBB9}"/>
              </a:ext>
            </a:extLst>
          </p:cNvPr>
          <p:cNvSpPr txBox="1"/>
          <p:nvPr/>
        </p:nvSpPr>
        <p:spPr>
          <a:xfrm>
            <a:off x="461913" y="1078754"/>
            <a:ext cx="7456602" cy="2031325"/>
          </a:xfrm>
          <a:prstGeom prst="rect">
            <a:avLst/>
          </a:prstGeom>
          <a:noFill/>
        </p:spPr>
        <p:txBody>
          <a:bodyPr wrap="square">
            <a:spAutoFit/>
          </a:bodyPr>
          <a:lstStyle/>
          <a:p>
            <a:r>
              <a:rPr lang="en-US" b="1" dirty="0"/>
              <a:t>Co-expression Network: </a:t>
            </a:r>
            <a:r>
              <a:rPr lang="en-US" dirty="0"/>
              <a:t>nodes = genes, edges = correlation of counts from RNA-seq</a:t>
            </a:r>
          </a:p>
          <a:p>
            <a:endParaRPr lang="en-US" b="1" dirty="0"/>
          </a:p>
          <a:p>
            <a:r>
              <a:rPr lang="en-US" b="1" dirty="0"/>
              <a:t>Pitfalls: </a:t>
            </a:r>
          </a:p>
          <a:p>
            <a:pPr marL="285750" indent="-285750">
              <a:buFont typeface="Arial" panose="020B0604020202020204" pitchFamily="34" charset="0"/>
              <a:buChar char="•"/>
            </a:pPr>
            <a:r>
              <a:rPr lang="en-US" dirty="0"/>
              <a:t>Loss of Information from "Hard Thresholding”</a:t>
            </a:r>
            <a:endParaRPr lang="en-US" b="1" dirty="0"/>
          </a:p>
          <a:p>
            <a:pPr lvl="8"/>
            <a:r>
              <a:rPr lang="en-US" b="1" dirty="0"/>
              <a:t>	- Arbitrary thresholds: </a:t>
            </a:r>
            <a:r>
              <a:rPr lang="en-US" dirty="0"/>
              <a:t>strict correlation cutoff (e.g., \(r &gt; 0.8\)).</a:t>
            </a:r>
            <a:endParaRPr lang="en-US" b="1" dirty="0"/>
          </a:p>
          <a:p>
            <a:pPr lvl="1"/>
            <a:r>
              <a:rPr lang="en-US" b="1" dirty="0"/>
              <a:t>	- Data exclusion: a</a:t>
            </a:r>
            <a:r>
              <a:rPr lang="en-US" dirty="0"/>
              <a:t> correlation of 0.79 is discarded, while 0.81 is kept</a:t>
            </a:r>
          </a:p>
          <a:p>
            <a:pPr marL="285750" indent="-285750">
              <a:buFont typeface="Arial" panose="020B0604020202020204" pitchFamily="34" charset="0"/>
              <a:buChar char="•"/>
            </a:pPr>
            <a:r>
              <a:rPr lang="en-US" b="1" dirty="0"/>
              <a:t>Failure to reflect scale-free topology</a:t>
            </a:r>
          </a:p>
          <a:p>
            <a:pPr marL="285750" indent="-285750">
              <a:buFont typeface="Arial" panose="020B0604020202020204" pitchFamily="34" charset="0"/>
              <a:buChar char="•"/>
            </a:pPr>
            <a:r>
              <a:rPr lang="en-US" b="1" dirty="0"/>
              <a:t>Vulnerability to Background Noise and False Positives</a:t>
            </a:r>
          </a:p>
          <a:p>
            <a:pPr marL="285750" indent="-285750">
              <a:buFontTx/>
              <a:buChar char="-"/>
            </a:pPr>
            <a:endParaRPr lang="en-US" b="1" dirty="0"/>
          </a:p>
        </p:txBody>
      </p:sp>
      <p:sp>
        <p:nvSpPr>
          <p:cNvPr id="6" name="TextBox 5">
            <a:extLst>
              <a:ext uri="{FF2B5EF4-FFF2-40B4-BE49-F238E27FC236}">
                <a16:creationId xmlns:a16="http://schemas.microsoft.com/office/drawing/2014/main" id="{1D13D547-A95B-E95B-4A06-72EFE03E4FE6}"/>
              </a:ext>
            </a:extLst>
          </p:cNvPr>
          <p:cNvSpPr txBox="1"/>
          <p:nvPr/>
        </p:nvSpPr>
        <p:spPr>
          <a:xfrm>
            <a:off x="461913" y="3068863"/>
            <a:ext cx="6235761" cy="1169551"/>
          </a:xfrm>
          <a:prstGeom prst="rect">
            <a:avLst/>
          </a:prstGeom>
          <a:noFill/>
        </p:spPr>
        <p:txBody>
          <a:bodyPr wrap="square" rtlCol="0">
            <a:spAutoFit/>
          </a:bodyPr>
          <a:lstStyle/>
          <a:p>
            <a:r>
              <a:rPr lang="en-US" dirty="0"/>
              <a:t>Genes that are consistently co-expressed are likely regulated by the same transcription factors, involved in the same pathways, or functionally related. By grouping them into </a:t>
            </a:r>
            <a:r>
              <a:rPr lang="en-US" b="1" dirty="0"/>
              <a:t>modules</a:t>
            </a:r>
            <a:r>
              <a:rPr lang="en-US" dirty="0"/>
              <a:t>, we can </a:t>
            </a:r>
            <a:r>
              <a:rPr lang="en-US" dirty="0" err="1"/>
              <a:t>summarise</a:t>
            </a:r>
            <a:r>
              <a:rPr lang="en-US" dirty="0"/>
              <a:t> thousands of genes into a handful of patterns and ask which patterns associate with our experimental conditions </a:t>
            </a:r>
          </a:p>
        </p:txBody>
      </p:sp>
      <p:sp>
        <p:nvSpPr>
          <p:cNvPr id="7" name="5-Point Star 6">
            <a:extLst>
              <a:ext uri="{FF2B5EF4-FFF2-40B4-BE49-F238E27FC236}">
                <a16:creationId xmlns:a16="http://schemas.microsoft.com/office/drawing/2014/main" id="{BA5D44AA-0AD8-CCC1-324F-41176C04162C}"/>
              </a:ext>
            </a:extLst>
          </p:cNvPr>
          <p:cNvSpPr/>
          <p:nvPr/>
        </p:nvSpPr>
        <p:spPr>
          <a:xfrm>
            <a:off x="5392730" y="740439"/>
            <a:ext cx="4282441" cy="4626311"/>
          </a:xfrm>
          <a:prstGeom prst="star5">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83325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D2D27BC3-AE58-BA69-09D2-A0F56C94CDD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95BC1D-B963-2B87-D5C0-B4FDA1778750}"/>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4" name="TextBox 3">
            <a:extLst>
              <a:ext uri="{FF2B5EF4-FFF2-40B4-BE49-F238E27FC236}">
                <a16:creationId xmlns:a16="http://schemas.microsoft.com/office/drawing/2014/main" id="{14700B68-4BC6-05F1-BCEF-CEF86E3D6998}"/>
              </a:ext>
            </a:extLst>
          </p:cNvPr>
          <p:cNvSpPr txBox="1"/>
          <p:nvPr/>
        </p:nvSpPr>
        <p:spPr>
          <a:xfrm>
            <a:off x="367989" y="1260286"/>
            <a:ext cx="7879451" cy="3323987"/>
          </a:xfrm>
          <a:prstGeom prst="rect">
            <a:avLst/>
          </a:prstGeom>
          <a:noFill/>
        </p:spPr>
        <p:txBody>
          <a:bodyPr wrap="square">
            <a:spAutoFit/>
          </a:bodyPr>
          <a:lstStyle/>
          <a:p>
            <a:r>
              <a:rPr lang="en-US" b="1" dirty="0"/>
              <a:t>Identify clusters of genes (called modules)  that share correlated expression patterns and explore how these clusters relate to one another.</a:t>
            </a:r>
          </a:p>
          <a:p>
            <a:endParaRPr lang="en-US" dirty="0"/>
          </a:p>
          <a:p>
            <a:pPr fontAlgn="base"/>
            <a:r>
              <a:rPr lang="en-US" dirty="0"/>
              <a:t>The core idea of WGCNA: genes with correlated expression across samples are likely co-regulated or functionally related</a:t>
            </a:r>
          </a:p>
          <a:p>
            <a:pPr fontAlgn="base"/>
            <a:endParaRPr lang="en-US" dirty="0"/>
          </a:p>
          <a:p>
            <a:pPr fontAlgn="base"/>
            <a:r>
              <a:rPr lang="en-US" dirty="0"/>
              <a:t>WGNCA = </a:t>
            </a:r>
            <a:r>
              <a:rPr lang="en-US" dirty="0" err="1"/>
              <a:t>Weihghted</a:t>
            </a:r>
            <a:r>
              <a:rPr lang="en-US" dirty="0"/>
              <a:t> gene </a:t>
            </a:r>
            <a:r>
              <a:rPr lang="en-US" dirty="0" err="1"/>
              <a:t>coexpression</a:t>
            </a:r>
            <a:r>
              <a:rPr lang="en-US" dirty="0"/>
              <a:t> network analysis</a:t>
            </a:r>
          </a:p>
          <a:p>
            <a:pPr fontAlgn="base"/>
            <a:endParaRPr lang="en-US" dirty="0"/>
          </a:p>
          <a:p>
            <a:pPr fontAlgn="base"/>
            <a:r>
              <a:rPr lang="en-US" dirty="0"/>
              <a:t>Modules = clusters of co-expressed genes, each gets a color name (</a:t>
            </a:r>
            <a:r>
              <a:rPr lang="en-US" dirty="0" err="1"/>
              <a:t>MEblue</a:t>
            </a:r>
            <a:r>
              <a:rPr lang="en-US" dirty="0"/>
              <a:t>, </a:t>
            </a:r>
            <a:r>
              <a:rPr lang="en-US" dirty="0" err="1"/>
              <a:t>MEturquoise</a:t>
            </a:r>
            <a:r>
              <a:rPr lang="en-US" dirty="0"/>
              <a:t>, etc.)</a:t>
            </a:r>
          </a:p>
          <a:p>
            <a:pPr fontAlgn="base"/>
            <a:endParaRPr lang="en-US" dirty="0"/>
          </a:p>
          <a:p>
            <a:pPr fontAlgn="base"/>
            <a:r>
              <a:rPr lang="en-US" dirty="0"/>
              <a:t>Hub genes: the most connected gene in a module — often biologically meaningful</a:t>
            </a:r>
          </a:p>
          <a:p>
            <a:pPr fontAlgn="base"/>
            <a:r>
              <a:rPr lang="en-US" dirty="0"/>
              <a:t>How a network is visualized: nodes = genes, edges = correlation strength</a:t>
            </a:r>
          </a:p>
          <a:p>
            <a:pPr fontAlgn="base"/>
            <a:r>
              <a:rPr lang="en-US" dirty="0"/>
              <a:t>One real example: a module enriched in immune genes that correlates with disease severity</a:t>
            </a:r>
          </a:p>
          <a:p>
            <a:pPr fontAlgn="base"/>
            <a:r>
              <a:rPr lang="en-US" dirty="0"/>
              <a:t>Explicitly set expectations: </a:t>
            </a:r>
            <a:r>
              <a:rPr lang="en-US" i="1" dirty="0"/>
              <a:t>"This afternoon you'll run a simplified version — the concept is the same, the parameters are pre-set so you can focus on interpretation"</a:t>
            </a:r>
            <a:endParaRPr lang="en-US" dirty="0"/>
          </a:p>
        </p:txBody>
      </p:sp>
      <p:sp>
        <p:nvSpPr>
          <p:cNvPr id="9" name="Google Shape;84;p15">
            <a:extLst>
              <a:ext uri="{FF2B5EF4-FFF2-40B4-BE49-F238E27FC236}">
                <a16:creationId xmlns:a16="http://schemas.microsoft.com/office/drawing/2014/main" id="{FA80EF14-0108-1C1A-86BB-E243859A5543}"/>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Weighted Gene </a:t>
            </a:r>
            <a:r>
              <a:rPr lang="en-US" b="1" dirty="0" err="1"/>
              <a:t>Coexpression</a:t>
            </a:r>
            <a:r>
              <a:rPr lang="en-US" b="1" dirty="0"/>
              <a:t> Network Analysis (WGCNA)</a:t>
            </a:r>
            <a:endParaRPr lang="en-US" dirty="0"/>
          </a:p>
        </p:txBody>
      </p:sp>
      <p:sp>
        <p:nvSpPr>
          <p:cNvPr id="10" name="5-Point Star 9">
            <a:extLst>
              <a:ext uri="{FF2B5EF4-FFF2-40B4-BE49-F238E27FC236}">
                <a16:creationId xmlns:a16="http://schemas.microsoft.com/office/drawing/2014/main" id="{0A87EB89-6195-4119-EB20-F4E401372078}"/>
              </a:ext>
            </a:extLst>
          </p:cNvPr>
          <p:cNvSpPr/>
          <p:nvPr/>
        </p:nvSpPr>
        <p:spPr>
          <a:xfrm>
            <a:off x="3268132" y="372533"/>
            <a:ext cx="5644295" cy="5681134"/>
          </a:xfrm>
          <a:prstGeom prst="star5">
            <a:avLst/>
          </a:prstGeom>
          <a:solidFill>
            <a:srgbClr val="7030A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156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7AF4737A-1889-7357-B659-5B5954CE5B9E}"/>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860024AE-F440-D02A-605A-152D9D8491AE}"/>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Weighted Gene </a:t>
            </a:r>
            <a:r>
              <a:rPr lang="en-US" b="1" dirty="0" err="1"/>
              <a:t>Coexpression</a:t>
            </a:r>
            <a:r>
              <a:rPr lang="en-US" b="1" dirty="0"/>
              <a:t> Network Analysis (WGCNA)</a:t>
            </a:r>
            <a:endParaRPr lang="en-US" dirty="0"/>
          </a:p>
        </p:txBody>
      </p:sp>
      <p:sp>
        <p:nvSpPr>
          <p:cNvPr id="2" name="TextBox 1">
            <a:extLst>
              <a:ext uri="{FF2B5EF4-FFF2-40B4-BE49-F238E27FC236}">
                <a16:creationId xmlns:a16="http://schemas.microsoft.com/office/drawing/2014/main" id="{09521752-D832-758F-8846-BE15A9361EA0}"/>
              </a:ext>
            </a:extLst>
          </p:cNvPr>
          <p:cNvSpPr txBox="1"/>
          <p:nvPr/>
        </p:nvSpPr>
        <p:spPr>
          <a:xfrm>
            <a:off x="382050" y="2109922"/>
            <a:ext cx="395172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1: Create a </a:t>
            </a:r>
            <a:r>
              <a:rPr lang="en-US" b="1" dirty="0"/>
              <a:t>gene co-expression network</a:t>
            </a:r>
          </a:p>
        </p:txBody>
      </p:sp>
      <p:sp>
        <p:nvSpPr>
          <p:cNvPr id="5" name="TextBox 4">
            <a:extLst>
              <a:ext uri="{FF2B5EF4-FFF2-40B4-BE49-F238E27FC236}">
                <a16:creationId xmlns:a16="http://schemas.microsoft.com/office/drawing/2014/main" id="{683D3BF6-6977-3176-71B1-0B949FED6F0C}"/>
              </a:ext>
            </a:extLst>
          </p:cNvPr>
          <p:cNvSpPr txBox="1"/>
          <p:nvPr/>
        </p:nvSpPr>
        <p:spPr>
          <a:xfrm>
            <a:off x="382050" y="2602034"/>
            <a:ext cx="222208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2: </a:t>
            </a:r>
            <a:r>
              <a:rPr lang="en-US" b="1" dirty="0"/>
              <a:t>Identify modules</a:t>
            </a:r>
          </a:p>
        </p:txBody>
      </p:sp>
      <p:sp>
        <p:nvSpPr>
          <p:cNvPr id="9" name="TextBox 8">
            <a:extLst>
              <a:ext uri="{FF2B5EF4-FFF2-40B4-BE49-F238E27FC236}">
                <a16:creationId xmlns:a16="http://schemas.microsoft.com/office/drawing/2014/main" id="{A25AA10D-3794-65B7-EBC6-15B69CA9B041}"/>
              </a:ext>
            </a:extLst>
          </p:cNvPr>
          <p:cNvSpPr txBox="1"/>
          <p:nvPr/>
        </p:nvSpPr>
        <p:spPr>
          <a:xfrm>
            <a:off x="382050" y="1433144"/>
            <a:ext cx="5180178" cy="492443"/>
          </a:xfrm>
          <a:prstGeom prst="rect">
            <a:avLst/>
          </a:prstGeom>
          <a:solidFill>
            <a:schemeClr val="accent6">
              <a:lumMod val="20000"/>
              <a:lumOff val="80000"/>
            </a:schemeClr>
          </a:solidFill>
          <a:ln w="19050">
            <a:solidFill>
              <a:schemeClr val="accent6">
                <a:lumMod val="50000"/>
              </a:schemeClr>
            </a:solidFill>
          </a:ln>
        </p:spPr>
        <p:txBody>
          <a:bodyPr wrap="square" rtlCol="0">
            <a:spAutoFit/>
          </a:bodyPr>
          <a:lstStyle/>
          <a:p>
            <a:r>
              <a:rPr lang="en-US" dirty="0"/>
              <a:t>Step 0.5: </a:t>
            </a:r>
            <a:r>
              <a:rPr lang="en-US" b="1" dirty="0"/>
              <a:t>VST normalization</a:t>
            </a:r>
          </a:p>
          <a:p>
            <a:r>
              <a:rPr lang="en-US" sz="1100" i="1" dirty="0"/>
              <a:t>We are interested in how much expression changes, not the absolute number</a:t>
            </a:r>
          </a:p>
        </p:txBody>
      </p:sp>
    </p:spTree>
    <p:extLst>
      <p:ext uri="{BB962C8B-B14F-4D97-AF65-F5344CB8AC3E}">
        <p14:creationId xmlns:p14="http://schemas.microsoft.com/office/powerpoint/2010/main" val="1263088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0EE31DCA-DC02-84B0-7A1F-00D4488448ED}"/>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942C7763-BF9E-CDE1-5ABC-CE3A799857DA}"/>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Weighted Gene </a:t>
            </a:r>
            <a:r>
              <a:rPr lang="en-US" b="1" dirty="0" err="1"/>
              <a:t>Coexpression</a:t>
            </a:r>
            <a:r>
              <a:rPr lang="en-US" b="1" dirty="0"/>
              <a:t> Network Analysis (WGCNA)</a:t>
            </a:r>
            <a:endParaRPr lang="en-US" dirty="0"/>
          </a:p>
        </p:txBody>
      </p:sp>
      <p:sp>
        <p:nvSpPr>
          <p:cNvPr id="3" name="TextBox 2">
            <a:extLst>
              <a:ext uri="{FF2B5EF4-FFF2-40B4-BE49-F238E27FC236}">
                <a16:creationId xmlns:a16="http://schemas.microsoft.com/office/drawing/2014/main" id="{85FC1F33-7FF7-74C1-3DA7-A8FDC327557A}"/>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pic>
        <p:nvPicPr>
          <p:cNvPr id="2050" name="Picture 2" descr="When to Use Contrast as a Preprocessing Step">
            <a:extLst>
              <a:ext uri="{FF2B5EF4-FFF2-40B4-BE49-F238E27FC236}">
                <a16:creationId xmlns:a16="http://schemas.microsoft.com/office/drawing/2014/main" id="{BBB5DC92-6303-6DED-2F94-BEE38B7A74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676" y="3305855"/>
            <a:ext cx="1722038" cy="128646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383A875E-300C-D866-C7C5-1563FD820ECE}"/>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7200"/>
                    </a14:imgEffect>
                  </a14:imgLayer>
                </a14:imgProps>
              </a:ext>
            </a:extLst>
          </a:blip>
          <a:stretch>
            <a:fillRect/>
          </a:stretch>
        </p:blipFill>
        <p:spPr>
          <a:xfrm>
            <a:off x="357556" y="1877999"/>
            <a:ext cx="4373632" cy="1199564"/>
          </a:xfrm>
          <a:prstGeom prst="rect">
            <a:avLst/>
          </a:prstGeom>
        </p:spPr>
      </p:pic>
      <p:sp>
        <p:nvSpPr>
          <p:cNvPr id="10" name="TextBox 9">
            <a:extLst>
              <a:ext uri="{FF2B5EF4-FFF2-40B4-BE49-F238E27FC236}">
                <a16:creationId xmlns:a16="http://schemas.microsoft.com/office/drawing/2014/main" id="{BD6E54E9-650B-0A79-4FB1-39EA928C6DE2}"/>
              </a:ext>
            </a:extLst>
          </p:cNvPr>
          <p:cNvSpPr txBox="1"/>
          <p:nvPr/>
        </p:nvSpPr>
        <p:spPr>
          <a:xfrm>
            <a:off x="421480" y="3429766"/>
            <a:ext cx="2550259" cy="1077218"/>
          </a:xfrm>
          <a:prstGeom prst="rect">
            <a:avLst/>
          </a:prstGeom>
          <a:noFill/>
        </p:spPr>
        <p:txBody>
          <a:bodyPr wrap="square" rtlCol="0">
            <a:spAutoFit/>
          </a:bodyPr>
          <a:lstStyle/>
          <a:p>
            <a:r>
              <a:rPr lang="en-US" sz="800" dirty="0">
                <a:solidFill>
                  <a:schemeClr val="tx1"/>
                </a:solidFill>
              </a:rPr>
              <a:t>At </a:t>
            </a:r>
            <a:r>
              <a:rPr lang="el-GR" sz="800" b="1" dirty="0">
                <a:solidFill>
                  <a:schemeClr val="accent6">
                    <a:lumMod val="50000"/>
                  </a:schemeClr>
                </a:solidFill>
              </a:rPr>
              <a:t>β = 1</a:t>
            </a:r>
            <a:r>
              <a:rPr lang="el-GR" sz="800" dirty="0">
                <a:solidFill>
                  <a:schemeClr val="accent6">
                    <a:lumMod val="50000"/>
                  </a:schemeClr>
                </a:solidFill>
              </a:rPr>
              <a:t> </a:t>
            </a:r>
            <a:r>
              <a:rPr lang="en-US" sz="800" dirty="0">
                <a:solidFill>
                  <a:schemeClr val="tx1"/>
                </a:solidFill>
              </a:rPr>
              <a:t>you are using raw correlations — </a:t>
            </a:r>
            <a:r>
              <a:rPr lang="en-US" sz="800" b="1" dirty="0">
                <a:solidFill>
                  <a:schemeClr val="accent6">
                    <a:lumMod val="50000"/>
                  </a:schemeClr>
                </a:solidFill>
              </a:rPr>
              <a:t>everything stays connected</a:t>
            </a:r>
            <a:r>
              <a:rPr lang="en-US" sz="800" b="1" dirty="0">
                <a:solidFill>
                  <a:schemeClr val="tx1"/>
                </a:solidFill>
              </a:rPr>
              <a:t> </a:t>
            </a:r>
            <a:r>
              <a:rPr lang="en-US" sz="800" dirty="0">
                <a:solidFill>
                  <a:schemeClr val="tx1"/>
                </a:solidFill>
              </a:rPr>
              <a:t>and the network has no structure.</a:t>
            </a:r>
          </a:p>
          <a:p>
            <a:br>
              <a:rPr lang="en-US" sz="800" dirty="0">
                <a:solidFill>
                  <a:schemeClr val="tx1"/>
                </a:solidFill>
              </a:rPr>
            </a:br>
            <a:r>
              <a:rPr lang="en-US" sz="800" dirty="0">
                <a:solidFill>
                  <a:schemeClr val="tx1"/>
                </a:solidFill>
              </a:rPr>
              <a:t>At </a:t>
            </a:r>
            <a:r>
              <a:rPr lang="el-GR" sz="800" b="1" dirty="0">
                <a:solidFill>
                  <a:schemeClr val="accent6">
                    <a:lumMod val="50000"/>
                  </a:schemeClr>
                </a:solidFill>
              </a:rPr>
              <a:t>β = 12</a:t>
            </a:r>
            <a:r>
              <a:rPr lang="el-GR" sz="800" dirty="0">
                <a:solidFill>
                  <a:schemeClr val="accent6">
                    <a:lumMod val="50000"/>
                  </a:schemeClr>
                </a:solidFill>
              </a:rPr>
              <a:t> </a:t>
            </a:r>
            <a:r>
              <a:rPr lang="en-US" sz="800" dirty="0">
                <a:solidFill>
                  <a:schemeClr val="tx1"/>
                </a:solidFill>
              </a:rPr>
              <a:t>only</a:t>
            </a:r>
            <a:r>
              <a:rPr lang="en-US" sz="800" b="1" dirty="0">
                <a:solidFill>
                  <a:schemeClr val="tx1"/>
                </a:solidFill>
              </a:rPr>
              <a:t> </a:t>
            </a:r>
            <a:r>
              <a:rPr lang="en-US" sz="800" b="1" dirty="0">
                <a:solidFill>
                  <a:schemeClr val="accent6">
                    <a:lumMod val="50000"/>
                  </a:schemeClr>
                </a:solidFill>
              </a:rPr>
              <a:t>very strongly correlated genes </a:t>
            </a:r>
            <a:r>
              <a:rPr lang="en-US" sz="800" dirty="0">
                <a:solidFill>
                  <a:schemeClr val="tx1"/>
                </a:solidFill>
              </a:rPr>
              <a:t>retain meaningful connection weights — the network becomes sparse and biologically interpretable.</a:t>
            </a:r>
          </a:p>
        </p:txBody>
      </p:sp>
      <p:sp>
        <p:nvSpPr>
          <p:cNvPr id="12" name="TextBox 11">
            <a:extLst>
              <a:ext uri="{FF2B5EF4-FFF2-40B4-BE49-F238E27FC236}">
                <a16:creationId xmlns:a16="http://schemas.microsoft.com/office/drawing/2014/main" id="{690F09C4-ABE4-2BEF-CC65-26593BD7C691}"/>
              </a:ext>
            </a:extLst>
          </p:cNvPr>
          <p:cNvSpPr txBox="1"/>
          <p:nvPr/>
        </p:nvSpPr>
        <p:spPr>
          <a:xfrm>
            <a:off x="421480" y="1341930"/>
            <a:ext cx="222208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2: </a:t>
            </a:r>
            <a:r>
              <a:rPr lang="en-US" b="1" dirty="0"/>
              <a:t>Identify modules</a:t>
            </a:r>
          </a:p>
        </p:txBody>
      </p:sp>
      <p:pic>
        <p:nvPicPr>
          <p:cNvPr id="14" name="Picture 13">
            <a:extLst>
              <a:ext uri="{FF2B5EF4-FFF2-40B4-BE49-F238E27FC236}">
                <a16:creationId xmlns:a16="http://schemas.microsoft.com/office/drawing/2014/main" id="{446EA949-CA4D-15DE-6839-E8E51A2E77FA}"/>
              </a:ext>
            </a:extLst>
          </p:cNvPr>
          <p:cNvPicPr>
            <a:picLocks noChangeAspect="1"/>
          </p:cNvPicPr>
          <p:nvPr/>
        </p:nvPicPr>
        <p:blipFill>
          <a:blip r:embed="rId6"/>
          <a:stretch>
            <a:fillRect/>
          </a:stretch>
        </p:blipFill>
        <p:spPr>
          <a:xfrm>
            <a:off x="5273306" y="933543"/>
            <a:ext cx="3431193" cy="2083822"/>
          </a:xfrm>
          <a:prstGeom prst="rect">
            <a:avLst/>
          </a:prstGeom>
        </p:spPr>
      </p:pic>
      <p:pic>
        <p:nvPicPr>
          <p:cNvPr id="15" name="Picture 14">
            <a:extLst>
              <a:ext uri="{FF2B5EF4-FFF2-40B4-BE49-F238E27FC236}">
                <a16:creationId xmlns:a16="http://schemas.microsoft.com/office/drawing/2014/main" id="{07262C87-3F77-86A1-A5F6-7A3D7986455E}"/>
              </a:ext>
            </a:extLst>
          </p:cNvPr>
          <p:cNvPicPr>
            <a:picLocks noChangeAspect="1"/>
          </p:cNvPicPr>
          <p:nvPr/>
        </p:nvPicPr>
        <p:blipFill>
          <a:blip r:embed="rId7"/>
          <a:stretch>
            <a:fillRect/>
          </a:stretch>
        </p:blipFill>
        <p:spPr>
          <a:xfrm>
            <a:off x="5273306" y="3017365"/>
            <a:ext cx="3348644" cy="2042673"/>
          </a:xfrm>
          <a:prstGeom prst="rect">
            <a:avLst/>
          </a:prstGeom>
        </p:spPr>
      </p:pic>
      <p:sp>
        <p:nvSpPr>
          <p:cNvPr id="16" name="Oval 15">
            <a:extLst>
              <a:ext uri="{FF2B5EF4-FFF2-40B4-BE49-F238E27FC236}">
                <a16:creationId xmlns:a16="http://schemas.microsoft.com/office/drawing/2014/main" id="{E3D9C39B-50A0-AE23-E6C7-4434B3EC1AD4}"/>
              </a:ext>
            </a:extLst>
          </p:cNvPr>
          <p:cNvSpPr/>
          <p:nvPr/>
        </p:nvSpPr>
        <p:spPr>
          <a:xfrm>
            <a:off x="6280367" y="1058977"/>
            <a:ext cx="334660" cy="316695"/>
          </a:xfrm>
          <a:prstGeom prst="ellipse">
            <a:avLst/>
          </a:prstGeom>
          <a:noFill/>
          <a:ln w="1905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A62958F-6EC1-8295-3A0F-21E7DD883C4C}"/>
              </a:ext>
            </a:extLst>
          </p:cNvPr>
          <p:cNvSpPr/>
          <p:nvPr/>
        </p:nvSpPr>
        <p:spPr>
          <a:xfrm>
            <a:off x="6280367" y="4433973"/>
            <a:ext cx="334660" cy="316695"/>
          </a:xfrm>
          <a:prstGeom prst="ellipse">
            <a:avLst/>
          </a:prstGeom>
          <a:noFill/>
          <a:ln w="1905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05725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D3E27F89-DDF8-4DF3-6887-CA716BB4841C}"/>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DB23561D-9C75-EA0E-2324-A43BC9BC8652}"/>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Weighted Gene </a:t>
            </a:r>
            <a:r>
              <a:rPr lang="en-US" b="1" dirty="0" err="1"/>
              <a:t>Coexpression</a:t>
            </a:r>
            <a:r>
              <a:rPr lang="en-US" b="1" dirty="0"/>
              <a:t> Network Analysis (WGCNA)</a:t>
            </a:r>
            <a:endParaRPr lang="en-US" dirty="0"/>
          </a:p>
        </p:txBody>
      </p:sp>
      <p:sp>
        <p:nvSpPr>
          <p:cNvPr id="3" name="TextBox 2">
            <a:extLst>
              <a:ext uri="{FF2B5EF4-FFF2-40B4-BE49-F238E27FC236}">
                <a16:creationId xmlns:a16="http://schemas.microsoft.com/office/drawing/2014/main" id="{8B83660F-20DF-F547-734D-BE34E2982868}"/>
              </a:ext>
            </a:extLst>
          </p:cNvPr>
          <p:cNvSpPr txBox="1"/>
          <p:nvPr/>
        </p:nvSpPr>
        <p:spPr>
          <a:xfrm>
            <a:off x="2286000" y="2417583"/>
            <a:ext cx="4572000" cy="307777"/>
          </a:xfrm>
          <a:prstGeom prst="rect">
            <a:avLst/>
          </a:prstGeom>
          <a:noFill/>
        </p:spPr>
        <p:txBody>
          <a:bodyPr wrap="square">
            <a:spAutoFit/>
          </a:bodyPr>
          <a:lstStyle/>
          <a:p>
            <a:r>
              <a:rPr lang="en-US" b="0" dirty="0">
                <a:effectLst/>
              </a:rPr>
              <a:t> </a:t>
            </a:r>
            <a:endParaRPr lang="en-US" dirty="0"/>
          </a:p>
        </p:txBody>
      </p:sp>
      <p:sp>
        <p:nvSpPr>
          <p:cNvPr id="12" name="TextBox 11">
            <a:extLst>
              <a:ext uri="{FF2B5EF4-FFF2-40B4-BE49-F238E27FC236}">
                <a16:creationId xmlns:a16="http://schemas.microsoft.com/office/drawing/2014/main" id="{C13485F3-994A-DCCF-5FDD-2C405D599054}"/>
              </a:ext>
            </a:extLst>
          </p:cNvPr>
          <p:cNvSpPr txBox="1"/>
          <p:nvPr/>
        </p:nvSpPr>
        <p:spPr>
          <a:xfrm>
            <a:off x="421480" y="1341930"/>
            <a:ext cx="222208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2: </a:t>
            </a:r>
            <a:r>
              <a:rPr lang="en-US" b="1" dirty="0"/>
              <a:t>Identify modules</a:t>
            </a:r>
          </a:p>
        </p:txBody>
      </p:sp>
      <p:pic>
        <p:nvPicPr>
          <p:cNvPr id="5" name="Picture 4">
            <a:extLst>
              <a:ext uri="{FF2B5EF4-FFF2-40B4-BE49-F238E27FC236}">
                <a16:creationId xmlns:a16="http://schemas.microsoft.com/office/drawing/2014/main" id="{C50E0AAB-EB60-C4A1-3E6B-FFDA40CA7F57}"/>
              </a:ext>
            </a:extLst>
          </p:cNvPr>
          <p:cNvPicPr>
            <a:picLocks noChangeAspect="1"/>
          </p:cNvPicPr>
          <p:nvPr/>
        </p:nvPicPr>
        <p:blipFill>
          <a:blip r:embed="rId3"/>
          <a:stretch>
            <a:fillRect/>
          </a:stretch>
        </p:blipFill>
        <p:spPr>
          <a:xfrm>
            <a:off x="1759662" y="1614617"/>
            <a:ext cx="6260295" cy="3130148"/>
          </a:xfrm>
          <a:prstGeom prst="rect">
            <a:avLst/>
          </a:prstGeom>
        </p:spPr>
      </p:pic>
    </p:spTree>
    <p:extLst>
      <p:ext uri="{BB962C8B-B14F-4D97-AF65-F5344CB8AC3E}">
        <p14:creationId xmlns:p14="http://schemas.microsoft.com/office/powerpoint/2010/main" val="23226222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34FFE953-5369-C237-5602-D3D1A2EDFDF5}"/>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6A6C61F9-0D8B-990E-A473-A6B321269005}"/>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Weighted Gene </a:t>
            </a:r>
            <a:r>
              <a:rPr lang="en-US" b="1" dirty="0" err="1"/>
              <a:t>Coexpression</a:t>
            </a:r>
            <a:r>
              <a:rPr lang="en-US" b="1" dirty="0"/>
              <a:t> Network Analysis (WGCNA)</a:t>
            </a:r>
            <a:endParaRPr lang="en-US" dirty="0"/>
          </a:p>
        </p:txBody>
      </p:sp>
      <p:sp>
        <p:nvSpPr>
          <p:cNvPr id="2" name="TextBox 1">
            <a:extLst>
              <a:ext uri="{FF2B5EF4-FFF2-40B4-BE49-F238E27FC236}">
                <a16:creationId xmlns:a16="http://schemas.microsoft.com/office/drawing/2014/main" id="{472292D4-C0BC-E6D0-46F6-36A108287511}"/>
              </a:ext>
            </a:extLst>
          </p:cNvPr>
          <p:cNvSpPr txBox="1"/>
          <p:nvPr/>
        </p:nvSpPr>
        <p:spPr>
          <a:xfrm>
            <a:off x="382050" y="2109922"/>
            <a:ext cx="395172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1: Create a </a:t>
            </a:r>
            <a:r>
              <a:rPr lang="en-US" b="1" dirty="0"/>
              <a:t>gene co-expression network</a:t>
            </a:r>
          </a:p>
        </p:txBody>
      </p:sp>
      <p:sp>
        <p:nvSpPr>
          <p:cNvPr id="5" name="TextBox 4">
            <a:extLst>
              <a:ext uri="{FF2B5EF4-FFF2-40B4-BE49-F238E27FC236}">
                <a16:creationId xmlns:a16="http://schemas.microsoft.com/office/drawing/2014/main" id="{E5109596-E85F-FB49-8004-137FD20EAC47}"/>
              </a:ext>
            </a:extLst>
          </p:cNvPr>
          <p:cNvSpPr txBox="1"/>
          <p:nvPr/>
        </p:nvSpPr>
        <p:spPr>
          <a:xfrm>
            <a:off x="382050" y="2602034"/>
            <a:ext cx="222208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2: </a:t>
            </a:r>
            <a:r>
              <a:rPr lang="en-US" b="1" dirty="0"/>
              <a:t>Identify modules</a:t>
            </a:r>
          </a:p>
        </p:txBody>
      </p:sp>
      <p:sp>
        <p:nvSpPr>
          <p:cNvPr id="6" name="TextBox 5">
            <a:extLst>
              <a:ext uri="{FF2B5EF4-FFF2-40B4-BE49-F238E27FC236}">
                <a16:creationId xmlns:a16="http://schemas.microsoft.com/office/drawing/2014/main" id="{ECF88802-38F5-37E6-792B-EFB5411A466C}"/>
              </a:ext>
            </a:extLst>
          </p:cNvPr>
          <p:cNvSpPr txBox="1"/>
          <p:nvPr/>
        </p:nvSpPr>
        <p:spPr>
          <a:xfrm>
            <a:off x="382050" y="3094146"/>
            <a:ext cx="411202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3: </a:t>
            </a:r>
            <a:r>
              <a:rPr lang="en-US" b="1" dirty="0"/>
              <a:t>Relate modules to external information</a:t>
            </a:r>
          </a:p>
        </p:txBody>
      </p:sp>
      <p:sp>
        <p:nvSpPr>
          <p:cNvPr id="9" name="TextBox 8">
            <a:extLst>
              <a:ext uri="{FF2B5EF4-FFF2-40B4-BE49-F238E27FC236}">
                <a16:creationId xmlns:a16="http://schemas.microsoft.com/office/drawing/2014/main" id="{62D272B1-1CDF-0AA0-BD40-5A0291F4CE28}"/>
              </a:ext>
            </a:extLst>
          </p:cNvPr>
          <p:cNvSpPr txBox="1"/>
          <p:nvPr/>
        </p:nvSpPr>
        <p:spPr>
          <a:xfrm>
            <a:off x="382050" y="1433144"/>
            <a:ext cx="5180178" cy="492443"/>
          </a:xfrm>
          <a:prstGeom prst="rect">
            <a:avLst/>
          </a:prstGeom>
          <a:solidFill>
            <a:schemeClr val="accent6">
              <a:lumMod val="20000"/>
              <a:lumOff val="80000"/>
            </a:schemeClr>
          </a:solidFill>
          <a:ln w="19050">
            <a:solidFill>
              <a:schemeClr val="accent6">
                <a:lumMod val="50000"/>
              </a:schemeClr>
            </a:solidFill>
          </a:ln>
        </p:spPr>
        <p:txBody>
          <a:bodyPr wrap="square" rtlCol="0">
            <a:spAutoFit/>
          </a:bodyPr>
          <a:lstStyle/>
          <a:p>
            <a:r>
              <a:rPr lang="en-US" dirty="0"/>
              <a:t>Step 0.5: </a:t>
            </a:r>
            <a:r>
              <a:rPr lang="en-US" b="1" dirty="0"/>
              <a:t>VST normalization</a:t>
            </a:r>
          </a:p>
          <a:p>
            <a:r>
              <a:rPr lang="en-US" sz="1100" i="1" dirty="0"/>
              <a:t>We are interested in how much expression changes, not the absolute number</a:t>
            </a:r>
          </a:p>
        </p:txBody>
      </p:sp>
    </p:spTree>
    <p:extLst>
      <p:ext uri="{BB962C8B-B14F-4D97-AF65-F5344CB8AC3E}">
        <p14:creationId xmlns:p14="http://schemas.microsoft.com/office/powerpoint/2010/main" val="2291427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CF1CFD27-1E06-A0DB-EA86-2F73377D2E4C}"/>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096A348B-5E1B-B6FD-C960-87C03789A7F4}"/>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Weighted Gene </a:t>
            </a:r>
            <a:r>
              <a:rPr lang="en-US" b="1" dirty="0" err="1"/>
              <a:t>Coexpression</a:t>
            </a:r>
            <a:r>
              <a:rPr lang="en-US" b="1" dirty="0"/>
              <a:t> Network Analysis (WGCNA)</a:t>
            </a:r>
            <a:endParaRPr lang="en-US" dirty="0"/>
          </a:p>
        </p:txBody>
      </p:sp>
      <p:sp>
        <p:nvSpPr>
          <p:cNvPr id="6" name="TextBox 5">
            <a:extLst>
              <a:ext uri="{FF2B5EF4-FFF2-40B4-BE49-F238E27FC236}">
                <a16:creationId xmlns:a16="http://schemas.microsoft.com/office/drawing/2014/main" id="{3375A36E-17B1-3B38-E447-A6BF4A8D73A0}"/>
              </a:ext>
            </a:extLst>
          </p:cNvPr>
          <p:cNvSpPr txBox="1"/>
          <p:nvPr/>
        </p:nvSpPr>
        <p:spPr>
          <a:xfrm>
            <a:off x="515866" y="1363477"/>
            <a:ext cx="2459280" cy="523220"/>
          </a:xfrm>
          <a:prstGeom prst="rect">
            <a:avLst/>
          </a:prstGeom>
          <a:solidFill>
            <a:schemeClr val="accent6">
              <a:lumMod val="20000"/>
              <a:lumOff val="80000"/>
            </a:schemeClr>
          </a:solidFill>
          <a:ln w="19050">
            <a:solidFill>
              <a:schemeClr val="accent6">
                <a:lumMod val="50000"/>
              </a:schemeClr>
            </a:solidFill>
          </a:ln>
        </p:spPr>
        <p:txBody>
          <a:bodyPr wrap="square" rtlCol="0">
            <a:spAutoFit/>
          </a:bodyPr>
          <a:lstStyle/>
          <a:p>
            <a:r>
              <a:rPr lang="en-US" dirty="0"/>
              <a:t>Step 3: </a:t>
            </a:r>
            <a:r>
              <a:rPr lang="en-US" b="1" dirty="0"/>
              <a:t>Relate modules to external information</a:t>
            </a:r>
          </a:p>
        </p:txBody>
      </p:sp>
      <p:pic>
        <p:nvPicPr>
          <p:cNvPr id="4" name="Picture 3">
            <a:extLst>
              <a:ext uri="{FF2B5EF4-FFF2-40B4-BE49-F238E27FC236}">
                <a16:creationId xmlns:a16="http://schemas.microsoft.com/office/drawing/2014/main" id="{FEA71529-F02A-9FBD-655D-B06D7AC51B06}"/>
              </a:ext>
            </a:extLst>
          </p:cNvPr>
          <p:cNvPicPr>
            <a:picLocks noChangeAspect="1"/>
          </p:cNvPicPr>
          <p:nvPr/>
        </p:nvPicPr>
        <p:blipFill>
          <a:blip r:embed="rId3"/>
          <a:stretch>
            <a:fillRect/>
          </a:stretch>
        </p:blipFill>
        <p:spPr>
          <a:xfrm>
            <a:off x="3175868" y="755937"/>
            <a:ext cx="5784138" cy="4338104"/>
          </a:xfrm>
          <a:prstGeom prst="rect">
            <a:avLst/>
          </a:prstGeom>
        </p:spPr>
      </p:pic>
    </p:spTree>
    <p:extLst>
      <p:ext uri="{BB962C8B-B14F-4D97-AF65-F5344CB8AC3E}">
        <p14:creationId xmlns:p14="http://schemas.microsoft.com/office/powerpoint/2010/main" val="6350353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Shape 83">
          <a:extLst>
            <a:ext uri="{FF2B5EF4-FFF2-40B4-BE49-F238E27FC236}">
              <a16:creationId xmlns:a16="http://schemas.microsoft.com/office/drawing/2014/main" id="{351A41A6-C7C8-51E4-B1AE-0899DBE069BC}"/>
            </a:ext>
          </a:extLst>
        </p:cNvPr>
        <p:cNvGrpSpPr/>
        <p:nvPr/>
      </p:nvGrpSpPr>
      <p:grpSpPr>
        <a:xfrm>
          <a:off x="0" y="0"/>
          <a:ext cx="0" cy="0"/>
          <a:chOff x="0" y="0"/>
          <a:chExt cx="0" cy="0"/>
        </a:xfrm>
      </p:grpSpPr>
      <p:sp>
        <p:nvSpPr>
          <p:cNvPr id="84" name="Google Shape;84;p15">
            <a:extLst>
              <a:ext uri="{FF2B5EF4-FFF2-40B4-BE49-F238E27FC236}">
                <a16:creationId xmlns:a16="http://schemas.microsoft.com/office/drawing/2014/main" id="{0C9C68D1-CCB6-89FF-D554-84E002FD0FFF}"/>
              </a:ext>
            </a:extLst>
          </p:cNvPr>
          <p:cNvSpPr txBox="1">
            <a:spLocks noGrp="1"/>
          </p:cNvSpPr>
          <p:nvPr>
            <p:ph type="title"/>
          </p:nvPr>
        </p:nvSpPr>
        <p:spPr>
          <a:xfrm>
            <a:off x="311700" y="236800"/>
            <a:ext cx="8520600" cy="572700"/>
          </a:xfrm>
          <a:prstGeom prst="rect">
            <a:avLst/>
          </a:prstGeom>
        </p:spPr>
        <p:txBody>
          <a:bodyPr spcFirstLastPara="1" wrap="square" lIns="91425" tIns="91425" rIns="91425" bIns="91425" anchor="t" anchorCtr="0">
            <a:normAutofit fontScale="90000"/>
          </a:bodyPr>
          <a:lstStyle/>
          <a:p>
            <a:r>
              <a:rPr lang="en-US" b="1" dirty="0"/>
              <a:t>Weighted Gene </a:t>
            </a:r>
            <a:r>
              <a:rPr lang="en-US" b="1" dirty="0" err="1"/>
              <a:t>Coexpression</a:t>
            </a:r>
            <a:r>
              <a:rPr lang="en-US" b="1" dirty="0"/>
              <a:t> Network Analysis (WGCNA)</a:t>
            </a:r>
            <a:endParaRPr lang="en-US" dirty="0"/>
          </a:p>
        </p:txBody>
      </p:sp>
      <p:sp>
        <p:nvSpPr>
          <p:cNvPr id="2" name="TextBox 1">
            <a:extLst>
              <a:ext uri="{FF2B5EF4-FFF2-40B4-BE49-F238E27FC236}">
                <a16:creationId xmlns:a16="http://schemas.microsoft.com/office/drawing/2014/main" id="{C3DF3B50-5FCF-CEDC-7885-4470E0038A16}"/>
              </a:ext>
            </a:extLst>
          </p:cNvPr>
          <p:cNvSpPr txBox="1"/>
          <p:nvPr/>
        </p:nvSpPr>
        <p:spPr>
          <a:xfrm>
            <a:off x="382050" y="2109922"/>
            <a:ext cx="395172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1: Create a </a:t>
            </a:r>
            <a:r>
              <a:rPr lang="en-US" b="1" dirty="0"/>
              <a:t>gene co-expression network</a:t>
            </a:r>
          </a:p>
        </p:txBody>
      </p:sp>
      <p:sp>
        <p:nvSpPr>
          <p:cNvPr id="5" name="TextBox 4">
            <a:extLst>
              <a:ext uri="{FF2B5EF4-FFF2-40B4-BE49-F238E27FC236}">
                <a16:creationId xmlns:a16="http://schemas.microsoft.com/office/drawing/2014/main" id="{F4A364AA-F241-E8C7-97DD-DE86EB3C2D7C}"/>
              </a:ext>
            </a:extLst>
          </p:cNvPr>
          <p:cNvSpPr txBox="1"/>
          <p:nvPr/>
        </p:nvSpPr>
        <p:spPr>
          <a:xfrm>
            <a:off x="382050" y="2602034"/>
            <a:ext cx="222208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2: </a:t>
            </a:r>
            <a:r>
              <a:rPr lang="en-US" b="1" dirty="0"/>
              <a:t>Identify modules</a:t>
            </a:r>
          </a:p>
        </p:txBody>
      </p:sp>
      <p:sp>
        <p:nvSpPr>
          <p:cNvPr id="6" name="TextBox 5">
            <a:extLst>
              <a:ext uri="{FF2B5EF4-FFF2-40B4-BE49-F238E27FC236}">
                <a16:creationId xmlns:a16="http://schemas.microsoft.com/office/drawing/2014/main" id="{6F48BA96-90F0-B59E-0B57-AB3DF0BC792B}"/>
              </a:ext>
            </a:extLst>
          </p:cNvPr>
          <p:cNvSpPr txBox="1"/>
          <p:nvPr/>
        </p:nvSpPr>
        <p:spPr>
          <a:xfrm>
            <a:off x="382050" y="3094146"/>
            <a:ext cx="4112023"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3: </a:t>
            </a:r>
            <a:r>
              <a:rPr lang="en-US" b="1" dirty="0"/>
              <a:t>Relate modules to external information</a:t>
            </a:r>
          </a:p>
        </p:txBody>
      </p:sp>
      <p:sp>
        <p:nvSpPr>
          <p:cNvPr id="7" name="TextBox 6">
            <a:extLst>
              <a:ext uri="{FF2B5EF4-FFF2-40B4-BE49-F238E27FC236}">
                <a16:creationId xmlns:a16="http://schemas.microsoft.com/office/drawing/2014/main" id="{116925DA-A5F0-5D34-7FEF-B18BC00F05D4}"/>
              </a:ext>
            </a:extLst>
          </p:cNvPr>
          <p:cNvSpPr txBox="1"/>
          <p:nvPr/>
        </p:nvSpPr>
        <p:spPr>
          <a:xfrm>
            <a:off x="382050" y="3586258"/>
            <a:ext cx="3147015"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4: </a:t>
            </a:r>
            <a:r>
              <a:rPr lang="en-US" b="1" dirty="0"/>
              <a:t>Study module relationships</a:t>
            </a:r>
          </a:p>
        </p:txBody>
      </p:sp>
      <p:sp>
        <p:nvSpPr>
          <p:cNvPr id="8" name="TextBox 7">
            <a:extLst>
              <a:ext uri="{FF2B5EF4-FFF2-40B4-BE49-F238E27FC236}">
                <a16:creationId xmlns:a16="http://schemas.microsoft.com/office/drawing/2014/main" id="{9D697F35-02B2-D2AF-14EF-95F21A0CC6AE}"/>
              </a:ext>
            </a:extLst>
          </p:cNvPr>
          <p:cNvSpPr txBox="1"/>
          <p:nvPr/>
        </p:nvSpPr>
        <p:spPr>
          <a:xfrm>
            <a:off x="382050" y="4078371"/>
            <a:ext cx="4241867" cy="307777"/>
          </a:xfrm>
          <a:prstGeom prst="rect">
            <a:avLst/>
          </a:prstGeom>
          <a:solidFill>
            <a:schemeClr val="accent6">
              <a:lumMod val="20000"/>
              <a:lumOff val="80000"/>
            </a:schemeClr>
          </a:solidFill>
          <a:ln w="19050">
            <a:solidFill>
              <a:schemeClr val="accent6">
                <a:lumMod val="50000"/>
              </a:schemeClr>
            </a:solidFill>
          </a:ln>
        </p:spPr>
        <p:txBody>
          <a:bodyPr wrap="none" rtlCol="0">
            <a:spAutoFit/>
          </a:bodyPr>
          <a:lstStyle/>
          <a:p>
            <a:r>
              <a:rPr lang="en-US" dirty="0"/>
              <a:t>Step 5: </a:t>
            </a:r>
            <a:r>
              <a:rPr lang="en-US" b="1" dirty="0"/>
              <a:t>Find the key drivers </a:t>
            </a:r>
            <a:r>
              <a:rPr lang="en-US" dirty="0"/>
              <a:t>in modules of interest</a:t>
            </a:r>
          </a:p>
        </p:txBody>
      </p:sp>
      <p:sp>
        <p:nvSpPr>
          <p:cNvPr id="9" name="TextBox 8">
            <a:extLst>
              <a:ext uri="{FF2B5EF4-FFF2-40B4-BE49-F238E27FC236}">
                <a16:creationId xmlns:a16="http://schemas.microsoft.com/office/drawing/2014/main" id="{9ECFA9E3-5473-491F-9184-3BCCD5495A72}"/>
              </a:ext>
            </a:extLst>
          </p:cNvPr>
          <p:cNvSpPr txBox="1"/>
          <p:nvPr/>
        </p:nvSpPr>
        <p:spPr>
          <a:xfrm>
            <a:off x="382050" y="1433144"/>
            <a:ext cx="5180178" cy="492443"/>
          </a:xfrm>
          <a:prstGeom prst="rect">
            <a:avLst/>
          </a:prstGeom>
          <a:solidFill>
            <a:schemeClr val="accent6">
              <a:lumMod val="20000"/>
              <a:lumOff val="80000"/>
            </a:schemeClr>
          </a:solidFill>
          <a:ln w="19050">
            <a:solidFill>
              <a:schemeClr val="accent6">
                <a:lumMod val="50000"/>
              </a:schemeClr>
            </a:solidFill>
          </a:ln>
        </p:spPr>
        <p:txBody>
          <a:bodyPr wrap="square" rtlCol="0">
            <a:spAutoFit/>
          </a:bodyPr>
          <a:lstStyle/>
          <a:p>
            <a:r>
              <a:rPr lang="en-US" dirty="0"/>
              <a:t>Step 0.5: </a:t>
            </a:r>
            <a:r>
              <a:rPr lang="en-US" b="1" dirty="0"/>
              <a:t>VST normalization</a:t>
            </a:r>
          </a:p>
          <a:p>
            <a:r>
              <a:rPr lang="en-US" sz="1100" i="1" dirty="0"/>
              <a:t>We are interested in how much expression changes, not the absolute number</a:t>
            </a:r>
          </a:p>
        </p:txBody>
      </p:sp>
    </p:spTree>
    <p:extLst>
      <p:ext uri="{BB962C8B-B14F-4D97-AF65-F5344CB8AC3E}">
        <p14:creationId xmlns:p14="http://schemas.microsoft.com/office/powerpoint/2010/main" val="11918000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8"/>
          <p:cNvPicPr preferRelativeResize="0"/>
          <p:nvPr/>
        </p:nvPicPr>
        <p:blipFill rotWithShape="1">
          <a:blip r:embed="rId3">
            <a:alphaModFix/>
          </a:blip>
          <a:srcRect b="10217"/>
          <a:stretch/>
        </p:blipFill>
        <p:spPr>
          <a:xfrm>
            <a:off x="917238" y="468325"/>
            <a:ext cx="7309524" cy="40607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6" name="Google Shape;256;p39"/>
          <p:cNvSpPr txBox="1">
            <a:spLocks noGrp="1"/>
          </p:cNvSpPr>
          <p:nvPr>
            <p:ph type="ctrTitle" idx="4294967295"/>
          </p:nvPr>
        </p:nvSpPr>
        <p:spPr>
          <a:xfrm>
            <a:off x="1071600" y="1805475"/>
            <a:ext cx="4373700" cy="2052600"/>
          </a:xfrm>
          <a:prstGeom prst="rect">
            <a:avLst/>
          </a:prstGeom>
          <a:solidFill>
            <a:schemeClr val="lt1"/>
          </a:solid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5000" b="1" dirty="0"/>
              <a:t>End</a:t>
            </a:r>
            <a:r>
              <a:rPr lang="en" sz="5000" dirty="0"/>
              <a:t> of day 2 lecture</a:t>
            </a:r>
            <a:endParaRPr sz="5000" i="1" dirty="0"/>
          </a:p>
        </p:txBody>
      </p:sp>
      <p:pic>
        <p:nvPicPr>
          <p:cNvPr id="2050" name="Picture 2" descr="RNA Lovers... a Valentine's Day funny for you!">
            <a:extLst>
              <a:ext uri="{FF2B5EF4-FFF2-40B4-BE49-F238E27FC236}">
                <a16:creationId xmlns:a16="http://schemas.microsoft.com/office/drawing/2014/main" id="{5DA0F829-F87D-ACFD-7009-5105D20A13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9883" y="799106"/>
            <a:ext cx="2700547" cy="35452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0"/>
          <p:cNvSpPr txBox="1"/>
          <p:nvPr/>
        </p:nvSpPr>
        <p:spPr>
          <a:xfrm>
            <a:off x="452425" y="928700"/>
            <a:ext cx="7374000" cy="255451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Bulk RNA-seq: </a:t>
            </a:r>
            <a:r>
              <a:rPr lang="en" dirty="0">
                <a:hlinkClick r:id="rId3"/>
              </a:rPr>
              <a:t>https://academic.oup.com/bib/article/22/6/bbab259/6330938</a:t>
            </a:r>
            <a:endParaRPr lang="en" dirty="0"/>
          </a:p>
          <a:p>
            <a:pPr lvl="0"/>
            <a:r>
              <a:rPr lang="en" dirty="0"/>
              <a:t>Differential expression and RNA-seq data analysis: </a:t>
            </a:r>
            <a:r>
              <a:rPr lang="en-US" dirty="0">
                <a:hlinkClick r:id="rId4"/>
              </a:rPr>
              <a:t>https://hbctraining.github.io/Training-modules/planning_successful_rnaseq/lessons/count_modeling.html</a:t>
            </a:r>
            <a:endParaRPr lang="en-US" dirty="0"/>
          </a:p>
          <a:p>
            <a:pPr lvl="0"/>
            <a:endParaRPr lang="en" dirty="0"/>
          </a:p>
          <a:p>
            <a:pPr marL="0" lvl="0" indent="0" algn="l" rtl="0">
              <a:spcBef>
                <a:spcPts val="0"/>
              </a:spcBef>
              <a:spcAft>
                <a:spcPts val="0"/>
              </a:spcAft>
              <a:buNone/>
            </a:pPr>
            <a:endParaRPr lang="en" dirty="0"/>
          </a:p>
          <a:p>
            <a:r>
              <a:rPr lang="en" dirty="0"/>
              <a:t>WGCNA Network analysis: </a:t>
            </a:r>
            <a:r>
              <a:rPr lang="en-US" dirty="0">
                <a:hlinkClick r:id="rId5"/>
              </a:rPr>
              <a:t>https://bigomics.ch/blog/introduction-to-wgcna-and-its-applications-in-gene-correlation-network-analysis/</a:t>
            </a:r>
            <a:endParaRPr lang="en-US" dirty="0"/>
          </a:p>
          <a:p>
            <a:r>
              <a:rPr lang="en-US" dirty="0"/>
              <a:t>Video: </a:t>
            </a:r>
            <a:r>
              <a:rPr lang="en-US" dirty="0">
                <a:hlinkClick r:id="rId6"/>
              </a:rPr>
              <a:t>https://www.youtube.com/watch?v=q9a2RvqYZzQ</a:t>
            </a:r>
            <a:r>
              <a:rPr lang="en-US" dirty="0"/>
              <a:t> </a:t>
            </a:r>
          </a:p>
          <a:p>
            <a:r>
              <a:rPr lang="en-US" dirty="0"/>
              <a:t>Examples in literature: </a:t>
            </a:r>
            <a:r>
              <a:rPr lang="en-US" dirty="0">
                <a:hlinkClick r:id="rId7"/>
              </a:rPr>
              <a:t>https://www.mdpi.com/2076-2615/14/10/1470</a:t>
            </a:r>
            <a:r>
              <a:rPr lang="en-US" dirty="0"/>
              <a:t> </a:t>
            </a:r>
            <a:br>
              <a:rPr lang="en-US" dirty="0"/>
            </a:br>
            <a:endParaRPr lang="en-US" dirty="0"/>
          </a:p>
          <a:p>
            <a:pPr marL="0" lvl="0" indent="0" algn="l" rtl="0">
              <a:spcBef>
                <a:spcPts val="0"/>
              </a:spcBef>
              <a:spcAft>
                <a:spcPts val="0"/>
              </a:spcAft>
              <a:buNone/>
            </a:pPr>
            <a:endParaRPr lang="en-US" dirty="0"/>
          </a:p>
        </p:txBody>
      </p:sp>
      <p:sp>
        <p:nvSpPr>
          <p:cNvPr id="122" name="Google Shape;122;p20"/>
          <p:cNvSpPr txBox="1">
            <a:spLocks noGrp="1"/>
          </p:cNvSpPr>
          <p:nvPr>
            <p:ph type="title" idx="4294967295"/>
          </p:nvPr>
        </p:nvSpPr>
        <p:spPr>
          <a:xfrm>
            <a:off x="311700" y="272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Resources</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Shape 101"/>
        <p:cNvGrpSpPr/>
        <p:nvPr/>
      </p:nvGrpSpPr>
      <p:grpSpPr>
        <a:xfrm>
          <a:off x="0" y="0"/>
          <a:ext cx="0" cy="0"/>
          <a:chOff x="0" y="0"/>
          <a:chExt cx="0" cy="0"/>
        </a:xfrm>
      </p:grpSpPr>
      <p:pic>
        <p:nvPicPr>
          <p:cNvPr id="102" name="Google Shape;102;p17"/>
          <p:cNvPicPr preferRelativeResize="0"/>
          <p:nvPr/>
        </p:nvPicPr>
        <p:blipFill>
          <a:blip r:embed="rId3">
            <a:alphaModFix/>
          </a:blip>
          <a:stretch>
            <a:fillRect/>
          </a:stretch>
        </p:blipFill>
        <p:spPr>
          <a:xfrm>
            <a:off x="655692" y="918859"/>
            <a:ext cx="3981671" cy="3867041"/>
          </a:xfrm>
          <a:prstGeom prst="rect">
            <a:avLst/>
          </a:prstGeom>
          <a:noFill/>
          <a:ln>
            <a:noFill/>
          </a:ln>
        </p:spPr>
      </p:pic>
      <p:sp>
        <p:nvSpPr>
          <p:cNvPr id="103" name="Google Shape;103;p17"/>
          <p:cNvSpPr txBox="1">
            <a:spLocks noGrp="1"/>
          </p:cNvSpPr>
          <p:nvPr>
            <p:ph type="title" idx="4294967295"/>
          </p:nvPr>
        </p:nvSpPr>
        <p:spPr>
          <a:xfrm>
            <a:off x="311700" y="2724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Single cell (sc)RNA-seq*</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2298</TotalTime>
  <Words>7007</Words>
  <Application>Microsoft Macintosh PowerPoint</Application>
  <PresentationFormat>On-screen Show (16:9)</PresentationFormat>
  <Paragraphs>819</Paragraphs>
  <Slides>70</Slides>
  <Notes>66</Notes>
  <HiddenSlides>10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70</vt:i4>
      </vt:variant>
    </vt:vector>
  </HeadingPairs>
  <TitlesOfParts>
    <vt:vector size="80" baseType="lpstr">
      <vt:lpstr>Courier New</vt:lpstr>
      <vt:lpstr>BM DoHyeon OTF</vt:lpstr>
      <vt:lpstr>Menlo</vt:lpstr>
      <vt:lpstr>MuseoSans</vt:lpstr>
      <vt:lpstr>Roboto</vt:lpstr>
      <vt:lpstr>ThinSpaceFallback</vt:lpstr>
      <vt:lpstr>Arial</vt:lpstr>
      <vt:lpstr>Anthropic Sans</vt:lpstr>
      <vt:lpstr>Calibri</vt:lpstr>
      <vt:lpstr>Simple Light</vt:lpstr>
      <vt:lpstr>Day 4: RNAseq</vt:lpstr>
      <vt:lpstr>RNA-seq as the dominant method in transcriptomics</vt:lpstr>
      <vt:lpstr>PowerPoint Presentation</vt:lpstr>
      <vt:lpstr>RNA-seq</vt:lpstr>
      <vt:lpstr>Single cell (sc) vs bulk RNA-seq</vt:lpstr>
      <vt:lpstr>PowerPoint Presentation</vt:lpstr>
      <vt:lpstr>Single cell (sc) vs bulk RNA-seq</vt:lpstr>
      <vt:lpstr>Single cell (sc) vs bulk RNA-seq</vt:lpstr>
      <vt:lpstr>Spatial transcriptomics</vt:lpstr>
      <vt:lpstr>PowerPoint Presentation</vt:lpstr>
      <vt:lpstr>Spatial transcriptomics</vt:lpstr>
      <vt:lpstr>PowerPoint Presentation</vt:lpstr>
      <vt:lpstr>PowerPoint Presentation</vt:lpstr>
      <vt:lpstr>RNA-seq approaches</vt:lpstr>
      <vt:lpstr>RNA-seq approaches</vt:lpstr>
      <vt:lpstr>RNA-seq approaches</vt:lpstr>
      <vt:lpstr>RNA-seq approaches</vt:lpstr>
      <vt:lpstr>RNA-seq approaches</vt:lpstr>
      <vt:lpstr>RNA-seq approaches</vt:lpstr>
      <vt:lpstr>PowerPoint Presentation</vt:lpstr>
      <vt:lpstr>Bioinformatics in bulk RNA-seq</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Output of quality trim and red flags</vt:lpstr>
      <vt:lpstr>Output of quality trim and red flags</vt:lpstr>
      <vt:lpstr>Alignment check and red flags</vt:lpstr>
      <vt:lpstr>Alignment check and red flags</vt:lpstr>
      <vt:lpstr>Alignment check and red flags</vt:lpstr>
      <vt:lpstr>Alignment check and red flags</vt:lpstr>
      <vt:lpstr>Alignment check and red flags</vt:lpstr>
      <vt:lpstr>PowerPoint Presentation</vt:lpstr>
      <vt:lpstr>The RNA-seq Workflow</vt:lpstr>
      <vt:lpstr>PowerPoint Presentation</vt:lpstr>
      <vt:lpstr>Differential expression</vt:lpstr>
      <vt:lpstr>The Statistics of Differential Expression</vt:lpstr>
      <vt:lpstr>DESeq2 </vt:lpstr>
      <vt:lpstr>PowerPoint Presentation</vt:lpstr>
      <vt:lpstr>Example dataset</vt:lpstr>
      <vt:lpstr>PowerPoint Presentation</vt:lpstr>
      <vt:lpstr>PowerPoint Presentation</vt:lpstr>
      <vt:lpstr>Interpreting Results: MA plots</vt:lpstr>
      <vt:lpstr>Interpreting Results: Volcano Plots</vt:lpstr>
      <vt:lpstr>Interpreting Results: Heatmaps</vt:lpstr>
      <vt:lpstr>Extra activities</vt:lpstr>
      <vt:lpstr>PowerPoint Presentation</vt:lpstr>
      <vt:lpstr>PowerPoint Presentation</vt:lpstr>
      <vt:lpstr>PowerPoint Presentation</vt:lpstr>
      <vt:lpstr>PowerPoint Presentation</vt:lpstr>
      <vt:lpstr>PowerPoint Presentation</vt:lpstr>
      <vt:lpstr>PowerPoint Presentation</vt:lpstr>
      <vt:lpstr>Co-expression Networks: The Concept</vt:lpstr>
      <vt:lpstr>Weighted Gene Coexpression Network Analysis (WGCNA)</vt:lpstr>
      <vt:lpstr>Weighted Gene Coexpression Network Analysis (WGCNA)</vt:lpstr>
      <vt:lpstr>Weighted Gene Coexpression Network Analysis (WGCNA)</vt:lpstr>
      <vt:lpstr>Weighted Gene Coexpression Network Analysis (WGCNA)</vt:lpstr>
      <vt:lpstr>Weighted Gene Coexpression Network Analysis (WGCNA)</vt:lpstr>
      <vt:lpstr>Weighted Gene Coexpression Network Analysis (WGCNA)</vt:lpstr>
      <vt:lpstr>Weighted Gene Coexpression Network Analysis (WGCNA)</vt:lpstr>
      <vt:lpstr>PowerPoint Presentation</vt:lpstr>
      <vt:lpstr>End of day 2 lecture</vt:lpstr>
      <vt:lpstr>Resources</vt:lpstr>
      <vt:lpstr>Single cell (sc)RNA-seq*</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Maria Touceda Suarez</cp:lastModifiedBy>
  <cp:revision>40</cp:revision>
  <dcterms:modified xsi:type="dcterms:W3CDTF">2026-06-04T19:55:06Z</dcterms:modified>
</cp:coreProperties>
</file>