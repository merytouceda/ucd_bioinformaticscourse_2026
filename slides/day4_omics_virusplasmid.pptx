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7" r:id="rId2"/>
    <p:sldId id="259" r:id="rId3"/>
    <p:sldId id="262" r:id="rId4"/>
    <p:sldId id="263" r:id="rId5"/>
    <p:sldId id="290" r:id="rId6"/>
    <p:sldId id="291" r:id="rId7"/>
    <p:sldId id="264" r:id="rId8"/>
    <p:sldId id="292" r:id="rId9"/>
    <p:sldId id="293" r:id="rId10"/>
    <p:sldId id="273" r:id="rId11"/>
    <p:sldId id="279" r:id="rId12"/>
    <p:sldId id="280" r:id="rId13"/>
    <p:sldId id="281" r:id="rId14"/>
    <p:sldId id="278" r:id="rId15"/>
    <p:sldId id="282" r:id="rId16"/>
    <p:sldId id="288" r:id="rId17"/>
    <p:sldId id="294" r:id="rId18"/>
    <p:sldId id="295" r:id="rId19"/>
    <p:sldId id="296" r:id="rId20"/>
    <p:sldId id="289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000"/>
    <a:srgbClr val="7030A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470"/>
    <p:restoredTop sz="81449"/>
  </p:normalViewPr>
  <p:slideViewPr>
    <p:cSldViewPr snapToGrid="0">
      <p:cViewPr varScale="1">
        <p:scale>
          <a:sx n="96" d="100"/>
          <a:sy n="96" d="100"/>
        </p:scale>
        <p:origin x="195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8E4D42-749E-2447-91FF-5B2FD0C3A911}" type="datetimeFigureOut">
              <a:rPr lang="en-US" smtClean="0"/>
              <a:t>5/6/26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9D0707-677D-4E4C-99F3-6BA4C14A1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5512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d3fdaaa8f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d3fdaaa8f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>
          <a:extLst>
            <a:ext uri="{FF2B5EF4-FFF2-40B4-BE49-F238E27FC236}">
              <a16:creationId xmlns:a16="http://schemas.microsoft.com/office/drawing/2014/main" id="{D92F8CB4-2782-ABB6-8ACD-100FDEC76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d4ddec1e47_0_10:notes">
            <a:extLst>
              <a:ext uri="{FF2B5EF4-FFF2-40B4-BE49-F238E27FC236}">
                <a16:creationId xmlns:a16="http://schemas.microsoft.com/office/drawing/2014/main" id="{0BEC8389-EF31-FA18-770F-D40B1F134E8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d4ddec1e47_0_10:notes">
            <a:extLst>
              <a:ext uri="{FF2B5EF4-FFF2-40B4-BE49-F238E27FC236}">
                <a16:creationId xmlns:a16="http://schemas.microsoft.com/office/drawing/2014/main" id="{8969B08D-4468-9B26-875D-A3F6FDEA3F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440646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>
          <a:extLst>
            <a:ext uri="{FF2B5EF4-FFF2-40B4-BE49-F238E27FC236}">
              <a16:creationId xmlns:a16="http://schemas.microsoft.com/office/drawing/2014/main" id="{DA800089-D859-3DC8-4DB9-ECD3D17CB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d4ddec1e47_0_10:notes">
            <a:extLst>
              <a:ext uri="{FF2B5EF4-FFF2-40B4-BE49-F238E27FC236}">
                <a16:creationId xmlns:a16="http://schemas.microsoft.com/office/drawing/2014/main" id="{941CF39F-BC80-C744-0FAB-76E92F3CA9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d4ddec1e47_0_10:notes">
            <a:extLst>
              <a:ext uri="{FF2B5EF4-FFF2-40B4-BE49-F238E27FC236}">
                <a16:creationId xmlns:a16="http://schemas.microsoft.com/office/drawing/2014/main" id="{1C7CCA3D-A3DF-FFD8-415C-A0918F692A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323961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>
          <a:extLst>
            <a:ext uri="{FF2B5EF4-FFF2-40B4-BE49-F238E27FC236}">
              <a16:creationId xmlns:a16="http://schemas.microsoft.com/office/drawing/2014/main" id="{6F400CEA-A6A7-6506-4CAF-251E8BF49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d4ddec1e47_0_10:notes">
            <a:extLst>
              <a:ext uri="{FF2B5EF4-FFF2-40B4-BE49-F238E27FC236}">
                <a16:creationId xmlns:a16="http://schemas.microsoft.com/office/drawing/2014/main" id="{C514632B-F7B5-CEB2-DB30-76B8524502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d4ddec1e47_0_10:notes">
            <a:extLst>
              <a:ext uri="{FF2B5EF4-FFF2-40B4-BE49-F238E27FC236}">
                <a16:creationId xmlns:a16="http://schemas.microsoft.com/office/drawing/2014/main" id="{A35ED287-258E-78CC-0A25-04F764C08F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https://</a:t>
            </a:r>
            <a:r>
              <a:rPr lang="en-US" dirty="0" err="1"/>
              <a:t>microbenotes.com</a:t>
            </a:r>
            <a:r>
              <a:rPr lang="en-US" dirty="0"/>
              <a:t>/plasmids/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905084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>
          <a:extLst>
            <a:ext uri="{FF2B5EF4-FFF2-40B4-BE49-F238E27FC236}">
              <a16:creationId xmlns:a16="http://schemas.microsoft.com/office/drawing/2014/main" id="{B5DA1FA2-EC8F-46A5-95A7-951149AE4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d4ddec1e47_0_10:notes">
            <a:extLst>
              <a:ext uri="{FF2B5EF4-FFF2-40B4-BE49-F238E27FC236}">
                <a16:creationId xmlns:a16="http://schemas.microsoft.com/office/drawing/2014/main" id="{BD379E06-2FDD-A4CD-59D0-3E2546626F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d4ddec1e47_0_10:notes">
            <a:extLst>
              <a:ext uri="{FF2B5EF4-FFF2-40B4-BE49-F238E27FC236}">
                <a16:creationId xmlns:a16="http://schemas.microsoft.com/office/drawing/2014/main" id="{690878C7-E76C-9721-6961-DB34D54E8F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579267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>
          <a:extLst>
            <a:ext uri="{FF2B5EF4-FFF2-40B4-BE49-F238E27FC236}">
              <a16:creationId xmlns:a16="http://schemas.microsoft.com/office/drawing/2014/main" id="{4AC981AC-4103-D0C3-47A7-1E0A4CCF2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d4ddec1e47_0_10:notes">
            <a:extLst>
              <a:ext uri="{FF2B5EF4-FFF2-40B4-BE49-F238E27FC236}">
                <a16:creationId xmlns:a16="http://schemas.microsoft.com/office/drawing/2014/main" id="{2BFAC56F-521A-94DB-FAF0-3269FC6BA3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d4ddec1e47_0_10:notes">
            <a:extLst>
              <a:ext uri="{FF2B5EF4-FFF2-40B4-BE49-F238E27FC236}">
                <a16:creationId xmlns:a16="http://schemas.microsoft.com/office/drawing/2014/main" id="{88354ED1-6FEF-6299-276B-B6638F90F4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fontAlgn="base"/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Biological reasons: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/>
              <a:t>Viruses </a:t>
            </a:r>
            <a:r>
              <a:rPr lang="en-US" b="1" dirty="0"/>
              <a:t>mutate rapidly </a:t>
            </a:r>
            <a:r>
              <a:rPr lang="en-US" dirty="0">
                <a:sym typeface="Wingdings" pitchFamily="2" charset="2"/>
              </a:rPr>
              <a:t> </a:t>
            </a:r>
            <a:r>
              <a:rPr lang="en-US" dirty="0"/>
              <a:t>diverge enough from the reference to go undetected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/>
              <a:t>Plasmids are horizontally transferred between species, so </a:t>
            </a:r>
            <a:r>
              <a:rPr lang="en-US" b="1" dirty="0"/>
              <a:t>their k-</a:t>
            </a:r>
            <a:r>
              <a:rPr lang="en-US" b="1" dirty="0" err="1"/>
              <a:t>mer</a:t>
            </a:r>
            <a:r>
              <a:rPr lang="en-US" b="1" dirty="0"/>
              <a:t> signal doesn't map cleanly</a:t>
            </a:r>
            <a:r>
              <a:rPr lang="en-US" dirty="0"/>
              <a:t> to any one organism </a:t>
            </a:r>
            <a:endParaRPr lang="en-US" dirty="0">
              <a:sym typeface="Wingdings" pitchFamily="2" charset="2"/>
            </a:endParaRP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/>
              <a:t>Viral and plasmid sequences are </a:t>
            </a:r>
            <a:r>
              <a:rPr lang="en-US" b="1" dirty="0"/>
              <a:t>chimeric with host sequence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US" b="1" dirty="0"/>
          </a:p>
          <a:p>
            <a:pPr fontAlgn="base"/>
            <a:r>
              <a:rPr lang="en-US" b="1" dirty="0">
                <a:solidFill>
                  <a:schemeClr val="accent4">
                    <a:lumMod val="50000"/>
                  </a:schemeClr>
                </a:solidFill>
              </a:rPr>
              <a:t>Technical reasons: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/>
              <a:t>Reference </a:t>
            </a:r>
            <a:r>
              <a:rPr lang="en-US" b="1" dirty="0"/>
              <a:t>databases miss </a:t>
            </a:r>
            <a:r>
              <a:rPr lang="en-US" dirty="0"/>
              <a:t>most viruses/plasmids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dirty="0"/>
              <a:t>Short reads don't contain enough signal </a:t>
            </a:r>
            <a:r>
              <a:rPr lang="en-US" dirty="0"/>
              <a:t>to classify novel viruses/plasmids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/>
              <a:t>Viral and plasmid genomes = low abundance: they get </a:t>
            </a:r>
            <a:r>
              <a:rPr lang="en-US" b="1" dirty="0"/>
              <a:t>drowned out </a:t>
            </a:r>
            <a:r>
              <a:rPr lang="en-US" dirty="0"/>
              <a:t>by bacterial sequences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/>
              <a:t>Incompatibility with assembly</a:t>
            </a:r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en-US" dirty="0"/>
              <a:t>Standard assembly tools are optimized for bacterial; </a:t>
            </a:r>
            <a:r>
              <a:rPr lang="en-US" b="1" dirty="0"/>
              <a:t>viral sequences often assemble poorly </a:t>
            </a:r>
            <a:r>
              <a:rPr lang="en-US" dirty="0"/>
              <a:t>because their coverage is spiky and uneven</a:t>
            </a:r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en-US" dirty="0"/>
              <a:t>Circular genomes confuse </a:t>
            </a:r>
            <a:r>
              <a:rPr lang="en-US" b="1" dirty="0"/>
              <a:t>assemblers designed for linear chromosomes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US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911958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>
          <a:extLst>
            <a:ext uri="{FF2B5EF4-FFF2-40B4-BE49-F238E27FC236}">
              <a16:creationId xmlns:a16="http://schemas.microsoft.com/office/drawing/2014/main" id="{3D8DBB95-9F62-E009-1232-3C61ED471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d4ddec1e47_0_10:notes">
            <a:extLst>
              <a:ext uri="{FF2B5EF4-FFF2-40B4-BE49-F238E27FC236}">
                <a16:creationId xmlns:a16="http://schemas.microsoft.com/office/drawing/2014/main" id="{C28FF2D6-30DA-A267-82C0-5B92415E5D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d4ddec1e47_0_10:notes">
            <a:extLst>
              <a:ext uri="{FF2B5EF4-FFF2-40B4-BE49-F238E27FC236}">
                <a16:creationId xmlns:a16="http://schemas.microsoft.com/office/drawing/2014/main" id="{0D90B4A7-7AB7-5DBC-F7F7-9DDC47C572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708743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>
          <a:extLst>
            <a:ext uri="{FF2B5EF4-FFF2-40B4-BE49-F238E27FC236}">
              <a16:creationId xmlns:a16="http://schemas.microsoft.com/office/drawing/2014/main" id="{79390FAA-E74C-5760-C3EE-11296A99B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d4ddec1e47_0_10:notes">
            <a:extLst>
              <a:ext uri="{FF2B5EF4-FFF2-40B4-BE49-F238E27FC236}">
                <a16:creationId xmlns:a16="http://schemas.microsoft.com/office/drawing/2014/main" id="{E0C7D264-C5AA-3B64-7340-5072FE6735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d4ddec1e47_0_10:notes">
            <a:extLst>
              <a:ext uri="{FF2B5EF4-FFF2-40B4-BE49-F238E27FC236}">
                <a16:creationId xmlns:a16="http://schemas.microsoft.com/office/drawing/2014/main" id="{AE9C3E83-5AE8-CABA-6592-53484E1866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473227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>
          <a:extLst>
            <a:ext uri="{FF2B5EF4-FFF2-40B4-BE49-F238E27FC236}">
              <a16:creationId xmlns:a16="http://schemas.microsoft.com/office/drawing/2014/main" id="{C72E8F8A-8448-98C5-D79D-EB7C6357A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d4ddec1e47_0_10:notes">
            <a:extLst>
              <a:ext uri="{FF2B5EF4-FFF2-40B4-BE49-F238E27FC236}">
                <a16:creationId xmlns:a16="http://schemas.microsoft.com/office/drawing/2014/main" id="{B7EE8FAF-B4AC-E9BB-5B40-6928489F42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d4ddec1e47_0_10:notes">
            <a:extLst>
              <a:ext uri="{FF2B5EF4-FFF2-40B4-BE49-F238E27FC236}">
                <a16:creationId xmlns:a16="http://schemas.microsoft.com/office/drawing/2014/main" id="{12D4B724-486A-53D3-3FD8-A503CA6D3D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836550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d3ecd96c6c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d3ecd96c6c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>
          <a:extLst>
            <a:ext uri="{FF2B5EF4-FFF2-40B4-BE49-F238E27FC236}">
              <a16:creationId xmlns:a16="http://schemas.microsoft.com/office/drawing/2014/main" id="{66CAA057-D614-8247-E56A-26E25E41C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d4ddec1e47_0_10:notes">
            <a:extLst>
              <a:ext uri="{FF2B5EF4-FFF2-40B4-BE49-F238E27FC236}">
                <a16:creationId xmlns:a16="http://schemas.microsoft.com/office/drawing/2014/main" id="{10BC335B-8E17-20DC-03F6-992D2F9AFD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d4ddec1e47_0_10:notes">
            <a:extLst>
              <a:ext uri="{FF2B5EF4-FFF2-40B4-BE49-F238E27FC236}">
                <a16:creationId xmlns:a16="http://schemas.microsoft.com/office/drawing/2014/main" id="{7AFFAC9F-B4B8-94EB-B103-53A8169EE6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88644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>
          <a:extLst>
            <a:ext uri="{FF2B5EF4-FFF2-40B4-BE49-F238E27FC236}">
              <a16:creationId xmlns:a16="http://schemas.microsoft.com/office/drawing/2014/main" id="{D96A3370-2A13-8536-29CE-E3864334C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d4ddec1e47_0_10:notes">
            <a:extLst>
              <a:ext uri="{FF2B5EF4-FFF2-40B4-BE49-F238E27FC236}">
                <a16:creationId xmlns:a16="http://schemas.microsoft.com/office/drawing/2014/main" id="{E090A89F-BC28-91B2-86BA-B4C73E3087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d4ddec1e47_0_10:notes">
            <a:extLst>
              <a:ext uri="{FF2B5EF4-FFF2-40B4-BE49-F238E27FC236}">
                <a16:creationId xmlns:a16="http://schemas.microsoft.com/office/drawing/2014/main" id="{DE4AE310-37F5-96A3-0F3D-F814928A18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308153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>
          <a:extLst>
            <a:ext uri="{FF2B5EF4-FFF2-40B4-BE49-F238E27FC236}">
              <a16:creationId xmlns:a16="http://schemas.microsoft.com/office/drawing/2014/main" id="{64F1DB7B-AE41-6D11-9944-EDEEE930F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d4ddec1e47_0_10:notes">
            <a:extLst>
              <a:ext uri="{FF2B5EF4-FFF2-40B4-BE49-F238E27FC236}">
                <a16:creationId xmlns:a16="http://schemas.microsoft.com/office/drawing/2014/main" id="{F26109B4-BAE6-433E-548C-8A759BC5C8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d4ddec1e47_0_10:notes">
            <a:extLst>
              <a:ext uri="{FF2B5EF4-FFF2-40B4-BE49-F238E27FC236}">
                <a16:creationId xmlns:a16="http://schemas.microsoft.com/office/drawing/2014/main" id="{4F2111C2-B60B-79C4-D488-4291C8957E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97993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d3ecd96c6c_0_1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d3ecd96c6c_0_1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>
          <a:extLst>
            <a:ext uri="{FF2B5EF4-FFF2-40B4-BE49-F238E27FC236}">
              <a16:creationId xmlns:a16="http://schemas.microsoft.com/office/drawing/2014/main" id="{1E9660E9-EB66-49E0-CE22-72518CAB1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d4ddec1e47_0_10:notes">
            <a:extLst>
              <a:ext uri="{FF2B5EF4-FFF2-40B4-BE49-F238E27FC236}">
                <a16:creationId xmlns:a16="http://schemas.microsoft.com/office/drawing/2014/main" id="{CAE5FC1A-43A4-2591-3EBB-2920AF0ED7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d4ddec1e47_0_10:notes">
            <a:extLst>
              <a:ext uri="{FF2B5EF4-FFF2-40B4-BE49-F238E27FC236}">
                <a16:creationId xmlns:a16="http://schemas.microsoft.com/office/drawing/2014/main" id="{12A09E36-7C80-8ABF-FE35-49EDE2F82F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2867113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d4c49a7890_0_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d4c49a7890_0_1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>
          <a:extLst>
            <a:ext uri="{FF2B5EF4-FFF2-40B4-BE49-F238E27FC236}">
              <a16:creationId xmlns:a16="http://schemas.microsoft.com/office/drawing/2014/main" id="{85A5A46C-B5F6-D1E2-C070-84CDA3D28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d4ddec1e47_0_10:notes">
            <a:extLst>
              <a:ext uri="{FF2B5EF4-FFF2-40B4-BE49-F238E27FC236}">
                <a16:creationId xmlns:a16="http://schemas.microsoft.com/office/drawing/2014/main" id="{F53BFA00-27A6-163D-4989-9CB63379E7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d4ddec1e47_0_10:notes">
            <a:extLst>
              <a:ext uri="{FF2B5EF4-FFF2-40B4-BE49-F238E27FC236}">
                <a16:creationId xmlns:a16="http://schemas.microsoft.com/office/drawing/2014/main" id="{B75D4243-9753-F5CB-B9EE-7474B72C7E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8440604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>
          <a:extLst>
            <a:ext uri="{FF2B5EF4-FFF2-40B4-BE49-F238E27FC236}">
              <a16:creationId xmlns:a16="http://schemas.microsoft.com/office/drawing/2014/main" id="{8F628EA9-56F4-E42E-6064-2D3A5F92F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d4c49a7890_0_154:notes">
            <a:extLst>
              <a:ext uri="{FF2B5EF4-FFF2-40B4-BE49-F238E27FC236}">
                <a16:creationId xmlns:a16="http://schemas.microsoft.com/office/drawing/2014/main" id="{A5A4B920-9388-C8C5-7BC3-58F8FC5212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d4c49a7890_0_154:notes">
            <a:extLst>
              <a:ext uri="{FF2B5EF4-FFF2-40B4-BE49-F238E27FC236}">
                <a16:creationId xmlns:a16="http://schemas.microsoft.com/office/drawing/2014/main" id="{BCEC6E7B-4E3D-4EFE-C217-39F0D91DD6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964771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>
          <a:extLst>
            <a:ext uri="{FF2B5EF4-FFF2-40B4-BE49-F238E27FC236}">
              <a16:creationId xmlns:a16="http://schemas.microsoft.com/office/drawing/2014/main" id="{1C16E0CE-6612-F6A5-1198-638986F05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d4ddec1e47_0_10:notes">
            <a:extLst>
              <a:ext uri="{FF2B5EF4-FFF2-40B4-BE49-F238E27FC236}">
                <a16:creationId xmlns:a16="http://schemas.microsoft.com/office/drawing/2014/main" id="{B4CAB5D3-FB0C-EE7C-97D9-232B6818D2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d4ddec1e47_0_10:notes">
            <a:extLst>
              <a:ext uri="{FF2B5EF4-FFF2-40B4-BE49-F238E27FC236}">
                <a16:creationId xmlns:a16="http://schemas.microsoft.com/office/drawing/2014/main" id="{F7A52084-6A98-1C5E-C4A9-B9129194FF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8503535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d3ecd96c6c_0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d3ecd96c6c_0_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B1B2A-FCA0-06C0-F7EC-1EAA74A13F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7EE950-355C-9A6B-07C8-18DE15FF8B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C52F12-B23C-BBA8-7855-06EF3C61C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941E3-5CEC-9047-976A-0B5DD85BB07A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BFC5D4-0401-CD51-57B2-59A409D23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CA585F-A968-AC80-D2A3-090A4E462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37C28-E5C9-004F-AA00-553B7ADF4B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6660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DD184-D100-5398-0AAC-C453A1E7F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EE0C93-70B7-2294-FB65-F426832772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18DE01-311B-8B69-9045-A52305A39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941E3-5CEC-9047-976A-0B5DD85BB07A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7F802-26AB-077C-554B-2644F84A4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201B2B-9D27-7511-EAFF-7F3836050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37C28-E5C9-004F-AA00-553B7ADF4B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134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577A9-F90C-8E26-20B8-7D444BB6F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015767-9786-785D-EA87-017229CFD5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97E7F2-3DFD-BFB5-062A-C1337B2DC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941E3-5CEC-9047-976A-0B5DD85BB07A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232F8C-5AA7-6130-1739-28BF726E3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6A94AB-521C-5368-9D41-7C2517AC4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37C28-E5C9-004F-AA00-553B7ADF4B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9777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A6E17-2A40-884A-54C7-132ECEC9A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9EBFC6-23E9-5452-1E84-CB55A5CD8A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A80F15-3BDC-7731-14FF-34BDA2D1B5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428F7E-550F-ED39-F2FC-2AD6C8AD6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941E3-5CEC-9047-976A-0B5DD85BB07A}" type="datetimeFigureOut">
              <a:rPr lang="en-US" smtClean="0"/>
              <a:t>5/6/26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467992-43D4-FCB3-1847-42ED9CE9D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E57152-9E23-96F9-A540-FAF7C414A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37C28-E5C9-004F-AA00-553B7ADF4B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3561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8DFB9-6081-A36B-598E-436C99E99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4C0B84-6136-F2D4-2D72-A7EAF29569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9329BD-9B25-6C5C-0E0E-AA3F4EA400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F6D6A7-B6D7-0C20-FC5E-121C60E24C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321071-BF5C-3B0A-80E7-64EB988B44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B41E2D-B3DC-8073-0B6C-22E1F9EA1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941E3-5CEC-9047-976A-0B5DD85BB07A}" type="datetimeFigureOut">
              <a:rPr lang="en-US" smtClean="0"/>
              <a:t>5/6/26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F87B1E5-96B4-FEE0-FCB6-EC8D27495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68850D-14B1-46A9-69D1-87B1AA78F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37C28-E5C9-004F-AA00-553B7ADF4B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8134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0D18A-3173-D7A0-E349-0BCC77FA0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72EC62-9ED5-8030-31B1-E81B3FF62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941E3-5CEC-9047-976A-0B5DD85BB07A}" type="datetimeFigureOut">
              <a:rPr lang="en-US" smtClean="0"/>
              <a:t>5/6/26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A3C3DC-0F26-5066-5649-13BBC1BC1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E01429-2D89-0BB2-8A28-7128609BC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37C28-E5C9-004F-AA00-553B7ADF4B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56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EC791D-1C73-FE73-23E7-51A84872C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941E3-5CEC-9047-976A-0B5DD85BB07A}" type="datetimeFigureOut">
              <a:rPr lang="en-US" smtClean="0"/>
              <a:t>5/6/26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C6AC82-45C7-02AF-ED87-51478AA5D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E5B9A5-F9D5-65D6-3EC5-4F7AA66E5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37C28-E5C9-004F-AA00-553B7ADF4B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540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F67D3-1D45-FC5E-07F3-17F5E5572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55FF28-EC0F-B635-83EF-AD4D46779B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C94E1F-85C3-4020-3190-5A7B00A06F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C7104D-BA48-80F9-58FD-2B2DB3139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941E3-5CEC-9047-976A-0B5DD85BB07A}" type="datetimeFigureOut">
              <a:rPr lang="en-US" smtClean="0"/>
              <a:t>5/6/26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1643B2-64A6-26DD-E344-9F0706C9B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E6A67E-4BFB-76A8-9595-BFA99156D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37C28-E5C9-004F-AA00-553B7ADF4B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2265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D0AC5-A670-1DBA-30AB-E89107C62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ADF1C6-F577-53FA-4503-F7FA6E18A1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05BC34-649A-963A-BAF7-872240CBEE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965C31-37DE-EB86-3532-481EBB931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941E3-5CEC-9047-976A-0B5DD85BB07A}" type="datetimeFigureOut">
              <a:rPr lang="en-US" smtClean="0"/>
              <a:t>5/6/26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7122C5-2996-89A2-BCA0-DBC03593C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192B0E-FDC5-B9CA-D037-18B00DE55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37C28-E5C9-004F-AA00-553B7ADF4B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4672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8193B-7BFA-730F-71F4-D8EA6384D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88918D-0E70-D8F1-C701-878F12E667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E145FA-9184-B688-4E6F-5E61A14A8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941E3-5CEC-9047-976A-0B5DD85BB07A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2B0E8A-4995-4BD7-B00D-962C81C08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F0478B-895E-5072-F59B-3AD51EFCB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37C28-E5C9-004F-AA00-553B7ADF4B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8944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245DDA-91AB-9DFE-4742-23A30EFDE3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778D5B-BC16-74D5-BE3C-4B9E2092E2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D678B3-FBE7-FB2B-59B9-B6A3C29A3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941E3-5CEC-9047-976A-0B5DD85BB07A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C0ABFC-829A-6EC0-9A2E-3A7C53264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55B3E9-5260-A6B1-6379-33A48E8C3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37C28-E5C9-004F-AA00-553B7ADF4B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5507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51276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7D8311-744F-8504-8F2B-D61ED0B35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5BF139-762A-074B-8672-691262AF7D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6A8191-8ED9-2817-33DD-1B65B36813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5941E3-5CEC-9047-976A-0B5DD85BB07A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F4FCD1-30BA-AFE6-11A3-ED44E03D11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7B39C8-50DD-2D69-B2B3-14B0617785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C37C28-E5C9-004F-AA00-553B7ADF4B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9224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emf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5531622" y="3429000"/>
            <a:ext cx="5831600" cy="2736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vert="horz" wrap="square" lIns="121900" tIns="121900" rIns="121900" bIns="121900" rtlCol="0" anchor="b" anchorCtr="0">
            <a:normAutofit fontScale="90000"/>
          </a:bodyPr>
          <a:lstStyle/>
          <a:p>
            <a:pPr algn="l">
              <a:spcBef>
                <a:spcPts val="0"/>
              </a:spcBef>
            </a:pPr>
            <a:r>
              <a:rPr lang="en" sz="6667" b="1" dirty="0"/>
              <a:t>Day 4: </a:t>
            </a:r>
            <a:r>
              <a:rPr lang="en" sz="6667" dirty="0"/>
              <a:t>Metagenomics 2</a:t>
            </a:r>
            <a:br>
              <a:rPr lang="en" sz="6667" dirty="0"/>
            </a:br>
            <a:r>
              <a:rPr lang="en" sz="5300" dirty="0"/>
              <a:t>Viruses &amp; Plasmids</a:t>
            </a:r>
            <a:endParaRPr sz="6667" i="1" dirty="0"/>
          </a:p>
        </p:txBody>
      </p:sp>
      <p:pic>
        <p:nvPicPr>
          <p:cNvPr id="1026" name="Picture 2" descr="Phage Therapy Starts Realizing Its Long-Deferred Potential">
            <a:extLst>
              <a:ext uri="{FF2B5EF4-FFF2-40B4-BE49-F238E27FC236}">
                <a16:creationId xmlns:a16="http://schemas.microsoft.com/office/drawing/2014/main" id="{5DB7AEE4-7A1D-C87D-0388-310AC2A2ABF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922"/>
          <a:stretch>
            <a:fillRect/>
          </a:stretch>
        </p:blipFill>
        <p:spPr bwMode="auto">
          <a:xfrm rot="5400000">
            <a:off x="-1006716" y="1006716"/>
            <a:ext cx="6858000" cy="4844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>
          <a:extLst>
            <a:ext uri="{FF2B5EF4-FFF2-40B4-BE49-F238E27FC236}">
              <a16:creationId xmlns:a16="http://schemas.microsoft.com/office/drawing/2014/main" id="{7766ED30-5F5B-5C04-0E87-A2490E96D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>
            <a:extLst>
              <a:ext uri="{FF2B5EF4-FFF2-40B4-BE49-F238E27FC236}">
                <a16:creationId xmlns:a16="http://schemas.microsoft.com/office/drawing/2014/main" id="{F106B27C-F8FF-BC13-3E80-C6D05D96162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363200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r>
              <a:rPr lang="en" dirty="0"/>
              <a:t>Metagenomics: the microbiome</a:t>
            </a:r>
            <a:endParaRPr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63BCF7E-4DAA-95ED-97D9-256FF3AE9545}"/>
              </a:ext>
            </a:extLst>
          </p:cNvPr>
          <p:cNvGrpSpPr/>
          <p:nvPr/>
        </p:nvGrpSpPr>
        <p:grpSpPr>
          <a:xfrm>
            <a:off x="415600" y="1465182"/>
            <a:ext cx="4120478" cy="4788863"/>
            <a:chOff x="415600" y="2255404"/>
            <a:chExt cx="4120478" cy="4788863"/>
          </a:xfrm>
        </p:grpSpPr>
        <p:pic>
          <p:nvPicPr>
            <p:cNvPr id="3" name="Google Shape;87;p15">
              <a:extLst>
                <a:ext uri="{FF2B5EF4-FFF2-40B4-BE49-F238E27FC236}">
                  <a16:creationId xmlns:a16="http://schemas.microsoft.com/office/drawing/2014/main" id="{58511781-9373-DEC0-FB44-F517FAD59975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 t="16575" b="10762"/>
            <a:stretch/>
          </p:blipFill>
          <p:spPr>
            <a:xfrm>
              <a:off x="415600" y="2255404"/>
              <a:ext cx="4120478" cy="47888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" name="Google Shape;88;p15">
              <a:extLst>
                <a:ext uri="{FF2B5EF4-FFF2-40B4-BE49-F238E27FC236}">
                  <a16:creationId xmlns:a16="http://schemas.microsoft.com/office/drawing/2014/main" id="{4DF61AF4-398D-FF60-D4F4-2BA9170263FB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 t="17126" b="64931"/>
            <a:stretch>
              <a:fillRect/>
            </a:stretch>
          </p:blipFill>
          <p:spPr>
            <a:xfrm>
              <a:off x="415600" y="2277982"/>
              <a:ext cx="4120478" cy="118247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BFD1BED4-AB52-8798-E0CC-EC2C0E8887FC}"/>
              </a:ext>
            </a:extLst>
          </p:cNvPr>
          <p:cNvSpPr txBox="1"/>
          <p:nvPr/>
        </p:nvSpPr>
        <p:spPr>
          <a:xfrm rot="20190195">
            <a:off x="65539" y="1903417"/>
            <a:ext cx="9350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meta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9B10744-F01F-68FA-E84D-24DD64AC2E67}"/>
              </a:ext>
            </a:extLst>
          </p:cNvPr>
          <p:cNvGrpSpPr/>
          <p:nvPr/>
        </p:nvGrpSpPr>
        <p:grpSpPr>
          <a:xfrm>
            <a:off x="4753884" y="1265659"/>
            <a:ext cx="3719594" cy="1941240"/>
            <a:chOff x="4777635" y="1487760"/>
            <a:chExt cx="4176794" cy="2125235"/>
          </a:xfrm>
        </p:grpSpPr>
        <p:pic>
          <p:nvPicPr>
            <p:cNvPr id="3074" name="Picture 2" descr="Gut microbiome colonization and development in neonatal ruminants:  Strategies, prospects, and opportunities - ScienceDirect">
              <a:extLst>
                <a:ext uri="{FF2B5EF4-FFF2-40B4-BE49-F238E27FC236}">
                  <a16:creationId xmlns:a16="http://schemas.microsoft.com/office/drawing/2014/main" id="{0CE64FA1-229D-0CCF-B1A4-819F6454219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342" t="2502" r="22092" b="35267"/>
            <a:stretch>
              <a:fillRect/>
            </a:stretch>
          </p:blipFill>
          <p:spPr bwMode="auto">
            <a:xfrm>
              <a:off x="5084954" y="1487760"/>
              <a:ext cx="3668753" cy="19081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88DC635-A788-0D98-5C0F-509E1C17463D}"/>
                </a:ext>
              </a:extLst>
            </p:cNvPr>
            <p:cNvSpPr/>
            <p:nvPr/>
          </p:nvSpPr>
          <p:spPr>
            <a:xfrm>
              <a:off x="8482361" y="3123633"/>
              <a:ext cx="472068" cy="48936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7B15AD2-D5E2-EFB5-87E2-5DCD73896E08}"/>
                </a:ext>
              </a:extLst>
            </p:cNvPr>
            <p:cNvSpPr/>
            <p:nvPr/>
          </p:nvSpPr>
          <p:spPr>
            <a:xfrm>
              <a:off x="4777635" y="2633622"/>
              <a:ext cx="614638" cy="87080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DB220804-452E-BDB6-E9CC-AEA86A9F1B40}"/>
              </a:ext>
            </a:extLst>
          </p:cNvPr>
          <p:cNvSpPr txBox="1"/>
          <p:nvPr/>
        </p:nvSpPr>
        <p:spPr>
          <a:xfrm>
            <a:off x="9028389" y="1527767"/>
            <a:ext cx="2023311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Bacteria</a:t>
            </a:r>
          </a:p>
          <a:p>
            <a:r>
              <a:rPr lang="en-US" sz="1400" dirty="0"/>
              <a:t>Archaea</a:t>
            </a:r>
          </a:p>
          <a:p>
            <a:r>
              <a:rPr lang="en-US" sz="1400" dirty="0"/>
              <a:t>Fungi</a:t>
            </a:r>
          </a:p>
          <a:p>
            <a:r>
              <a:rPr lang="en-US" sz="1400" b="1" dirty="0"/>
              <a:t>Viruses</a:t>
            </a:r>
          </a:p>
          <a:p>
            <a:r>
              <a:rPr lang="en-US" sz="1400" b="1" dirty="0"/>
              <a:t>Mobile genetic elements</a:t>
            </a:r>
          </a:p>
        </p:txBody>
      </p:sp>
      <p:sp>
        <p:nvSpPr>
          <p:cNvPr id="16" name="Left Brace 15">
            <a:extLst>
              <a:ext uri="{FF2B5EF4-FFF2-40B4-BE49-F238E27FC236}">
                <a16:creationId xmlns:a16="http://schemas.microsoft.com/office/drawing/2014/main" id="{C6BAF921-1A9F-51C4-F3FF-ADFB3C7490C5}"/>
              </a:ext>
            </a:extLst>
          </p:cNvPr>
          <p:cNvSpPr/>
          <p:nvPr/>
        </p:nvSpPr>
        <p:spPr>
          <a:xfrm>
            <a:off x="8473478" y="1465182"/>
            <a:ext cx="376160" cy="1294722"/>
          </a:xfrm>
          <a:prstGeom prst="leftBrac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6D4642-4102-CB9E-5D88-17C78EB62FB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-3280" t="6940" b="24695"/>
          <a:stretch>
            <a:fillRect/>
          </a:stretch>
        </p:blipFill>
        <p:spPr>
          <a:xfrm>
            <a:off x="5634896" y="3849438"/>
            <a:ext cx="5025299" cy="2570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4841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>
          <a:extLst>
            <a:ext uri="{FF2B5EF4-FFF2-40B4-BE49-F238E27FC236}">
              <a16:creationId xmlns:a16="http://schemas.microsoft.com/office/drawing/2014/main" id="{0592B79D-A034-5394-D474-9C49B146B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>
            <a:extLst>
              <a:ext uri="{FF2B5EF4-FFF2-40B4-BE49-F238E27FC236}">
                <a16:creationId xmlns:a16="http://schemas.microsoft.com/office/drawing/2014/main" id="{45D04647-7A39-9040-1286-FEF23F4E72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363200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r>
              <a:rPr lang="en" dirty="0"/>
              <a:t>Viruses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5FBA21-0FB7-9B77-706B-13169C05CD5D}"/>
              </a:ext>
            </a:extLst>
          </p:cNvPr>
          <p:cNvSpPr txBox="1"/>
          <p:nvPr/>
        </p:nvSpPr>
        <p:spPr>
          <a:xfrm>
            <a:off x="824459" y="1215050"/>
            <a:ext cx="969114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/>
              <a:t>Most abundant biological entities on earth — estimated 10³¹ virions in the biosphere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/>
              <a:t>Bacteriophages dominate metagenomes but are massively understudied compared to bacteria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/>
              <a:t>Drive bacterial evolution, regulate community dynamics, influence host immunity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/>
              <a:t>Veterinary relevance: phage therapy interest, phage-bacteria dynamics in gut health, zoonotic viral discovery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/>
              <a:t>Why they're hard to detect: no universal marker gene (unlike 16S for bacteria), enormous sequence diversity, large fraction are completely novel with no database hits</a:t>
            </a:r>
          </a:p>
          <a:p>
            <a:endParaRPr lang="en-US" dirty="0"/>
          </a:p>
        </p:txBody>
      </p:sp>
      <p:pic>
        <p:nvPicPr>
          <p:cNvPr id="6146" name="Picture 2" descr="Lysogenic Cycle - an overview | ScienceDirect Topics">
            <a:extLst>
              <a:ext uri="{FF2B5EF4-FFF2-40B4-BE49-F238E27FC236}">
                <a16:creationId xmlns:a16="http://schemas.microsoft.com/office/drawing/2014/main" id="{8043002B-2F6B-F1A5-CAC8-C19C96D962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1345" y="3790886"/>
            <a:ext cx="3807606" cy="2021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3EC15E1-498B-A08C-1B37-9FAE66839E7C}"/>
              </a:ext>
            </a:extLst>
          </p:cNvPr>
          <p:cNvCxnSpPr/>
          <p:nvPr/>
        </p:nvCxnSpPr>
        <p:spPr>
          <a:xfrm>
            <a:off x="7337685" y="4956082"/>
            <a:ext cx="317791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8ADF4C05-4827-5D0B-1513-C396499C5688}"/>
              </a:ext>
            </a:extLst>
          </p:cNvPr>
          <p:cNvSpPr/>
          <p:nvPr/>
        </p:nvSpPr>
        <p:spPr>
          <a:xfrm>
            <a:off x="7622499" y="4896122"/>
            <a:ext cx="472190" cy="13491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149FDC-A0ED-032E-2561-6BA0E3CCB82A}"/>
              </a:ext>
            </a:extLst>
          </p:cNvPr>
          <p:cNvSpPr txBox="1"/>
          <p:nvPr/>
        </p:nvSpPr>
        <p:spPr>
          <a:xfrm>
            <a:off x="7337685" y="5090993"/>
            <a:ext cx="16254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Insertion genes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9C442BA-1CD2-30E6-2B15-BCE6D53FFF65}"/>
              </a:ext>
            </a:extLst>
          </p:cNvPr>
          <p:cNvSpPr/>
          <p:nvPr/>
        </p:nvSpPr>
        <p:spPr>
          <a:xfrm>
            <a:off x="9117768" y="4888627"/>
            <a:ext cx="745760" cy="1349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601957C-6FC7-B8FE-E583-B13712883FCE}"/>
              </a:ext>
            </a:extLst>
          </p:cNvPr>
          <p:cNvSpPr txBox="1"/>
          <p:nvPr/>
        </p:nvSpPr>
        <p:spPr>
          <a:xfrm>
            <a:off x="9172993" y="5090993"/>
            <a:ext cx="11275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Host gene</a:t>
            </a:r>
          </a:p>
        </p:txBody>
      </p:sp>
    </p:spTree>
    <p:extLst>
      <p:ext uri="{BB962C8B-B14F-4D97-AF65-F5344CB8AC3E}">
        <p14:creationId xmlns:p14="http://schemas.microsoft.com/office/powerpoint/2010/main" val="16558706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>
          <a:extLst>
            <a:ext uri="{FF2B5EF4-FFF2-40B4-BE49-F238E27FC236}">
              <a16:creationId xmlns:a16="http://schemas.microsoft.com/office/drawing/2014/main" id="{94998559-854C-C57F-6855-9F63E1395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>
            <a:extLst>
              <a:ext uri="{FF2B5EF4-FFF2-40B4-BE49-F238E27FC236}">
                <a16:creationId xmlns:a16="http://schemas.microsoft.com/office/drawing/2014/main" id="{00DDB2FF-512F-3073-7A34-FA635877551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363200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r>
              <a:rPr lang="en" dirty="0"/>
              <a:t>Plasmids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B9F5D4-0425-C968-0E68-B40EA65D9139}"/>
              </a:ext>
            </a:extLst>
          </p:cNvPr>
          <p:cNvSpPr txBox="1"/>
          <p:nvPr/>
        </p:nvSpPr>
        <p:spPr>
          <a:xfrm>
            <a:off x="712033" y="1397675"/>
            <a:ext cx="969114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dirty="0"/>
              <a:t>Extrachromosomal DNA elements, typically circular</a:t>
            </a:r>
          </a:p>
          <a:p>
            <a:pPr fontAlgn="base"/>
            <a:r>
              <a:rPr lang="en-US" dirty="0"/>
              <a:t>Main vehicles for horizontal gene transfer — including AMR genes</a:t>
            </a:r>
          </a:p>
          <a:p>
            <a:pPr fontAlgn="base"/>
            <a:r>
              <a:rPr lang="en-US" dirty="0"/>
              <a:t>Directly relevant for veterinary medicine: resistance plasmids in livestock pathogens, transmission between commensal and pathogenic bacteria</a:t>
            </a:r>
          </a:p>
          <a:p>
            <a:pPr fontAlgn="base"/>
            <a:r>
              <a:rPr lang="en-US" dirty="0"/>
              <a:t>Also hard to detect: similar sequence composition to chromosomes, can integrate, variable copy number</a:t>
            </a:r>
          </a:p>
          <a:p>
            <a:endParaRPr lang="en-US" dirty="0"/>
          </a:p>
        </p:txBody>
      </p:sp>
      <p:pic>
        <p:nvPicPr>
          <p:cNvPr id="7170" name="Picture 2" descr="Plasmid - Wikipedia">
            <a:extLst>
              <a:ext uri="{FF2B5EF4-FFF2-40B4-BE49-F238E27FC236}">
                <a16:creationId xmlns:a16="http://schemas.microsoft.com/office/drawing/2014/main" id="{678EB4EF-4447-1741-6AD4-426C8DE5D8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9514" y="3316574"/>
            <a:ext cx="3499785" cy="3065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CE4603EA-D30A-87C6-EB7C-E88595A487A8}"/>
              </a:ext>
            </a:extLst>
          </p:cNvPr>
          <p:cNvSpPr/>
          <p:nvPr/>
        </p:nvSpPr>
        <p:spPr>
          <a:xfrm>
            <a:off x="7365167" y="3788401"/>
            <a:ext cx="2263515" cy="220355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BAAC21E-B784-99AA-42D9-7E3345CEC9CC}"/>
              </a:ext>
            </a:extLst>
          </p:cNvPr>
          <p:cNvSpPr/>
          <p:nvPr/>
        </p:nvSpPr>
        <p:spPr>
          <a:xfrm rot="221476">
            <a:off x="8391991" y="3712951"/>
            <a:ext cx="412230" cy="1873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8E13E87-B89F-9FBE-7584-E1FBA0C5E3F8}"/>
              </a:ext>
            </a:extLst>
          </p:cNvPr>
          <p:cNvSpPr/>
          <p:nvPr/>
        </p:nvSpPr>
        <p:spPr>
          <a:xfrm rot="3921104">
            <a:off x="9285375" y="4414817"/>
            <a:ext cx="518615" cy="1873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2518AD-E5D5-8E69-928E-C1C7BB070063}"/>
              </a:ext>
            </a:extLst>
          </p:cNvPr>
          <p:cNvSpPr txBox="1"/>
          <p:nvPr/>
        </p:nvSpPr>
        <p:spPr>
          <a:xfrm>
            <a:off x="9681147" y="4223115"/>
            <a:ext cx="1827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Conjugation gene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B953623-96F5-C346-9347-25E5D0CE394B}"/>
              </a:ext>
            </a:extLst>
          </p:cNvPr>
          <p:cNvSpPr/>
          <p:nvPr/>
        </p:nvSpPr>
        <p:spPr>
          <a:xfrm rot="5400000">
            <a:off x="7147083" y="4811791"/>
            <a:ext cx="518615" cy="1873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7CAD3C-64A3-3133-906E-6661718D0FB8}"/>
              </a:ext>
            </a:extLst>
          </p:cNvPr>
          <p:cNvSpPr txBox="1"/>
          <p:nvPr/>
        </p:nvSpPr>
        <p:spPr>
          <a:xfrm>
            <a:off x="5795555" y="4694166"/>
            <a:ext cx="1517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Bacterial gene</a:t>
            </a:r>
          </a:p>
        </p:txBody>
      </p:sp>
    </p:spTree>
    <p:extLst>
      <p:ext uri="{BB962C8B-B14F-4D97-AF65-F5344CB8AC3E}">
        <p14:creationId xmlns:p14="http://schemas.microsoft.com/office/powerpoint/2010/main" val="12511186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>
          <a:extLst>
            <a:ext uri="{FF2B5EF4-FFF2-40B4-BE49-F238E27FC236}">
              <a16:creationId xmlns:a16="http://schemas.microsoft.com/office/drawing/2014/main" id="{35BD4D22-EC14-B913-ABC1-B3A91AB7B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>
            <a:extLst>
              <a:ext uri="{FF2B5EF4-FFF2-40B4-BE49-F238E27FC236}">
                <a16:creationId xmlns:a16="http://schemas.microsoft.com/office/drawing/2014/main" id="{3D5FCB62-76C4-84F4-215F-D5ED662EBE2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363200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r>
              <a:rPr lang="en" dirty="0"/>
              <a:t>Metagenomics pipeline: functional annotation</a:t>
            </a:r>
            <a:endParaRPr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37489F6-02D0-0048-9DF7-F154D0DCEF73}"/>
              </a:ext>
            </a:extLst>
          </p:cNvPr>
          <p:cNvGrpSpPr/>
          <p:nvPr/>
        </p:nvGrpSpPr>
        <p:grpSpPr>
          <a:xfrm>
            <a:off x="699741" y="2051823"/>
            <a:ext cx="861452" cy="619974"/>
            <a:chOff x="5150519" y="1389443"/>
            <a:chExt cx="861452" cy="619974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9BDEFE23-1082-A80A-07C5-79F479FBC83F}"/>
                </a:ext>
              </a:extLst>
            </p:cNvPr>
            <p:cNvSpPr/>
            <p:nvPr/>
          </p:nvSpPr>
          <p:spPr>
            <a:xfrm>
              <a:off x="5426900" y="1464460"/>
              <a:ext cx="255443" cy="49644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391D845-BCF7-7CFE-18E5-6270A8E0A09F}"/>
                </a:ext>
              </a:extLst>
            </p:cNvPr>
            <p:cNvSpPr/>
            <p:nvPr/>
          </p:nvSpPr>
          <p:spPr>
            <a:xfrm>
              <a:off x="5299178" y="1567216"/>
              <a:ext cx="255443" cy="49644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0B0FD72-CA0E-1A3A-5674-E5E68D6705B7}"/>
                </a:ext>
              </a:extLst>
            </p:cNvPr>
            <p:cNvSpPr/>
            <p:nvPr/>
          </p:nvSpPr>
          <p:spPr>
            <a:xfrm>
              <a:off x="5628807" y="1567216"/>
              <a:ext cx="255443" cy="49644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B891336-8EBA-BAD9-1CE9-BB66FC441127}"/>
                </a:ext>
              </a:extLst>
            </p:cNvPr>
            <p:cNvSpPr/>
            <p:nvPr/>
          </p:nvSpPr>
          <p:spPr>
            <a:xfrm>
              <a:off x="5225358" y="1669972"/>
              <a:ext cx="255443" cy="49644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72A22F6-62AF-A6CB-CFA5-536B70F139D8}"/>
                </a:ext>
              </a:extLst>
            </p:cNvPr>
            <p:cNvSpPr/>
            <p:nvPr/>
          </p:nvSpPr>
          <p:spPr>
            <a:xfrm>
              <a:off x="5729773" y="1464878"/>
              <a:ext cx="255443" cy="49644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BA692DB-85B8-3084-0A3D-500D7A318257}"/>
                </a:ext>
              </a:extLst>
            </p:cNvPr>
            <p:cNvSpPr/>
            <p:nvPr/>
          </p:nvSpPr>
          <p:spPr>
            <a:xfrm>
              <a:off x="5400120" y="1747906"/>
              <a:ext cx="255443" cy="49644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DFF16ED-BF72-F102-9A15-4C1573CA8C12}"/>
                </a:ext>
              </a:extLst>
            </p:cNvPr>
            <p:cNvSpPr/>
            <p:nvPr/>
          </p:nvSpPr>
          <p:spPr>
            <a:xfrm>
              <a:off x="5750059" y="1669972"/>
              <a:ext cx="255443" cy="49644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A1D4248-B638-A5DA-B362-AB929AF9DB6A}"/>
                </a:ext>
              </a:extLst>
            </p:cNvPr>
            <p:cNvSpPr/>
            <p:nvPr/>
          </p:nvSpPr>
          <p:spPr>
            <a:xfrm>
              <a:off x="5225357" y="1389443"/>
              <a:ext cx="255443" cy="49644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C869DFD-DD9D-B58B-462B-B38B32E33EFC}"/>
                </a:ext>
              </a:extLst>
            </p:cNvPr>
            <p:cNvSpPr/>
            <p:nvPr/>
          </p:nvSpPr>
          <p:spPr>
            <a:xfrm>
              <a:off x="5150519" y="1801018"/>
              <a:ext cx="255443" cy="49644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23BF385-B8F8-3E83-1860-5CD4AC8378E4}"/>
                </a:ext>
              </a:extLst>
            </p:cNvPr>
            <p:cNvSpPr/>
            <p:nvPr/>
          </p:nvSpPr>
          <p:spPr>
            <a:xfrm>
              <a:off x="5299177" y="1877336"/>
              <a:ext cx="255443" cy="49644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552E56B-CB45-BCDC-7595-BD78D664B19F}"/>
                </a:ext>
              </a:extLst>
            </p:cNvPr>
            <p:cNvSpPr/>
            <p:nvPr/>
          </p:nvSpPr>
          <p:spPr>
            <a:xfrm>
              <a:off x="5599047" y="1817676"/>
              <a:ext cx="255443" cy="49644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9F43CF3-32B9-5206-1472-AED613DCBAE4}"/>
                </a:ext>
              </a:extLst>
            </p:cNvPr>
            <p:cNvSpPr/>
            <p:nvPr/>
          </p:nvSpPr>
          <p:spPr>
            <a:xfrm>
              <a:off x="5756528" y="1895610"/>
              <a:ext cx="255443" cy="49644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4B9DFC7-66EE-7E33-0C3F-ACBBB2B67A9C}"/>
                </a:ext>
              </a:extLst>
            </p:cNvPr>
            <p:cNvSpPr/>
            <p:nvPr/>
          </p:nvSpPr>
          <p:spPr>
            <a:xfrm>
              <a:off x="5487700" y="1959773"/>
              <a:ext cx="255443" cy="49644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73A0649-DDB2-34D5-C4BF-EADEABFA9C32}"/>
              </a:ext>
            </a:extLst>
          </p:cNvPr>
          <p:cNvCxnSpPr>
            <a:cxnSpLocks/>
          </p:cNvCxnSpPr>
          <p:nvPr/>
        </p:nvCxnSpPr>
        <p:spPr>
          <a:xfrm>
            <a:off x="1928117" y="2229596"/>
            <a:ext cx="1466243" cy="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03288A9A-48AB-485F-6AB9-EE74B00F68AB}"/>
              </a:ext>
            </a:extLst>
          </p:cNvPr>
          <p:cNvSpPr txBox="1"/>
          <p:nvPr/>
        </p:nvSpPr>
        <p:spPr>
          <a:xfrm>
            <a:off x="1928117" y="2332352"/>
            <a:ext cx="9364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C0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Megahit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4CF62D7-80CF-7395-E1EF-DE19F41C45AB}"/>
              </a:ext>
            </a:extLst>
          </p:cNvPr>
          <p:cNvSpPr/>
          <p:nvPr/>
        </p:nvSpPr>
        <p:spPr>
          <a:xfrm>
            <a:off x="3664458" y="2073042"/>
            <a:ext cx="1108354" cy="40701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Contigs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8062B62-D408-D962-B898-A7F8F7C44979}"/>
              </a:ext>
            </a:extLst>
          </p:cNvPr>
          <p:cNvCxnSpPr>
            <a:cxnSpLocks/>
          </p:cNvCxnSpPr>
          <p:nvPr/>
        </p:nvCxnSpPr>
        <p:spPr>
          <a:xfrm>
            <a:off x="5050545" y="2229596"/>
            <a:ext cx="1466243" cy="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DACC6089-F506-EE73-A1A5-BA30015AEBFC}"/>
              </a:ext>
            </a:extLst>
          </p:cNvPr>
          <p:cNvSpPr/>
          <p:nvPr/>
        </p:nvSpPr>
        <p:spPr>
          <a:xfrm>
            <a:off x="6779250" y="2036875"/>
            <a:ext cx="1236092" cy="6032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Coding sequences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11F66F3-9010-5058-6BEE-3D2907A12A18}"/>
              </a:ext>
            </a:extLst>
          </p:cNvPr>
          <p:cNvSpPr txBox="1"/>
          <p:nvPr/>
        </p:nvSpPr>
        <p:spPr>
          <a:xfrm>
            <a:off x="5082205" y="2326167"/>
            <a:ext cx="10438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C0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Prodigal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28D5051-C80D-C843-2815-91933EBE620C}"/>
              </a:ext>
            </a:extLst>
          </p:cNvPr>
          <p:cNvCxnSpPr>
            <a:cxnSpLocks/>
          </p:cNvCxnSpPr>
          <p:nvPr/>
        </p:nvCxnSpPr>
        <p:spPr>
          <a:xfrm>
            <a:off x="8343694" y="2265535"/>
            <a:ext cx="1466243" cy="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BF0BBDD2-493C-7E17-3BD2-9E0C56844F84}"/>
              </a:ext>
            </a:extLst>
          </p:cNvPr>
          <p:cNvSpPr txBox="1"/>
          <p:nvPr/>
        </p:nvSpPr>
        <p:spPr>
          <a:xfrm>
            <a:off x="8375354" y="2362106"/>
            <a:ext cx="11512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solidFill>
                  <a:srgbClr val="C0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Hmmsearch</a:t>
            </a:r>
            <a:endParaRPr lang="en-US" sz="1400" dirty="0">
              <a:solidFill>
                <a:srgbClr val="C00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400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KEGG </a:t>
            </a:r>
            <a:r>
              <a:rPr lang="en-US" sz="1400" dirty="0" err="1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db</a:t>
            </a:r>
            <a:endParaRPr lang="en-US" sz="1400" dirty="0">
              <a:solidFill>
                <a:schemeClr val="accent1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844F1C2-EAEA-FDF4-3248-9FC1BBED3FD9}"/>
              </a:ext>
            </a:extLst>
          </p:cNvPr>
          <p:cNvSpPr/>
          <p:nvPr/>
        </p:nvSpPr>
        <p:spPr>
          <a:xfrm>
            <a:off x="10066515" y="2024541"/>
            <a:ext cx="1315803" cy="6032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Functional annotations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95D9DC4-C50D-F310-95B7-E42A2B9E9B56}"/>
              </a:ext>
            </a:extLst>
          </p:cNvPr>
          <p:cNvCxnSpPr>
            <a:cxnSpLocks/>
          </p:cNvCxnSpPr>
          <p:nvPr/>
        </p:nvCxnSpPr>
        <p:spPr>
          <a:xfrm>
            <a:off x="7428037" y="2765265"/>
            <a:ext cx="0" cy="83177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891AAC4-275B-7A23-7E7B-CAE6E9DCA0DC}"/>
              </a:ext>
            </a:extLst>
          </p:cNvPr>
          <p:cNvCxnSpPr>
            <a:cxnSpLocks/>
          </p:cNvCxnSpPr>
          <p:nvPr/>
        </p:nvCxnSpPr>
        <p:spPr>
          <a:xfrm>
            <a:off x="1554724" y="3783672"/>
            <a:ext cx="8255213" cy="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FF19733-B63B-3748-4258-220FFDDBBC4A}"/>
              </a:ext>
            </a:extLst>
          </p:cNvPr>
          <p:cNvCxnSpPr>
            <a:cxnSpLocks/>
          </p:cNvCxnSpPr>
          <p:nvPr/>
        </p:nvCxnSpPr>
        <p:spPr>
          <a:xfrm flipV="1">
            <a:off x="1561193" y="2699653"/>
            <a:ext cx="0" cy="107329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3CCB2F0A-3DE1-7F8F-2526-A5D04D154C51}"/>
              </a:ext>
            </a:extLst>
          </p:cNvPr>
          <p:cNvSpPr txBox="1"/>
          <p:nvPr/>
        </p:nvSpPr>
        <p:spPr>
          <a:xfrm>
            <a:off x="1561193" y="3815582"/>
            <a:ext cx="14734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C0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BWA + </a:t>
            </a:r>
            <a:r>
              <a:rPr lang="en-US" sz="1400" dirty="0" err="1">
                <a:solidFill>
                  <a:srgbClr val="C0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CoverM</a:t>
            </a:r>
            <a:endParaRPr lang="en-US" sz="1400" dirty="0">
              <a:solidFill>
                <a:srgbClr val="C00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E281E9C-D595-B425-F517-229EA91E745F}"/>
              </a:ext>
            </a:extLst>
          </p:cNvPr>
          <p:cNvSpPr/>
          <p:nvPr/>
        </p:nvSpPr>
        <p:spPr>
          <a:xfrm>
            <a:off x="10066515" y="3203963"/>
            <a:ext cx="1526993" cy="88934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Gene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count table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3069196-03C7-CC38-6EF7-564654B45B5B}"/>
              </a:ext>
            </a:extLst>
          </p:cNvPr>
          <p:cNvSpPr txBox="1"/>
          <p:nvPr/>
        </p:nvSpPr>
        <p:spPr>
          <a:xfrm>
            <a:off x="1890292" y="1859744"/>
            <a:ext cx="8803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  <a:ea typeface="Menlo" panose="020B0609030804020204" pitchFamily="49" charset="0"/>
                <a:cs typeface="Menlo" panose="020B0609030804020204" pitchFamily="49" charset="0"/>
              </a:rPr>
              <a:t>Assembly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A8E4F48-C9A9-E4E8-9A3D-89977E46819C}"/>
              </a:ext>
            </a:extLst>
          </p:cNvPr>
          <p:cNvSpPr txBox="1"/>
          <p:nvPr/>
        </p:nvSpPr>
        <p:spPr>
          <a:xfrm>
            <a:off x="5001647" y="1445346"/>
            <a:ext cx="133375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  <a:ea typeface="Menlo" panose="020B0609030804020204" pitchFamily="49" charset="0"/>
                <a:cs typeface="Menlo" panose="020B0609030804020204" pitchFamily="49" charset="0"/>
              </a:rPr>
              <a:t>Coding sequence inference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B38DC8D-DFED-DBC4-EED0-4D1EBA0E6587}"/>
              </a:ext>
            </a:extLst>
          </p:cNvPr>
          <p:cNvSpPr txBox="1"/>
          <p:nvPr/>
        </p:nvSpPr>
        <p:spPr>
          <a:xfrm>
            <a:off x="8271920" y="1865700"/>
            <a:ext cx="14183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  <a:ea typeface="Menlo" panose="020B0609030804020204" pitchFamily="49" charset="0"/>
                <a:cs typeface="Menlo" panose="020B0609030804020204" pitchFamily="49" charset="0"/>
              </a:rPr>
              <a:t>Gene annotation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55E8205-36A8-3847-C762-9653A888FD91}"/>
              </a:ext>
            </a:extLst>
          </p:cNvPr>
          <p:cNvSpPr txBox="1"/>
          <p:nvPr/>
        </p:nvSpPr>
        <p:spPr>
          <a:xfrm>
            <a:off x="1650544" y="3430261"/>
            <a:ext cx="12298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  <a:ea typeface="Menlo" panose="020B0609030804020204" pitchFamily="49" charset="0"/>
                <a:cs typeface="Menlo" panose="020B0609030804020204" pitchFamily="49" charset="0"/>
              </a:rPr>
              <a:t>Read mapping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C8AA924-7CBB-C814-DDE5-3839147E7FDB}"/>
              </a:ext>
            </a:extLst>
          </p:cNvPr>
          <p:cNvSpPr txBox="1"/>
          <p:nvPr/>
        </p:nvSpPr>
        <p:spPr>
          <a:xfrm>
            <a:off x="730892" y="5923007"/>
            <a:ext cx="6614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Process</a:t>
            </a:r>
          </a:p>
          <a:p>
            <a:r>
              <a:rPr lang="en-US" sz="1200" dirty="0">
                <a:solidFill>
                  <a:srgbClr val="C0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Tool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0C7B21F6-B8A6-4361-97B1-77A14F764E92}"/>
              </a:ext>
            </a:extLst>
          </p:cNvPr>
          <p:cNvCxnSpPr>
            <a:cxnSpLocks/>
          </p:cNvCxnSpPr>
          <p:nvPr/>
        </p:nvCxnSpPr>
        <p:spPr>
          <a:xfrm>
            <a:off x="10684532" y="2671797"/>
            <a:ext cx="0" cy="438698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303F64D9-1846-4331-E4AD-9B69F041E69B}"/>
              </a:ext>
            </a:extLst>
          </p:cNvPr>
          <p:cNvSpPr txBox="1"/>
          <p:nvPr/>
        </p:nvSpPr>
        <p:spPr>
          <a:xfrm>
            <a:off x="1167633" y="4469259"/>
            <a:ext cx="19339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  <a:ea typeface="Menlo" panose="020B0609030804020204" pitchFamily="49" charset="0"/>
                <a:cs typeface="Menlo" panose="020B0609030804020204" pitchFamily="49" charset="0"/>
              </a:rPr>
              <a:t>Taxonomic classification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A4FEB7B7-D9D3-6928-F326-46140677A5FF}"/>
              </a:ext>
            </a:extLst>
          </p:cNvPr>
          <p:cNvCxnSpPr>
            <a:cxnSpLocks/>
          </p:cNvCxnSpPr>
          <p:nvPr/>
        </p:nvCxnSpPr>
        <p:spPr>
          <a:xfrm>
            <a:off x="1103842" y="4846806"/>
            <a:ext cx="2801006" cy="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DD233CC8-B324-53F1-3BE8-4039BD95C378}"/>
              </a:ext>
            </a:extLst>
          </p:cNvPr>
          <p:cNvCxnSpPr>
            <a:cxnSpLocks/>
          </p:cNvCxnSpPr>
          <p:nvPr/>
        </p:nvCxnSpPr>
        <p:spPr>
          <a:xfrm flipV="1">
            <a:off x="1103842" y="2896179"/>
            <a:ext cx="7935" cy="196369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52B3B0FF-B435-D79C-CF42-C84194522A3D}"/>
              </a:ext>
            </a:extLst>
          </p:cNvPr>
          <p:cNvSpPr txBox="1"/>
          <p:nvPr/>
        </p:nvSpPr>
        <p:spPr>
          <a:xfrm>
            <a:off x="1148269" y="4948982"/>
            <a:ext cx="20104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C0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Kraken2 + Bracken</a:t>
            </a:r>
          </a:p>
          <a:p>
            <a:r>
              <a:rPr lang="en-US" sz="1400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Kraken </a:t>
            </a:r>
            <a:r>
              <a:rPr lang="en-US" sz="1400" dirty="0" err="1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db</a:t>
            </a:r>
            <a:endParaRPr lang="en-US" sz="1400" dirty="0">
              <a:solidFill>
                <a:schemeClr val="accent1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6DC8C1E1-3BA3-91FC-AA65-BFB8FF953371}"/>
              </a:ext>
            </a:extLst>
          </p:cNvPr>
          <p:cNvSpPr/>
          <p:nvPr/>
        </p:nvSpPr>
        <p:spPr>
          <a:xfrm>
            <a:off x="4155337" y="4415203"/>
            <a:ext cx="1526993" cy="88934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Taxonomy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count table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4183266-4796-8D60-52C3-5C2E348BC37C}"/>
              </a:ext>
            </a:extLst>
          </p:cNvPr>
          <p:cNvSpPr txBox="1"/>
          <p:nvPr/>
        </p:nvSpPr>
        <p:spPr>
          <a:xfrm>
            <a:off x="6210614" y="4742767"/>
            <a:ext cx="5171704" cy="175432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accent4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fontAlgn="base"/>
            <a:r>
              <a:rPr lang="en-US" b="1" dirty="0"/>
              <a:t>Why does this not work for viruses/plasmids?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/>
              <a:t>Reference databases miss most viruses/plasmids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/>
              <a:t>Short reads don't contain enough signal to classify novel viruses/plasmids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/>
              <a:t>Viruses/plasmids have shorter sequences </a:t>
            </a:r>
            <a:r>
              <a:rPr lang="en-US" dirty="0">
                <a:sym typeface="Wingdings" pitchFamily="2" charset="2"/>
              </a:rPr>
              <a:t> get “buried” under bacterial signal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37731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>
          <a:extLst>
            <a:ext uri="{FF2B5EF4-FFF2-40B4-BE49-F238E27FC236}">
              <a16:creationId xmlns:a16="http://schemas.microsoft.com/office/drawing/2014/main" id="{EE18C25B-D528-EA72-3976-AD17E1581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>
            <a:extLst>
              <a:ext uri="{FF2B5EF4-FFF2-40B4-BE49-F238E27FC236}">
                <a16:creationId xmlns:a16="http://schemas.microsoft.com/office/drawing/2014/main" id="{606A6704-2827-6146-4B81-BA0FEF829C6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363200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r>
              <a:rPr lang="en-US" dirty="0"/>
              <a:t>Why does this not work for viruses/plasmids?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26588ED3-DCD9-0DE0-4507-8676B0CD22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5871" y="1324613"/>
            <a:ext cx="9118040" cy="4977524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12B37714-35EF-FA7C-EC7E-1E5BF39C8F5D}"/>
              </a:ext>
            </a:extLst>
          </p:cNvPr>
          <p:cNvSpPr txBox="1"/>
          <p:nvPr/>
        </p:nvSpPr>
        <p:spPr>
          <a:xfrm>
            <a:off x="1445871" y="2581155"/>
            <a:ext cx="8670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/>
              <a:t>Technical</a:t>
            </a:r>
          </a:p>
          <a:p>
            <a:pPr algn="ctr"/>
            <a:r>
              <a:rPr lang="en-US" sz="1400" b="1" dirty="0"/>
              <a:t>Reasons</a:t>
            </a:r>
          </a:p>
        </p:txBody>
      </p:sp>
    </p:spTree>
    <p:extLst>
      <p:ext uri="{BB962C8B-B14F-4D97-AF65-F5344CB8AC3E}">
        <p14:creationId xmlns:p14="http://schemas.microsoft.com/office/powerpoint/2010/main" val="9768696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>
          <a:extLst>
            <a:ext uri="{FF2B5EF4-FFF2-40B4-BE49-F238E27FC236}">
              <a16:creationId xmlns:a16="http://schemas.microsoft.com/office/drawing/2014/main" id="{3E1C2FDC-67DD-1A19-3056-CB7DCE1DA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>
            <a:extLst>
              <a:ext uri="{FF2B5EF4-FFF2-40B4-BE49-F238E27FC236}">
                <a16:creationId xmlns:a16="http://schemas.microsoft.com/office/drawing/2014/main" id="{FFBA5217-0FB2-CAEE-0E40-28CE09CEB2D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363200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r>
              <a:rPr lang="en" dirty="0"/>
              <a:t>Two approaches for the study of viruses</a:t>
            </a:r>
            <a:endParaRPr dirty="0"/>
          </a:p>
        </p:txBody>
      </p:sp>
      <p:pic>
        <p:nvPicPr>
          <p:cNvPr id="2" name="Picture 2" descr="October | 2013 | JHU Phage Hunters">
            <a:extLst>
              <a:ext uri="{FF2B5EF4-FFF2-40B4-BE49-F238E27FC236}">
                <a16:creationId xmlns:a16="http://schemas.microsoft.com/office/drawing/2014/main" id="{404C7825-8ACB-DDFD-CE84-094D17DA3F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0508" y="233095"/>
            <a:ext cx="1735892" cy="1023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Viromes vs. mixed community metagenomes: choice of method dictates  interpretation of viral community ecology | Microbiome | Full Text">
            <a:extLst>
              <a:ext uri="{FF2B5EF4-FFF2-40B4-BE49-F238E27FC236}">
                <a16:creationId xmlns:a16="http://schemas.microsoft.com/office/drawing/2014/main" id="{A79C01DA-939D-365D-26F1-5D8FAB56D0C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4" b="59567"/>
          <a:stretch>
            <a:fillRect/>
          </a:stretch>
        </p:blipFill>
        <p:spPr bwMode="auto">
          <a:xfrm>
            <a:off x="548077" y="2345779"/>
            <a:ext cx="4584455" cy="2765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3565ED3-8A13-65D7-E54A-47483E4C3DA3}"/>
              </a:ext>
            </a:extLst>
          </p:cNvPr>
          <p:cNvSpPr txBox="1"/>
          <p:nvPr/>
        </p:nvSpPr>
        <p:spPr>
          <a:xfrm>
            <a:off x="3024062" y="5323562"/>
            <a:ext cx="20158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solidFill>
                  <a:schemeClr val="bg1">
                    <a:lumMod val="50000"/>
                  </a:schemeClr>
                </a:solidFill>
              </a:rPr>
              <a:t>Kosmopoulos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 et al. 2024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6214C2B-4AE8-BDAC-C444-6AF2686B0A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287598"/>
              </p:ext>
            </p:extLst>
          </p:nvPr>
        </p:nvGraphicFramePr>
        <p:xfrm>
          <a:off x="5402266" y="1629211"/>
          <a:ext cx="6374134" cy="43780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0413">
                  <a:extLst>
                    <a:ext uri="{9D8B030D-6E8A-4147-A177-3AD203B41FA5}">
                      <a16:colId xmlns:a16="http://schemas.microsoft.com/office/drawing/2014/main" val="2080633493"/>
                    </a:ext>
                  </a:extLst>
                </a:gridCol>
                <a:gridCol w="2715103">
                  <a:extLst>
                    <a:ext uri="{9D8B030D-6E8A-4147-A177-3AD203B41FA5}">
                      <a16:colId xmlns:a16="http://schemas.microsoft.com/office/drawing/2014/main" val="66772353"/>
                    </a:ext>
                  </a:extLst>
                </a:gridCol>
                <a:gridCol w="2898618">
                  <a:extLst>
                    <a:ext uri="{9D8B030D-6E8A-4147-A177-3AD203B41FA5}">
                      <a16:colId xmlns:a16="http://schemas.microsoft.com/office/drawing/2014/main" val="3122622124"/>
                    </a:ext>
                  </a:extLst>
                </a:gridCol>
              </a:tblGrid>
              <a:tr h="416953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Metagenomics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 err="1"/>
                        <a:t>Viromes</a:t>
                      </a:r>
                      <a:r>
                        <a:rPr lang="en-US" sz="1600" b="1" dirty="0"/>
                        <a:t> (virus-enriched)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1070890"/>
                  </a:ext>
                </a:extLst>
              </a:tr>
              <a:tr h="1750069">
                <a:tc>
                  <a:txBody>
                    <a:bodyPr/>
                    <a:lstStyle/>
                    <a:p>
                      <a:r>
                        <a:rPr lang="en-US" sz="1600" b="1" dirty="0"/>
                        <a:t>Pros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Whole community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No enrichment bias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Host-virus context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AMR and plasmid analysis possible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Standardized protocols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High viral sensitivity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Cost-effective for viral work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Better novel virus discovery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Lower sequencing depth needed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Cleaner viral signal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077044"/>
                  </a:ext>
                </a:extLst>
              </a:tr>
              <a:tr h="2211028">
                <a:tc>
                  <a:txBody>
                    <a:bodyPr/>
                    <a:lstStyle/>
                    <a:p>
                      <a:r>
                        <a:rPr lang="en-US" sz="1600" b="1" dirty="0"/>
                        <a:t>Cons</a:t>
                      </a:r>
                    </a:p>
                  </a:txBody>
                  <a:tcPr>
                    <a:solidFill>
                      <a:srgbClr val="FF0000">
                        <a:alpha val="2352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Viral signal diluted by bacteria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Poor sensitivity for rare viruses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Requires very deep sequencing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Poor viral genome assembly</a:t>
                      </a:r>
                    </a:p>
                  </a:txBody>
                  <a:tcPr>
                    <a:solidFill>
                      <a:srgbClr val="FF0000">
                        <a:alpha val="2352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Loses bacterial context entirely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Enrichment introduces bias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Protocol not standardized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Some viruses lost in enrichment (prophages)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Can't study AMR or plasmids</a:t>
                      </a:r>
                    </a:p>
                  </a:txBody>
                  <a:tcPr>
                    <a:solidFill>
                      <a:srgbClr val="FF0000">
                        <a:alpha val="2352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16371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8906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>
          <a:extLst>
            <a:ext uri="{FF2B5EF4-FFF2-40B4-BE49-F238E27FC236}">
              <a16:creationId xmlns:a16="http://schemas.microsoft.com/office/drawing/2014/main" id="{FCF72934-A083-5FB3-BFE0-34F0A09CD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>
            <a:extLst>
              <a:ext uri="{FF2B5EF4-FFF2-40B4-BE49-F238E27FC236}">
                <a16:creationId xmlns:a16="http://schemas.microsoft.com/office/drawing/2014/main" id="{FBAA4441-E7F1-85CB-D415-001A3204DE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363200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r>
              <a:rPr lang="en" dirty="0"/>
              <a:t>Viral and plasmid inference from metagenomes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80EE9-B424-0CD4-1D6E-ACE2DF85D9D1}"/>
              </a:ext>
            </a:extLst>
          </p:cNvPr>
          <p:cNvSpPr txBox="1"/>
          <p:nvPr/>
        </p:nvSpPr>
        <p:spPr>
          <a:xfrm>
            <a:off x="1056286" y="1536439"/>
            <a:ext cx="5534400" cy="1754326"/>
          </a:xfrm>
          <a:prstGeom prst="rect">
            <a:avLst/>
          </a:prstGeom>
          <a:solidFill>
            <a:schemeClr val="accent4">
              <a:alpha val="12941"/>
            </a:schemeClr>
          </a:solidFill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US" b="1" u="sng" dirty="0">
                <a:solidFill>
                  <a:schemeClr val="accent4">
                    <a:lumMod val="75000"/>
                  </a:schemeClr>
                </a:solidFill>
              </a:rPr>
              <a:t>Homology</a:t>
            </a:r>
            <a:r>
              <a:rPr lang="en-US" u="sng" dirty="0">
                <a:solidFill>
                  <a:schemeClr val="accent4">
                    <a:lumMod val="75000"/>
                  </a:schemeClr>
                </a:solidFill>
              </a:rPr>
              <a:t> based: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“Does this look like a known virus?”</a:t>
            </a:r>
          </a:p>
          <a:p>
            <a:r>
              <a:rPr lang="en-US" dirty="0"/>
              <a:t>Looks for known viral signatures in </a:t>
            </a:r>
            <a:r>
              <a:rPr lang="en-US" b="1" dirty="0"/>
              <a:t>reference</a:t>
            </a:r>
            <a:r>
              <a:rPr lang="en-US" dirty="0"/>
              <a:t> databases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Enrichment of viral hallmark genes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Depletion of cellular genes</a:t>
            </a:r>
          </a:p>
          <a:p>
            <a:r>
              <a:rPr lang="en-US" dirty="0"/>
              <a:t>Limitation: blind to novel viruses with no known relatives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475CB6-6DAC-EC90-4303-7BEAC01E4BEC}"/>
              </a:ext>
            </a:extLst>
          </p:cNvPr>
          <p:cNvSpPr txBox="1"/>
          <p:nvPr/>
        </p:nvSpPr>
        <p:spPr>
          <a:xfrm>
            <a:off x="1056287" y="3495440"/>
            <a:ext cx="5534400" cy="2308324"/>
          </a:xfrm>
          <a:prstGeom prst="rect">
            <a:avLst/>
          </a:prstGeom>
          <a:solidFill>
            <a:schemeClr val="accent5">
              <a:alpha val="15686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chemeClr val="accent5"/>
                </a:solidFill>
              </a:rPr>
              <a:t>Sequence composition </a:t>
            </a:r>
            <a:r>
              <a:rPr lang="en-US" u="sng" dirty="0">
                <a:solidFill>
                  <a:schemeClr val="accent5"/>
                </a:solidFill>
              </a:rPr>
              <a:t>based: </a:t>
            </a:r>
          </a:p>
          <a:p>
            <a:r>
              <a:rPr lang="en-US" i="1" dirty="0">
                <a:solidFill>
                  <a:schemeClr val="bg1">
                    <a:lumMod val="50000"/>
                  </a:schemeClr>
                </a:solidFill>
              </a:rPr>
              <a:t>“Does this feel like a virus based on its patterns?”</a:t>
            </a:r>
          </a:p>
          <a:p>
            <a:r>
              <a:rPr lang="en-US" dirty="0"/>
              <a:t>Learns the </a:t>
            </a:r>
            <a:r>
              <a:rPr lang="en-US" b="1" dirty="0"/>
              <a:t>statistical "fingerprint" </a:t>
            </a:r>
            <a:r>
              <a:rPr lang="en-US" dirty="0"/>
              <a:t>of viral sequences without needing a reference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Gene density and coding patterns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Protein family profiles → trained classifiers (random forest, naïve Bayes, neural networks)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Differential </a:t>
            </a:r>
            <a:r>
              <a:rPr lang="en-US" i="1" dirty="0"/>
              <a:t>k</a:t>
            </a:r>
            <a:r>
              <a:rPr lang="en-US" dirty="0"/>
              <a:t>-</a:t>
            </a:r>
            <a:r>
              <a:rPr lang="en-US" dirty="0" err="1"/>
              <a:t>mer</a:t>
            </a:r>
            <a:r>
              <a:rPr lang="en-US" dirty="0"/>
              <a:t> frequencies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DD4F99D-19BA-3DB7-2B36-942DB196B88C}"/>
              </a:ext>
            </a:extLst>
          </p:cNvPr>
          <p:cNvGrpSpPr/>
          <p:nvPr/>
        </p:nvGrpSpPr>
        <p:grpSpPr>
          <a:xfrm>
            <a:off x="8007367" y="3822106"/>
            <a:ext cx="2611119" cy="1654991"/>
            <a:chOff x="6614161" y="4687388"/>
            <a:chExt cx="2611119" cy="1654991"/>
          </a:xfrm>
        </p:grpSpPr>
        <p:pic>
          <p:nvPicPr>
            <p:cNvPr id="7" name="Picture 2" descr="Counting Kmers for Biological Sequences at Large Scale | Interdisciplinary  Sciences: Computational Life Sciences">
              <a:extLst>
                <a:ext uri="{FF2B5EF4-FFF2-40B4-BE49-F238E27FC236}">
                  <a16:creationId xmlns:a16="http://schemas.microsoft.com/office/drawing/2014/main" id="{231B229D-24ED-7840-A740-46335132DC4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65290" y="5056720"/>
              <a:ext cx="2459990" cy="128565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A295812-DE70-BB67-B21D-51B0DFD01C28}"/>
                </a:ext>
              </a:extLst>
            </p:cNvPr>
            <p:cNvSpPr txBox="1"/>
            <p:nvPr/>
          </p:nvSpPr>
          <p:spPr>
            <a:xfrm>
              <a:off x="6614161" y="4687388"/>
              <a:ext cx="8164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k-</a:t>
              </a:r>
              <a:r>
                <a:rPr lang="en-US" dirty="0" err="1"/>
                <a:t>mers</a:t>
              </a:r>
              <a:endParaRPr lang="en-US" dirty="0"/>
            </a:p>
          </p:txBody>
        </p:sp>
      </p:grpSp>
      <p:pic>
        <p:nvPicPr>
          <p:cNvPr id="9" name="Picture 2" descr="Comparative assembly: Reads are aligned to a reference sequence. The... |  Download Scientific Diagram">
            <a:extLst>
              <a:ext uri="{FF2B5EF4-FFF2-40B4-BE49-F238E27FC236}">
                <a16:creationId xmlns:a16="http://schemas.microsoft.com/office/drawing/2014/main" id="{2A2A9E0B-2179-A54B-5401-EA72534428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8470" y="1496132"/>
            <a:ext cx="4109999" cy="1589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55C2793-D911-F4C3-6D93-3707B7B2D0B6}"/>
              </a:ext>
            </a:extLst>
          </p:cNvPr>
          <p:cNvSpPr txBox="1"/>
          <p:nvPr/>
        </p:nvSpPr>
        <p:spPr>
          <a:xfrm>
            <a:off x="779362" y="6044126"/>
            <a:ext cx="10997038" cy="33855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i="1" dirty="0"/>
              <a:t>Homology-based methods find known viruses well. Composition-based methods find unknown ones — but with more uncertainty.</a:t>
            </a:r>
          </a:p>
        </p:txBody>
      </p:sp>
      <p:pic>
        <p:nvPicPr>
          <p:cNvPr id="14" name="Graphic 13" descr="Handshake with solid fill">
            <a:extLst>
              <a:ext uri="{FF2B5EF4-FFF2-40B4-BE49-F238E27FC236}">
                <a16:creationId xmlns:a16="http://schemas.microsoft.com/office/drawing/2014/main" id="{CE929CF9-0AA8-014E-F434-9891B1C549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14477" y="3023321"/>
            <a:ext cx="1190085" cy="1190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348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>
          <a:extLst>
            <a:ext uri="{FF2B5EF4-FFF2-40B4-BE49-F238E27FC236}">
              <a16:creationId xmlns:a16="http://schemas.microsoft.com/office/drawing/2014/main" id="{BED670BF-1A63-7172-E0CC-FB93BFD2B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>
            <a:extLst>
              <a:ext uri="{FF2B5EF4-FFF2-40B4-BE49-F238E27FC236}">
                <a16:creationId xmlns:a16="http://schemas.microsoft.com/office/drawing/2014/main" id="{4752E750-5CC3-D29B-035F-AD4A2A0C90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363200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r>
              <a:rPr lang="en" dirty="0"/>
              <a:t>Viral and plasmid inference from metagenomes</a:t>
            </a:r>
            <a:endParaRPr dirty="0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095A1CDE-5898-8A02-C532-2021301AE98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349"/>
          <a:stretch>
            <a:fillRect/>
          </a:stretch>
        </p:blipFill>
        <p:spPr bwMode="auto">
          <a:xfrm>
            <a:off x="999795" y="2024245"/>
            <a:ext cx="10367347" cy="3634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3947852-EA76-7040-10E2-47FFF433C603}"/>
              </a:ext>
            </a:extLst>
          </p:cNvPr>
          <p:cNvSpPr txBox="1"/>
          <p:nvPr/>
        </p:nvSpPr>
        <p:spPr>
          <a:xfrm>
            <a:off x="3664580" y="3657036"/>
            <a:ext cx="10438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4">
                    <a:lumMod val="75000"/>
                  </a:schemeClr>
                </a:solidFill>
              </a:rPr>
              <a:t>= homology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175B40-4064-5C80-882C-4F720491B5FC}"/>
              </a:ext>
            </a:extLst>
          </p:cNvPr>
          <p:cNvSpPr txBox="1"/>
          <p:nvPr/>
        </p:nvSpPr>
        <p:spPr>
          <a:xfrm>
            <a:off x="3796039" y="2024245"/>
            <a:ext cx="19577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5"/>
                </a:solidFill>
              </a:rPr>
              <a:t>= sequence composition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D29EC7-F612-C34F-6AF4-2E6BB3CE53D8}"/>
              </a:ext>
            </a:extLst>
          </p:cNvPr>
          <p:cNvSpPr/>
          <p:nvPr/>
        </p:nvSpPr>
        <p:spPr>
          <a:xfrm>
            <a:off x="5046650" y="5346797"/>
            <a:ext cx="6463622" cy="8725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EF7310-341A-6AEA-65CF-1C440F29F5DF}"/>
              </a:ext>
            </a:extLst>
          </p:cNvPr>
          <p:cNvSpPr/>
          <p:nvPr/>
        </p:nvSpPr>
        <p:spPr>
          <a:xfrm>
            <a:off x="773633" y="1685751"/>
            <a:ext cx="601457" cy="8725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F61146B-AD47-BF2B-AEBE-9552C00BA966}"/>
              </a:ext>
            </a:extLst>
          </p:cNvPr>
          <p:cNvSpPr txBox="1"/>
          <p:nvPr/>
        </p:nvSpPr>
        <p:spPr>
          <a:xfrm>
            <a:off x="1430930" y="1419975"/>
            <a:ext cx="9185882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buNone/>
            </a:pPr>
            <a:r>
              <a:rPr lang="en-US" b="1" i="0" dirty="0">
                <a:solidFill>
                  <a:srgbClr val="222222"/>
                </a:solidFill>
                <a:effectLst/>
                <a:latin typeface="Harding"/>
              </a:rPr>
              <a:t>Identification of mobile genetic elements with </a:t>
            </a:r>
            <a:r>
              <a:rPr lang="en-US" b="1" i="0" dirty="0" err="1">
                <a:solidFill>
                  <a:srgbClr val="222222"/>
                </a:solidFill>
                <a:effectLst/>
                <a:latin typeface="Harding"/>
              </a:rPr>
              <a:t>geNomad</a:t>
            </a:r>
            <a:r>
              <a:rPr lang="en-US" b="1" i="0" dirty="0">
                <a:solidFill>
                  <a:srgbClr val="222222"/>
                </a:solidFill>
                <a:effectLst/>
                <a:latin typeface="Harding"/>
              </a:rPr>
              <a:t>. </a:t>
            </a:r>
            <a:r>
              <a:rPr lang="en-US" sz="1400" i="0" dirty="0">
                <a:solidFill>
                  <a:srgbClr val="222222"/>
                </a:solidFill>
                <a:effectLst/>
                <a:latin typeface="Harding"/>
              </a:rPr>
              <a:t>Camargo et. al. (2024). Nature Biotechnology</a:t>
            </a:r>
            <a:endParaRPr lang="en-US" i="0" dirty="0">
              <a:solidFill>
                <a:srgbClr val="222222"/>
              </a:solidFill>
              <a:effectLst/>
              <a:latin typeface="Harding"/>
            </a:endParaRPr>
          </a:p>
        </p:txBody>
      </p:sp>
    </p:spTree>
    <p:extLst>
      <p:ext uri="{BB962C8B-B14F-4D97-AF65-F5344CB8AC3E}">
        <p14:creationId xmlns:p14="http://schemas.microsoft.com/office/powerpoint/2010/main" val="6905076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72334" y="1351518"/>
            <a:ext cx="6093933" cy="41549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>
          <a:extLst>
            <a:ext uri="{FF2B5EF4-FFF2-40B4-BE49-F238E27FC236}">
              <a16:creationId xmlns:a16="http://schemas.microsoft.com/office/drawing/2014/main" id="{ED95D418-59C4-83BB-A398-FE19D6F37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>
            <a:extLst>
              <a:ext uri="{FF2B5EF4-FFF2-40B4-BE49-F238E27FC236}">
                <a16:creationId xmlns:a16="http://schemas.microsoft.com/office/drawing/2014/main" id="{1A997391-C21B-66F6-35ED-CE8E9FD36F4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363200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r>
              <a:rPr lang="en" dirty="0"/>
              <a:t>Limitations in viral inference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4B8550-AC21-D383-F2A7-5A111892FE1D}"/>
              </a:ext>
            </a:extLst>
          </p:cNvPr>
          <p:cNvSpPr txBox="1"/>
          <p:nvPr/>
        </p:nvSpPr>
        <p:spPr>
          <a:xfrm>
            <a:off x="807575" y="3324701"/>
            <a:ext cx="6151637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</a:rPr>
              <a:t>Precision</a:t>
            </a:r>
            <a:r>
              <a:rPr lang="en-US" b="1" dirty="0">
                <a:solidFill>
                  <a:srgbClr val="000000"/>
                </a:solidFill>
              </a:rPr>
              <a:t>:</a:t>
            </a:r>
            <a:r>
              <a:rPr lang="en-US" dirty="0"/>
              <a:t> the portion of all predicted phage sequences that are indeed phage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endParaRPr lang="en-US" b="1" dirty="0">
              <a:solidFill>
                <a:srgbClr val="000000"/>
              </a:solidFill>
            </a:endParaRP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b="1" dirty="0">
                <a:solidFill>
                  <a:srgbClr val="000000"/>
                </a:solidFill>
              </a:rPr>
              <a:t>Sensitivity (recall)</a:t>
            </a:r>
            <a:r>
              <a:rPr lang="en-US" dirty="0">
                <a:solidFill>
                  <a:srgbClr val="000000"/>
                </a:solidFill>
              </a:rPr>
              <a:t>:</a:t>
            </a:r>
            <a:r>
              <a:rPr lang="en-US" b="1" dirty="0">
                <a:solidFill>
                  <a:srgbClr val="000000"/>
                </a:solidFill>
              </a:rPr>
              <a:t> </a:t>
            </a:r>
            <a:r>
              <a:rPr lang="en-US" dirty="0">
                <a:solidFill>
                  <a:srgbClr val="000000"/>
                </a:solidFill>
              </a:rPr>
              <a:t>the proportion of all true phage sequences that were correctly identified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AFA41B-BAC6-4FCC-962D-34E5C3804A6B}"/>
              </a:ext>
            </a:extLst>
          </p:cNvPr>
          <p:cNvSpPr txBox="1"/>
          <p:nvPr/>
        </p:nvSpPr>
        <p:spPr>
          <a:xfrm>
            <a:off x="779362" y="1402678"/>
            <a:ext cx="10997038" cy="33855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i="1" dirty="0"/>
              <a:t>Homology-based methods find known viruses well. Composition-based methods find unknown ones — but with more uncertainty.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90EDF9-6476-3FF2-9694-D29512598672}"/>
              </a:ext>
            </a:extLst>
          </p:cNvPr>
          <p:cNvSpPr txBox="1"/>
          <p:nvPr/>
        </p:nvSpPr>
        <p:spPr>
          <a:xfrm>
            <a:off x="1012209" y="1989369"/>
            <a:ext cx="1796517" cy="923330"/>
          </a:xfrm>
          <a:prstGeom prst="rect">
            <a:avLst/>
          </a:prstGeom>
          <a:noFill/>
          <a:ln w="28575">
            <a:solidFill>
              <a:schemeClr val="accent4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Homology-based</a:t>
            </a:r>
          </a:p>
          <a:p>
            <a:pPr algn="ctr"/>
            <a:r>
              <a:rPr lang="en-US" dirty="0"/>
              <a:t>High precision</a:t>
            </a:r>
          </a:p>
          <a:p>
            <a:pPr algn="ctr"/>
            <a:r>
              <a:rPr lang="en-US" dirty="0"/>
              <a:t>Low sensitivity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7D58D0-36AE-B2C4-702E-F95CCCD23E0E}"/>
              </a:ext>
            </a:extLst>
          </p:cNvPr>
          <p:cNvSpPr txBox="1"/>
          <p:nvPr/>
        </p:nvSpPr>
        <p:spPr>
          <a:xfrm>
            <a:off x="3187550" y="1989369"/>
            <a:ext cx="2085827" cy="923330"/>
          </a:xfrm>
          <a:prstGeom prst="rect">
            <a:avLst/>
          </a:prstGeom>
          <a:noFill/>
          <a:ln w="28575">
            <a:solidFill>
              <a:schemeClr val="accent5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Composition-based</a:t>
            </a:r>
            <a:r>
              <a:rPr lang="en-US" dirty="0"/>
              <a:t> </a:t>
            </a:r>
          </a:p>
          <a:p>
            <a:pPr algn="ctr"/>
            <a:r>
              <a:rPr lang="en-US" dirty="0"/>
              <a:t>High sensitivity</a:t>
            </a:r>
          </a:p>
          <a:p>
            <a:pPr algn="ctr"/>
            <a:r>
              <a:rPr lang="en-US" dirty="0"/>
              <a:t>Lower precision</a:t>
            </a:r>
          </a:p>
        </p:txBody>
      </p:sp>
      <p:pic>
        <p:nvPicPr>
          <p:cNvPr id="1026" name="Picture 2" descr="FIGURE 10">
            <a:extLst>
              <a:ext uri="{FF2B5EF4-FFF2-40B4-BE49-F238E27FC236}">
                <a16:creationId xmlns:a16="http://schemas.microsoft.com/office/drawing/2014/main" id="{1B5A8129-B54B-296B-23FA-6E88D191C8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1090" y="3118700"/>
            <a:ext cx="4042629" cy="3305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CA3CB4D-71F6-C4F4-E3BB-6919A4F6D3D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0986" r="32801" b="65440"/>
          <a:stretch>
            <a:fillRect/>
          </a:stretch>
        </p:blipFill>
        <p:spPr>
          <a:xfrm>
            <a:off x="2639595" y="3929874"/>
            <a:ext cx="2192311" cy="6491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2C3285-C30B-9B9D-E892-BC796D2D1B3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321" t="56352" r="19790" b="11351"/>
          <a:stretch>
            <a:fillRect/>
          </a:stretch>
        </p:blipFill>
        <p:spPr>
          <a:xfrm>
            <a:off x="2066125" y="5455322"/>
            <a:ext cx="3339252" cy="602334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6899D25C-60C5-425F-415A-5EF40588C07D}"/>
              </a:ext>
            </a:extLst>
          </p:cNvPr>
          <p:cNvSpPr/>
          <p:nvPr/>
        </p:nvSpPr>
        <p:spPr>
          <a:xfrm>
            <a:off x="4244913" y="4143693"/>
            <a:ext cx="383908" cy="328068"/>
          </a:xfrm>
          <a:prstGeom prst="ellipse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1501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>
          <a:extLst>
            <a:ext uri="{FF2B5EF4-FFF2-40B4-BE49-F238E27FC236}">
              <a16:creationId xmlns:a16="http://schemas.microsoft.com/office/drawing/2014/main" id="{39B70B15-A778-9BFA-8F62-46C643979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>
            <a:extLst>
              <a:ext uri="{FF2B5EF4-FFF2-40B4-BE49-F238E27FC236}">
                <a16:creationId xmlns:a16="http://schemas.microsoft.com/office/drawing/2014/main" id="{393301C5-5CCC-C19B-F7B1-0A9E31BE791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363200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r>
              <a:rPr lang="en" dirty="0"/>
              <a:t>False positives in viral inference</a:t>
            </a:r>
            <a:endParaRPr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2ADC802-17DA-1663-29BD-9FB6301DF1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0998419"/>
              </p:ext>
            </p:extLst>
          </p:nvPr>
        </p:nvGraphicFramePr>
        <p:xfrm>
          <a:off x="4008507" y="3364128"/>
          <a:ext cx="5943600" cy="207645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409700">
                  <a:extLst>
                    <a:ext uri="{9D8B030D-6E8A-4147-A177-3AD203B41FA5}">
                      <a16:colId xmlns:a16="http://schemas.microsoft.com/office/drawing/2014/main" val="3379897137"/>
                    </a:ext>
                  </a:extLst>
                </a:gridCol>
                <a:gridCol w="1533525">
                  <a:extLst>
                    <a:ext uri="{9D8B030D-6E8A-4147-A177-3AD203B41FA5}">
                      <a16:colId xmlns:a16="http://schemas.microsoft.com/office/drawing/2014/main" val="4073943984"/>
                    </a:ext>
                  </a:extLst>
                </a:gridCol>
                <a:gridCol w="3000375">
                  <a:extLst>
                    <a:ext uri="{9D8B030D-6E8A-4147-A177-3AD203B41FA5}">
                      <a16:colId xmlns:a16="http://schemas.microsoft.com/office/drawing/2014/main" val="510567606"/>
                    </a:ext>
                  </a:extLst>
                </a:gridCol>
              </a:tblGrid>
              <a:tr h="31750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1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Evidence</a:t>
                      </a:r>
                      <a:endParaRPr lang="en-US" dirty="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100" b="1" u="none" strike="noStrike">
                          <a:solidFill>
                            <a:srgbClr val="000000"/>
                          </a:solidFill>
                          <a:effectLst/>
                        </a:rPr>
                        <a:t>Tool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1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What it tells you</a:t>
                      </a:r>
                      <a:endParaRPr lang="en-US" dirty="0">
                        <a:effectLst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293065523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Viral score</a:t>
                      </a:r>
                      <a:endParaRPr lang="en-US" dirty="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1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geNomad</a:t>
                      </a: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endParaRPr lang="en-US" dirty="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How confidently the model calls it viral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891309206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Completeness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1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CheckV</a:t>
                      </a:r>
                      <a:endParaRPr lang="en-US" dirty="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How much of the viral genome is present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3505860266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Contig length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1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geNomad</a:t>
                      </a:r>
                      <a:endParaRPr lang="en-US" dirty="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Short contigs = unreliable predictions</a:t>
                      </a:r>
                      <a:endParaRPr lang="en-US" dirty="0">
                        <a:effectLst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4233702785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Hallmark genes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1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geNomad</a:t>
                      </a:r>
                      <a:endParaRPr lang="en-US" dirty="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Presence of capsid, </a:t>
                      </a:r>
                      <a:r>
                        <a:rPr lang="en-US" sz="11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terminase</a:t>
                      </a: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etc.</a:t>
                      </a:r>
                      <a:endParaRPr lang="en-US" dirty="0">
                        <a:effectLst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746516916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No bacterial markers</a:t>
                      </a:r>
                      <a:endParaRPr lang="en-US" dirty="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CheckV contamination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Confirms it's not a misclassified bacterial contig</a:t>
                      </a:r>
                      <a:endParaRPr lang="en-US" dirty="0">
                        <a:effectLst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299085851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1E4242B-BBB2-5E84-B509-7A9E8B7AC350}"/>
              </a:ext>
            </a:extLst>
          </p:cNvPr>
          <p:cNvSpPr txBox="1"/>
          <p:nvPr/>
        </p:nvSpPr>
        <p:spPr>
          <a:xfrm>
            <a:off x="1034963" y="5965013"/>
            <a:ext cx="10664219" cy="5847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There is no perfect cutoff. You make a </a:t>
            </a:r>
            <a:r>
              <a:rPr kumimoji="0" lang="en-US" altLang="en-US" sz="1600" b="1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justified decision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based on </a:t>
            </a:r>
            <a:r>
              <a:rPr kumimoji="0" lang="en-US" altLang="en-US" sz="1600" b="1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multiple lines of evidence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 and you </a:t>
            </a:r>
            <a:r>
              <a:rPr kumimoji="0" lang="en-US" altLang="en-US" sz="1600" b="1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report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 your filtering criteria explicitly so others can evaluate your choices.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720654-821D-792C-B740-B44AC97183C5}"/>
              </a:ext>
            </a:extLst>
          </p:cNvPr>
          <p:cNvSpPr txBox="1"/>
          <p:nvPr/>
        </p:nvSpPr>
        <p:spPr>
          <a:xfrm>
            <a:off x="858559" y="1354150"/>
            <a:ext cx="901349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Consequences of false positives: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Inflate viral diversity estimates</a:t>
            </a:r>
            <a:r>
              <a:rPr lang="en-US" dirty="0"/>
              <a:t> — spurious contigs get annotated as novel viruses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Skew ecological conclusions</a:t>
            </a:r>
            <a:r>
              <a:rPr lang="en-US" dirty="0"/>
              <a:t> — virus-to-host ratios, abundance profiles become unreliable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Propagate into databases</a:t>
            </a:r>
            <a:r>
              <a:rPr lang="en-US" dirty="0"/>
              <a:t> — once deposited, false positives get picked up by future studies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7A525B5-C246-8400-ACBB-D4291023C959}"/>
              </a:ext>
            </a:extLst>
          </p:cNvPr>
          <p:cNvSpPr txBox="1"/>
          <p:nvPr/>
        </p:nvSpPr>
        <p:spPr>
          <a:xfrm>
            <a:off x="2488217" y="2635405"/>
            <a:ext cx="72155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solidFill>
                  <a:schemeClr val="accent6"/>
                </a:solidFill>
              </a:rPr>
              <a:t>A 3% false positive rate sounds small. Applied to 100,000 contigs, that's 3,000 spurious "viruses."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0162306-E926-2712-D675-D1D89045E385}"/>
              </a:ext>
            </a:extLst>
          </p:cNvPr>
          <p:cNvSpPr txBox="1"/>
          <p:nvPr/>
        </p:nvSpPr>
        <p:spPr>
          <a:xfrm>
            <a:off x="415600" y="4052392"/>
            <a:ext cx="3408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Solution</a:t>
            </a:r>
            <a:r>
              <a:rPr lang="en-US" dirty="0"/>
              <a:t> </a:t>
            </a:r>
            <a:r>
              <a:rPr lang="en-US" dirty="0">
                <a:solidFill>
                  <a:schemeClr val="accent1"/>
                </a:solidFill>
              </a:rPr>
              <a:t>= layers of information </a:t>
            </a:r>
            <a:r>
              <a:rPr lang="en-US" dirty="0">
                <a:solidFill>
                  <a:schemeClr val="accent1"/>
                </a:solidFill>
                <a:sym typeface="Wingdings" pitchFamily="2" charset="2"/>
              </a:rPr>
              <a:t>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2A3F7B-06E4-B19D-CCD3-CCA46EED675B}"/>
              </a:ext>
            </a:extLst>
          </p:cNvPr>
          <p:cNvSpPr txBox="1"/>
          <p:nvPr/>
        </p:nvSpPr>
        <p:spPr>
          <a:xfrm>
            <a:off x="10310132" y="3973452"/>
            <a:ext cx="138905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Bonus: do you see the problem here?</a:t>
            </a:r>
          </a:p>
        </p:txBody>
      </p:sp>
    </p:spTree>
    <p:extLst>
      <p:ext uri="{BB962C8B-B14F-4D97-AF65-F5344CB8AC3E}">
        <p14:creationId xmlns:p14="http://schemas.microsoft.com/office/powerpoint/2010/main" val="1394225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1" grpId="0"/>
      <p:bldP spid="1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>
          <a:extLst>
            <a:ext uri="{FF2B5EF4-FFF2-40B4-BE49-F238E27FC236}">
              <a16:creationId xmlns:a16="http://schemas.microsoft.com/office/drawing/2014/main" id="{2C2D241C-C700-D745-0F71-A1657B1D5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>
            <a:extLst>
              <a:ext uri="{FF2B5EF4-FFF2-40B4-BE49-F238E27FC236}">
                <a16:creationId xmlns:a16="http://schemas.microsoft.com/office/drawing/2014/main" id="{CD549ED6-AB15-79C9-BCA8-CAD730B66DD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363200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r>
              <a:rPr lang="en" dirty="0"/>
              <a:t>A note on benchmarking</a:t>
            </a:r>
            <a:endParaRPr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0D1780D-F666-1DA2-5DAF-1333007156EE}"/>
              </a:ext>
            </a:extLst>
          </p:cNvPr>
          <p:cNvGrpSpPr/>
          <p:nvPr/>
        </p:nvGrpSpPr>
        <p:grpSpPr>
          <a:xfrm>
            <a:off x="1193607" y="4935359"/>
            <a:ext cx="10255678" cy="1673671"/>
            <a:chOff x="1193607" y="4935359"/>
            <a:chExt cx="10255678" cy="1673671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BEE09B9-B81F-A3D7-B753-1D94A4BB2261}"/>
                </a:ext>
              </a:extLst>
            </p:cNvPr>
            <p:cNvSpPr txBox="1"/>
            <p:nvPr/>
          </p:nvSpPr>
          <p:spPr>
            <a:xfrm>
              <a:off x="2729242" y="5381642"/>
              <a:ext cx="2452851" cy="36933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US" dirty="0"/>
                <a:t>1. Look for a benchmark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3A86CB4-4B7A-E5C8-12D7-4CE542E50085}"/>
                </a:ext>
              </a:extLst>
            </p:cNvPr>
            <p:cNvSpPr txBox="1"/>
            <p:nvPr/>
          </p:nvSpPr>
          <p:spPr>
            <a:xfrm>
              <a:off x="1193607" y="4935359"/>
              <a:ext cx="2103461" cy="3693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US" b="1" dirty="0"/>
                <a:t>Designing a pipeline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34F323C-6BC5-AE35-6701-91AF85DAE04F}"/>
                </a:ext>
              </a:extLst>
            </p:cNvPr>
            <p:cNvSpPr txBox="1"/>
            <p:nvPr/>
          </p:nvSpPr>
          <p:spPr>
            <a:xfrm>
              <a:off x="4375396" y="5810670"/>
              <a:ext cx="4417107" cy="36933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US" dirty="0"/>
                <a:t>2. Read papers with similar system/questions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5D450FD-47FD-7B65-2738-DEFDFA4CDEB0}"/>
                </a:ext>
              </a:extLst>
            </p:cNvPr>
            <p:cNvSpPr txBox="1"/>
            <p:nvPr/>
          </p:nvSpPr>
          <p:spPr>
            <a:xfrm>
              <a:off x="7392149" y="6239698"/>
              <a:ext cx="4057136" cy="369332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US" dirty="0"/>
                <a:t>3. Do some testing and start conservative</a:t>
              </a: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2139AFF5-EF21-9025-FBE1-E75DF0459D26}"/>
              </a:ext>
            </a:extLst>
          </p:cNvPr>
          <p:cNvSpPr txBox="1"/>
          <p:nvPr/>
        </p:nvSpPr>
        <p:spPr>
          <a:xfrm>
            <a:off x="577607" y="1203751"/>
            <a:ext cx="8301147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/>
              <a:t>What is benchmarking </a:t>
            </a:r>
            <a:r>
              <a:rPr lang="en-US" dirty="0"/>
              <a:t>in bioinformatics?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/>
              <a:t>Testing and comparing tools performances on datasets where you know the true answer </a:t>
            </a:r>
            <a:r>
              <a:rPr lang="en-US" dirty="0"/>
              <a:t>(mock communities, simulated data)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Metrics: precision, recall, specificity, F1 score – compute time, installation complexity, </a:t>
            </a:r>
            <a:r>
              <a:rPr lang="en-US" dirty="0" err="1"/>
              <a:t>etc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u="sng" dirty="0"/>
              <a:t>Why it matters </a:t>
            </a:r>
            <a:r>
              <a:rPr lang="en-US" dirty="0"/>
              <a:t>for tool choice: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Tools don’t perform equally on all datasets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Performance varies by ecosystem (gut vs soil vs ocean), by virus type (phage vs eukaryotic virus), by contig length, by sequencing type and machine (</a:t>
            </a:r>
            <a:r>
              <a:rPr lang="en-US" dirty="0" err="1"/>
              <a:t>illumina</a:t>
            </a:r>
            <a:r>
              <a:rPr lang="en-US" dirty="0"/>
              <a:t>, </a:t>
            </a:r>
            <a:r>
              <a:rPr lang="en-US" dirty="0" err="1"/>
              <a:t>pacbio</a:t>
            </a:r>
            <a:r>
              <a:rPr lang="en-US" dirty="0"/>
              <a:t>, nanopore)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Tools have parameters that also determine their performance</a:t>
            </a:r>
            <a:br>
              <a:rPr lang="en-US" dirty="0"/>
            </a:b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52479A2-0CDD-6C65-F4B5-76F98D445DA8}"/>
              </a:ext>
            </a:extLst>
          </p:cNvPr>
          <p:cNvSpPr txBox="1"/>
          <p:nvPr/>
        </p:nvSpPr>
        <p:spPr>
          <a:xfrm>
            <a:off x="9127905" y="5439350"/>
            <a:ext cx="292259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chemeClr val="bg1">
                    <a:lumMod val="50000"/>
                  </a:schemeClr>
                </a:solidFill>
              </a:rPr>
              <a:t>Schackart III et. al. (2023) </a:t>
            </a:r>
            <a:r>
              <a:rPr lang="en-US" sz="1050" dirty="0" err="1">
                <a:solidFill>
                  <a:schemeClr val="bg1">
                    <a:lumMod val="50000"/>
                  </a:schemeClr>
                </a:solidFill>
              </a:rPr>
              <a:t>Fontiers</a:t>
            </a:r>
            <a:r>
              <a:rPr lang="en-US" sz="1050" dirty="0">
                <a:solidFill>
                  <a:schemeClr val="bg1">
                    <a:lumMod val="50000"/>
                  </a:schemeClr>
                </a:solidFill>
              </a:rPr>
              <a:t> in Microbiology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2348F86-B2B0-0C8E-1699-1DF5A1B45D4C}"/>
              </a:ext>
            </a:extLst>
          </p:cNvPr>
          <p:cNvGrpSpPr/>
          <p:nvPr/>
        </p:nvGrpSpPr>
        <p:grpSpPr>
          <a:xfrm>
            <a:off x="8792503" y="251285"/>
            <a:ext cx="2656782" cy="2558894"/>
            <a:chOff x="8792503" y="251285"/>
            <a:chExt cx="2656782" cy="2558894"/>
          </a:xfrm>
        </p:grpSpPr>
        <p:pic>
          <p:nvPicPr>
            <p:cNvPr id="14" name="Picture 4">
              <a:extLst>
                <a:ext uri="{FF2B5EF4-FFF2-40B4-BE49-F238E27FC236}">
                  <a16:creationId xmlns:a16="http://schemas.microsoft.com/office/drawing/2014/main" id="{D2ECC90D-AEAE-9648-5AFC-9B2642077DC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6512"/>
            <a:stretch>
              <a:fillRect/>
            </a:stretch>
          </p:blipFill>
          <p:spPr bwMode="auto">
            <a:xfrm>
              <a:off x="8910243" y="342777"/>
              <a:ext cx="2539042" cy="24674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6400ED6-71BD-AC68-9D5F-5D5949BB143E}"/>
                </a:ext>
              </a:extLst>
            </p:cNvPr>
            <p:cNvSpPr/>
            <p:nvPr/>
          </p:nvSpPr>
          <p:spPr>
            <a:xfrm>
              <a:off x="8792503" y="251285"/>
              <a:ext cx="239815" cy="21638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88FE86C-F0D3-BB46-A7BD-7DED34CB596A}"/>
              </a:ext>
            </a:extLst>
          </p:cNvPr>
          <p:cNvGrpSpPr/>
          <p:nvPr/>
        </p:nvGrpSpPr>
        <p:grpSpPr>
          <a:xfrm>
            <a:off x="9121514" y="2834025"/>
            <a:ext cx="2327771" cy="2552482"/>
            <a:chOff x="9121514" y="2834025"/>
            <a:chExt cx="2327771" cy="2552482"/>
          </a:xfrm>
        </p:grpSpPr>
        <p:pic>
          <p:nvPicPr>
            <p:cNvPr id="15" name="Picture 4">
              <a:extLst>
                <a:ext uri="{FF2B5EF4-FFF2-40B4-BE49-F238E27FC236}">
                  <a16:creationId xmlns:a16="http://schemas.microsoft.com/office/drawing/2014/main" id="{FC9C2718-0BB8-6DA1-DC92-85BE9ED04F5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3488"/>
            <a:stretch>
              <a:fillRect/>
            </a:stretch>
          </p:blipFill>
          <p:spPr bwMode="auto">
            <a:xfrm>
              <a:off x="9241422" y="2919106"/>
              <a:ext cx="2207863" cy="24674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826A6874-8859-69C4-FC12-ED90E9D5C6A5}"/>
                </a:ext>
              </a:extLst>
            </p:cNvPr>
            <p:cNvSpPr/>
            <p:nvPr/>
          </p:nvSpPr>
          <p:spPr>
            <a:xfrm>
              <a:off x="9121514" y="2834025"/>
              <a:ext cx="239815" cy="21638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343214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96800" y="1154668"/>
            <a:ext cx="4643965" cy="4315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>
          <a:extLst>
            <a:ext uri="{FF2B5EF4-FFF2-40B4-BE49-F238E27FC236}">
              <a16:creationId xmlns:a16="http://schemas.microsoft.com/office/drawing/2014/main" id="{AB2F7D28-FDC4-7B85-E8C9-3A42895F9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>
            <a:extLst>
              <a:ext uri="{FF2B5EF4-FFF2-40B4-BE49-F238E27FC236}">
                <a16:creationId xmlns:a16="http://schemas.microsoft.com/office/drawing/2014/main" id="{3EA017D0-36A8-0DF7-832E-1FA18CCD04A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363200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r>
              <a:rPr lang="en" dirty="0"/>
              <a:t>Afternoon activity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A237B8-4EA3-4F9E-C46A-29F6440F1F4A}"/>
              </a:ext>
            </a:extLst>
          </p:cNvPr>
          <p:cNvSpPr txBox="1"/>
          <p:nvPr/>
        </p:nvSpPr>
        <p:spPr>
          <a:xfrm>
            <a:off x="1174288" y="2183209"/>
            <a:ext cx="1788951" cy="369332"/>
          </a:xfrm>
          <a:prstGeom prst="rect">
            <a:avLst/>
          </a:prstGeom>
          <a:noFill/>
          <a:ln w="19050"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geNomad</a:t>
            </a:r>
            <a:r>
              <a:rPr lang="en-US" dirty="0"/>
              <a:t> output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7CB471-AC35-95B6-FCE6-745322C128DB}"/>
              </a:ext>
            </a:extLst>
          </p:cNvPr>
          <p:cNvSpPr txBox="1"/>
          <p:nvPr/>
        </p:nvSpPr>
        <p:spPr>
          <a:xfrm>
            <a:off x="1416021" y="2768646"/>
            <a:ext cx="1547218" cy="369332"/>
          </a:xfrm>
          <a:prstGeom prst="rect">
            <a:avLst/>
          </a:prstGeom>
          <a:noFill/>
          <a:ln w="19050"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checkV</a:t>
            </a:r>
            <a:r>
              <a:rPr lang="en-US" dirty="0"/>
              <a:t> output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137505-F0D9-2526-FB85-B717DB4B2B22}"/>
              </a:ext>
            </a:extLst>
          </p:cNvPr>
          <p:cNvSpPr txBox="1"/>
          <p:nvPr/>
        </p:nvSpPr>
        <p:spPr>
          <a:xfrm>
            <a:off x="641065" y="3262699"/>
            <a:ext cx="2322174" cy="369332"/>
          </a:xfrm>
          <a:prstGeom prst="rect">
            <a:avLst/>
          </a:prstGeom>
          <a:noFill/>
          <a:ln w="19050"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Viral genome coverage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F12A5DA-C1B6-C952-D0E0-2ABD97427476}"/>
              </a:ext>
            </a:extLst>
          </p:cNvPr>
          <p:cNvCxnSpPr/>
          <p:nvPr/>
        </p:nvCxnSpPr>
        <p:spPr>
          <a:xfrm>
            <a:off x="3325729" y="2816211"/>
            <a:ext cx="113621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0650D93-BAE5-439B-F930-3FFD93FE224B}"/>
              </a:ext>
            </a:extLst>
          </p:cNvPr>
          <p:cNvSpPr txBox="1"/>
          <p:nvPr/>
        </p:nvSpPr>
        <p:spPr>
          <a:xfrm>
            <a:off x="4663201" y="2592816"/>
            <a:ext cx="1930785" cy="369332"/>
          </a:xfrm>
          <a:prstGeom prst="rect">
            <a:avLst/>
          </a:prstGeom>
          <a:noFill/>
          <a:ln w="19050">
            <a:solidFill>
              <a:schemeClr val="accent4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R: merge and filter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2EFECFA-1507-6F0C-A8F1-20E1881E3BD8}"/>
              </a:ext>
            </a:extLst>
          </p:cNvPr>
          <p:cNvCxnSpPr>
            <a:cxnSpLocks/>
          </p:cNvCxnSpPr>
          <p:nvPr/>
        </p:nvCxnSpPr>
        <p:spPr>
          <a:xfrm>
            <a:off x="5628593" y="3087575"/>
            <a:ext cx="0" cy="5651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A17E75E8-4389-A5D1-DD68-0079EADF6773}"/>
              </a:ext>
            </a:extLst>
          </p:cNvPr>
          <p:cNvSpPr txBox="1"/>
          <p:nvPr/>
        </p:nvSpPr>
        <p:spPr>
          <a:xfrm>
            <a:off x="4006516" y="3852738"/>
            <a:ext cx="3254802" cy="369332"/>
          </a:xfrm>
          <a:prstGeom prst="rect">
            <a:avLst/>
          </a:prstGeom>
          <a:noFill/>
          <a:ln w="19050">
            <a:solidFill>
              <a:srgbClr val="7030A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List of high-quality viral genomes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288E46-2896-B25C-69D6-B0787F5E91A0}"/>
              </a:ext>
            </a:extLst>
          </p:cNvPr>
          <p:cNvSpPr txBox="1"/>
          <p:nvPr/>
        </p:nvSpPr>
        <p:spPr>
          <a:xfrm>
            <a:off x="8184279" y="2996230"/>
            <a:ext cx="2930226" cy="369332"/>
          </a:xfrm>
          <a:prstGeom prst="rect">
            <a:avLst/>
          </a:prstGeom>
          <a:noFill/>
          <a:ln w="19050"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Fasta</a:t>
            </a:r>
            <a:r>
              <a:rPr lang="en-US" dirty="0"/>
              <a:t> sequences of all viruses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1A962F3-8A36-A048-820A-4ADBBF9D2311}"/>
              </a:ext>
            </a:extLst>
          </p:cNvPr>
          <p:cNvCxnSpPr>
            <a:cxnSpLocks/>
          </p:cNvCxnSpPr>
          <p:nvPr/>
        </p:nvCxnSpPr>
        <p:spPr>
          <a:xfrm>
            <a:off x="7435876" y="3990531"/>
            <a:ext cx="61386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F976FEA-DD66-5B2B-9F43-6198FB2C1DB8}"/>
              </a:ext>
            </a:extLst>
          </p:cNvPr>
          <p:cNvSpPr txBox="1"/>
          <p:nvPr/>
        </p:nvSpPr>
        <p:spPr>
          <a:xfrm>
            <a:off x="8319637" y="3814008"/>
            <a:ext cx="2659511" cy="369332"/>
          </a:xfrm>
          <a:prstGeom prst="rect">
            <a:avLst/>
          </a:prstGeom>
          <a:noFill/>
          <a:ln w="19050">
            <a:solidFill>
              <a:schemeClr val="accent4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Python: extract sequences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6B7346B-0D6D-E1E4-B6F8-FC8A6FE81D78}"/>
              </a:ext>
            </a:extLst>
          </p:cNvPr>
          <p:cNvCxnSpPr>
            <a:cxnSpLocks/>
          </p:cNvCxnSpPr>
          <p:nvPr/>
        </p:nvCxnSpPr>
        <p:spPr>
          <a:xfrm>
            <a:off x="9628256" y="3425416"/>
            <a:ext cx="0" cy="2573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AB45E3C-B961-EE11-999D-4C6247F0FCC7}"/>
              </a:ext>
            </a:extLst>
          </p:cNvPr>
          <p:cNvCxnSpPr>
            <a:cxnSpLocks/>
          </p:cNvCxnSpPr>
          <p:nvPr/>
        </p:nvCxnSpPr>
        <p:spPr>
          <a:xfrm>
            <a:off x="9656177" y="4222070"/>
            <a:ext cx="0" cy="5651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B4EE15C1-6261-1A0A-F991-DDBCAE779778}"/>
              </a:ext>
            </a:extLst>
          </p:cNvPr>
          <p:cNvSpPr txBox="1"/>
          <p:nvPr/>
        </p:nvSpPr>
        <p:spPr>
          <a:xfrm>
            <a:off x="7775717" y="4996470"/>
            <a:ext cx="3831113" cy="369332"/>
          </a:xfrm>
          <a:prstGeom prst="rect">
            <a:avLst/>
          </a:prstGeom>
          <a:noFill/>
          <a:ln w="19050">
            <a:solidFill>
              <a:srgbClr val="7030A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Fasta</a:t>
            </a:r>
            <a:r>
              <a:rPr lang="en-US" dirty="0"/>
              <a:t> sequences of high-quality viruses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34325D0-8A96-0EDF-8B95-A906E7C411DC}"/>
              </a:ext>
            </a:extLst>
          </p:cNvPr>
          <p:cNvSpPr txBox="1"/>
          <p:nvPr/>
        </p:nvSpPr>
        <p:spPr>
          <a:xfrm>
            <a:off x="585170" y="5202693"/>
            <a:ext cx="1016689" cy="369332"/>
          </a:xfrm>
          <a:prstGeom prst="rect">
            <a:avLst/>
          </a:prstGeom>
          <a:noFill/>
          <a:ln w="19050"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Provided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6ABB438-282F-5893-D1B3-D5CD5042329C}"/>
              </a:ext>
            </a:extLst>
          </p:cNvPr>
          <p:cNvSpPr txBox="1"/>
          <p:nvPr/>
        </p:nvSpPr>
        <p:spPr>
          <a:xfrm>
            <a:off x="585170" y="5704203"/>
            <a:ext cx="819840" cy="369332"/>
          </a:xfrm>
          <a:prstGeom prst="rect">
            <a:avLst/>
          </a:prstGeom>
          <a:noFill/>
          <a:ln w="19050">
            <a:solidFill>
              <a:schemeClr val="accent4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You do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69D54D8-FEB0-127F-7842-1D8746DEF4E8}"/>
              </a:ext>
            </a:extLst>
          </p:cNvPr>
          <p:cNvSpPr txBox="1"/>
          <p:nvPr/>
        </p:nvSpPr>
        <p:spPr>
          <a:xfrm>
            <a:off x="585170" y="6190800"/>
            <a:ext cx="819840" cy="369332"/>
          </a:xfrm>
          <a:prstGeom prst="rect">
            <a:avLst/>
          </a:prstGeom>
          <a:noFill/>
          <a:ln w="19050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Result</a:t>
            </a:r>
          </a:p>
        </p:txBody>
      </p:sp>
      <p:sp>
        <p:nvSpPr>
          <p:cNvPr id="5" name="5-Point Star 4">
            <a:extLst>
              <a:ext uri="{FF2B5EF4-FFF2-40B4-BE49-F238E27FC236}">
                <a16:creationId xmlns:a16="http://schemas.microsoft.com/office/drawing/2014/main" id="{349DE275-DD5F-C4F0-72B8-85259E0081F9}"/>
              </a:ext>
            </a:extLst>
          </p:cNvPr>
          <p:cNvSpPr/>
          <p:nvPr/>
        </p:nvSpPr>
        <p:spPr>
          <a:xfrm>
            <a:off x="3268132" y="372533"/>
            <a:ext cx="5644295" cy="5681134"/>
          </a:xfrm>
          <a:prstGeom prst="star5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5796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p38"/>
          <p:cNvPicPr preferRelativeResize="0"/>
          <p:nvPr/>
        </p:nvPicPr>
        <p:blipFill rotWithShape="1">
          <a:blip r:embed="rId3">
            <a:alphaModFix/>
          </a:blip>
          <a:srcRect b="10217"/>
          <a:stretch/>
        </p:blipFill>
        <p:spPr>
          <a:xfrm>
            <a:off x="1222984" y="624434"/>
            <a:ext cx="9746032" cy="541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>
          <a:extLst>
            <a:ext uri="{FF2B5EF4-FFF2-40B4-BE49-F238E27FC236}">
              <a16:creationId xmlns:a16="http://schemas.microsoft.com/office/drawing/2014/main" id="{DFC2EF76-36BD-5415-7E26-15CDE06FC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>
            <a:extLst>
              <a:ext uri="{FF2B5EF4-FFF2-40B4-BE49-F238E27FC236}">
                <a16:creationId xmlns:a16="http://schemas.microsoft.com/office/drawing/2014/main" id="{944A06CC-4381-C95A-5062-572661130FB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363200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r>
              <a:rPr lang="en" dirty="0"/>
              <a:t>Regroup: R filtering</a:t>
            </a:r>
            <a:endParaRPr dirty="0"/>
          </a:p>
        </p:txBody>
      </p:sp>
      <p:sp>
        <p:nvSpPr>
          <p:cNvPr id="2" name="5-Point Star 1">
            <a:extLst>
              <a:ext uri="{FF2B5EF4-FFF2-40B4-BE49-F238E27FC236}">
                <a16:creationId xmlns:a16="http://schemas.microsoft.com/office/drawing/2014/main" id="{8264F93E-E53C-D0E0-B43E-52FB02A70BE0}"/>
              </a:ext>
            </a:extLst>
          </p:cNvPr>
          <p:cNvSpPr/>
          <p:nvPr/>
        </p:nvSpPr>
        <p:spPr>
          <a:xfrm>
            <a:off x="3268132" y="372533"/>
            <a:ext cx="5644295" cy="5681134"/>
          </a:xfrm>
          <a:prstGeom prst="star5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4312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>
          <a:extLst>
            <a:ext uri="{FF2B5EF4-FFF2-40B4-BE49-F238E27FC236}">
              <a16:creationId xmlns:a16="http://schemas.microsoft.com/office/drawing/2014/main" id="{B85F58C0-98AD-6E9B-AA68-90B3424A6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p38">
            <a:extLst>
              <a:ext uri="{FF2B5EF4-FFF2-40B4-BE49-F238E27FC236}">
                <a16:creationId xmlns:a16="http://schemas.microsoft.com/office/drawing/2014/main" id="{06A01004-AC69-3E65-2BF5-0EA503C19D1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b="10217"/>
          <a:stretch/>
        </p:blipFill>
        <p:spPr>
          <a:xfrm>
            <a:off x="1222984" y="624434"/>
            <a:ext cx="9746032" cy="54143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865229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>
          <a:extLst>
            <a:ext uri="{FF2B5EF4-FFF2-40B4-BE49-F238E27FC236}">
              <a16:creationId xmlns:a16="http://schemas.microsoft.com/office/drawing/2014/main" id="{E44BC8DB-4F1A-2DA6-AA40-F16B58CAA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>
            <a:extLst>
              <a:ext uri="{FF2B5EF4-FFF2-40B4-BE49-F238E27FC236}">
                <a16:creationId xmlns:a16="http://schemas.microsoft.com/office/drawing/2014/main" id="{DA82321C-E914-B529-869A-0D4F464BFE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363200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r>
              <a:rPr lang="en" dirty="0"/>
              <a:t>Regroup: Python sequence extraction</a:t>
            </a:r>
            <a:endParaRPr dirty="0"/>
          </a:p>
        </p:txBody>
      </p:sp>
      <p:sp>
        <p:nvSpPr>
          <p:cNvPr id="2" name="5-Point Star 1">
            <a:extLst>
              <a:ext uri="{FF2B5EF4-FFF2-40B4-BE49-F238E27FC236}">
                <a16:creationId xmlns:a16="http://schemas.microsoft.com/office/drawing/2014/main" id="{1A24C118-0723-08B9-53AC-005E5A1D733A}"/>
              </a:ext>
            </a:extLst>
          </p:cNvPr>
          <p:cNvSpPr/>
          <p:nvPr/>
        </p:nvSpPr>
        <p:spPr>
          <a:xfrm>
            <a:off x="3268132" y="372533"/>
            <a:ext cx="5644295" cy="5681134"/>
          </a:xfrm>
          <a:prstGeom prst="star5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1237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9"/>
          <p:cNvSpPr txBox="1">
            <a:spLocks noGrp="1"/>
          </p:cNvSpPr>
          <p:nvPr>
            <p:ph type="ctrTitle" idx="4294967295"/>
          </p:nvPr>
        </p:nvSpPr>
        <p:spPr>
          <a:xfrm>
            <a:off x="1428800" y="2407300"/>
            <a:ext cx="5831600" cy="2736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>
              <a:spcBef>
                <a:spcPts val="0"/>
              </a:spcBef>
            </a:pPr>
            <a:r>
              <a:rPr lang="en" sz="6667" b="1" dirty="0"/>
              <a:t>End</a:t>
            </a:r>
            <a:r>
              <a:rPr lang="en" sz="6667" dirty="0"/>
              <a:t> of day 4</a:t>
            </a:r>
            <a:endParaRPr sz="6667" i="1" dirty="0"/>
          </a:p>
        </p:txBody>
      </p:sp>
      <p:pic>
        <p:nvPicPr>
          <p:cNvPr id="3074" name="Picture 2" descr="OC] Phages be like : r/comics">
            <a:extLst>
              <a:ext uri="{FF2B5EF4-FFF2-40B4-BE49-F238E27FC236}">
                <a16:creationId xmlns:a16="http://schemas.microsoft.com/office/drawing/2014/main" id="{33689F46-3849-5361-E538-7F9627AA91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53769" y="357808"/>
            <a:ext cx="2347291" cy="23472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I FUCKING LOVE BACTERIOPHAGES : r/evilautism">
            <a:extLst>
              <a:ext uri="{FF2B5EF4-FFF2-40B4-BE49-F238E27FC236}">
                <a16:creationId xmlns:a16="http://schemas.microsoft.com/office/drawing/2014/main" id="{6BF461EE-DD2B-0F59-8AB7-4DE545AB7A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9709" y="2831741"/>
            <a:ext cx="4318000" cy="32708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438</TotalTime>
  <Words>1039</Words>
  <Application>Microsoft Macintosh PowerPoint</Application>
  <PresentationFormat>Widescreen</PresentationFormat>
  <Paragraphs>176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Calibri</vt:lpstr>
      <vt:lpstr>Calibri Light</vt:lpstr>
      <vt:lpstr>Harding</vt:lpstr>
      <vt:lpstr>Menlo</vt:lpstr>
      <vt:lpstr>Wingdings</vt:lpstr>
      <vt:lpstr>Office Theme</vt:lpstr>
      <vt:lpstr>Day 4: Metagenomics 2 Viruses &amp; Plasmids</vt:lpstr>
      <vt:lpstr>Metagenomics: the microbiome</vt:lpstr>
      <vt:lpstr>Viruses</vt:lpstr>
      <vt:lpstr>Plasmids</vt:lpstr>
      <vt:lpstr>Metagenomics pipeline: functional annotation</vt:lpstr>
      <vt:lpstr>Why does this not work for viruses/plasmids?</vt:lpstr>
      <vt:lpstr>Two approaches for the study of viruses</vt:lpstr>
      <vt:lpstr>Viral and plasmid inference from metagenomes</vt:lpstr>
      <vt:lpstr>Viral and plasmid inference from metagenomes</vt:lpstr>
      <vt:lpstr>PowerPoint Presentation</vt:lpstr>
      <vt:lpstr>Limitations in viral inference</vt:lpstr>
      <vt:lpstr>False positives in viral inference</vt:lpstr>
      <vt:lpstr>A note on benchmarking</vt:lpstr>
      <vt:lpstr>PowerPoint Presentation</vt:lpstr>
      <vt:lpstr>Afternoon activity</vt:lpstr>
      <vt:lpstr>PowerPoint Presentation</vt:lpstr>
      <vt:lpstr>Regroup: R filtering</vt:lpstr>
      <vt:lpstr>PowerPoint Presentation</vt:lpstr>
      <vt:lpstr>Regroup: Python sequence extraction</vt:lpstr>
      <vt:lpstr>End of day 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Maria Touceda Suarez</dc:creator>
  <cp:lastModifiedBy>Maria Touceda Suarez</cp:lastModifiedBy>
  <cp:revision>15</cp:revision>
  <dcterms:created xsi:type="dcterms:W3CDTF">2026-04-16T18:56:24Z</dcterms:created>
  <dcterms:modified xsi:type="dcterms:W3CDTF">2026-05-06T16:58:40Z</dcterms:modified>
</cp:coreProperties>
</file>