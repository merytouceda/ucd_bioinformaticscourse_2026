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313" r:id="rId4"/>
    <p:sldId id="322" r:id="rId5"/>
    <p:sldId id="312" r:id="rId6"/>
    <p:sldId id="314" r:id="rId7"/>
    <p:sldId id="272" r:id="rId8"/>
    <p:sldId id="282" r:id="rId9"/>
    <p:sldId id="315" r:id="rId10"/>
    <p:sldId id="316" r:id="rId11"/>
    <p:sldId id="260" r:id="rId12"/>
    <p:sldId id="303" r:id="rId13"/>
    <p:sldId id="305" r:id="rId14"/>
    <p:sldId id="309" r:id="rId15"/>
    <p:sldId id="317" r:id="rId16"/>
    <p:sldId id="311" r:id="rId17"/>
    <p:sldId id="323" r:id="rId18"/>
    <p:sldId id="310" r:id="rId19"/>
    <p:sldId id="318" r:id="rId20"/>
    <p:sldId id="319" r:id="rId21"/>
    <p:sldId id="320" r:id="rId22"/>
    <p:sldId id="321"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749"/>
    <p:restoredTop sz="94799"/>
  </p:normalViewPr>
  <p:slideViewPr>
    <p:cSldViewPr snapToGrid="0">
      <p:cViewPr varScale="1">
        <p:scale>
          <a:sx n="204" d="100"/>
          <a:sy n="204" d="100"/>
        </p:scale>
        <p:origin x="232"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26A113-54A1-1943-B75C-AF78DF521A95}" type="datetimeFigureOut">
              <a:rPr lang="en-US" smtClean="0"/>
              <a:t>5/5/26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ECDC5F-13D1-1842-B2D4-75E829F601D1}" type="slidenum">
              <a:rPr lang="en-US" smtClean="0"/>
              <a:t>‹#›</a:t>
            </a:fld>
            <a:endParaRPr lang="en-US"/>
          </a:p>
        </p:txBody>
      </p:sp>
    </p:spTree>
    <p:extLst>
      <p:ext uri="{BB962C8B-B14F-4D97-AF65-F5344CB8AC3E}">
        <p14:creationId xmlns:p14="http://schemas.microsoft.com/office/powerpoint/2010/main" val="1829525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DA2D3-1664-9901-1501-0AB5DD41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FDD826-CE25-BE2F-C97C-05CB40579B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2DAFD0-FAC3-0C7B-C434-72C01DD0EA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6B16F1-668C-1606-75D6-2FF207251C03}"/>
              </a:ext>
            </a:extLst>
          </p:cNvPr>
          <p:cNvSpPr>
            <a:spLocks noGrp="1"/>
          </p:cNvSpPr>
          <p:nvPr>
            <p:ph type="sldNum" sz="quarter" idx="5"/>
          </p:nvPr>
        </p:nvSpPr>
        <p:spPr/>
        <p:txBody>
          <a:bodyPr/>
          <a:lstStyle/>
          <a:p>
            <a:fld id="{13FC26C8-C37B-D543-9AB9-4FE91B5DFE38}" type="slidenum">
              <a:rPr lang="en-US" smtClean="0"/>
              <a:t>6</a:t>
            </a:fld>
            <a:endParaRPr lang="en-US"/>
          </a:p>
        </p:txBody>
      </p:sp>
    </p:spTree>
    <p:extLst>
      <p:ext uri="{BB962C8B-B14F-4D97-AF65-F5344CB8AC3E}">
        <p14:creationId xmlns:p14="http://schemas.microsoft.com/office/powerpoint/2010/main" val="27414968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635D4-F734-C573-2A24-CD94C09A33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EB2439-E69F-F5C4-9126-5E66298AF7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8540D-111F-DAA4-E2E6-7A34FFD2A0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5614E0-5C3B-5B0E-C407-AC2A8145148C}"/>
              </a:ext>
            </a:extLst>
          </p:cNvPr>
          <p:cNvSpPr>
            <a:spLocks noGrp="1"/>
          </p:cNvSpPr>
          <p:nvPr>
            <p:ph type="sldNum" sz="quarter" idx="5"/>
          </p:nvPr>
        </p:nvSpPr>
        <p:spPr/>
        <p:txBody>
          <a:bodyPr/>
          <a:lstStyle/>
          <a:p>
            <a:fld id="{13FC26C8-C37B-D543-9AB9-4FE91B5DFE38}" type="slidenum">
              <a:rPr lang="en-US" smtClean="0"/>
              <a:t>12</a:t>
            </a:fld>
            <a:endParaRPr lang="en-US"/>
          </a:p>
        </p:txBody>
      </p:sp>
    </p:spTree>
    <p:extLst>
      <p:ext uri="{BB962C8B-B14F-4D97-AF65-F5344CB8AC3E}">
        <p14:creationId xmlns:p14="http://schemas.microsoft.com/office/powerpoint/2010/main" val="27952247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FCC0C-E0D9-F3F0-5FAB-084E6BCE81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C3E39-CBCB-34D5-5F6B-BCAA79058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4E61E1-4FFC-B3AC-A1C3-A0B772F4EE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DA5970-D072-FD1F-21FF-0BD6BF068E3F}"/>
              </a:ext>
            </a:extLst>
          </p:cNvPr>
          <p:cNvSpPr>
            <a:spLocks noGrp="1"/>
          </p:cNvSpPr>
          <p:nvPr>
            <p:ph type="sldNum" sz="quarter" idx="5"/>
          </p:nvPr>
        </p:nvSpPr>
        <p:spPr/>
        <p:txBody>
          <a:bodyPr/>
          <a:lstStyle/>
          <a:p>
            <a:fld id="{13FC26C8-C37B-D543-9AB9-4FE91B5DFE38}" type="slidenum">
              <a:rPr lang="en-US" smtClean="0"/>
              <a:t>13</a:t>
            </a:fld>
            <a:endParaRPr lang="en-US"/>
          </a:p>
        </p:txBody>
      </p:sp>
    </p:spTree>
    <p:extLst>
      <p:ext uri="{BB962C8B-B14F-4D97-AF65-F5344CB8AC3E}">
        <p14:creationId xmlns:p14="http://schemas.microsoft.com/office/powerpoint/2010/main" val="4753968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24F4C-2561-D993-E2AF-6C2F448C37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158F02-F0A9-5C7F-59D3-45CF137DF2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A752F2-053D-BAF3-4747-65889D1D8A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6C9165-5886-2A22-7869-3C7F2BB53B87}"/>
              </a:ext>
            </a:extLst>
          </p:cNvPr>
          <p:cNvSpPr>
            <a:spLocks noGrp="1"/>
          </p:cNvSpPr>
          <p:nvPr>
            <p:ph type="sldNum" sz="quarter" idx="5"/>
          </p:nvPr>
        </p:nvSpPr>
        <p:spPr/>
        <p:txBody>
          <a:bodyPr/>
          <a:lstStyle/>
          <a:p>
            <a:fld id="{13FC26C8-C37B-D543-9AB9-4FE91B5DFE38}" type="slidenum">
              <a:rPr lang="en-US" smtClean="0"/>
              <a:t>14</a:t>
            </a:fld>
            <a:endParaRPr lang="en-US"/>
          </a:p>
        </p:txBody>
      </p:sp>
    </p:spTree>
    <p:extLst>
      <p:ext uri="{BB962C8B-B14F-4D97-AF65-F5344CB8AC3E}">
        <p14:creationId xmlns:p14="http://schemas.microsoft.com/office/powerpoint/2010/main" val="21299205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E6F8-DFDF-B2C9-CE49-B65DBE03BD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5697E2-AB19-6F1F-BCF4-484FDEDB65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0CE22-06BB-A063-47EB-6C69566A7A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BE5562B-0C9D-28BD-D173-969E68BBFA61}"/>
              </a:ext>
            </a:extLst>
          </p:cNvPr>
          <p:cNvSpPr>
            <a:spLocks noGrp="1"/>
          </p:cNvSpPr>
          <p:nvPr>
            <p:ph type="sldNum" sz="quarter" idx="5"/>
          </p:nvPr>
        </p:nvSpPr>
        <p:spPr/>
        <p:txBody>
          <a:bodyPr/>
          <a:lstStyle/>
          <a:p>
            <a:fld id="{13FC26C8-C37B-D543-9AB9-4FE91B5DFE38}" type="slidenum">
              <a:rPr lang="en-US" smtClean="0"/>
              <a:t>15</a:t>
            </a:fld>
            <a:endParaRPr lang="en-US"/>
          </a:p>
        </p:txBody>
      </p:sp>
    </p:spTree>
    <p:extLst>
      <p:ext uri="{BB962C8B-B14F-4D97-AF65-F5344CB8AC3E}">
        <p14:creationId xmlns:p14="http://schemas.microsoft.com/office/powerpoint/2010/main" val="5690147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FF838-C411-B787-BCE9-590DB6DC331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2ED5A64-0453-470B-8355-D766CD4787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D0419E3-2DDD-2267-7CDF-16081B40221E}"/>
              </a:ext>
            </a:extLst>
          </p:cNvPr>
          <p:cNvSpPr>
            <a:spLocks noGrp="1"/>
          </p:cNvSpPr>
          <p:nvPr>
            <p:ph type="dt" sz="half" idx="10"/>
          </p:nvPr>
        </p:nvSpPr>
        <p:spPr/>
        <p:txBody>
          <a:bodyPr/>
          <a:lstStyle/>
          <a:p>
            <a:fld id="{DA4D474C-4937-5C43-ADD8-F0AF7F9B6567}" type="datetimeFigureOut">
              <a:rPr lang="en-US" smtClean="0"/>
              <a:t>5/4/26</a:t>
            </a:fld>
            <a:endParaRPr lang="en-US"/>
          </a:p>
        </p:txBody>
      </p:sp>
      <p:sp>
        <p:nvSpPr>
          <p:cNvPr id="5" name="Footer Placeholder 4">
            <a:extLst>
              <a:ext uri="{FF2B5EF4-FFF2-40B4-BE49-F238E27FC236}">
                <a16:creationId xmlns:a16="http://schemas.microsoft.com/office/drawing/2014/main" id="{ECCAAE7F-5166-4204-FF08-084E126B34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083273-D166-C0B6-1560-6A0EBD9DC883}"/>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17079874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EA4E11-F4F0-4464-2D99-F19C648A23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865BAB-E9A7-0616-AE31-A16F2F9442C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E1E840-2A42-4DB5-1C8C-79CD9EA1B77E}"/>
              </a:ext>
            </a:extLst>
          </p:cNvPr>
          <p:cNvSpPr>
            <a:spLocks noGrp="1"/>
          </p:cNvSpPr>
          <p:nvPr>
            <p:ph type="dt" sz="half" idx="10"/>
          </p:nvPr>
        </p:nvSpPr>
        <p:spPr/>
        <p:txBody>
          <a:bodyPr/>
          <a:lstStyle/>
          <a:p>
            <a:fld id="{DA4D474C-4937-5C43-ADD8-F0AF7F9B6567}" type="datetimeFigureOut">
              <a:rPr lang="en-US" smtClean="0"/>
              <a:t>5/4/26</a:t>
            </a:fld>
            <a:endParaRPr lang="en-US"/>
          </a:p>
        </p:txBody>
      </p:sp>
      <p:sp>
        <p:nvSpPr>
          <p:cNvPr id="5" name="Footer Placeholder 4">
            <a:extLst>
              <a:ext uri="{FF2B5EF4-FFF2-40B4-BE49-F238E27FC236}">
                <a16:creationId xmlns:a16="http://schemas.microsoft.com/office/drawing/2014/main" id="{D256EA2D-3942-382B-5DCE-2C05348030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7A2162-65FF-04CD-894E-BF64FEF4C39B}"/>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30778916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AAF1F-B751-3DEC-57E1-FB5A3FBC0AA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442C73-9054-67D6-A5E1-B8903EC5E2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4F1E18C-F42A-25D1-0909-40F0694ECB65}"/>
              </a:ext>
            </a:extLst>
          </p:cNvPr>
          <p:cNvSpPr>
            <a:spLocks noGrp="1"/>
          </p:cNvSpPr>
          <p:nvPr>
            <p:ph type="dt" sz="half" idx="10"/>
          </p:nvPr>
        </p:nvSpPr>
        <p:spPr/>
        <p:txBody>
          <a:bodyPr/>
          <a:lstStyle/>
          <a:p>
            <a:fld id="{DA4D474C-4937-5C43-ADD8-F0AF7F9B6567}" type="datetimeFigureOut">
              <a:rPr lang="en-US" smtClean="0"/>
              <a:t>5/4/26</a:t>
            </a:fld>
            <a:endParaRPr lang="en-US"/>
          </a:p>
        </p:txBody>
      </p:sp>
      <p:sp>
        <p:nvSpPr>
          <p:cNvPr id="5" name="Footer Placeholder 4">
            <a:extLst>
              <a:ext uri="{FF2B5EF4-FFF2-40B4-BE49-F238E27FC236}">
                <a16:creationId xmlns:a16="http://schemas.microsoft.com/office/drawing/2014/main" id="{FB7A7D71-08CA-ADF3-300E-3B3B7D9DBA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7FBB15-5866-DABB-67D5-FCE02D93B6EE}"/>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2678648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6CA10-5582-1E47-C881-52276DED1B3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3665C5C-D8A9-F6D2-35C0-D6BDC9C5DA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7EA3DCE-7F42-89FD-56CC-CB91F4A090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A94371B-C8D4-3367-96AD-BBA9CD170E91}"/>
              </a:ext>
            </a:extLst>
          </p:cNvPr>
          <p:cNvSpPr>
            <a:spLocks noGrp="1"/>
          </p:cNvSpPr>
          <p:nvPr>
            <p:ph type="dt" sz="half" idx="10"/>
          </p:nvPr>
        </p:nvSpPr>
        <p:spPr/>
        <p:txBody>
          <a:bodyPr/>
          <a:lstStyle/>
          <a:p>
            <a:fld id="{DA4D474C-4937-5C43-ADD8-F0AF7F9B6567}" type="datetimeFigureOut">
              <a:rPr lang="en-US" smtClean="0"/>
              <a:t>5/4/26</a:t>
            </a:fld>
            <a:endParaRPr lang="en-US"/>
          </a:p>
        </p:txBody>
      </p:sp>
      <p:sp>
        <p:nvSpPr>
          <p:cNvPr id="6" name="Footer Placeholder 5">
            <a:extLst>
              <a:ext uri="{FF2B5EF4-FFF2-40B4-BE49-F238E27FC236}">
                <a16:creationId xmlns:a16="http://schemas.microsoft.com/office/drawing/2014/main" id="{BA6CB842-130E-F3C0-F8CD-3086FF164C8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002C6C-3A6E-9D17-B7D4-31991C1EA21C}"/>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16852479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96EE9-02E9-C76D-46B7-501267AFB7C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BC0D14-9339-4F92-2FA8-214E6D91B78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5CA4A1-EC6B-431C-B86F-BA4E1432757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2EC3047-2EE7-AF72-0798-03465EFBB1E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FE4F601-5EB1-C779-F3D7-3A2A981FFE4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415C36F-C3C6-FA8A-AAB3-12C99F89BEDC}"/>
              </a:ext>
            </a:extLst>
          </p:cNvPr>
          <p:cNvSpPr>
            <a:spLocks noGrp="1"/>
          </p:cNvSpPr>
          <p:nvPr>
            <p:ph type="dt" sz="half" idx="10"/>
          </p:nvPr>
        </p:nvSpPr>
        <p:spPr/>
        <p:txBody>
          <a:bodyPr/>
          <a:lstStyle/>
          <a:p>
            <a:fld id="{DA4D474C-4937-5C43-ADD8-F0AF7F9B6567}" type="datetimeFigureOut">
              <a:rPr lang="en-US" smtClean="0"/>
              <a:t>5/4/26</a:t>
            </a:fld>
            <a:endParaRPr lang="en-US"/>
          </a:p>
        </p:txBody>
      </p:sp>
      <p:sp>
        <p:nvSpPr>
          <p:cNvPr id="8" name="Footer Placeholder 7">
            <a:extLst>
              <a:ext uri="{FF2B5EF4-FFF2-40B4-BE49-F238E27FC236}">
                <a16:creationId xmlns:a16="http://schemas.microsoft.com/office/drawing/2014/main" id="{1188DCFC-3D03-3C9B-37F7-08E6D9DD5D1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C69E1DE-946E-D1E7-B6F7-29A1C05FE8DF}"/>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4253230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06A69F-7439-10A3-ABCF-6B6E6047A00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F8E3AEC-8FBB-6E64-3F73-D86248EA8021}"/>
              </a:ext>
            </a:extLst>
          </p:cNvPr>
          <p:cNvSpPr>
            <a:spLocks noGrp="1"/>
          </p:cNvSpPr>
          <p:nvPr>
            <p:ph type="dt" sz="half" idx="10"/>
          </p:nvPr>
        </p:nvSpPr>
        <p:spPr/>
        <p:txBody>
          <a:bodyPr/>
          <a:lstStyle/>
          <a:p>
            <a:fld id="{DA4D474C-4937-5C43-ADD8-F0AF7F9B6567}" type="datetimeFigureOut">
              <a:rPr lang="en-US" smtClean="0"/>
              <a:t>5/4/26</a:t>
            </a:fld>
            <a:endParaRPr lang="en-US"/>
          </a:p>
        </p:txBody>
      </p:sp>
      <p:sp>
        <p:nvSpPr>
          <p:cNvPr id="4" name="Footer Placeholder 3">
            <a:extLst>
              <a:ext uri="{FF2B5EF4-FFF2-40B4-BE49-F238E27FC236}">
                <a16:creationId xmlns:a16="http://schemas.microsoft.com/office/drawing/2014/main" id="{169C9177-7DED-EDA1-8E4A-E2743D539FD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11C946C-2431-51B2-32EC-672D2390FA0B}"/>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38299292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7A59A0-D0C7-055A-6C9D-0A76668CF7F5}"/>
              </a:ext>
            </a:extLst>
          </p:cNvPr>
          <p:cNvSpPr>
            <a:spLocks noGrp="1"/>
          </p:cNvSpPr>
          <p:nvPr>
            <p:ph type="dt" sz="half" idx="10"/>
          </p:nvPr>
        </p:nvSpPr>
        <p:spPr/>
        <p:txBody>
          <a:bodyPr/>
          <a:lstStyle/>
          <a:p>
            <a:fld id="{DA4D474C-4937-5C43-ADD8-F0AF7F9B6567}" type="datetimeFigureOut">
              <a:rPr lang="en-US" smtClean="0"/>
              <a:t>5/4/26</a:t>
            </a:fld>
            <a:endParaRPr lang="en-US"/>
          </a:p>
        </p:txBody>
      </p:sp>
      <p:sp>
        <p:nvSpPr>
          <p:cNvPr id="3" name="Footer Placeholder 2">
            <a:extLst>
              <a:ext uri="{FF2B5EF4-FFF2-40B4-BE49-F238E27FC236}">
                <a16:creationId xmlns:a16="http://schemas.microsoft.com/office/drawing/2014/main" id="{BF81592C-0F77-0E7D-DE74-EE46C2FB2DF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07939FC-D78C-7306-C7C4-F215AD6BEEE7}"/>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30275922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558F8-C3E9-6F3D-5FCD-C1933EE1FF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9E792EA-DE42-2D9F-379C-B1BD1B5AA9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600A08F-5BF8-C107-F89F-5D8FC86177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CD787B-817D-8DA8-2A8E-4B5CBAA106B9}"/>
              </a:ext>
            </a:extLst>
          </p:cNvPr>
          <p:cNvSpPr>
            <a:spLocks noGrp="1"/>
          </p:cNvSpPr>
          <p:nvPr>
            <p:ph type="dt" sz="half" idx="10"/>
          </p:nvPr>
        </p:nvSpPr>
        <p:spPr/>
        <p:txBody>
          <a:bodyPr/>
          <a:lstStyle/>
          <a:p>
            <a:fld id="{DA4D474C-4937-5C43-ADD8-F0AF7F9B6567}" type="datetimeFigureOut">
              <a:rPr lang="en-US" smtClean="0"/>
              <a:t>5/4/26</a:t>
            </a:fld>
            <a:endParaRPr lang="en-US"/>
          </a:p>
        </p:txBody>
      </p:sp>
      <p:sp>
        <p:nvSpPr>
          <p:cNvPr id="6" name="Footer Placeholder 5">
            <a:extLst>
              <a:ext uri="{FF2B5EF4-FFF2-40B4-BE49-F238E27FC236}">
                <a16:creationId xmlns:a16="http://schemas.microsoft.com/office/drawing/2014/main" id="{00F94E11-F74B-A330-C46A-443E667AACA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4F518A5-0681-4297-9D64-5635E4313DAD}"/>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12415205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F2AD4-0FBD-FD20-259F-0E78A01921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0DD6638-D5FF-6FB1-C085-238BBD8936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4A1E0C6-6F1F-6C5D-4F70-001E5ACBBD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D1B671-9D2A-C3BB-B255-81D7B4615AA4}"/>
              </a:ext>
            </a:extLst>
          </p:cNvPr>
          <p:cNvSpPr>
            <a:spLocks noGrp="1"/>
          </p:cNvSpPr>
          <p:nvPr>
            <p:ph type="dt" sz="half" idx="10"/>
          </p:nvPr>
        </p:nvSpPr>
        <p:spPr/>
        <p:txBody>
          <a:bodyPr/>
          <a:lstStyle/>
          <a:p>
            <a:fld id="{DA4D474C-4937-5C43-ADD8-F0AF7F9B6567}" type="datetimeFigureOut">
              <a:rPr lang="en-US" smtClean="0"/>
              <a:t>5/4/26</a:t>
            </a:fld>
            <a:endParaRPr lang="en-US"/>
          </a:p>
        </p:txBody>
      </p:sp>
      <p:sp>
        <p:nvSpPr>
          <p:cNvPr id="6" name="Footer Placeholder 5">
            <a:extLst>
              <a:ext uri="{FF2B5EF4-FFF2-40B4-BE49-F238E27FC236}">
                <a16:creationId xmlns:a16="http://schemas.microsoft.com/office/drawing/2014/main" id="{794CB0C7-C9B6-EFA1-B992-6BE8F8D3A8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0BE88F-CD5A-445C-8AB0-529C28AAD1CB}"/>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4240895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AA98D-8015-4816-A294-E14A1C6A3AF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8F321AA-5F40-09FA-3642-AEBB7378AD0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C8D5B4-D7AA-4D55-C1A9-BFB28A693248}"/>
              </a:ext>
            </a:extLst>
          </p:cNvPr>
          <p:cNvSpPr>
            <a:spLocks noGrp="1"/>
          </p:cNvSpPr>
          <p:nvPr>
            <p:ph type="dt" sz="half" idx="10"/>
          </p:nvPr>
        </p:nvSpPr>
        <p:spPr/>
        <p:txBody>
          <a:bodyPr/>
          <a:lstStyle/>
          <a:p>
            <a:fld id="{DA4D474C-4937-5C43-ADD8-F0AF7F9B6567}" type="datetimeFigureOut">
              <a:rPr lang="en-US" smtClean="0"/>
              <a:t>5/4/26</a:t>
            </a:fld>
            <a:endParaRPr lang="en-US"/>
          </a:p>
        </p:txBody>
      </p:sp>
      <p:sp>
        <p:nvSpPr>
          <p:cNvPr id="5" name="Footer Placeholder 4">
            <a:extLst>
              <a:ext uri="{FF2B5EF4-FFF2-40B4-BE49-F238E27FC236}">
                <a16:creationId xmlns:a16="http://schemas.microsoft.com/office/drawing/2014/main" id="{2EFF33B6-339C-25FB-197E-C184CCF542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4642134-EF22-C775-1784-EAE34B4FEBEC}"/>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1096773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E8BF4F1-10CD-EB33-9A03-6076521FD51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125DFFA-D64F-1330-0719-9C492C3567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0D3F42-CE01-32BA-FACC-3B014C717C6F}"/>
              </a:ext>
            </a:extLst>
          </p:cNvPr>
          <p:cNvSpPr>
            <a:spLocks noGrp="1"/>
          </p:cNvSpPr>
          <p:nvPr>
            <p:ph type="dt" sz="half" idx="10"/>
          </p:nvPr>
        </p:nvSpPr>
        <p:spPr/>
        <p:txBody>
          <a:bodyPr/>
          <a:lstStyle/>
          <a:p>
            <a:fld id="{DA4D474C-4937-5C43-ADD8-F0AF7F9B6567}" type="datetimeFigureOut">
              <a:rPr lang="en-US" smtClean="0"/>
              <a:t>5/4/26</a:t>
            </a:fld>
            <a:endParaRPr lang="en-US"/>
          </a:p>
        </p:txBody>
      </p:sp>
      <p:sp>
        <p:nvSpPr>
          <p:cNvPr id="5" name="Footer Placeholder 4">
            <a:extLst>
              <a:ext uri="{FF2B5EF4-FFF2-40B4-BE49-F238E27FC236}">
                <a16:creationId xmlns:a16="http://schemas.microsoft.com/office/drawing/2014/main" id="{F9921BD3-1012-0B90-D6F7-1925654B79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EB053D-274F-9081-7307-77CC052BF549}"/>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2078620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DC7F564-613D-5F77-F9B4-CB9F1DE3D18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EBD6AC1-D886-179E-41DC-4735BB325B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2E6073-46EE-B9DC-9AB0-9542CC2412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4D474C-4937-5C43-ADD8-F0AF7F9B6567}" type="datetimeFigureOut">
              <a:rPr lang="en-US" smtClean="0"/>
              <a:t>5/4/26</a:t>
            </a:fld>
            <a:endParaRPr lang="en-US"/>
          </a:p>
        </p:txBody>
      </p:sp>
      <p:sp>
        <p:nvSpPr>
          <p:cNvPr id="5" name="Footer Placeholder 4">
            <a:extLst>
              <a:ext uri="{FF2B5EF4-FFF2-40B4-BE49-F238E27FC236}">
                <a16:creationId xmlns:a16="http://schemas.microsoft.com/office/drawing/2014/main" id="{F454468E-1DA6-77DF-5456-28CD86119D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8458964-C78F-42A6-7F54-D4A39BCED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8A58C2B-998C-1E42-B4FA-465C7352F18E}" type="slidenum">
              <a:rPr lang="en-US" smtClean="0"/>
              <a:t>‹#›</a:t>
            </a:fld>
            <a:endParaRPr lang="en-US"/>
          </a:p>
        </p:txBody>
      </p:sp>
    </p:spTree>
    <p:extLst>
      <p:ext uri="{BB962C8B-B14F-4D97-AF65-F5344CB8AC3E}">
        <p14:creationId xmlns:p14="http://schemas.microsoft.com/office/powerpoint/2010/main" val="12773421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D6C6CD-1495-580A-FF39-B26AAB8FCF3F}"/>
              </a:ext>
            </a:extLst>
          </p:cNvPr>
          <p:cNvSpPr>
            <a:spLocks noGrp="1"/>
          </p:cNvSpPr>
          <p:nvPr>
            <p:ph type="ctrTitle"/>
          </p:nvPr>
        </p:nvSpPr>
        <p:spPr/>
        <p:txBody>
          <a:bodyPr/>
          <a:lstStyle/>
          <a:p>
            <a:r>
              <a:rPr lang="en-US" dirty="0"/>
              <a:t>Bonus: Hot topics in bioinformatics</a:t>
            </a:r>
          </a:p>
        </p:txBody>
      </p:sp>
      <p:sp>
        <p:nvSpPr>
          <p:cNvPr id="3" name="Subtitle 2">
            <a:extLst>
              <a:ext uri="{FF2B5EF4-FFF2-40B4-BE49-F238E27FC236}">
                <a16:creationId xmlns:a16="http://schemas.microsoft.com/office/drawing/2014/main" id="{28F83AF2-C048-C568-51E5-BCCC0D2F0EE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7396115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6AA71-ECFD-FF9A-4F2D-801C6B889962}"/>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2A76BDA6-A98E-82F5-982C-D76C7B5EDF91}"/>
              </a:ext>
            </a:extLst>
          </p:cNvPr>
          <p:cNvSpPr>
            <a:spLocks noGrp="1"/>
          </p:cNvSpPr>
          <p:nvPr>
            <p:ph idx="1"/>
          </p:nvPr>
        </p:nvSpPr>
        <p:spPr/>
        <p:txBody>
          <a:bodyPr/>
          <a:lstStyle/>
          <a:p>
            <a:pPr marL="0" indent="0">
              <a:buNone/>
            </a:pPr>
            <a:endParaRPr lang="en-US" dirty="0"/>
          </a:p>
          <a:p>
            <a:r>
              <a:rPr lang="en-US" dirty="0"/>
              <a:t>Long-Read Sequencing and Its Impact on Microbial Genomics</a:t>
            </a:r>
          </a:p>
          <a:p>
            <a:r>
              <a:rPr lang="en-US" dirty="0" err="1"/>
              <a:t>Nextflow</a:t>
            </a:r>
            <a:r>
              <a:rPr lang="en-US" dirty="0"/>
              <a:t> (pipeline managers)</a:t>
            </a:r>
          </a:p>
          <a:p>
            <a:r>
              <a:rPr lang="en-US" dirty="0"/>
              <a:t>Containers, software manager</a:t>
            </a:r>
          </a:p>
          <a:p>
            <a:r>
              <a:rPr lang="en-US" dirty="0"/>
              <a:t>Reproducibility </a:t>
            </a:r>
          </a:p>
          <a:p>
            <a:r>
              <a:rPr lang="en-US" dirty="0"/>
              <a:t>AI </a:t>
            </a:r>
          </a:p>
          <a:p>
            <a:endParaRPr lang="en-US" dirty="0"/>
          </a:p>
          <a:p>
            <a:endParaRPr lang="en-US" dirty="0"/>
          </a:p>
        </p:txBody>
      </p:sp>
    </p:spTree>
    <p:extLst>
      <p:ext uri="{BB962C8B-B14F-4D97-AF65-F5344CB8AC3E}">
        <p14:creationId xmlns:p14="http://schemas.microsoft.com/office/powerpoint/2010/main" val="215982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C92E8-4C0B-645B-5915-4DBEA3B5D231}"/>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4CDE51AD-04CC-D921-FB5E-5C9CC0B09E5D}"/>
              </a:ext>
            </a:extLst>
          </p:cNvPr>
          <p:cNvSpPr txBox="1">
            <a:spLocks/>
          </p:cNvSpPr>
          <p:nvPr/>
        </p:nvSpPr>
        <p:spPr>
          <a:xfrm>
            <a:off x="1646320" y="2089105"/>
            <a:ext cx="4570412"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t>Long-read sequencing</a:t>
            </a:r>
            <a:endParaRPr lang="en-US" sz="5400" dirty="0">
              <a:latin typeface="Helvetica" pitchFamily="2" charset="0"/>
            </a:endParaRPr>
          </a:p>
        </p:txBody>
      </p:sp>
    </p:spTree>
    <p:extLst>
      <p:ext uri="{BB962C8B-B14F-4D97-AF65-F5344CB8AC3E}">
        <p14:creationId xmlns:p14="http://schemas.microsoft.com/office/powerpoint/2010/main" val="854323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AB52-DBFB-B3CD-8910-2DE02256DC27}"/>
              </a:ext>
            </a:extLst>
          </p:cNvPr>
          <p:cNvSpPr>
            <a:spLocks noGrp="1"/>
          </p:cNvSpPr>
          <p:nvPr>
            <p:ph type="title"/>
          </p:nvPr>
        </p:nvSpPr>
        <p:spPr/>
        <p:txBody>
          <a:bodyPr/>
          <a:lstStyle/>
          <a:p>
            <a:r>
              <a:rPr lang="en-US" dirty="0"/>
              <a:t>Long-Read Sequencing and Its Impact on Microbial Genomics</a:t>
            </a:r>
          </a:p>
        </p:txBody>
      </p:sp>
      <p:sp>
        <p:nvSpPr>
          <p:cNvPr id="3" name="Content Placeholder 2">
            <a:extLst>
              <a:ext uri="{FF2B5EF4-FFF2-40B4-BE49-F238E27FC236}">
                <a16:creationId xmlns:a16="http://schemas.microsoft.com/office/drawing/2014/main" id="{A0336B36-754E-1607-15DC-6EC7F8646BC2}"/>
              </a:ext>
            </a:extLst>
          </p:cNvPr>
          <p:cNvSpPr>
            <a:spLocks noGrp="1"/>
          </p:cNvSpPr>
          <p:nvPr>
            <p:ph idx="1"/>
          </p:nvPr>
        </p:nvSpPr>
        <p:spPr/>
        <p:txBody>
          <a:bodyPr>
            <a:normAutofit fontScale="70000" lnSpcReduction="20000"/>
          </a:bodyPr>
          <a:lstStyle/>
          <a:p>
            <a:r>
              <a:rPr lang="en-US" dirty="0"/>
              <a:t>The emergence of long-read platforms — primarily Oxford Nanopore and PacBio HiFi — has changed what is computationally achievable in microbial genomics and metagenomics. Short-read sequencing, the technology underlying most of the analyses we discussed in this course, produces reads of 150 to 300 base pairs. Long-read platforms produce reads of thousands to hundreds of thousands of base pairs. This difference matters fundamentally for assembling complete microbial genomes, phasing structural variants, resolving repetitive regions, </a:t>
            </a:r>
            <a:r>
              <a:rPr lang="en-US" dirty="0" err="1"/>
              <a:t>characterising</a:t>
            </a:r>
            <a:r>
              <a:rPr lang="en-US" dirty="0"/>
              <a:t> mobile genetic elements like plasmids and transposons, and reconstructing near-complete metagenome-assembled genomes.</a:t>
            </a:r>
          </a:p>
          <a:p>
            <a:r>
              <a:rPr lang="en-US" dirty="0"/>
              <a:t>In veterinary microbiology, long-read sequencing is particularly relevant for tracking transmission of antimicrobial resistance genes on plasmids, for </a:t>
            </a:r>
            <a:r>
              <a:rPr lang="en-US" dirty="0" err="1"/>
              <a:t>characterising</a:t>
            </a:r>
            <a:r>
              <a:rPr lang="en-US" dirty="0"/>
              <a:t> outbreak strains with high resolution, and for reference-quality assembly of novel pathogens. Oxford Nanopore has an additional advantage: it is portable enough to run at a farm, a slaughterhouse, or in the field, which opens possibilities for real-time surveillance that simply did not exist five years ago.</a:t>
            </a:r>
          </a:p>
          <a:p>
            <a:r>
              <a:rPr lang="en-US" dirty="0"/>
              <a:t>The bioinformatic implications are significant. Long reads require different assembly algorithms, different quality control approaches, and different error models. Hybrid assembly strategies, combining the accuracy of short reads with the contiguity of long reads, have become a common best practice. Understanding the characteristics and limitations of the data you are working with is as important as understanding the tools.</a:t>
            </a:r>
          </a:p>
          <a:p>
            <a:pPr marL="0" indent="0">
              <a:buNone/>
            </a:pPr>
            <a:endParaRPr lang="en-US" dirty="0"/>
          </a:p>
        </p:txBody>
      </p:sp>
    </p:spTree>
    <p:extLst>
      <p:ext uri="{BB962C8B-B14F-4D97-AF65-F5344CB8AC3E}">
        <p14:creationId xmlns:p14="http://schemas.microsoft.com/office/powerpoint/2010/main" val="20382409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94C4E-4634-6ED8-C51B-8346E39BD6C9}"/>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0D2A980-5EEE-D96C-D048-434F431A399D}"/>
              </a:ext>
            </a:extLst>
          </p:cNvPr>
          <p:cNvSpPr txBox="1">
            <a:spLocks/>
          </p:cNvSpPr>
          <p:nvPr/>
        </p:nvSpPr>
        <p:spPr>
          <a:xfrm>
            <a:off x="1646320" y="2089105"/>
            <a:ext cx="4570412"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err="1"/>
              <a:t>Nextflow</a:t>
            </a:r>
            <a:endParaRPr lang="en-US" sz="5400" dirty="0">
              <a:latin typeface="Helvetica" pitchFamily="2" charset="0"/>
            </a:endParaRPr>
          </a:p>
        </p:txBody>
      </p:sp>
    </p:spTree>
    <p:extLst>
      <p:ext uri="{BB962C8B-B14F-4D97-AF65-F5344CB8AC3E}">
        <p14:creationId xmlns:p14="http://schemas.microsoft.com/office/powerpoint/2010/main" val="36466541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5B6AA-761C-3BE8-5C12-3899D0D9BB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005E3C-24AB-9288-2AB1-7D30D190D317}"/>
              </a:ext>
            </a:extLst>
          </p:cNvPr>
          <p:cNvSpPr>
            <a:spLocks noGrp="1"/>
          </p:cNvSpPr>
          <p:nvPr>
            <p:ph type="title"/>
          </p:nvPr>
        </p:nvSpPr>
        <p:spPr/>
        <p:txBody>
          <a:bodyPr>
            <a:normAutofit/>
          </a:bodyPr>
          <a:lstStyle/>
          <a:p>
            <a:r>
              <a:rPr lang="en-US" sz="4000" dirty="0" err="1">
                <a:latin typeface="Helvetica" pitchFamily="2" charset="0"/>
              </a:rPr>
              <a:t>Nextflow</a:t>
            </a:r>
            <a:endParaRPr lang="en-US" sz="4000" dirty="0">
              <a:latin typeface="Helvetica" pitchFamily="2" charset="0"/>
            </a:endParaRPr>
          </a:p>
        </p:txBody>
      </p:sp>
      <p:sp>
        <p:nvSpPr>
          <p:cNvPr id="5" name="TextBox 4">
            <a:extLst>
              <a:ext uri="{FF2B5EF4-FFF2-40B4-BE49-F238E27FC236}">
                <a16:creationId xmlns:a16="http://schemas.microsoft.com/office/drawing/2014/main" id="{02248E9E-B5B7-B223-17DB-8969018CC2F3}"/>
              </a:ext>
            </a:extLst>
          </p:cNvPr>
          <p:cNvSpPr txBox="1"/>
          <p:nvPr/>
        </p:nvSpPr>
        <p:spPr>
          <a:xfrm>
            <a:off x="587830" y="1543792"/>
            <a:ext cx="10877797" cy="1200329"/>
          </a:xfrm>
          <a:prstGeom prst="rect">
            <a:avLst/>
          </a:prstGeom>
          <a:noFill/>
        </p:spPr>
        <p:txBody>
          <a:bodyPr wrap="square" rtlCol="0">
            <a:spAutoFit/>
          </a:bodyPr>
          <a:lstStyle/>
          <a:p>
            <a:r>
              <a:rPr lang="en-US" dirty="0"/>
              <a:t>The problem: You have ten samples, a shell script that works for sample one, and then something breaks on sample seven. You are not sure which step failed, you have log files scattered across three directories, and reproducing the results six months later when a reviewer asks feels like archaeology. Workflow managers exist to solve this class of problem.</a:t>
            </a:r>
          </a:p>
        </p:txBody>
      </p:sp>
      <p:sp>
        <p:nvSpPr>
          <p:cNvPr id="17" name="Rectangle 16">
            <a:extLst>
              <a:ext uri="{FF2B5EF4-FFF2-40B4-BE49-F238E27FC236}">
                <a16:creationId xmlns:a16="http://schemas.microsoft.com/office/drawing/2014/main" id="{5B127EE7-22D4-4DD1-F731-0645332D799A}"/>
              </a:ext>
            </a:extLst>
          </p:cNvPr>
          <p:cNvSpPr/>
          <p:nvPr/>
        </p:nvSpPr>
        <p:spPr>
          <a:xfrm>
            <a:off x="838200" y="4154812"/>
            <a:ext cx="2937354" cy="2881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Processes</a:t>
            </a:r>
          </a:p>
        </p:txBody>
      </p:sp>
      <p:sp>
        <p:nvSpPr>
          <p:cNvPr id="23" name="Rectangle 22">
            <a:extLst>
              <a:ext uri="{FF2B5EF4-FFF2-40B4-BE49-F238E27FC236}">
                <a16:creationId xmlns:a16="http://schemas.microsoft.com/office/drawing/2014/main" id="{B3677264-B7C1-FEAF-04B3-CB2F8C3E1B5D}"/>
              </a:ext>
            </a:extLst>
          </p:cNvPr>
          <p:cNvSpPr/>
          <p:nvPr/>
        </p:nvSpPr>
        <p:spPr>
          <a:xfrm>
            <a:off x="838200" y="4504930"/>
            <a:ext cx="2937354" cy="1618556"/>
          </a:xfrm>
          <a:prstGeom prst="rect">
            <a:avLst/>
          </a:prstGeom>
          <a:solidFill>
            <a:schemeClr val="accent2">
              <a:lumMod val="20000"/>
              <a:lumOff val="80000"/>
            </a:schemeClr>
          </a:solid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Atomic computational tasks. Each runs in its own directory with defined inputs &amp; outputs.</a:t>
            </a:r>
          </a:p>
        </p:txBody>
      </p:sp>
      <p:sp>
        <p:nvSpPr>
          <p:cNvPr id="28" name="Rectangle 27">
            <a:extLst>
              <a:ext uri="{FF2B5EF4-FFF2-40B4-BE49-F238E27FC236}">
                <a16:creationId xmlns:a16="http://schemas.microsoft.com/office/drawing/2014/main" id="{A07069F1-A080-DF4C-71E9-ABC16BCD9581}"/>
              </a:ext>
            </a:extLst>
          </p:cNvPr>
          <p:cNvSpPr/>
          <p:nvPr/>
        </p:nvSpPr>
        <p:spPr>
          <a:xfrm>
            <a:off x="4616885" y="4154812"/>
            <a:ext cx="2937354" cy="288100"/>
          </a:xfrm>
          <a:prstGeom prst="rect">
            <a:avLst/>
          </a:prstGeom>
          <a:solidFill>
            <a:schemeClr val="accent4">
              <a:lumMod val="75000"/>
            </a:schemeClr>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Channels</a:t>
            </a:r>
          </a:p>
        </p:txBody>
      </p:sp>
      <p:sp>
        <p:nvSpPr>
          <p:cNvPr id="30" name="Rectangle 29">
            <a:extLst>
              <a:ext uri="{FF2B5EF4-FFF2-40B4-BE49-F238E27FC236}">
                <a16:creationId xmlns:a16="http://schemas.microsoft.com/office/drawing/2014/main" id="{2A522124-875A-5724-3BC5-6459415F5874}"/>
              </a:ext>
            </a:extLst>
          </p:cNvPr>
          <p:cNvSpPr/>
          <p:nvPr/>
        </p:nvSpPr>
        <p:spPr>
          <a:xfrm>
            <a:off x="4616885" y="4504930"/>
            <a:ext cx="2937354" cy="1618556"/>
          </a:xfrm>
          <a:prstGeom prst="rect">
            <a:avLst/>
          </a:prstGeom>
          <a:solidFill>
            <a:schemeClr val="accent4">
              <a:lumMod val="20000"/>
              <a:lumOff val="80000"/>
            </a:schemeClr>
          </a:solidFill>
          <a:ln w="19050">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Asynchronous queues that connect processes. Data flows through channels between tasks.</a:t>
            </a:r>
          </a:p>
        </p:txBody>
      </p:sp>
      <p:sp>
        <p:nvSpPr>
          <p:cNvPr id="31" name="Rectangle 30">
            <a:extLst>
              <a:ext uri="{FF2B5EF4-FFF2-40B4-BE49-F238E27FC236}">
                <a16:creationId xmlns:a16="http://schemas.microsoft.com/office/drawing/2014/main" id="{FFA10E26-D686-AEE8-7738-3664CACC7EA8}"/>
              </a:ext>
            </a:extLst>
          </p:cNvPr>
          <p:cNvSpPr/>
          <p:nvPr/>
        </p:nvSpPr>
        <p:spPr>
          <a:xfrm>
            <a:off x="8395570" y="4154812"/>
            <a:ext cx="2937354" cy="288100"/>
          </a:xfrm>
          <a:prstGeom prst="rect">
            <a:avLst/>
          </a:prstGeom>
          <a:solidFill>
            <a:schemeClr val="accent5"/>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Workflows</a:t>
            </a:r>
          </a:p>
        </p:txBody>
      </p:sp>
      <p:sp>
        <p:nvSpPr>
          <p:cNvPr id="32" name="Rectangle 31">
            <a:extLst>
              <a:ext uri="{FF2B5EF4-FFF2-40B4-BE49-F238E27FC236}">
                <a16:creationId xmlns:a16="http://schemas.microsoft.com/office/drawing/2014/main" id="{A657081D-01D4-CEAD-B73D-3952B8126E3A}"/>
              </a:ext>
            </a:extLst>
          </p:cNvPr>
          <p:cNvSpPr/>
          <p:nvPr/>
        </p:nvSpPr>
        <p:spPr>
          <a:xfrm>
            <a:off x="8395570" y="4504930"/>
            <a:ext cx="2937354" cy="1618556"/>
          </a:xfrm>
          <a:prstGeom prst="rect">
            <a:avLst/>
          </a:prstGeom>
          <a:solidFill>
            <a:schemeClr val="accent5">
              <a:lumMod val="20000"/>
              <a:lumOff val="80000"/>
            </a:schemeClr>
          </a:solidFill>
          <a:ln w="1905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Orchestration layer that wires processes together and defines the execution topology.</a:t>
            </a:r>
          </a:p>
        </p:txBody>
      </p:sp>
      <p:sp>
        <p:nvSpPr>
          <p:cNvPr id="34" name="TextBox 33">
            <a:extLst>
              <a:ext uri="{FF2B5EF4-FFF2-40B4-BE49-F238E27FC236}">
                <a16:creationId xmlns:a16="http://schemas.microsoft.com/office/drawing/2014/main" id="{7E0E2B29-0118-CAF4-45DD-EDACAA27FE8C}"/>
              </a:ext>
            </a:extLst>
          </p:cNvPr>
          <p:cNvSpPr txBox="1"/>
          <p:nvPr/>
        </p:nvSpPr>
        <p:spPr>
          <a:xfrm>
            <a:off x="587830" y="3677253"/>
            <a:ext cx="6095010" cy="369332"/>
          </a:xfrm>
          <a:prstGeom prst="rect">
            <a:avLst/>
          </a:prstGeom>
          <a:noFill/>
        </p:spPr>
        <p:txBody>
          <a:bodyPr wrap="square">
            <a:spAutoFit/>
          </a:bodyPr>
          <a:lstStyle/>
          <a:p>
            <a:r>
              <a:rPr lang="en-US" dirty="0"/>
              <a:t>The building blocks: </a:t>
            </a:r>
          </a:p>
        </p:txBody>
      </p:sp>
    </p:spTree>
    <p:extLst>
      <p:ext uri="{BB962C8B-B14F-4D97-AF65-F5344CB8AC3E}">
        <p14:creationId xmlns:p14="http://schemas.microsoft.com/office/powerpoint/2010/main" val="14143921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4" name="Picture 4" descr="Industrial conveyor belt line vector illustration. Conveyor process  abstract machine production Stock Vector Image &amp; Art - Alamy">
            <a:extLst>
              <a:ext uri="{FF2B5EF4-FFF2-40B4-BE49-F238E27FC236}">
                <a16:creationId xmlns:a16="http://schemas.microsoft.com/office/drawing/2014/main" id="{5B846E23-333C-EC1B-6E34-8636F94E9D6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962"/>
          <a:stretch>
            <a:fillRect/>
          </a:stretch>
        </p:blipFill>
        <p:spPr bwMode="auto">
          <a:xfrm>
            <a:off x="2208172" y="1241529"/>
            <a:ext cx="8232193" cy="4374941"/>
          </a:xfrm>
          <a:prstGeom prst="rect">
            <a:avLst/>
          </a:prstGeom>
          <a:noFill/>
          <a:extLst>
            <a:ext uri="{909E8E84-426E-40DD-AFC4-6F175D3DCCD1}">
              <a14:hiddenFill xmlns:a14="http://schemas.microsoft.com/office/drawing/2010/main">
                <a:solidFill>
                  <a:srgbClr val="FFFFFF"/>
                </a:solidFill>
              </a14:hiddenFill>
            </a:ext>
          </a:extLst>
        </p:spPr>
      </p:pic>
      <p:sp>
        <p:nvSpPr>
          <p:cNvPr id="2" name="Oval 1">
            <a:extLst>
              <a:ext uri="{FF2B5EF4-FFF2-40B4-BE49-F238E27FC236}">
                <a16:creationId xmlns:a16="http://schemas.microsoft.com/office/drawing/2014/main" id="{3EBE1959-0A4E-237E-64F3-F30C5C3AB922}"/>
              </a:ext>
            </a:extLst>
          </p:cNvPr>
          <p:cNvSpPr/>
          <p:nvPr/>
        </p:nvSpPr>
        <p:spPr>
          <a:xfrm>
            <a:off x="2208171" y="3044142"/>
            <a:ext cx="2978631" cy="2572328"/>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D55BC98E-B37A-DA70-9929-7E21645409FA}"/>
              </a:ext>
            </a:extLst>
          </p:cNvPr>
          <p:cNvSpPr txBox="1"/>
          <p:nvPr/>
        </p:nvSpPr>
        <p:spPr>
          <a:xfrm>
            <a:off x="1179450" y="3428999"/>
            <a:ext cx="1448003" cy="1200329"/>
          </a:xfrm>
          <a:prstGeom prst="rect">
            <a:avLst/>
          </a:prstGeom>
          <a:noFill/>
        </p:spPr>
        <p:txBody>
          <a:bodyPr wrap="square" rtlCol="0">
            <a:spAutoFit/>
          </a:bodyPr>
          <a:lstStyle/>
          <a:p>
            <a:r>
              <a:rPr lang="en-US" b="1" dirty="0"/>
              <a:t>Processes </a:t>
            </a:r>
            <a:r>
              <a:rPr lang="en-US" dirty="0"/>
              <a:t>(tools, factory stations)</a:t>
            </a:r>
          </a:p>
        </p:txBody>
      </p:sp>
      <p:sp>
        <p:nvSpPr>
          <p:cNvPr id="4" name="TextBox 3">
            <a:extLst>
              <a:ext uri="{FF2B5EF4-FFF2-40B4-BE49-F238E27FC236}">
                <a16:creationId xmlns:a16="http://schemas.microsoft.com/office/drawing/2014/main" id="{3AB2DFB6-66E8-71F3-714E-BBBA2AC625F5}"/>
              </a:ext>
            </a:extLst>
          </p:cNvPr>
          <p:cNvSpPr txBox="1"/>
          <p:nvPr/>
        </p:nvSpPr>
        <p:spPr>
          <a:xfrm>
            <a:off x="4698697" y="555457"/>
            <a:ext cx="3251141" cy="369332"/>
          </a:xfrm>
          <a:prstGeom prst="rect">
            <a:avLst/>
          </a:prstGeom>
          <a:noFill/>
        </p:spPr>
        <p:txBody>
          <a:bodyPr wrap="square" rtlCol="0">
            <a:spAutoFit/>
          </a:bodyPr>
          <a:lstStyle/>
          <a:p>
            <a:r>
              <a:rPr lang="en-US" b="1" dirty="0"/>
              <a:t>Workflow</a:t>
            </a:r>
            <a:r>
              <a:rPr lang="en-US" dirty="0"/>
              <a:t> (logic, factory plan)</a:t>
            </a:r>
          </a:p>
        </p:txBody>
      </p:sp>
      <p:sp>
        <p:nvSpPr>
          <p:cNvPr id="6" name="Oval 5">
            <a:extLst>
              <a:ext uri="{FF2B5EF4-FFF2-40B4-BE49-F238E27FC236}">
                <a16:creationId xmlns:a16="http://schemas.microsoft.com/office/drawing/2014/main" id="{E52505B3-8FB4-B96B-55F4-630EDFF6CC74}"/>
              </a:ext>
            </a:extLst>
          </p:cNvPr>
          <p:cNvSpPr/>
          <p:nvPr/>
        </p:nvSpPr>
        <p:spPr>
          <a:xfrm>
            <a:off x="5425933" y="2083443"/>
            <a:ext cx="2051312" cy="2215442"/>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ight Brace 6">
            <a:extLst>
              <a:ext uri="{FF2B5EF4-FFF2-40B4-BE49-F238E27FC236}">
                <a16:creationId xmlns:a16="http://schemas.microsoft.com/office/drawing/2014/main" id="{2A438F05-38E5-12B8-AAD5-3063E2A4AAA4}"/>
              </a:ext>
            </a:extLst>
          </p:cNvPr>
          <p:cNvSpPr/>
          <p:nvPr/>
        </p:nvSpPr>
        <p:spPr>
          <a:xfrm rot="16200000">
            <a:off x="5944232" y="-2705692"/>
            <a:ext cx="303535" cy="7775658"/>
          </a:xfrm>
          <a:prstGeom prst="rightBrac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Oval 7">
            <a:extLst>
              <a:ext uri="{FF2B5EF4-FFF2-40B4-BE49-F238E27FC236}">
                <a16:creationId xmlns:a16="http://schemas.microsoft.com/office/drawing/2014/main" id="{BC164923-0666-18DF-DD14-76912076C831}"/>
              </a:ext>
            </a:extLst>
          </p:cNvPr>
          <p:cNvSpPr/>
          <p:nvPr/>
        </p:nvSpPr>
        <p:spPr>
          <a:xfrm>
            <a:off x="5186801" y="4298885"/>
            <a:ext cx="5253563" cy="1710237"/>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F4CBF7F-D725-7413-DAD3-09016AB6F0A1}"/>
              </a:ext>
            </a:extLst>
          </p:cNvPr>
          <p:cNvSpPr txBox="1"/>
          <p:nvPr/>
        </p:nvSpPr>
        <p:spPr>
          <a:xfrm>
            <a:off x="6451589" y="6044519"/>
            <a:ext cx="3251141" cy="369332"/>
          </a:xfrm>
          <a:prstGeom prst="rect">
            <a:avLst/>
          </a:prstGeom>
          <a:noFill/>
        </p:spPr>
        <p:txBody>
          <a:bodyPr wrap="square" rtlCol="0">
            <a:spAutoFit/>
          </a:bodyPr>
          <a:lstStyle/>
          <a:p>
            <a:r>
              <a:rPr lang="en-US" b="1" dirty="0"/>
              <a:t>Channels </a:t>
            </a:r>
            <a:r>
              <a:rPr lang="en-US" dirty="0"/>
              <a:t>(conveyor belts)</a:t>
            </a:r>
          </a:p>
        </p:txBody>
      </p:sp>
    </p:spTree>
    <p:extLst>
      <p:ext uri="{BB962C8B-B14F-4D97-AF65-F5344CB8AC3E}">
        <p14:creationId xmlns:p14="http://schemas.microsoft.com/office/powerpoint/2010/main" val="4078347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P spid="4" grpId="0"/>
      <p:bldP spid="6" grpId="0" animBg="1"/>
      <p:bldP spid="7" grpId="0" animBg="1"/>
      <p:bldP spid="8" grpId="0" animBg="1"/>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0AF89-510A-C89B-55C3-CDC7529F10C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B559012-82C8-B274-9E0E-9235350F9606}"/>
              </a:ext>
            </a:extLst>
          </p:cNvPr>
          <p:cNvSpPr txBox="1"/>
          <p:nvPr/>
        </p:nvSpPr>
        <p:spPr>
          <a:xfrm>
            <a:off x="6096000" y="2134677"/>
            <a:ext cx="5499558" cy="3416320"/>
          </a:xfrm>
          <a:prstGeom prst="rect">
            <a:avLst/>
          </a:prstGeom>
          <a:noFill/>
        </p:spPr>
        <p:txBody>
          <a:bodyPr wrap="square" rtlCol="0">
            <a:spAutoFit/>
          </a:bodyPr>
          <a:lstStyle/>
          <a:p>
            <a:r>
              <a:rPr lang="en-US" b="1" dirty="0">
                <a:solidFill>
                  <a:srgbClr val="7030A0"/>
                </a:solidFill>
              </a:rPr>
              <a:t>Configuration files </a:t>
            </a:r>
            <a:r>
              <a:rPr lang="en-US" dirty="0"/>
              <a:t>(</a:t>
            </a:r>
            <a:r>
              <a:rPr lang="en-US" sz="1200" dirty="0" err="1">
                <a:latin typeface="Menlo" panose="020B0609030804020204" pitchFamily="49" charset="0"/>
                <a:ea typeface="Menlo" panose="020B0609030804020204" pitchFamily="49" charset="0"/>
                <a:cs typeface="Menlo" panose="020B0609030804020204" pitchFamily="49" charset="0"/>
              </a:rPr>
              <a:t>nextflow.config</a:t>
            </a:r>
            <a:r>
              <a:rPr lang="en-US" dirty="0"/>
              <a:t>) separate execution settings from pipeline logic:</a:t>
            </a:r>
          </a:p>
          <a:p>
            <a:pPr marL="285750" indent="-285750">
              <a:buFont typeface="Arial" panose="020B0604020202020204" pitchFamily="34" charset="0"/>
              <a:buChar char="•"/>
            </a:pPr>
            <a:r>
              <a:rPr lang="en-US" b="1" dirty="0"/>
              <a:t>Executor settings</a:t>
            </a:r>
            <a:r>
              <a:rPr lang="en-US" dirty="0"/>
              <a:t>: Where to run (local, HPC, cloud)</a:t>
            </a:r>
          </a:p>
          <a:p>
            <a:pPr marL="285750" indent="-285750">
              <a:buFont typeface="Arial" panose="020B0604020202020204" pitchFamily="34" charset="0"/>
              <a:buChar char="•"/>
            </a:pPr>
            <a:r>
              <a:rPr lang="en-US" b="1" dirty="0"/>
              <a:t>Resource allocation</a:t>
            </a:r>
            <a:r>
              <a:rPr lang="en-US" dirty="0"/>
              <a:t>: Default CPU, memory per process</a:t>
            </a:r>
          </a:p>
          <a:p>
            <a:pPr marL="285750" indent="-285750">
              <a:buFont typeface="Arial" panose="020B0604020202020204" pitchFamily="34" charset="0"/>
              <a:buChar char="•"/>
            </a:pPr>
            <a:r>
              <a:rPr lang="en-US" b="1" dirty="0"/>
              <a:t>Container settings</a:t>
            </a:r>
            <a:r>
              <a:rPr lang="en-US" dirty="0"/>
              <a:t>: Docker/Singularity configuration</a:t>
            </a:r>
          </a:p>
          <a:p>
            <a:pPr marL="285750" indent="-285750">
              <a:buFont typeface="Arial" panose="020B0604020202020204" pitchFamily="34" charset="0"/>
              <a:buChar char="•"/>
            </a:pPr>
            <a:r>
              <a:rPr lang="en-US" b="1" dirty="0"/>
              <a:t>Profiles</a:t>
            </a:r>
            <a:r>
              <a:rPr lang="en-US" dirty="0"/>
              <a:t>: Different configurations for different environments (laptop vs cluster)</a:t>
            </a:r>
          </a:p>
          <a:p>
            <a:endParaRPr lang="en-US" dirty="0"/>
          </a:p>
          <a:p>
            <a:r>
              <a:rPr lang="en-US" dirty="0"/>
              <a:t>This separation allows the same pipeline to run across different infrastructure without code changes.</a:t>
            </a:r>
          </a:p>
          <a:p>
            <a:endParaRPr lang="en-US" dirty="0"/>
          </a:p>
        </p:txBody>
      </p:sp>
      <p:sp>
        <p:nvSpPr>
          <p:cNvPr id="12" name="Title 1">
            <a:extLst>
              <a:ext uri="{FF2B5EF4-FFF2-40B4-BE49-F238E27FC236}">
                <a16:creationId xmlns:a16="http://schemas.microsoft.com/office/drawing/2014/main" id="{B8085EB4-79EB-8EF0-F251-72EB70D8F246}"/>
              </a:ext>
            </a:extLst>
          </p:cNvPr>
          <p:cNvSpPr>
            <a:spLocks noGrp="1"/>
          </p:cNvSpPr>
          <p:nvPr>
            <p:ph type="title"/>
          </p:nvPr>
        </p:nvSpPr>
        <p:spPr>
          <a:xfrm>
            <a:off x="838200" y="365125"/>
            <a:ext cx="10515600" cy="1325563"/>
          </a:xfrm>
        </p:spPr>
        <p:txBody>
          <a:bodyPr/>
          <a:lstStyle/>
          <a:p>
            <a:r>
              <a:rPr lang="en-US" dirty="0" err="1"/>
              <a:t>Nextflow</a:t>
            </a:r>
            <a:r>
              <a:rPr lang="en-US" dirty="0"/>
              <a:t> components: </a:t>
            </a:r>
            <a:r>
              <a:rPr lang="en-US" b="1" dirty="0"/>
              <a:t>config files</a:t>
            </a:r>
          </a:p>
        </p:txBody>
      </p:sp>
      <p:pic>
        <p:nvPicPr>
          <p:cNvPr id="3074" name="Picture 2" descr="Oversee - May 22, 2016 Word Of The Day | Britannica Dictionary">
            <a:extLst>
              <a:ext uri="{FF2B5EF4-FFF2-40B4-BE49-F238E27FC236}">
                <a16:creationId xmlns:a16="http://schemas.microsoft.com/office/drawing/2014/main" id="{EAB5C093-D743-8EF5-753F-81CDEB863A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2193884"/>
            <a:ext cx="4334584" cy="3022802"/>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Manual Icon Vector Art, Icons, and Graphics for Free Download">
            <a:extLst>
              <a:ext uri="{FF2B5EF4-FFF2-40B4-BE49-F238E27FC236}">
                <a16:creationId xmlns:a16="http://schemas.microsoft.com/office/drawing/2014/main" id="{41F8F46F-0A04-AAB2-1EFE-A68F2CDDE9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61508" y="669604"/>
            <a:ext cx="431149" cy="5375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89215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0977E-537E-42E3-43E5-3591DDE6EF97}"/>
              </a:ext>
            </a:extLst>
          </p:cNvPr>
          <p:cNvSpPr>
            <a:spLocks noGrp="1"/>
          </p:cNvSpPr>
          <p:nvPr>
            <p:ph type="title"/>
          </p:nvPr>
        </p:nvSpPr>
        <p:spPr/>
        <p:txBody>
          <a:bodyPr/>
          <a:lstStyle/>
          <a:p>
            <a:r>
              <a:rPr lang="en-US" dirty="0" err="1"/>
              <a:t>Nf</a:t>
            </a:r>
            <a:r>
              <a:rPr lang="en-US" dirty="0"/>
              <a:t>-core</a:t>
            </a:r>
          </a:p>
        </p:txBody>
      </p:sp>
      <p:sp>
        <p:nvSpPr>
          <p:cNvPr id="3" name="Content Placeholder 2">
            <a:extLst>
              <a:ext uri="{FF2B5EF4-FFF2-40B4-BE49-F238E27FC236}">
                <a16:creationId xmlns:a16="http://schemas.microsoft.com/office/drawing/2014/main" id="{27239AB8-353E-FEE7-4D7F-723F320A2A4E}"/>
              </a:ext>
            </a:extLst>
          </p:cNvPr>
          <p:cNvSpPr>
            <a:spLocks noGrp="1"/>
          </p:cNvSpPr>
          <p:nvPr>
            <p:ph idx="1"/>
          </p:nvPr>
        </p:nvSpPr>
        <p:spPr>
          <a:xfrm>
            <a:off x="838200" y="3260984"/>
            <a:ext cx="4511634" cy="4351338"/>
          </a:xfrm>
        </p:spPr>
        <p:txBody>
          <a:bodyPr>
            <a:normAutofit/>
          </a:bodyPr>
          <a:lstStyle/>
          <a:p>
            <a:r>
              <a:rPr lang="en-US" sz="2400" dirty="0"/>
              <a:t>Community driven standardize pipeline repository</a:t>
            </a:r>
          </a:p>
          <a:p>
            <a:r>
              <a:rPr lang="en-US" sz="2400" dirty="0"/>
              <a:t>Great for using full pipelines</a:t>
            </a:r>
          </a:p>
          <a:p>
            <a:r>
              <a:rPr lang="en-US" sz="2400" dirty="0"/>
              <a:t>Also borrowing modules and other code</a:t>
            </a:r>
          </a:p>
          <a:p>
            <a:r>
              <a:rPr lang="en-US" sz="2400" dirty="0"/>
              <a:t>Maintained by </a:t>
            </a:r>
            <a:r>
              <a:rPr lang="en-US" sz="2400" dirty="0" err="1"/>
              <a:t>Seqera</a:t>
            </a:r>
            <a:r>
              <a:rPr lang="en-US" sz="2400" dirty="0"/>
              <a:t> (updated)</a:t>
            </a:r>
          </a:p>
        </p:txBody>
      </p:sp>
      <p:pic>
        <p:nvPicPr>
          <p:cNvPr id="2050" name="Picture 2" descr="nf-core/mag metromap diagram">
            <a:extLst>
              <a:ext uri="{FF2B5EF4-FFF2-40B4-BE49-F238E27FC236}">
                <a16:creationId xmlns:a16="http://schemas.microsoft.com/office/drawing/2014/main" id="{4FBB6B28-DEE0-CA65-DAC5-3E15D8A9AC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2030" y="1354289"/>
            <a:ext cx="6300973" cy="445575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f-core · GitHub">
            <a:extLst>
              <a:ext uri="{FF2B5EF4-FFF2-40B4-BE49-F238E27FC236}">
                <a16:creationId xmlns:a16="http://schemas.microsoft.com/office/drawing/2014/main" id="{B8BEB4A2-0CD3-F633-AA6B-746CD950C6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21485" y="293210"/>
            <a:ext cx="3322122" cy="86513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A527BF6-698E-BCB7-561A-991D6853CFBE}"/>
              </a:ext>
            </a:extLst>
          </p:cNvPr>
          <p:cNvSpPr txBox="1"/>
          <p:nvPr/>
        </p:nvSpPr>
        <p:spPr>
          <a:xfrm>
            <a:off x="678378" y="1478317"/>
            <a:ext cx="5312723" cy="1569660"/>
          </a:xfrm>
          <a:prstGeom prst="rect">
            <a:avLst/>
          </a:prstGeom>
          <a:noFill/>
        </p:spPr>
        <p:txBody>
          <a:bodyPr wrap="square">
            <a:spAutoFit/>
          </a:bodyPr>
          <a:lstStyle/>
          <a:p>
            <a:r>
              <a:rPr lang="en-US" sz="1600" dirty="0"/>
              <a:t>This is a community-maintained collection of curated, peer-reviewed </a:t>
            </a:r>
            <a:r>
              <a:rPr lang="en-US" sz="1600" dirty="0" err="1"/>
              <a:t>Nextflow</a:t>
            </a:r>
            <a:r>
              <a:rPr lang="en-US" sz="1600" dirty="0"/>
              <a:t> pipelines covering most standard analyses: RNA-seq (</a:t>
            </a:r>
            <a:r>
              <a:rPr lang="en-US" sz="1600" dirty="0" err="1"/>
              <a:t>nf</a:t>
            </a:r>
            <a:r>
              <a:rPr lang="en-US" sz="1600" dirty="0"/>
              <a:t>-core/</a:t>
            </a:r>
            <a:r>
              <a:rPr lang="en-US" sz="1600" dirty="0" err="1"/>
              <a:t>rnaseq</a:t>
            </a:r>
            <a:r>
              <a:rPr lang="en-US" sz="1600" dirty="0"/>
              <a:t>), metagenomics (</a:t>
            </a:r>
            <a:r>
              <a:rPr lang="en-US" sz="1600" dirty="0" err="1"/>
              <a:t>nf</a:t>
            </a:r>
            <a:r>
              <a:rPr lang="en-US" sz="1600" dirty="0"/>
              <a:t>-core/mag), amplicon sequencing (</a:t>
            </a:r>
            <a:r>
              <a:rPr lang="en-US" sz="1600" dirty="0" err="1"/>
              <a:t>nf</a:t>
            </a:r>
            <a:r>
              <a:rPr lang="en-US" sz="1600" dirty="0"/>
              <a:t>-core/</a:t>
            </a:r>
            <a:r>
              <a:rPr lang="en-US" sz="1600" dirty="0" err="1"/>
              <a:t>ampliseq</a:t>
            </a:r>
            <a:r>
              <a:rPr lang="en-US" sz="1600" dirty="0"/>
              <a:t>), variant calling, </a:t>
            </a:r>
            <a:r>
              <a:rPr lang="en-US" sz="1600" dirty="0" err="1"/>
              <a:t>ChIP</a:t>
            </a:r>
            <a:r>
              <a:rPr lang="en-US" sz="1600" dirty="0"/>
              <a:t>-seq, and many others. These pipelines are production-grade, extensively tested, and follow a </a:t>
            </a:r>
            <a:r>
              <a:rPr lang="en-US" sz="1600" dirty="0" err="1"/>
              <a:t>standardised</a:t>
            </a:r>
            <a:r>
              <a:rPr lang="en-US" sz="1600" dirty="0"/>
              <a:t> structure. </a:t>
            </a:r>
          </a:p>
        </p:txBody>
      </p:sp>
    </p:spTree>
    <p:extLst>
      <p:ext uri="{BB962C8B-B14F-4D97-AF65-F5344CB8AC3E}">
        <p14:creationId xmlns:p14="http://schemas.microsoft.com/office/powerpoint/2010/main" val="5318574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10FBE-7E90-00E1-71D4-C2B7718A87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D45EC1-BA85-FADD-E60D-07BF796B7247}"/>
              </a:ext>
            </a:extLst>
          </p:cNvPr>
          <p:cNvSpPr>
            <a:spLocks noGrp="1"/>
          </p:cNvSpPr>
          <p:nvPr>
            <p:ph type="title"/>
          </p:nvPr>
        </p:nvSpPr>
        <p:spPr/>
        <p:txBody>
          <a:bodyPr/>
          <a:lstStyle/>
          <a:p>
            <a:r>
              <a:rPr lang="en-US" dirty="0"/>
              <a:t>When use </a:t>
            </a:r>
            <a:r>
              <a:rPr lang="en-US" dirty="0" err="1"/>
              <a:t>nextflow</a:t>
            </a:r>
            <a:endParaRPr lang="en-US" dirty="0"/>
          </a:p>
        </p:txBody>
      </p:sp>
      <p:sp>
        <p:nvSpPr>
          <p:cNvPr id="5" name="TextBox 4">
            <a:extLst>
              <a:ext uri="{FF2B5EF4-FFF2-40B4-BE49-F238E27FC236}">
                <a16:creationId xmlns:a16="http://schemas.microsoft.com/office/drawing/2014/main" id="{6754B47E-F371-45B0-8A7C-66CE01E422E9}"/>
              </a:ext>
            </a:extLst>
          </p:cNvPr>
          <p:cNvSpPr txBox="1"/>
          <p:nvPr/>
        </p:nvSpPr>
        <p:spPr>
          <a:xfrm>
            <a:off x="892134" y="1690688"/>
            <a:ext cx="5312723" cy="4524315"/>
          </a:xfrm>
          <a:prstGeom prst="rect">
            <a:avLst/>
          </a:prstGeom>
          <a:noFill/>
        </p:spPr>
        <p:txBody>
          <a:bodyPr wrap="square">
            <a:spAutoFit/>
          </a:bodyPr>
          <a:lstStyle/>
          <a:p>
            <a:r>
              <a:rPr lang="en-US" sz="1600" b="1" dirty="0"/>
              <a:t>What </a:t>
            </a:r>
            <a:r>
              <a:rPr lang="en-US" sz="1600" b="1" dirty="0" err="1"/>
              <a:t>Nextflow</a:t>
            </a:r>
            <a:r>
              <a:rPr lang="en-US" sz="1600" b="1" dirty="0"/>
              <a:t> Is Not</a:t>
            </a:r>
          </a:p>
          <a:p>
            <a:r>
              <a:rPr lang="en-US" sz="1600" dirty="0" err="1"/>
              <a:t>Nextflow</a:t>
            </a:r>
            <a:r>
              <a:rPr lang="en-US" sz="1600" dirty="0"/>
              <a:t> is not a magic solution to poorly designed analyses. It does not help you choose the right tool for your data or interpret your results. It is also a genuine investment to learn: the Groovy-based DSL2 syntax has its own logic and takes time to become comfortable with. The payoff comes when you are running analyses at scale, sharing pipelines with collaborators, or trying to ensure that your methods are truly reproducible.</a:t>
            </a:r>
          </a:p>
          <a:p>
            <a:r>
              <a:rPr lang="en-US" sz="1600" b="1" dirty="0"/>
              <a:t>Practical Takeaway</a:t>
            </a:r>
          </a:p>
          <a:p>
            <a:r>
              <a:rPr lang="en-US" sz="1600" dirty="0"/>
              <a:t>If you are building any analysis that involves more than a handful of steps or more than a handful of samples, and especially if reproducibility matters to you or is required by your institution or journal, it is worth investing time in a workflow manager. Start by running an existing </a:t>
            </a:r>
            <a:r>
              <a:rPr lang="en-US" sz="1600" dirty="0" err="1"/>
              <a:t>nf</a:t>
            </a:r>
            <a:r>
              <a:rPr lang="en-US" sz="1600" dirty="0"/>
              <a:t>-core pipeline on your own data. You will learn the system while getting real scientific results, and you will quickly understand why the field has moved in this direction.</a:t>
            </a:r>
          </a:p>
        </p:txBody>
      </p:sp>
    </p:spTree>
    <p:extLst>
      <p:ext uri="{BB962C8B-B14F-4D97-AF65-F5344CB8AC3E}">
        <p14:creationId xmlns:p14="http://schemas.microsoft.com/office/powerpoint/2010/main" val="39531026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646320" y="2089105"/>
            <a:ext cx="4570412"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t>Containers &amp; software managers</a:t>
            </a:r>
            <a:endParaRPr lang="en-US" sz="5400" dirty="0">
              <a:latin typeface="Helvetica" pitchFamily="2" charset="0"/>
            </a:endParaRPr>
          </a:p>
        </p:txBody>
      </p:sp>
      <p:pic>
        <p:nvPicPr>
          <p:cNvPr id="1026" name="Picture 2" descr="Software - Free computer icons">
            <a:extLst>
              <a:ext uri="{FF2B5EF4-FFF2-40B4-BE49-F238E27FC236}">
                <a16:creationId xmlns:a16="http://schemas.microsoft.com/office/drawing/2014/main" id="{90307FDE-986B-CAFD-B54C-EAD152D20F6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2540329"/>
            <a:ext cx="1248229" cy="1248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AF49B-F4D4-672E-CBAC-B59D767AF8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D63F50-ADB6-FEBA-66C6-B06489CA27C4}"/>
              </a:ext>
            </a:extLst>
          </p:cNvPr>
          <p:cNvSpPr>
            <a:spLocks noGrp="1"/>
          </p:cNvSpPr>
          <p:nvPr>
            <p:ph type="title"/>
          </p:nvPr>
        </p:nvSpPr>
        <p:spPr/>
        <p:txBody>
          <a:bodyPr>
            <a:normAutofit/>
          </a:bodyPr>
          <a:lstStyle/>
          <a:p>
            <a:r>
              <a:rPr lang="en-US" sz="4000" dirty="0">
                <a:latin typeface="Helvetica" pitchFamily="2" charset="0"/>
              </a:rPr>
              <a:t>The dependency problem</a:t>
            </a:r>
          </a:p>
        </p:txBody>
      </p:sp>
      <p:sp>
        <p:nvSpPr>
          <p:cNvPr id="5" name="TextBox 4">
            <a:extLst>
              <a:ext uri="{FF2B5EF4-FFF2-40B4-BE49-F238E27FC236}">
                <a16:creationId xmlns:a16="http://schemas.microsoft.com/office/drawing/2014/main" id="{DC156166-CA58-0D89-D21F-8D07D4030A54}"/>
              </a:ext>
            </a:extLst>
          </p:cNvPr>
          <p:cNvSpPr txBox="1"/>
          <p:nvPr/>
        </p:nvSpPr>
        <p:spPr>
          <a:xfrm>
            <a:off x="1080654" y="1690688"/>
            <a:ext cx="10631182" cy="3416320"/>
          </a:xfrm>
          <a:prstGeom prst="rect">
            <a:avLst/>
          </a:prstGeom>
          <a:noFill/>
        </p:spPr>
        <p:txBody>
          <a:bodyPr wrap="square" rtlCol="0">
            <a:spAutoFit/>
          </a:bodyPr>
          <a:lstStyle/>
          <a:p>
            <a:r>
              <a:rPr lang="en-US" b="1" dirty="0"/>
              <a:t>The Dependency Problem</a:t>
            </a:r>
          </a:p>
          <a:p>
            <a:r>
              <a:rPr lang="en-US" dirty="0"/>
              <a:t>Bioinformatics software has a dependency problem. A given tool might require Python 3.8, a specific version of a C library, and three other packages that conflict with what is installed on your system. Multiply this by ten tools in a pipeline, and the result is the kind of environment management nightmare that has consumed enormous amounts of researcher time over the past two decades. Conda has helped significantly, but it is not a complete solution, particularly when tools have conflicting dependencies or when you need to run the same analysis on different systems and guarantee identical </a:t>
            </a:r>
            <a:r>
              <a:rPr lang="en-US" dirty="0" err="1"/>
              <a:t>behaviour</a:t>
            </a:r>
            <a:r>
              <a:rPr lang="en-US" dirty="0"/>
              <a:t>.</a:t>
            </a:r>
          </a:p>
          <a:p>
            <a:r>
              <a:rPr lang="en-US" dirty="0"/>
              <a:t>Containers solve this by packaging not just the software but the entire operating system environment it needs. A container is a lightweight, self-contained unit that includes everything required to run a specific piece of software: the code, the runtime, the libraries, and the configuration. When you run a container, it behaves identically regardless of the underlying host system.</a:t>
            </a:r>
          </a:p>
          <a:p>
            <a:endParaRPr lang="en-US" dirty="0"/>
          </a:p>
        </p:txBody>
      </p:sp>
      <p:sp>
        <p:nvSpPr>
          <p:cNvPr id="17" name="TextBox 16">
            <a:extLst>
              <a:ext uri="{FF2B5EF4-FFF2-40B4-BE49-F238E27FC236}">
                <a16:creationId xmlns:a16="http://schemas.microsoft.com/office/drawing/2014/main" id="{5C226FB6-83F4-E3DE-A22F-11AC7D940596}"/>
              </a:ext>
            </a:extLst>
          </p:cNvPr>
          <p:cNvSpPr txBox="1"/>
          <p:nvPr/>
        </p:nvSpPr>
        <p:spPr>
          <a:xfrm>
            <a:off x="1022475" y="4819316"/>
            <a:ext cx="10747539" cy="2308324"/>
          </a:xfrm>
          <a:prstGeom prst="rect">
            <a:avLst/>
          </a:prstGeom>
          <a:noFill/>
        </p:spPr>
        <p:txBody>
          <a:bodyPr wrap="square" rtlCol="0">
            <a:spAutoFit/>
          </a:bodyPr>
          <a:lstStyle/>
          <a:p>
            <a:r>
              <a:rPr lang="en-US" b="1" dirty="0"/>
              <a:t>A Conceptual Shift</a:t>
            </a:r>
          </a:p>
          <a:p>
            <a:r>
              <a:rPr lang="en-US" dirty="0"/>
              <a:t>The deeper shift that containers represent is a move away from thinking about software installed on a machine and towards thinking about portable, versioned, immutable environments. An analysis is not just a script — it is a script plus the exact environment in which it runs. This is increasingly what journals, funding bodies, and good scientific practice require. In veterinary research, where you may be comparing results from samples collected across multiple years or institutions, this kind of environmental reproducibility can matter as much as the biological reproducibility of the experiment itself.</a:t>
            </a:r>
          </a:p>
          <a:p>
            <a:endParaRPr lang="en-US" dirty="0"/>
          </a:p>
        </p:txBody>
      </p:sp>
    </p:spTree>
    <p:extLst>
      <p:ext uri="{BB962C8B-B14F-4D97-AF65-F5344CB8AC3E}">
        <p14:creationId xmlns:p14="http://schemas.microsoft.com/office/powerpoint/2010/main" val="19077724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265C6-6F3E-E159-BCCB-BF81A97674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F7C3F9-71A8-FC24-43BA-7CEEF829EBE2}"/>
              </a:ext>
            </a:extLst>
          </p:cNvPr>
          <p:cNvSpPr>
            <a:spLocks noGrp="1"/>
          </p:cNvSpPr>
          <p:nvPr>
            <p:ph type="title"/>
          </p:nvPr>
        </p:nvSpPr>
        <p:spPr/>
        <p:txBody>
          <a:bodyPr>
            <a:normAutofit/>
          </a:bodyPr>
          <a:lstStyle/>
          <a:p>
            <a:r>
              <a:rPr lang="en-US" sz="4000" dirty="0">
                <a:latin typeface="Helvetica" pitchFamily="2" charset="0"/>
              </a:rPr>
              <a:t>Introduction to containers</a:t>
            </a:r>
          </a:p>
        </p:txBody>
      </p:sp>
      <p:sp>
        <p:nvSpPr>
          <p:cNvPr id="3" name="TextBox 2">
            <a:extLst>
              <a:ext uri="{FF2B5EF4-FFF2-40B4-BE49-F238E27FC236}">
                <a16:creationId xmlns:a16="http://schemas.microsoft.com/office/drawing/2014/main" id="{B5AE2760-694B-59C8-C3B1-C3202ED4722D}"/>
              </a:ext>
            </a:extLst>
          </p:cNvPr>
          <p:cNvSpPr txBox="1"/>
          <p:nvPr/>
        </p:nvSpPr>
        <p:spPr>
          <a:xfrm>
            <a:off x="838200" y="1442549"/>
            <a:ext cx="6405465" cy="4247317"/>
          </a:xfrm>
          <a:prstGeom prst="rect">
            <a:avLst/>
          </a:prstGeom>
          <a:noFill/>
        </p:spPr>
        <p:txBody>
          <a:bodyPr wrap="square" rtlCol="0">
            <a:spAutoFit/>
          </a:bodyPr>
          <a:lstStyle/>
          <a:p>
            <a:r>
              <a:rPr lang="en-US" dirty="0"/>
              <a:t>We </a:t>
            </a:r>
            <a:r>
              <a:rPr lang="en-US" b="1" dirty="0"/>
              <a:t>have to</a:t>
            </a:r>
            <a:r>
              <a:rPr lang="en-US" dirty="0"/>
              <a:t> use containers when: </a:t>
            </a:r>
          </a:p>
          <a:p>
            <a:pPr marL="285750" indent="-285750">
              <a:buFontTx/>
              <a:buChar char="-"/>
            </a:pPr>
            <a:r>
              <a:rPr lang="en-US" dirty="0"/>
              <a:t>extremely complex dependencies</a:t>
            </a:r>
          </a:p>
          <a:p>
            <a:pPr marL="285750" indent="-285750">
              <a:buFontTx/>
              <a:buChar char="-"/>
            </a:pPr>
            <a:r>
              <a:rPr lang="en-US" dirty="0"/>
              <a:t>require a specific operating system configuration</a:t>
            </a:r>
          </a:p>
          <a:p>
            <a:pPr marL="285750" indent="-285750">
              <a:buFontTx/>
              <a:buChar char="-"/>
            </a:pPr>
            <a:r>
              <a:rPr lang="en-US" dirty="0"/>
              <a:t>need to guarantee that analysis will run identically on any system — not just Hazel</a:t>
            </a:r>
          </a:p>
          <a:p>
            <a:endParaRPr lang="en-US" dirty="0"/>
          </a:p>
          <a:p>
            <a:r>
              <a:rPr lang="en-US" dirty="0"/>
              <a:t>We </a:t>
            </a:r>
            <a:r>
              <a:rPr lang="en-US" b="1" dirty="0">
                <a:solidFill>
                  <a:schemeClr val="accent2">
                    <a:lumMod val="75000"/>
                  </a:schemeClr>
                </a:solidFill>
              </a:rPr>
              <a:t>should generally use containers</a:t>
            </a:r>
            <a:endParaRPr lang="en-US" dirty="0"/>
          </a:p>
          <a:p>
            <a:endParaRPr lang="en-US" dirty="0"/>
          </a:p>
          <a:p>
            <a:r>
              <a:rPr lang="en-US" dirty="0"/>
              <a:t>A container is like a complete mini-computer: </a:t>
            </a:r>
          </a:p>
          <a:p>
            <a:pPr marL="285750" indent="-285750">
              <a:buFontTx/>
              <a:buChar char="-"/>
            </a:pPr>
            <a:r>
              <a:rPr lang="en-US" dirty="0"/>
              <a:t>Operating system</a:t>
            </a:r>
          </a:p>
          <a:p>
            <a:pPr marL="285750" indent="-285750">
              <a:buFontTx/>
              <a:buChar char="-"/>
            </a:pPr>
            <a:r>
              <a:rPr lang="en-US" dirty="0"/>
              <a:t>Libraries</a:t>
            </a:r>
          </a:p>
          <a:p>
            <a:pPr marL="285750" indent="-285750">
              <a:buFontTx/>
              <a:buChar char="-"/>
            </a:pPr>
            <a:r>
              <a:rPr lang="en-US" dirty="0"/>
              <a:t>Software</a:t>
            </a:r>
          </a:p>
          <a:p>
            <a:r>
              <a:rPr lang="en-US" dirty="0"/>
              <a:t>You don't install the software — you just run the container. </a:t>
            </a:r>
          </a:p>
          <a:p>
            <a:pPr marL="285750" indent="-285750">
              <a:buFontTx/>
              <a:buChar char="-"/>
            </a:pPr>
            <a:endParaRPr lang="en-US" dirty="0"/>
          </a:p>
          <a:p>
            <a:endParaRPr lang="en-US" dirty="0"/>
          </a:p>
        </p:txBody>
      </p:sp>
      <p:pic>
        <p:nvPicPr>
          <p:cNvPr id="4" name="Picture 3">
            <a:extLst>
              <a:ext uri="{FF2B5EF4-FFF2-40B4-BE49-F238E27FC236}">
                <a16:creationId xmlns:a16="http://schemas.microsoft.com/office/drawing/2014/main" id="{1A5E3C14-0703-76A5-5414-7B911F52189B}"/>
              </a:ext>
            </a:extLst>
          </p:cNvPr>
          <p:cNvPicPr>
            <a:picLocks noChangeAspect="1"/>
          </p:cNvPicPr>
          <p:nvPr/>
        </p:nvPicPr>
        <p:blipFill>
          <a:blip r:embed="rId3"/>
          <a:stretch>
            <a:fillRect/>
          </a:stretch>
        </p:blipFill>
        <p:spPr>
          <a:xfrm>
            <a:off x="6531428" y="1590990"/>
            <a:ext cx="6165273" cy="4281440"/>
          </a:xfrm>
          <a:prstGeom prst="rect">
            <a:avLst/>
          </a:prstGeom>
        </p:spPr>
      </p:pic>
    </p:spTree>
    <p:extLst>
      <p:ext uri="{BB962C8B-B14F-4D97-AF65-F5344CB8AC3E}">
        <p14:creationId xmlns:p14="http://schemas.microsoft.com/office/powerpoint/2010/main" val="23640490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7E178-611C-4A10-AB68-2E8C2C7D82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68F1C3-1BB9-9B74-0597-520B1FC41047}"/>
              </a:ext>
            </a:extLst>
          </p:cNvPr>
          <p:cNvSpPr>
            <a:spLocks noGrp="1"/>
          </p:cNvSpPr>
          <p:nvPr>
            <p:ph type="title"/>
          </p:nvPr>
        </p:nvSpPr>
        <p:spPr/>
        <p:txBody>
          <a:bodyPr>
            <a:normAutofit/>
          </a:bodyPr>
          <a:lstStyle/>
          <a:p>
            <a:r>
              <a:rPr lang="en-US" sz="4000" dirty="0">
                <a:latin typeface="Helvetica" pitchFamily="2" charset="0"/>
              </a:rPr>
              <a:t>Singularity vs. docker</a:t>
            </a:r>
          </a:p>
        </p:txBody>
      </p:sp>
      <p:sp>
        <p:nvSpPr>
          <p:cNvPr id="4" name="TextBox 3">
            <a:extLst>
              <a:ext uri="{FF2B5EF4-FFF2-40B4-BE49-F238E27FC236}">
                <a16:creationId xmlns:a16="http://schemas.microsoft.com/office/drawing/2014/main" id="{E6861FA9-7AF1-DC19-E5DD-5BA7E6730003}"/>
              </a:ext>
            </a:extLst>
          </p:cNvPr>
          <p:cNvSpPr txBox="1"/>
          <p:nvPr/>
        </p:nvSpPr>
        <p:spPr>
          <a:xfrm>
            <a:off x="683823" y="1504190"/>
            <a:ext cx="9445830" cy="2862322"/>
          </a:xfrm>
          <a:prstGeom prst="rect">
            <a:avLst/>
          </a:prstGeom>
          <a:noFill/>
        </p:spPr>
        <p:txBody>
          <a:bodyPr wrap="square" rtlCol="0">
            <a:spAutoFit/>
          </a:bodyPr>
          <a:lstStyle/>
          <a:p>
            <a:r>
              <a:rPr lang="en-US" dirty="0"/>
              <a:t>Docker is the dominant container platform and the one you are most likely to encounter in tutorials, documentation, and online resources. It introduced the concept of the </a:t>
            </a:r>
            <a:r>
              <a:rPr lang="en-US" dirty="0" err="1"/>
              <a:t>Dockerfile</a:t>
            </a:r>
            <a:r>
              <a:rPr lang="en-US" dirty="0"/>
              <a:t> — a plain text recipe that describes how to build a container image layer by layer, starting from a base operating system, installing dependencies, and copying in the software. Docker images are stored in registries, the most prominent being Docker Hub and the </a:t>
            </a:r>
            <a:r>
              <a:rPr lang="en-US" dirty="0" err="1"/>
              <a:t>Biocontainers</a:t>
            </a:r>
            <a:r>
              <a:rPr lang="en-US" dirty="0"/>
              <a:t> registry, which provides containers for thousands of bioinformatics tools with no effort on your part.</a:t>
            </a:r>
          </a:p>
          <a:p>
            <a:r>
              <a:rPr lang="en-US" dirty="0"/>
              <a:t>The key thing Docker provides is reproducibility at the environment level. If you attach the Docker image identifier to your publication, anyone can pull that exact image and reproduce your computational environment precisely, years later, regardless of what happens to the software in the meantime.</a:t>
            </a:r>
          </a:p>
        </p:txBody>
      </p:sp>
      <p:sp>
        <p:nvSpPr>
          <p:cNvPr id="5" name="TextBox 4">
            <a:extLst>
              <a:ext uri="{FF2B5EF4-FFF2-40B4-BE49-F238E27FC236}">
                <a16:creationId xmlns:a16="http://schemas.microsoft.com/office/drawing/2014/main" id="{B95412E8-21E2-61B4-F2FD-5F0A010D0509}"/>
              </a:ext>
            </a:extLst>
          </p:cNvPr>
          <p:cNvSpPr txBox="1"/>
          <p:nvPr/>
        </p:nvSpPr>
        <p:spPr>
          <a:xfrm>
            <a:off x="683823" y="4414013"/>
            <a:ext cx="11066811" cy="2585323"/>
          </a:xfrm>
          <a:prstGeom prst="rect">
            <a:avLst/>
          </a:prstGeom>
          <a:noFill/>
        </p:spPr>
        <p:txBody>
          <a:bodyPr wrap="square" rtlCol="0">
            <a:spAutoFit/>
          </a:bodyPr>
          <a:lstStyle/>
          <a:p>
            <a:r>
              <a:rPr lang="en-US" b="1" dirty="0"/>
              <a:t>Singularity and </a:t>
            </a:r>
            <a:r>
              <a:rPr lang="en-US" b="1" dirty="0" err="1"/>
              <a:t>Apptainer</a:t>
            </a:r>
            <a:endParaRPr lang="en-US" b="1" dirty="0"/>
          </a:p>
          <a:p>
            <a:r>
              <a:rPr lang="en-US" dirty="0"/>
              <a:t>There is a reason you cannot simply run Docker on most HPC clusters: Docker requires root privileges to run, which is a security concern on shared systems. Singularity, now maintained under the name </a:t>
            </a:r>
            <a:r>
              <a:rPr lang="en-US" dirty="0" err="1"/>
              <a:t>Apptainer</a:t>
            </a:r>
            <a:r>
              <a:rPr lang="en-US" dirty="0"/>
              <a:t>, was developed specifically for HPC environments. It allows unprivileged users to run containers without needing administrator access. Singularity can also directly run Docker images, so the two ecosystems are interoperable.</a:t>
            </a:r>
          </a:p>
          <a:p>
            <a:r>
              <a:rPr lang="en-US" dirty="0"/>
              <a:t>In practice, if you are working on a university cluster, Singularity is likely what you will use. If you are working locally or on cloud infrastructure, Docker is more common. </a:t>
            </a:r>
            <a:r>
              <a:rPr lang="en-US" dirty="0" err="1"/>
              <a:t>Nextflow</a:t>
            </a:r>
            <a:r>
              <a:rPr lang="en-US" dirty="0"/>
              <a:t> supports both transparently, which is one of the reasons the combination of </a:t>
            </a:r>
            <a:r>
              <a:rPr lang="en-US" dirty="0" err="1"/>
              <a:t>Nextflow</a:t>
            </a:r>
            <a:r>
              <a:rPr lang="en-US" dirty="0"/>
              <a:t> plus containers has become the de facto standard for reproducible genomics.</a:t>
            </a:r>
          </a:p>
          <a:p>
            <a:endParaRPr lang="en-US" dirty="0"/>
          </a:p>
        </p:txBody>
      </p:sp>
    </p:spTree>
    <p:extLst>
      <p:ext uri="{BB962C8B-B14F-4D97-AF65-F5344CB8AC3E}">
        <p14:creationId xmlns:p14="http://schemas.microsoft.com/office/powerpoint/2010/main" val="4930506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B7567-DC6D-05B2-BA38-69E5F290D3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0AB57C-7FA9-1124-90F9-2AAF6B0943D3}"/>
              </a:ext>
            </a:extLst>
          </p:cNvPr>
          <p:cNvSpPr>
            <a:spLocks noGrp="1"/>
          </p:cNvSpPr>
          <p:nvPr>
            <p:ph type="title"/>
          </p:nvPr>
        </p:nvSpPr>
        <p:spPr/>
        <p:txBody>
          <a:bodyPr>
            <a:normAutofit/>
          </a:bodyPr>
          <a:lstStyle/>
          <a:p>
            <a:r>
              <a:rPr lang="en-US" sz="4000" dirty="0">
                <a:latin typeface="Helvetica" pitchFamily="2" charset="0"/>
              </a:rPr>
              <a:t>Introduction to containers</a:t>
            </a:r>
          </a:p>
        </p:txBody>
      </p:sp>
      <p:sp>
        <p:nvSpPr>
          <p:cNvPr id="3" name="TextBox 2">
            <a:extLst>
              <a:ext uri="{FF2B5EF4-FFF2-40B4-BE49-F238E27FC236}">
                <a16:creationId xmlns:a16="http://schemas.microsoft.com/office/drawing/2014/main" id="{FC807B04-7FA9-7A48-A5D4-C7EB93CC7D15}"/>
              </a:ext>
            </a:extLst>
          </p:cNvPr>
          <p:cNvSpPr txBox="1"/>
          <p:nvPr/>
        </p:nvSpPr>
        <p:spPr>
          <a:xfrm>
            <a:off x="838200" y="1598911"/>
            <a:ext cx="4339442" cy="461665"/>
          </a:xfrm>
          <a:prstGeom prst="rect">
            <a:avLst/>
          </a:prstGeom>
          <a:solidFill>
            <a:schemeClr val="bg1">
              <a:lumMod val="95000"/>
            </a:schemeClr>
          </a:solidFill>
        </p:spPr>
        <p:txBody>
          <a:bodyPr wrap="square" rtlCol="0">
            <a:spAutoFit/>
          </a:bodyPr>
          <a:lstStyle/>
          <a:p>
            <a:r>
              <a:rPr lang="en-US" sz="1200" dirty="0">
                <a:latin typeface="Menlo" panose="020B0609030804020204" pitchFamily="49" charset="0"/>
                <a:ea typeface="Menlo" panose="020B0609030804020204" pitchFamily="49" charset="0"/>
                <a:cs typeface="Menlo" panose="020B0609030804020204" pitchFamily="49" charset="0"/>
              </a:rPr>
              <a:t>module load </a:t>
            </a:r>
            <a:r>
              <a:rPr lang="en-US" sz="1200" dirty="0" err="1">
                <a:latin typeface="Menlo" panose="020B0609030804020204" pitchFamily="49" charset="0"/>
                <a:ea typeface="Menlo" panose="020B0609030804020204" pitchFamily="49" charset="0"/>
                <a:cs typeface="Menlo" panose="020B0609030804020204" pitchFamily="49" charset="0"/>
              </a:rPr>
              <a:t>apptainer</a:t>
            </a:r>
            <a:r>
              <a:rPr lang="en-US" sz="1200" dirty="0">
                <a:latin typeface="Menlo" panose="020B0609030804020204" pitchFamily="49" charset="0"/>
                <a:ea typeface="Menlo" panose="020B0609030804020204" pitchFamily="49" charset="0"/>
                <a:cs typeface="Menlo" panose="020B0609030804020204" pitchFamily="49" charset="0"/>
              </a:rPr>
              <a:t> </a:t>
            </a:r>
          </a:p>
          <a:p>
            <a:r>
              <a:rPr lang="en-US" sz="1200" dirty="0" err="1">
                <a:latin typeface="Menlo" panose="020B0609030804020204" pitchFamily="49" charset="0"/>
                <a:ea typeface="Menlo" panose="020B0609030804020204" pitchFamily="49" charset="0"/>
                <a:cs typeface="Menlo" panose="020B0609030804020204" pitchFamily="49" charset="0"/>
              </a:rPr>
              <a:t>apptainer</a:t>
            </a:r>
            <a:r>
              <a:rPr lang="en-US" sz="1200" dirty="0">
                <a:latin typeface="Menlo" panose="020B0609030804020204" pitchFamily="49" charset="0"/>
                <a:ea typeface="Menlo" panose="020B0609030804020204" pitchFamily="49" charset="0"/>
                <a:cs typeface="Menlo" panose="020B0609030804020204" pitchFamily="49" charset="0"/>
              </a:rPr>
              <a:t> exec </a:t>
            </a:r>
            <a:r>
              <a:rPr lang="en-US" sz="1200" dirty="0" err="1">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mycontainer.sif</a:t>
            </a:r>
            <a:r>
              <a:rPr lang="en-US" sz="12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 </a:t>
            </a:r>
            <a:r>
              <a:rPr lang="en-US" sz="1200" dirty="0" err="1">
                <a:latin typeface="Menlo" panose="020B0609030804020204" pitchFamily="49" charset="0"/>
                <a:ea typeface="Menlo" panose="020B0609030804020204" pitchFamily="49" charset="0"/>
                <a:cs typeface="Menlo" panose="020B0609030804020204" pitchFamily="49" charset="0"/>
              </a:rPr>
              <a:t>fastqc</a:t>
            </a:r>
            <a:r>
              <a:rPr lang="en-US" sz="1200" dirty="0">
                <a:latin typeface="Menlo" panose="020B0609030804020204" pitchFamily="49" charset="0"/>
                <a:ea typeface="Menlo" panose="020B0609030804020204" pitchFamily="49" charset="0"/>
                <a:cs typeface="Menlo" panose="020B0609030804020204" pitchFamily="49" charset="0"/>
              </a:rPr>
              <a:t> –help</a:t>
            </a:r>
          </a:p>
        </p:txBody>
      </p:sp>
      <p:sp>
        <p:nvSpPr>
          <p:cNvPr id="4" name="TextBox 3">
            <a:extLst>
              <a:ext uri="{FF2B5EF4-FFF2-40B4-BE49-F238E27FC236}">
                <a16:creationId xmlns:a16="http://schemas.microsoft.com/office/drawing/2014/main" id="{F44C79F8-5D45-CACA-58BA-DACFB0FC7ABD}"/>
              </a:ext>
            </a:extLst>
          </p:cNvPr>
          <p:cNvSpPr txBox="1"/>
          <p:nvPr/>
        </p:nvSpPr>
        <p:spPr>
          <a:xfrm>
            <a:off x="838200" y="2270149"/>
            <a:ext cx="9233425" cy="1477328"/>
          </a:xfrm>
          <a:prstGeom prst="rect">
            <a:avLst/>
          </a:prstGeom>
          <a:noFill/>
        </p:spPr>
        <p:txBody>
          <a:bodyPr wrap="none" rtlCol="0">
            <a:spAutoFit/>
          </a:bodyPr>
          <a:lstStyle/>
          <a:p>
            <a:r>
              <a:rPr lang="en-US" b="1" dirty="0"/>
              <a:t>Where do containers come from?</a:t>
            </a:r>
            <a:endParaRPr lang="en-US" dirty="0"/>
          </a:p>
          <a:p>
            <a:r>
              <a:rPr lang="en-US" b="1" dirty="0"/>
              <a:t>- Docker Hub</a:t>
            </a:r>
            <a:r>
              <a:rPr lang="en-US" dirty="0"/>
              <a:t> — the largest repository; </a:t>
            </a:r>
            <a:r>
              <a:rPr lang="en-US" dirty="0" err="1"/>
              <a:t>Apptainer</a:t>
            </a:r>
            <a:r>
              <a:rPr lang="en-US" dirty="0"/>
              <a:t> can pull and convert Docker containers directly</a:t>
            </a:r>
          </a:p>
          <a:p>
            <a:r>
              <a:rPr lang="en-US" b="1" dirty="0"/>
              <a:t>- </a:t>
            </a:r>
            <a:r>
              <a:rPr lang="en-US" b="1" dirty="0" err="1"/>
              <a:t>Biocontainers</a:t>
            </a:r>
            <a:r>
              <a:rPr lang="en-US" dirty="0"/>
              <a:t> — bioinformatics-specific containers, one per tool</a:t>
            </a:r>
          </a:p>
          <a:p>
            <a:r>
              <a:rPr lang="en-US" b="1" dirty="0"/>
              <a:t>- You build your own</a:t>
            </a:r>
            <a:r>
              <a:rPr lang="en-US" dirty="0"/>
              <a:t> — advanced</a:t>
            </a:r>
          </a:p>
          <a:p>
            <a:r>
              <a:rPr lang="en-US" dirty="0"/>
              <a:t>For most bioinformatics tools, a container already exists and you just need to pull it:</a:t>
            </a:r>
          </a:p>
        </p:txBody>
      </p:sp>
      <p:sp>
        <p:nvSpPr>
          <p:cNvPr id="6" name="TextBox 5">
            <a:extLst>
              <a:ext uri="{FF2B5EF4-FFF2-40B4-BE49-F238E27FC236}">
                <a16:creationId xmlns:a16="http://schemas.microsoft.com/office/drawing/2014/main" id="{1C9882F7-6B71-7A55-B37E-1CD8419ADB59}"/>
              </a:ext>
            </a:extLst>
          </p:cNvPr>
          <p:cNvSpPr txBox="1"/>
          <p:nvPr/>
        </p:nvSpPr>
        <p:spPr>
          <a:xfrm>
            <a:off x="892134" y="3957050"/>
            <a:ext cx="5051466" cy="276999"/>
          </a:xfrm>
          <a:prstGeom prst="rect">
            <a:avLst/>
          </a:prstGeom>
          <a:solidFill>
            <a:schemeClr val="bg1">
              <a:lumMod val="95000"/>
            </a:schemeClr>
          </a:solidFill>
        </p:spPr>
        <p:txBody>
          <a:bodyPr wrap="square">
            <a:spAutoFit/>
          </a:bodyPr>
          <a:lstStyle/>
          <a:p>
            <a:r>
              <a:rPr lang="en-US" sz="1200" dirty="0" err="1">
                <a:latin typeface="Menlo" panose="020B0609030804020204" pitchFamily="49" charset="0"/>
                <a:ea typeface="Menlo" panose="020B0609030804020204" pitchFamily="49" charset="0"/>
                <a:cs typeface="Menlo" panose="020B0609030804020204" pitchFamily="49" charset="0"/>
              </a:rPr>
              <a:t>apptainer</a:t>
            </a:r>
            <a:r>
              <a:rPr lang="en-US" sz="1200" dirty="0">
                <a:latin typeface="Menlo" panose="020B0609030804020204" pitchFamily="49" charset="0"/>
                <a:ea typeface="Menlo" panose="020B0609030804020204" pitchFamily="49" charset="0"/>
                <a:cs typeface="Menlo" panose="020B0609030804020204" pitchFamily="49" charset="0"/>
              </a:rPr>
              <a:t> pull docker://</a:t>
            </a:r>
            <a:r>
              <a:rPr lang="en-US" sz="1200" dirty="0" err="1">
                <a:latin typeface="Menlo" panose="020B0609030804020204" pitchFamily="49" charset="0"/>
                <a:ea typeface="Menlo" panose="020B0609030804020204" pitchFamily="49" charset="0"/>
                <a:cs typeface="Menlo" panose="020B0609030804020204" pitchFamily="49" charset="0"/>
              </a:rPr>
              <a:t>biocontainers</a:t>
            </a:r>
            <a:r>
              <a:rPr lang="en-US" sz="1200" dirty="0">
                <a:latin typeface="Menlo" panose="020B0609030804020204" pitchFamily="49" charset="0"/>
                <a:ea typeface="Menlo" panose="020B0609030804020204" pitchFamily="49" charset="0"/>
                <a:cs typeface="Menlo" panose="020B0609030804020204" pitchFamily="49" charset="0"/>
              </a:rPr>
              <a:t>/</a:t>
            </a:r>
            <a:r>
              <a:rPr lang="en-US" sz="1200" dirty="0" err="1">
                <a:latin typeface="Menlo" panose="020B0609030804020204" pitchFamily="49" charset="0"/>
                <a:ea typeface="Menlo" panose="020B0609030804020204" pitchFamily="49" charset="0"/>
                <a:cs typeface="Menlo" panose="020B0609030804020204" pitchFamily="49" charset="0"/>
              </a:rPr>
              <a:t>fastqc:latest</a:t>
            </a:r>
            <a:endParaRPr lang="en-US" sz="1200" dirty="0">
              <a:latin typeface="Menlo" panose="020B0609030804020204" pitchFamily="49" charset="0"/>
              <a:ea typeface="Menlo" panose="020B0609030804020204" pitchFamily="49" charset="0"/>
              <a:cs typeface="Menlo" panose="020B0609030804020204" pitchFamily="49" charset="0"/>
            </a:endParaRPr>
          </a:p>
        </p:txBody>
      </p:sp>
      <p:pic>
        <p:nvPicPr>
          <p:cNvPr id="1026" name="Picture 2" descr="Track how many times docker image was pulled | by Huseyn Gasimov |  FAUN.dev() 🐾">
            <a:extLst>
              <a:ext uri="{FF2B5EF4-FFF2-40B4-BE49-F238E27FC236}">
                <a16:creationId xmlns:a16="http://schemas.microsoft.com/office/drawing/2014/main" id="{4E6F1C56-6A85-2350-432B-49016E208F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13667" y="1068928"/>
            <a:ext cx="2382322" cy="124352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B0D07A9A-47FB-84E8-41A9-58935C404780}"/>
              </a:ext>
            </a:extLst>
          </p:cNvPr>
          <p:cNvPicPr>
            <a:picLocks noChangeAspect="1"/>
          </p:cNvPicPr>
          <p:nvPr/>
        </p:nvPicPr>
        <p:blipFill>
          <a:blip r:embed="rId4"/>
          <a:stretch>
            <a:fillRect/>
          </a:stretch>
        </p:blipFill>
        <p:spPr>
          <a:xfrm>
            <a:off x="2321626" y="4443622"/>
            <a:ext cx="7405254" cy="2318846"/>
          </a:xfrm>
          <a:prstGeom prst="rect">
            <a:avLst/>
          </a:prstGeom>
        </p:spPr>
      </p:pic>
    </p:spTree>
    <p:extLst>
      <p:ext uri="{BB962C8B-B14F-4D97-AF65-F5344CB8AC3E}">
        <p14:creationId xmlns:p14="http://schemas.microsoft.com/office/powerpoint/2010/main" val="1600608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DB14-792F-601A-90B1-292EDD9FEEDF}"/>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30927CDB-A549-B84C-12BF-3CBB0FA54CA5}"/>
              </a:ext>
            </a:extLst>
          </p:cNvPr>
          <p:cNvSpPr txBox="1">
            <a:spLocks/>
          </p:cNvSpPr>
          <p:nvPr/>
        </p:nvSpPr>
        <p:spPr>
          <a:xfrm>
            <a:off x="1646320" y="2089105"/>
            <a:ext cx="4570412"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t>Reproducibility and FAIR data</a:t>
            </a:r>
            <a:endParaRPr lang="en-US" sz="5400" dirty="0">
              <a:latin typeface="Helvetica" pitchFamily="2" charset="0"/>
            </a:endParaRPr>
          </a:p>
        </p:txBody>
      </p:sp>
    </p:spTree>
    <p:extLst>
      <p:ext uri="{BB962C8B-B14F-4D97-AF65-F5344CB8AC3E}">
        <p14:creationId xmlns:p14="http://schemas.microsoft.com/office/powerpoint/2010/main" val="36075791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DFCD4-7594-28A3-EDB2-B59FA1BA406D}"/>
              </a:ext>
            </a:extLst>
          </p:cNvPr>
          <p:cNvSpPr>
            <a:spLocks noGrp="1"/>
          </p:cNvSpPr>
          <p:nvPr>
            <p:ph type="title"/>
          </p:nvPr>
        </p:nvSpPr>
        <p:spPr/>
        <p:txBody>
          <a:bodyPr/>
          <a:lstStyle/>
          <a:p>
            <a:r>
              <a:rPr lang="en-US" dirty="0"/>
              <a:t>Reproducibility, Open Science, and FAIR Data</a:t>
            </a:r>
          </a:p>
        </p:txBody>
      </p:sp>
      <p:sp>
        <p:nvSpPr>
          <p:cNvPr id="3" name="Content Placeholder 2">
            <a:extLst>
              <a:ext uri="{FF2B5EF4-FFF2-40B4-BE49-F238E27FC236}">
                <a16:creationId xmlns:a16="http://schemas.microsoft.com/office/drawing/2014/main" id="{7CA1FCAE-83B7-57FB-50A2-02BC053D1C0B}"/>
              </a:ext>
            </a:extLst>
          </p:cNvPr>
          <p:cNvSpPr>
            <a:spLocks noGrp="1"/>
          </p:cNvSpPr>
          <p:nvPr>
            <p:ph idx="1"/>
          </p:nvPr>
        </p:nvSpPr>
        <p:spPr/>
        <p:txBody>
          <a:bodyPr>
            <a:normAutofit fontScale="70000" lnSpcReduction="20000"/>
          </a:bodyPr>
          <a:lstStyle/>
          <a:p>
            <a:r>
              <a:rPr lang="en-US" dirty="0"/>
              <a:t>This topic is less technically focused but arguably the most important for your long-term scientific practice. The bioinformatics field has an acknowledged reproducibility problem. Studies have shown that a substantial proportion of published computational analyses cannot be reproduced, even by the original authors, due to software version changes, undocumented preprocessing steps, unavailable data, or incomplete methods sections.</a:t>
            </a:r>
          </a:p>
          <a:p>
            <a:r>
              <a:rPr lang="en-US" dirty="0"/>
              <a:t>FAIR data principles — Findable, Accessible, Interoperable, Reusable — were developed to address this at the data level. Major funding bodies including the European Research Council and many national funders now require data management plans that address FAIR compliance. In practice, this means depositing raw sequencing data in public repositories like the European Nucleotide Archive or NCBI SRA, using community-standard metadata formats, and documenting analysis code in version-controlled repositories like GitHub or GitLab.</a:t>
            </a:r>
          </a:p>
          <a:p>
            <a:r>
              <a:rPr lang="en-US" dirty="0"/>
              <a:t>Electronic lab notebooks, tools like </a:t>
            </a:r>
            <a:r>
              <a:rPr lang="en-US" dirty="0" err="1"/>
              <a:t>RMarkdown</a:t>
            </a:r>
            <a:r>
              <a:rPr lang="en-US" dirty="0"/>
              <a:t> and Quarto for combining code and narrative, and platforms like </a:t>
            </a:r>
            <a:r>
              <a:rPr lang="en-US" dirty="0" err="1"/>
              <a:t>Zenodo</a:t>
            </a:r>
            <a:r>
              <a:rPr lang="en-US" dirty="0"/>
              <a:t> for archiving analysis code are all part of this ecosystem. The skills you have developed in this course — writing documented code, using workflow managers, working with containers — are the technical foundations of reproducible science. This topic connects those technical skills to the broader values and institutional expectations around open science that you will encounter throughout your career.</a:t>
            </a:r>
          </a:p>
          <a:p>
            <a:endParaRPr lang="en-US" dirty="0"/>
          </a:p>
        </p:txBody>
      </p:sp>
    </p:spTree>
    <p:extLst>
      <p:ext uri="{BB962C8B-B14F-4D97-AF65-F5344CB8AC3E}">
        <p14:creationId xmlns:p14="http://schemas.microsoft.com/office/powerpoint/2010/main" val="20410403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3127C-03A6-0569-4311-28D6CDEB6806}"/>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99560786-24F3-FB68-8809-0159BC2C84C5}"/>
              </a:ext>
            </a:extLst>
          </p:cNvPr>
          <p:cNvSpPr txBox="1">
            <a:spLocks/>
          </p:cNvSpPr>
          <p:nvPr/>
        </p:nvSpPr>
        <p:spPr>
          <a:xfrm>
            <a:off x="1646320" y="2089105"/>
            <a:ext cx="4570412"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t>AI in bioinformatics</a:t>
            </a:r>
            <a:endParaRPr lang="en-US" sz="5400" dirty="0">
              <a:latin typeface="Helvetica" pitchFamily="2" charset="0"/>
            </a:endParaRPr>
          </a:p>
        </p:txBody>
      </p:sp>
    </p:spTree>
    <p:extLst>
      <p:ext uri="{BB962C8B-B14F-4D97-AF65-F5344CB8AC3E}">
        <p14:creationId xmlns:p14="http://schemas.microsoft.com/office/powerpoint/2010/main" val="2853219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56BCB-35E6-EA77-C6E4-AA1BAB18C63B}"/>
              </a:ext>
            </a:extLst>
          </p:cNvPr>
          <p:cNvSpPr>
            <a:spLocks noGrp="1"/>
          </p:cNvSpPr>
          <p:nvPr>
            <p:ph type="title"/>
          </p:nvPr>
        </p:nvSpPr>
        <p:spPr/>
        <p:txBody>
          <a:bodyPr/>
          <a:lstStyle/>
          <a:p>
            <a:r>
              <a:rPr lang="en-US" b="1" dirty="0"/>
              <a:t>A Field in Rapid Transition</a:t>
            </a:r>
            <a:br>
              <a:rPr lang="en-US" b="1" dirty="0"/>
            </a:br>
            <a:endParaRPr lang="en-US" dirty="0"/>
          </a:p>
        </p:txBody>
      </p:sp>
      <p:sp>
        <p:nvSpPr>
          <p:cNvPr id="3" name="Content Placeholder 2">
            <a:extLst>
              <a:ext uri="{FF2B5EF4-FFF2-40B4-BE49-F238E27FC236}">
                <a16:creationId xmlns:a16="http://schemas.microsoft.com/office/drawing/2014/main" id="{CEF23A9F-4D78-4040-1F47-F43F3070AAFE}"/>
              </a:ext>
            </a:extLst>
          </p:cNvPr>
          <p:cNvSpPr>
            <a:spLocks noGrp="1"/>
          </p:cNvSpPr>
          <p:nvPr>
            <p:ph idx="1"/>
          </p:nvPr>
        </p:nvSpPr>
        <p:spPr/>
        <p:txBody>
          <a:bodyPr/>
          <a:lstStyle/>
          <a:p>
            <a:pPr marL="0" indent="0">
              <a:buNone/>
            </a:pPr>
            <a:r>
              <a:rPr lang="en-US" dirty="0"/>
              <a:t>Few areas of biology have been as dramatically affected by recent advances in machine learning as bioinformatics. It is worth being precise about what we mean, because the term artificial intelligence is used loosely to cover everything from classical statistical models to large language models. We will focus on the developments that are most immediately relevant and most likely to affect your work.</a:t>
            </a:r>
          </a:p>
          <a:p>
            <a:endParaRPr lang="en-US" dirty="0"/>
          </a:p>
          <a:p>
            <a:r>
              <a:rPr lang="en-US" dirty="0"/>
              <a:t>ML vs AI</a:t>
            </a:r>
          </a:p>
        </p:txBody>
      </p:sp>
    </p:spTree>
    <p:extLst>
      <p:ext uri="{BB962C8B-B14F-4D97-AF65-F5344CB8AC3E}">
        <p14:creationId xmlns:p14="http://schemas.microsoft.com/office/powerpoint/2010/main" val="1747557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F2BEA-0FAD-451C-48DE-9AE9123D00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5B8653-791F-5F41-00D7-C9D75C0E60C8}"/>
              </a:ext>
            </a:extLst>
          </p:cNvPr>
          <p:cNvSpPr>
            <a:spLocks noGrp="1"/>
          </p:cNvSpPr>
          <p:nvPr>
            <p:ph type="title"/>
          </p:nvPr>
        </p:nvSpPr>
        <p:spPr/>
        <p:txBody>
          <a:bodyPr/>
          <a:lstStyle/>
          <a:p>
            <a:r>
              <a:rPr lang="en-US" dirty="0" err="1"/>
              <a:t>Alphafold</a:t>
            </a:r>
            <a:endParaRPr lang="en-US" dirty="0"/>
          </a:p>
        </p:txBody>
      </p:sp>
      <p:sp>
        <p:nvSpPr>
          <p:cNvPr id="3" name="Content Placeholder 2">
            <a:extLst>
              <a:ext uri="{FF2B5EF4-FFF2-40B4-BE49-F238E27FC236}">
                <a16:creationId xmlns:a16="http://schemas.microsoft.com/office/drawing/2014/main" id="{81B3CCB1-D5D4-9ED7-6FFD-531DE8902066}"/>
              </a:ext>
            </a:extLst>
          </p:cNvPr>
          <p:cNvSpPr>
            <a:spLocks noGrp="1"/>
          </p:cNvSpPr>
          <p:nvPr>
            <p:ph idx="1"/>
          </p:nvPr>
        </p:nvSpPr>
        <p:spPr/>
        <p:txBody>
          <a:bodyPr>
            <a:normAutofit fontScale="85000" lnSpcReduction="20000"/>
          </a:bodyPr>
          <a:lstStyle/>
          <a:p>
            <a:pPr marL="0" indent="0">
              <a:buNone/>
            </a:pPr>
            <a:r>
              <a:rPr lang="en-US" b="1" dirty="0"/>
              <a:t>Protein Structure Prediction: AlphaFold and Its Descendants</a:t>
            </a:r>
          </a:p>
          <a:p>
            <a:r>
              <a:rPr lang="en-US" dirty="0"/>
              <a:t>The release of AlphaFold2 by DeepMind in 2021 was one of the most significant events in the history of structural biology. For decades, predicting the three-dimensional structure of a protein from its amino acid sequence was considered one of the hardest problems in biology. AlphaFold solved it to a degree of accuracy that shocked the field. AlphaFold3, released in 2024, extended this to protein-ligand, protein-nucleic acid, and protein-protein complexes.</a:t>
            </a:r>
          </a:p>
          <a:p>
            <a:r>
              <a:rPr lang="en-US" dirty="0"/>
              <a:t>For veterinary researchers, the practical implications are substantial. If you are studying a bacterial virulence factor, a host immune receptor, a zoonotic pathogen surface protein, or any enzyme involved in antimicrobial resistance, you can now obtain a high-confidence structural model in minutes at no cost, using the AlphaFold database or </a:t>
            </a:r>
            <a:r>
              <a:rPr lang="en-US" dirty="0" err="1"/>
              <a:t>ColabFold</a:t>
            </a:r>
            <a:r>
              <a:rPr lang="en-US" dirty="0"/>
              <a:t>, a freely accessible implementation. This changes what is possible at the intersection of microbiology and structural biology — questions that previously required expensive crystallography or cryo-EM campaigns are now at least partially approachable computationally.</a:t>
            </a:r>
          </a:p>
        </p:txBody>
      </p:sp>
    </p:spTree>
    <p:extLst>
      <p:ext uri="{BB962C8B-B14F-4D97-AF65-F5344CB8AC3E}">
        <p14:creationId xmlns:p14="http://schemas.microsoft.com/office/powerpoint/2010/main" val="9647617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61325-35E8-AA3A-8D84-2FAEAE1A92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811244-500A-159A-CFD7-FBB604BFF2FB}"/>
              </a:ext>
            </a:extLst>
          </p:cNvPr>
          <p:cNvSpPr>
            <a:spLocks noGrp="1"/>
          </p:cNvSpPr>
          <p:nvPr>
            <p:ph type="title"/>
          </p:nvPr>
        </p:nvSpPr>
        <p:spPr/>
        <p:txBody>
          <a:bodyPr/>
          <a:lstStyle/>
          <a:p>
            <a:r>
              <a:rPr lang="en-US" b="1" dirty="0"/>
              <a:t>Large Language Models for Biology</a:t>
            </a:r>
            <a:endParaRPr lang="en-US" dirty="0"/>
          </a:p>
        </p:txBody>
      </p:sp>
      <p:sp>
        <p:nvSpPr>
          <p:cNvPr id="3" name="Content Placeholder 2">
            <a:extLst>
              <a:ext uri="{FF2B5EF4-FFF2-40B4-BE49-F238E27FC236}">
                <a16:creationId xmlns:a16="http://schemas.microsoft.com/office/drawing/2014/main" id="{64C6B783-BCC1-39CD-D248-B0B16B48894C}"/>
              </a:ext>
            </a:extLst>
          </p:cNvPr>
          <p:cNvSpPr>
            <a:spLocks noGrp="1"/>
          </p:cNvSpPr>
          <p:nvPr>
            <p:ph idx="1"/>
          </p:nvPr>
        </p:nvSpPr>
        <p:spPr/>
        <p:txBody>
          <a:bodyPr>
            <a:normAutofit fontScale="70000" lnSpcReduction="20000"/>
          </a:bodyPr>
          <a:lstStyle/>
          <a:p>
            <a:pPr marL="0" indent="0">
              <a:buNone/>
            </a:pPr>
            <a:r>
              <a:rPr lang="en-US" b="1" dirty="0"/>
              <a:t>DNA, Protein, and RNA Foundation Models</a:t>
            </a:r>
          </a:p>
          <a:p>
            <a:r>
              <a:rPr lang="en-US" dirty="0"/>
              <a:t>A separate and rapidly evolving area is the application of transformer architectures — the same underlying technology as large language models like GPT — to biological sequences. Models like ESM2 and ESM3 from Meta AI treat protein sequences the way language models treat text, learning deep representations of protein sequence space from massive databases. These representations can be fine-tuned for specific tasks: predicting protein function, inferring evolutionary relationships, designing novel proteins, or predicting the effects of mutations.</a:t>
            </a:r>
          </a:p>
          <a:p>
            <a:r>
              <a:rPr lang="en-US" dirty="0"/>
              <a:t>For DNA and metagenomics, models like Nucleotide Transformer and the Evo model from Arc Institute treat genomic sequences as a language, enabling tasks like gene prediction, regulatory element identification, and even de novo sequence generation. In metagenomic contexts, these models can help with functional annotation of novel sequences from environmental samples, including the vast diversity of sequences recovered from animal microbiomes that have no close relatives in existing databases.</a:t>
            </a:r>
          </a:p>
          <a:p>
            <a:r>
              <a:rPr lang="en-US" dirty="0"/>
              <a:t>These models are powerful but come with important caveats. They require substantial computational resources to run, they can produce confidently wrong outputs, and their </a:t>
            </a:r>
            <a:r>
              <a:rPr lang="en-US" dirty="0" err="1"/>
              <a:t>behaviour</a:t>
            </a:r>
            <a:r>
              <a:rPr lang="en-US" dirty="0"/>
              <a:t> in understudied taxa — including many animal pathogens and commensals — is less well validated than in human-focused datasets.</a:t>
            </a:r>
          </a:p>
        </p:txBody>
      </p:sp>
    </p:spTree>
    <p:extLst>
      <p:ext uri="{BB962C8B-B14F-4D97-AF65-F5344CB8AC3E}">
        <p14:creationId xmlns:p14="http://schemas.microsoft.com/office/powerpoint/2010/main" val="30696333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03CF-9068-CF39-44D5-AC8ECA04CFC3}"/>
              </a:ext>
            </a:extLst>
          </p:cNvPr>
          <p:cNvSpPr>
            <a:spLocks noGrp="1"/>
          </p:cNvSpPr>
          <p:nvPr>
            <p:ph type="title"/>
          </p:nvPr>
        </p:nvSpPr>
        <p:spPr/>
        <p:txBody>
          <a:bodyPr/>
          <a:lstStyle/>
          <a:p>
            <a:r>
              <a:rPr lang="en-US" b="1" dirty="0"/>
              <a:t>AI-Assisted Coding and Analysis</a:t>
            </a:r>
            <a:br>
              <a:rPr lang="en-US" b="1" dirty="0"/>
            </a:br>
            <a:endParaRPr lang="en-US" dirty="0"/>
          </a:p>
        </p:txBody>
      </p:sp>
      <p:sp>
        <p:nvSpPr>
          <p:cNvPr id="3" name="Content Placeholder 2">
            <a:extLst>
              <a:ext uri="{FF2B5EF4-FFF2-40B4-BE49-F238E27FC236}">
                <a16:creationId xmlns:a16="http://schemas.microsoft.com/office/drawing/2014/main" id="{7EFD5A02-0ADE-BE75-8E17-727BE1E41777}"/>
              </a:ext>
            </a:extLst>
          </p:cNvPr>
          <p:cNvSpPr>
            <a:spLocks noGrp="1"/>
          </p:cNvSpPr>
          <p:nvPr>
            <p:ph idx="1"/>
          </p:nvPr>
        </p:nvSpPr>
        <p:spPr/>
        <p:txBody>
          <a:bodyPr>
            <a:normAutofit fontScale="92500" lnSpcReduction="20000"/>
          </a:bodyPr>
          <a:lstStyle/>
          <a:p>
            <a:pPr marL="0" indent="0">
              <a:buNone/>
            </a:pPr>
            <a:r>
              <a:rPr lang="en-US" dirty="0"/>
              <a:t>A more immediately practical aspect of AI in bioinformatics is the use of large language models as coding assistants. Tools like GitHub Copilot, and conversational models accessed via browser, are genuinely useful for writing and debugging R and Python code, understanding unfamiliar functions, generating boilerplate, and translating between languages. Used well, they accelerate the mechanical parts of analysis.</a:t>
            </a:r>
          </a:p>
          <a:p>
            <a:pPr marL="0" indent="0">
              <a:buNone/>
            </a:pPr>
            <a:r>
              <a:rPr lang="en-US" dirty="0"/>
              <a:t>The critical skill is not learning to use these tools — that is straightforward — but learning to evaluate their outputs. These models generate plausible-looking code and explanations that are sometimes subtly wrong. For a trained bioinformatician, catching these errors requires exactly the kind of conceptual understanding we have been building throughout this course. This is not an argument against using AI tools; it is an argument for understanding what you are doing well enough to verify what the model gives you.</a:t>
            </a:r>
          </a:p>
          <a:p>
            <a:endParaRPr lang="en-US" dirty="0"/>
          </a:p>
        </p:txBody>
      </p:sp>
    </p:spTree>
    <p:extLst>
      <p:ext uri="{BB962C8B-B14F-4D97-AF65-F5344CB8AC3E}">
        <p14:creationId xmlns:p14="http://schemas.microsoft.com/office/powerpoint/2010/main" val="26709803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1688</TotalTime>
  <Words>2349</Words>
  <Application>Microsoft Macintosh PowerPoint</Application>
  <PresentationFormat>Widescreen</PresentationFormat>
  <Paragraphs>106</Paragraphs>
  <Slides>22</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Calibri Light</vt:lpstr>
      <vt:lpstr>Helvetica</vt:lpstr>
      <vt:lpstr>Menlo</vt:lpstr>
      <vt:lpstr>Office Theme</vt:lpstr>
      <vt:lpstr>Bonus: Hot topics in bioinformatics</vt:lpstr>
      <vt:lpstr>PowerPoint Presentation</vt:lpstr>
      <vt:lpstr>PowerPoint Presentation</vt:lpstr>
      <vt:lpstr>Long-Read Sequencing and Its Impact on Microbial Genomics</vt:lpstr>
      <vt:lpstr>PowerPoint Presentation</vt:lpstr>
      <vt:lpstr>Nextflow</vt:lpstr>
      <vt:lpstr>PowerPoint Presentation</vt:lpstr>
      <vt:lpstr>Nextflow components: config files</vt:lpstr>
      <vt:lpstr>Nf-core</vt:lpstr>
      <vt:lpstr>When use nextflow</vt:lpstr>
      <vt:lpstr>PowerPoint Presentation</vt:lpstr>
      <vt:lpstr>The dependency problem</vt:lpstr>
      <vt:lpstr>Introduction to containers</vt:lpstr>
      <vt:lpstr>Singularity vs. docker</vt:lpstr>
      <vt:lpstr>Introduction to containers</vt:lpstr>
      <vt:lpstr>PowerPoint Presentation</vt:lpstr>
      <vt:lpstr>Reproducibility, Open Science, and FAIR Data</vt:lpstr>
      <vt:lpstr>PowerPoint Presentation</vt:lpstr>
      <vt:lpstr>A Field in Rapid Transition </vt:lpstr>
      <vt:lpstr>Alphafold</vt:lpstr>
      <vt:lpstr>Large Language Models for Biology</vt:lpstr>
      <vt:lpstr>AI-Assisted Coding and Analysis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4</cp:revision>
  <dcterms:created xsi:type="dcterms:W3CDTF">2026-04-30T21:19:04Z</dcterms:created>
  <dcterms:modified xsi:type="dcterms:W3CDTF">2026-05-05T17:18:07Z</dcterms:modified>
</cp:coreProperties>
</file>