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313" r:id="rId4"/>
    <p:sldId id="322" r:id="rId5"/>
    <p:sldId id="312" r:id="rId6"/>
    <p:sldId id="314" r:id="rId7"/>
    <p:sldId id="272" r:id="rId8"/>
    <p:sldId id="282" r:id="rId9"/>
    <p:sldId id="315" r:id="rId10"/>
    <p:sldId id="316" r:id="rId11"/>
    <p:sldId id="260" r:id="rId12"/>
    <p:sldId id="303" r:id="rId13"/>
    <p:sldId id="305" r:id="rId14"/>
    <p:sldId id="309" r:id="rId15"/>
    <p:sldId id="311" r:id="rId16"/>
    <p:sldId id="323" r:id="rId17"/>
    <p:sldId id="325" r:id="rId18"/>
    <p:sldId id="326" r:id="rId19"/>
    <p:sldId id="327" r:id="rId20"/>
    <p:sldId id="310" r:id="rId21"/>
    <p:sldId id="318" r:id="rId22"/>
    <p:sldId id="319" r:id="rId23"/>
    <p:sldId id="328" r:id="rId24"/>
    <p:sldId id="320" r:id="rId25"/>
    <p:sldId id="321" r:id="rId26"/>
    <p:sldId id="261" r:id="rId27"/>
    <p:sldId id="286" r:id="rId28"/>
    <p:sldId id="285" r:id="rId29"/>
    <p:sldId id="288" r:id="rId30"/>
    <p:sldId id="287" r:id="rId31"/>
    <p:sldId id="32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11"/>
    <p:restoredTop sz="94799"/>
  </p:normalViewPr>
  <p:slideViewPr>
    <p:cSldViewPr snapToGrid="0">
      <p:cViewPr>
        <p:scale>
          <a:sx n="195" d="100"/>
          <a:sy n="195" d="100"/>
        </p:scale>
        <p:origin x="848" y="6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EE731C-0C21-114A-8380-322858D4D45E}" type="doc">
      <dgm:prSet loTypeId="urn:microsoft.com/office/officeart/2008/layout/VerticalCurvedList" loCatId="" qsTypeId="urn:microsoft.com/office/officeart/2005/8/quickstyle/simple1" qsCatId="simple" csTypeId="urn:microsoft.com/office/officeart/2005/8/colors/colorful3" csCatId="colorful" phldr="1"/>
      <dgm:spPr/>
      <dgm:t>
        <a:bodyPr/>
        <a:lstStyle/>
        <a:p>
          <a:endParaRPr lang="en-US"/>
        </a:p>
      </dgm:t>
    </dgm:pt>
    <dgm:pt modelId="{E9993983-594B-5D46-A137-47CD69EF74FB}">
      <dgm:prSet phldrT="[Text]"/>
      <dgm:spPr/>
      <dgm:t>
        <a:bodyPr/>
        <a:lstStyle/>
        <a:p>
          <a:pPr>
            <a:buFont typeface="+mj-lt"/>
            <a:buAutoNum type="arabicPeriod"/>
          </a:pPr>
          <a:r>
            <a:rPr lang="en-US" dirty="0"/>
            <a:t>Long-Read Sequencing and Its Impact on Microbial Genomics</a:t>
          </a:r>
        </a:p>
      </dgm:t>
    </dgm:pt>
    <dgm:pt modelId="{375BF4DA-A354-164F-A0DB-B266EB3E32E3}" type="parTrans" cxnId="{8A7D08B2-DC1E-2642-8FF5-BE412AA7284F}">
      <dgm:prSet/>
      <dgm:spPr/>
      <dgm:t>
        <a:bodyPr/>
        <a:lstStyle/>
        <a:p>
          <a:endParaRPr lang="en-US"/>
        </a:p>
      </dgm:t>
    </dgm:pt>
    <dgm:pt modelId="{08481039-C1B7-7941-B4D6-CB7D1CB4FDC1}" type="sibTrans" cxnId="{8A7D08B2-DC1E-2642-8FF5-BE412AA7284F}">
      <dgm:prSet/>
      <dgm:spPr/>
      <dgm:t>
        <a:bodyPr/>
        <a:lstStyle/>
        <a:p>
          <a:endParaRPr lang="en-US"/>
        </a:p>
      </dgm:t>
    </dgm:pt>
    <dgm:pt modelId="{926C641C-6039-924B-9F31-E3F972F9173A}">
      <dgm:prSet phldrT="[Text]"/>
      <dgm:spPr/>
      <dgm:t>
        <a:bodyPr/>
        <a:lstStyle/>
        <a:p>
          <a:pPr>
            <a:buFont typeface="+mj-lt"/>
            <a:buAutoNum type="arabicPeriod"/>
          </a:pPr>
          <a:r>
            <a:rPr lang="en-US" dirty="0"/>
            <a:t>Pipeline managers (</a:t>
          </a:r>
          <a:r>
            <a:rPr lang="en-US" dirty="0" err="1"/>
            <a:t>Nextflow</a:t>
          </a:r>
          <a:r>
            <a:rPr lang="en-US" dirty="0"/>
            <a:t>)</a:t>
          </a:r>
        </a:p>
      </dgm:t>
    </dgm:pt>
    <dgm:pt modelId="{2A875728-D226-7340-909C-C80C0A2F06B6}" type="parTrans" cxnId="{CDF66B91-6D09-B04D-BE9B-3FBAD6DD7940}">
      <dgm:prSet/>
      <dgm:spPr/>
      <dgm:t>
        <a:bodyPr/>
        <a:lstStyle/>
        <a:p>
          <a:endParaRPr lang="en-US"/>
        </a:p>
      </dgm:t>
    </dgm:pt>
    <dgm:pt modelId="{C7F10A9F-936E-EB47-BD85-6AA4B5B5F698}" type="sibTrans" cxnId="{CDF66B91-6D09-B04D-BE9B-3FBAD6DD7940}">
      <dgm:prSet/>
      <dgm:spPr/>
      <dgm:t>
        <a:bodyPr/>
        <a:lstStyle/>
        <a:p>
          <a:endParaRPr lang="en-US"/>
        </a:p>
      </dgm:t>
    </dgm:pt>
    <dgm:pt modelId="{708D5209-35BE-1442-BFFB-EDE3516714E6}">
      <dgm:prSet phldrT="[Text]"/>
      <dgm:spPr/>
      <dgm:t>
        <a:bodyPr/>
        <a:lstStyle/>
        <a:p>
          <a:pPr>
            <a:buFont typeface="+mj-lt"/>
            <a:buAutoNum type="arabicPeriod"/>
          </a:pPr>
          <a:r>
            <a:rPr lang="en-US" dirty="0"/>
            <a:t>Software managers (Containers)</a:t>
          </a:r>
        </a:p>
      </dgm:t>
    </dgm:pt>
    <dgm:pt modelId="{B2BC6BC8-A68F-3744-9018-66881EB29988}" type="parTrans" cxnId="{5A487864-C0BC-E94B-8435-4F3802ED50FC}">
      <dgm:prSet/>
      <dgm:spPr/>
      <dgm:t>
        <a:bodyPr/>
        <a:lstStyle/>
        <a:p>
          <a:endParaRPr lang="en-US"/>
        </a:p>
      </dgm:t>
    </dgm:pt>
    <dgm:pt modelId="{B7DAA251-FB16-C643-82FC-98CFA183BBF7}" type="sibTrans" cxnId="{5A487864-C0BC-E94B-8435-4F3802ED50FC}">
      <dgm:prSet/>
      <dgm:spPr/>
      <dgm:t>
        <a:bodyPr/>
        <a:lstStyle/>
        <a:p>
          <a:endParaRPr lang="en-US"/>
        </a:p>
      </dgm:t>
    </dgm:pt>
    <dgm:pt modelId="{792C254E-F898-4B45-9787-F9CA0E86812B}">
      <dgm:prSet phldrT="[Text]"/>
      <dgm:spPr/>
      <dgm:t>
        <a:bodyPr/>
        <a:lstStyle/>
        <a:p>
          <a:pPr>
            <a:buFont typeface="+mj-lt"/>
            <a:buAutoNum type="arabicPeriod"/>
          </a:pPr>
          <a:r>
            <a:rPr lang="en-US" dirty="0"/>
            <a:t>Reproducibility and FAIR data principles </a:t>
          </a:r>
        </a:p>
      </dgm:t>
    </dgm:pt>
    <dgm:pt modelId="{4E1AFD0A-DF1C-B544-9942-6D990277BA22}" type="parTrans" cxnId="{7B3AB362-3781-774F-8CEA-09DEF6E987BC}">
      <dgm:prSet/>
      <dgm:spPr/>
      <dgm:t>
        <a:bodyPr/>
        <a:lstStyle/>
        <a:p>
          <a:endParaRPr lang="en-US"/>
        </a:p>
      </dgm:t>
    </dgm:pt>
    <dgm:pt modelId="{3EE7149A-2199-9C4D-BB26-83EDBE84B238}" type="sibTrans" cxnId="{7B3AB362-3781-774F-8CEA-09DEF6E987BC}">
      <dgm:prSet/>
      <dgm:spPr/>
      <dgm:t>
        <a:bodyPr/>
        <a:lstStyle/>
        <a:p>
          <a:endParaRPr lang="en-US"/>
        </a:p>
      </dgm:t>
    </dgm:pt>
    <dgm:pt modelId="{CF39C22F-7984-AD48-93B4-AD889D2371BD}">
      <dgm:prSet phldrT="[Text]"/>
      <dgm:spPr/>
      <dgm:t>
        <a:bodyPr/>
        <a:lstStyle/>
        <a:p>
          <a:pPr>
            <a:buFont typeface="+mj-lt"/>
            <a:buAutoNum type="arabicPeriod"/>
          </a:pPr>
          <a:r>
            <a:rPr lang="en-US" dirty="0"/>
            <a:t>AI in bioinformatics </a:t>
          </a:r>
        </a:p>
      </dgm:t>
    </dgm:pt>
    <dgm:pt modelId="{C53DD0A2-833F-0E4E-A487-5F8CE43DD19F}" type="parTrans" cxnId="{CCE7E014-4F58-C443-84A0-F568AA97B3FD}">
      <dgm:prSet/>
      <dgm:spPr/>
      <dgm:t>
        <a:bodyPr/>
        <a:lstStyle/>
        <a:p>
          <a:endParaRPr lang="en-US"/>
        </a:p>
      </dgm:t>
    </dgm:pt>
    <dgm:pt modelId="{018A02E8-B105-8E44-BCC9-E026B9F5E56D}" type="sibTrans" cxnId="{CCE7E014-4F58-C443-84A0-F568AA97B3FD}">
      <dgm:prSet/>
      <dgm:spPr/>
      <dgm:t>
        <a:bodyPr/>
        <a:lstStyle/>
        <a:p>
          <a:endParaRPr lang="en-US"/>
        </a:p>
      </dgm:t>
    </dgm:pt>
    <dgm:pt modelId="{E7CA67F5-4E24-0845-B8D5-23EDDB7C9D78}" type="pres">
      <dgm:prSet presAssocID="{01EE731C-0C21-114A-8380-322858D4D45E}" presName="Name0" presStyleCnt="0">
        <dgm:presLayoutVars>
          <dgm:chMax val="7"/>
          <dgm:chPref val="7"/>
          <dgm:dir/>
        </dgm:presLayoutVars>
      </dgm:prSet>
      <dgm:spPr/>
    </dgm:pt>
    <dgm:pt modelId="{8E0CFC5B-FCAD-2C4F-93B7-EECA2DEABB11}" type="pres">
      <dgm:prSet presAssocID="{01EE731C-0C21-114A-8380-322858D4D45E}" presName="Name1" presStyleCnt="0"/>
      <dgm:spPr/>
    </dgm:pt>
    <dgm:pt modelId="{1EBC7CC5-F7B7-674F-A8E0-FAB4A38B5A0A}" type="pres">
      <dgm:prSet presAssocID="{01EE731C-0C21-114A-8380-322858D4D45E}" presName="cycle" presStyleCnt="0"/>
      <dgm:spPr/>
    </dgm:pt>
    <dgm:pt modelId="{9D7E79DD-75D6-A446-9C60-885B0DDEA381}" type="pres">
      <dgm:prSet presAssocID="{01EE731C-0C21-114A-8380-322858D4D45E}" presName="srcNode" presStyleLbl="node1" presStyleIdx="0" presStyleCnt="5"/>
      <dgm:spPr/>
    </dgm:pt>
    <dgm:pt modelId="{3EF9094D-8D1D-0D4E-9374-D3F4CF5857A2}" type="pres">
      <dgm:prSet presAssocID="{01EE731C-0C21-114A-8380-322858D4D45E}" presName="conn" presStyleLbl="parChTrans1D2" presStyleIdx="0" presStyleCnt="1"/>
      <dgm:spPr/>
    </dgm:pt>
    <dgm:pt modelId="{E15C5752-B808-994E-93C5-1CA905415B8A}" type="pres">
      <dgm:prSet presAssocID="{01EE731C-0C21-114A-8380-322858D4D45E}" presName="extraNode" presStyleLbl="node1" presStyleIdx="0" presStyleCnt="5"/>
      <dgm:spPr/>
    </dgm:pt>
    <dgm:pt modelId="{478C322B-2AFB-734B-9A99-A7BE1A179FE7}" type="pres">
      <dgm:prSet presAssocID="{01EE731C-0C21-114A-8380-322858D4D45E}" presName="dstNode" presStyleLbl="node1" presStyleIdx="0" presStyleCnt="5"/>
      <dgm:spPr/>
    </dgm:pt>
    <dgm:pt modelId="{06A26161-9638-EA4A-B209-AF327D1D66FC}" type="pres">
      <dgm:prSet presAssocID="{E9993983-594B-5D46-A137-47CD69EF74FB}" presName="text_1" presStyleLbl="node1" presStyleIdx="0" presStyleCnt="5">
        <dgm:presLayoutVars>
          <dgm:bulletEnabled val="1"/>
        </dgm:presLayoutVars>
      </dgm:prSet>
      <dgm:spPr/>
    </dgm:pt>
    <dgm:pt modelId="{A8082240-2BB9-FA45-919E-9DEBAEB37E32}" type="pres">
      <dgm:prSet presAssocID="{E9993983-594B-5D46-A137-47CD69EF74FB}" presName="accent_1" presStyleCnt="0"/>
      <dgm:spPr/>
    </dgm:pt>
    <dgm:pt modelId="{ABA18D8B-F244-6642-9419-792C75A4DFFC}" type="pres">
      <dgm:prSet presAssocID="{E9993983-594B-5D46-A137-47CD69EF74FB}" presName="accentRepeatNode" presStyleLbl="solidFgAcc1" presStyleIdx="0" presStyleCnt="5"/>
      <dgm:spPr/>
    </dgm:pt>
    <dgm:pt modelId="{42C22C89-AA4E-8446-B902-E351B0C48EE8}" type="pres">
      <dgm:prSet presAssocID="{926C641C-6039-924B-9F31-E3F972F9173A}" presName="text_2" presStyleLbl="node1" presStyleIdx="1" presStyleCnt="5">
        <dgm:presLayoutVars>
          <dgm:bulletEnabled val="1"/>
        </dgm:presLayoutVars>
      </dgm:prSet>
      <dgm:spPr/>
    </dgm:pt>
    <dgm:pt modelId="{EA199A64-6FCE-AC4B-9433-6301C1A7AD64}" type="pres">
      <dgm:prSet presAssocID="{926C641C-6039-924B-9F31-E3F972F9173A}" presName="accent_2" presStyleCnt="0"/>
      <dgm:spPr/>
    </dgm:pt>
    <dgm:pt modelId="{17FFF389-5B58-AC4F-8CDF-80706391AADF}" type="pres">
      <dgm:prSet presAssocID="{926C641C-6039-924B-9F31-E3F972F9173A}" presName="accentRepeatNode" presStyleLbl="solidFgAcc1" presStyleIdx="1" presStyleCnt="5"/>
      <dgm:spPr/>
    </dgm:pt>
    <dgm:pt modelId="{936C2347-CE61-2D4D-AB2B-B1266C3F0B04}" type="pres">
      <dgm:prSet presAssocID="{708D5209-35BE-1442-BFFB-EDE3516714E6}" presName="text_3" presStyleLbl="node1" presStyleIdx="2" presStyleCnt="5">
        <dgm:presLayoutVars>
          <dgm:bulletEnabled val="1"/>
        </dgm:presLayoutVars>
      </dgm:prSet>
      <dgm:spPr/>
    </dgm:pt>
    <dgm:pt modelId="{11A8AC49-BF83-1A4F-8AF2-9E3EFDF357A6}" type="pres">
      <dgm:prSet presAssocID="{708D5209-35BE-1442-BFFB-EDE3516714E6}" presName="accent_3" presStyleCnt="0"/>
      <dgm:spPr/>
    </dgm:pt>
    <dgm:pt modelId="{7DAA9F6C-D181-C943-8EAF-A41F13A7C973}" type="pres">
      <dgm:prSet presAssocID="{708D5209-35BE-1442-BFFB-EDE3516714E6}" presName="accentRepeatNode" presStyleLbl="solidFgAcc1" presStyleIdx="2" presStyleCnt="5"/>
      <dgm:spPr/>
    </dgm:pt>
    <dgm:pt modelId="{EF16B5E3-EC91-4F4D-B160-341AE402D1CF}" type="pres">
      <dgm:prSet presAssocID="{792C254E-F898-4B45-9787-F9CA0E86812B}" presName="text_4" presStyleLbl="node1" presStyleIdx="3" presStyleCnt="5">
        <dgm:presLayoutVars>
          <dgm:bulletEnabled val="1"/>
        </dgm:presLayoutVars>
      </dgm:prSet>
      <dgm:spPr/>
    </dgm:pt>
    <dgm:pt modelId="{C23BF073-C96B-B047-835C-FCD3F5475385}" type="pres">
      <dgm:prSet presAssocID="{792C254E-F898-4B45-9787-F9CA0E86812B}" presName="accent_4" presStyleCnt="0"/>
      <dgm:spPr/>
    </dgm:pt>
    <dgm:pt modelId="{6341410D-162C-8E4A-9802-08BF4BF6E212}" type="pres">
      <dgm:prSet presAssocID="{792C254E-F898-4B45-9787-F9CA0E86812B}" presName="accentRepeatNode" presStyleLbl="solidFgAcc1" presStyleIdx="3" presStyleCnt="5"/>
      <dgm:spPr/>
    </dgm:pt>
    <dgm:pt modelId="{8A2DEF0B-F195-354C-9716-7F6438504718}" type="pres">
      <dgm:prSet presAssocID="{CF39C22F-7984-AD48-93B4-AD889D2371BD}" presName="text_5" presStyleLbl="node1" presStyleIdx="4" presStyleCnt="5">
        <dgm:presLayoutVars>
          <dgm:bulletEnabled val="1"/>
        </dgm:presLayoutVars>
      </dgm:prSet>
      <dgm:spPr/>
    </dgm:pt>
    <dgm:pt modelId="{A4B72396-FAF3-FF43-A261-5CC7DA6DA6E8}" type="pres">
      <dgm:prSet presAssocID="{CF39C22F-7984-AD48-93B4-AD889D2371BD}" presName="accent_5" presStyleCnt="0"/>
      <dgm:spPr/>
    </dgm:pt>
    <dgm:pt modelId="{E3ACD804-393A-5645-B792-50D78CD817E1}" type="pres">
      <dgm:prSet presAssocID="{CF39C22F-7984-AD48-93B4-AD889D2371BD}" presName="accentRepeatNode" presStyleLbl="solidFgAcc1" presStyleIdx="4" presStyleCnt="5"/>
      <dgm:spPr/>
    </dgm:pt>
  </dgm:ptLst>
  <dgm:cxnLst>
    <dgm:cxn modelId="{CCE7E014-4F58-C443-84A0-F568AA97B3FD}" srcId="{01EE731C-0C21-114A-8380-322858D4D45E}" destId="{CF39C22F-7984-AD48-93B4-AD889D2371BD}" srcOrd="4" destOrd="0" parTransId="{C53DD0A2-833F-0E4E-A487-5F8CE43DD19F}" sibTransId="{018A02E8-B105-8E44-BCC9-E026B9F5E56D}"/>
    <dgm:cxn modelId="{B01CC81A-7BD9-3346-8079-0BD8FCF0F7F5}" type="presOf" srcId="{708D5209-35BE-1442-BFFB-EDE3516714E6}" destId="{936C2347-CE61-2D4D-AB2B-B1266C3F0B04}" srcOrd="0" destOrd="0" presId="urn:microsoft.com/office/officeart/2008/layout/VerticalCurvedList"/>
    <dgm:cxn modelId="{FF213F25-2675-3744-BBC1-7453C04FEEED}" type="presOf" srcId="{926C641C-6039-924B-9F31-E3F972F9173A}" destId="{42C22C89-AA4E-8446-B902-E351B0C48EE8}" srcOrd="0" destOrd="0" presId="urn:microsoft.com/office/officeart/2008/layout/VerticalCurvedList"/>
    <dgm:cxn modelId="{480FE12E-6950-AE45-B273-9AA7C1F3ED85}" type="presOf" srcId="{08481039-C1B7-7941-B4D6-CB7D1CB4FDC1}" destId="{3EF9094D-8D1D-0D4E-9374-D3F4CF5857A2}" srcOrd="0" destOrd="0" presId="urn:microsoft.com/office/officeart/2008/layout/VerticalCurvedList"/>
    <dgm:cxn modelId="{7B3AB362-3781-774F-8CEA-09DEF6E987BC}" srcId="{01EE731C-0C21-114A-8380-322858D4D45E}" destId="{792C254E-F898-4B45-9787-F9CA0E86812B}" srcOrd="3" destOrd="0" parTransId="{4E1AFD0A-DF1C-B544-9942-6D990277BA22}" sibTransId="{3EE7149A-2199-9C4D-BB26-83EDBE84B238}"/>
    <dgm:cxn modelId="{5A487864-C0BC-E94B-8435-4F3802ED50FC}" srcId="{01EE731C-0C21-114A-8380-322858D4D45E}" destId="{708D5209-35BE-1442-BFFB-EDE3516714E6}" srcOrd="2" destOrd="0" parTransId="{B2BC6BC8-A68F-3744-9018-66881EB29988}" sibTransId="{B7DAA251-FB16-C643-82FC-98CFA183BBF7}"/>
    <dgm:cxn modelId="{CDF66B91-6D09-B04D-BE9B-3FBAD6DD7940}" srcId="{01EE731C-0C21-114A-8380-322858D4D45E}" destId="{926C641C-6039-924B-9F31-E3F972F9173A}" srcOrd="1" destOrd="0" parTransId="{2A875728-D226-7340-909C-C80C0A2F06B6}" sibTransId="{C7F10A9F-936E-EB47-BD85-6AA4B5B5F698}"/>
    <dgm:cxn modelId="{8A7D08B2-DC1E-2642-8FF5-BE412AA7284F}" srcId="{01EE731C-0C21-114A-8380-322858D4D45E}" destId="{E9993983-594B-5D46-A137-47CD69EF74FB}" srcOrd="0" destOrd="0" parTransId="{375BF4DA-A354-164F-A0DB-B266EB3E32E3}" sibTransId="{08481039-C1B7-7941-B4D6-CB7D1CB4FDC1}"/>
    <dgm:cxn modelId="{BF94D0C3-B7E9-3948-9483-6908DC1C2CE5}" type="presOf" srcId="{792C254E-F898-4B45-9787-F9CA0E86812B}" destId="{EF16B5E3-EC91-4F4D-B160-341AE402D1CF}" srcOrd="0" destOrd="0" presId="urn:microsoft.com/office/officeart/2008/layout/VerticalCurvedList"/>
    <dgm:cxn modelId="{DF00F4EE-EE57-1C40-A5CC-80644F43CEB4}" type="presOf" srcId="{01EE731C-0C21-114A-8380-322858D4D45E}" destId="{E7CA67F5-4E24-0845-B8D5-23EDDB7C9D78}" srcOrd="0" destOrd="0" presId="urn:microsoft.com/office/officeart/2008/layout/VerticalCurvedList"/>
    <dgm:cxn modelId="{B0E64AF7-956D-E342-B027-010ADF5DE431}" type="presOf" srcId="{CF39C22F-7984-AD48-93B4-AD889D2371BD}" destId="{8A2DEF0B-F195-354C-9716-7F6438504718}" srcOrd="0" destOrd="0" presId="urn:microsoft.com/office/officeart/2008/layout/VerticalCurvedList"/>
    <dgm:cxn modelId="{5CC2ACFB-773A-1A40-B157-7FDA06ECB226}" type="presOf" srcId="{E9993983-594B-5D46-A137-47CD69EF74FB}" destId="{06A26161-9638-EA4A-B209-AF327D1D66FC}" srcOrd="0" destOrd="0" presId="urn:microsoft.com/office/officeart/2008/layout/VerticalCurvedList"/>
    <dgm:cxn modelId="{5B30B2DA-3CB4-B040-9081-A7CCA2AA7480}" type="presParOf" srcId="{E7CA67F5-4E24-0845-B8D5-23EDDB7C9D78}" destId="{8E0CFC5B-FCAD-2C4F-93B7-EECA2DEABB11}" srcOrd="0" destOrd="0" presId="urn:microsoft.com/office/officeart/2008/layout/VerticalCurvedList"/>
    <dgm:cxn modelId="{AF854944-5634-B346-A3CF-B44C0117B6A6}" type="presParOf" srcId="{8E0CFC5B-FCAD-2C4F-93B7-EECA2DEABB11}" destId="{1EBC7CC5-F7B7-674F-A8E0-FAB4A38B5A0A}" srcOrd="0" destOrd="0" presId="urn:microsoft.com/office/officeart/2008/layout/VerticalCurvedList"/>
    <dgm:cxn modelId="{8730BF74-1BEB-C649-AAC5-FF1AE46062D3}" type="presParOf" srcId="{1EBC7CC5-F7B7-674F-A8E0-FAB4A38B5A0A}" destId="{9D7E79DD-75D6-A446-9C60-885B0DDEA381}" srcOrd="0" destOrd="0" presId="urn:microsoft.com/office/officeart/2008/layout/VerticalCurvedList"/>
    <dgm:cxn modelId="{9171DD58-C765-3840-88A5-5B94B3D45757}" type="presParOf" srcId="{1EBC7CC5-F7B7-674F-A8E0-FAB4A38B5A0A}" destId="{3EF9094D-8D1D-0D4E-9374-D3F4CF5857A2}" srcOrd="1" destOrd="0" presId="urn:microsoft.com/office/officeart/2008/layout/VerticalCurvedList"/>
    <dgm:cxn modelId="{86FAAC07-420F-9A4C-B80E-91F8CCCB3A93}" type="presParOf" srcId="{1EBC7CC5-F7B7-674F-A8E0-FAB4A38B5A0A}" destId="{E15C5752-B808-994E-93C5-1CA905415B8A}" srcOrd="2" destOrd="0" presId="urn:microsoft.com/office/officeart/2008/layout/VerticalCurvedList"/>
    <dgm:cxn modelId="{12B3024F-7F6E-7949-9777-FD17330E61E9}" type="presParOf" srcId="{1EBC7CC5-F7B7-674F-A8E0-FAB4A38B5A0A}" destId="{478C322B-2AFB-734B-9A99-A7BE1A179FE7}" srcOrd="3" destOrd="0" presId="urn:microsoft.com/office/officeart/2008/layout/VerticalCurvedList"/>
    <dgm:cxn modelId="{8505C6E4-A633-BA4F-BD66-858C1F9E7E4B}" type="presParOf" srcId="{8E0CFC5B-FCAD-2C4F-93B7-EECA2DEABB11}" destId="{06A26161-9638-EA4A-B209-AF327D1D66FC}" srcOrd="1" destOrd="0" presId="urn:microsoft.com/office/officeart/2008/layout/VerticalCurvedList"/>
    <dgm:cxn modelId="{E360B94C-690F-E040-A10F-89F34642FB06}" type="presParOf" srcId="{8E0CFC5B-FCAD-2C4F-93B7-EECA2DEABB11}" destId="{A8082240-2BB9-FA45-919E-9DEBAEB37E32}" srcOrd="2" destOrd="0" presId="urn:microsoft.com/office/officeart/2008/layout/VerticalCurvedList"/>
    <dgm:cxn modelId="{6C64A4F1-8A00-9C48-AA14-5FA7951A888A}" type="presParOf" srcId="{A8082240-2BB9-FA45-919E-9DEBAEB37E32}" destId="{ABA18D8B-F244-6642-9419-792C75A4DFFC}" srcOrd="0" destOrd="0" presId="urn:microsoft.com/office/officeart/2008/layout/VerticalCurvedList"/>
    <dgm:cxn modelId="{64B66E3D-9D60-CD46-9981-0E0562E541D3}" type="presParOf" srcId="{8E0CFC5B-FCAD-2C4F-93B7-EECA2DEABB11}" destId="{42C22C89-AA4E-8446-B902-E351B0C48EE8}" srcOrd="3" destOrd="0" presId="urn:microsoft.com/office/officeart/2008/layout/VerticalCurvedList"/>
    <dgm:cxn modelId="{7E0A2586-911F-3E47-AB38-41262AE8F04C}" type="presParOf" srcId="{8E0CFC5B-FCAD-2C4F-93B7-EECA2DEABB11}" destId="{EA199A64-6FCE-AC4B-9433-6301C1A7AD64}" srcOrd="4" destOrd="0" presId="urn:microsoft.com/office/officeart/2008/layout/VerticalCurvedList"/>
    <dgm:cxn modelId="{0CD1B1DC-DA1A-E941-9930-C9B8126C73A5}" type="presParOf" srcId="{EA199A64-6FCE-AC4B-9433-6301C1A7AD64}" destId="{17FFF389-5B58-AC4F-8CDF-80706391AADF}" srcOrd="0" destOrd="0" presId="urn:microsoft.com/office/officeart/2008/layout/VerticalCurvedList"/>
    <dgm:cxn modelId="{B24B3200-E171-B142-B93C-D59033F5C0C8}" type="presParOf" srcId="{8E0CFC5B-FCAD-2C4F-93B7-EECA2DEABB11}" destId="{936C2347-CE61-2D4D-AB2B-B1266C3F0B04}" srcOrd="5" destOrd="0" presId="urn:microsoft.com/office/officeart/2008/layout/VerticalCurvedList"/>
    <dgm:cxn modelId="{E5B6D239-B2BA-E046-96E5-5D7F7A417AE8}" type="presParOf" srcId="{8E0CFC5B-FCAD-2C4F-93B7-EECA2DEABB11}" destId="{11A8AC49-BF83-1A4F-8AF2-9E3EFDF357A6}" srcOrd="6" destOrd="0" presId="urn:microsoft.com/office/officeart/2008/layout/VerticalCurvedList"/>
    <dgm:cxn modelId="{0DC9855A-F9B9-6140-9011-F09AF74051A2}" type="presParOf" srcId="{11A8AC49-BF83-1A4F-8AF2-9E3EFDF357A6}" destId="{7DAA9F6C-D181-C943-8EAF-A41F13A7C973}" srcOrd="0" destOrd="0" presId="urn:microsoft.com/office/officeart/2008/layout/VerticalCurvedList"/>
    <dgm:cxn modelId="{9882BB24-36F5-B64F-BA32-0BB4F8B3BCEF}" type="presParOf" srcId="{8E0CFC5B-FCAD-2C4F-93B7-EECA2DEABB11}" destId="{EF16B5E3-EC91-4F4D-B160-341AE402D1CF}" srcOrd="7" destOrd="0" presId="urn:microsoft.com/office/officeart/2008/layout/VerticalCurvedList"/>
    <dgm:cxn modelId="{2C937873-2D7C-964D-8B80-7EA7EA8CDD3F}" type="presParOf" srcId="{8E0CFC5B-FCAD-2C4F-93B7-EECA2DEABB11}" destId="{C23BF073-C96B-B047-835C-FCD3F5475385}" srcOrd="8" destOrd="0" presId="urn:microsoft.com/office/officeart/2008/layout/VerticalCurvedList"/>
    <dgm:cxn modelId="{50F9D018-177C-B343-B338-42E90E912B25}" type="presParOf" srcId="{C23BF073-C96B-B047-835C-FCD3F5475385}" destId="{6341410D-162C-8E4A-9802-08BF4BF6E212}" srcOrd="0" destOrd="0" presId="urn:microsoft.com/office/officeart/2008/layout/VerticalCurvedList"/>
    <dgm:cxn modelId="{A0993647-32B9-0147-8888-5845EEE1882B}" type="presParOf" srcId="{8E0CFC5B-FCAD-2C4F-93B7-EECA2DEABB11}" destId="{8A2DEF0B-F195-354C-9716-7F6438504718}" srcOrd="9" destOrd="0" presId="urn:microsoft.com/office/officeart/2008/layout/VerticalCurvedList"/>
    <dgm:cxn modelId="{9840575A-E434-C143-8BA9-DC89D3AEF5FA}" type="presParOf" srcId="{8E0CFC5B-FCAD-2C4F-93B7-EECA2DEABB11}" destId="{A4B72396-FAF3-FF43-A261-5CC7DA6DA6E8}" srcOrd="10" destOrd="0" presId="urn:microsoft.com/office/officeart/2008/layout/VerticalCurvedList"/>
    <dgm:cxn modelId="{92D0F9BA-20B9-A84B-ADA6-23A39A6CABC3}" type="presParOf" srcId="{A4B72396-FAF3-FF43-A261-5CC7DA6DA6E8}" destId="{E3ACD804-393A-5645-B792-50D78CD817E1}"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F9094D-8D1D-0D4E-9374-D3F4CF5857A2}">
      <dsp:nvSpPr>
        <dsp:cNvPr id="0" name=""/>
        <dsp:cNvSpPr/>
      </dsp:nvSpPr>
      <dsp:spPr>
        <a:xfrm>
          <a:off x="-6126981" y="-937410"/>
          <a:ext cx="7293488" cy="7293488"/>
        </a:xfrm>
        <a:prstGeom prst="blockArc">
          <a:avLst>
            <a:gd name="adj1" fmla="val 18900000"/>
            <a:gd name="adj2" fmla="val 2700000"/>
            <a:gd name="adj3" fmla="val 296"/>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A26161-9638-EA4A-B209-AF327D1D66FC}">
      <dsp:nvSpPr>
        <dsp:cNvPr id="0" name=""/>
        <dsp:cNvSpPr/>
      </dsp:nvSpPr>
      <dsp:spPr>
        <a:xfrm>
          <a:off x="509717" y="338558"/>
          <a:ext cx="7541700" cy="677550"/>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7805" tIns="55880" rIns="55880" bIns="55880" numCol="1" spcCol="1270" anchor="ctr" anchorCtr="0">
          <a:noAutofit/>
        </a:bodyPr>
        <a:lstStyle/>
        <a:p>
          <a:pPr marL="0" lvl="0" indent="0" algn="l" defTabSz="977900">
            <a:lnSpc>
              <a:spcPct val="90000"/>
            </a:lnSpc>
            <a:spcBef>
              <a:spcPct val="0"/>
            </a:spcBef>
            <a:spcAft>
              <a:spcPct val="35000"/>
            </a:spcAft>
            <a:buFont typeface="+mj-lt"/>
            <a:buNone/>
          </a:pPr>
          <a:r>
            <a:rPr lang="en-US" sz="2200" kern="1200" dirty="0"/>
            <a:t>Long-Read Sequencing and Its Impact on Microbial Genomics</a:t>
          </a:r>
        </a:p>
      </dsp:txBody>
      <dsp:txXfrm>
        <a:off x="509717" y="338558"/>
        <a:ext cx="7541700" cy="677550"/>
      </dsp:txXfrm>
    </dsp:sp>
    <dsp:sp modelId="{ABA18D8B-F244-6642-9419-792C75A4DFFC}">
      <dsp:nvSpPr>
        <dsp:cNvPr id="0" name=""/>
        <dsp:cNvSpPr/>
      </dsp:nvSpPr>
      <dsp:spPr>
        <a:xfrm>
          <a:off x="86248" y="253864"/>
          <a:ext cx="846937" cy="846937"/>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2C22C89-AA4E-8446-B902-E351B0C48EE8}">
      <dsp:nvSpPr>
        <dsp:cNvPr id="0" name=""/>
        <dsp:cNvSpPr/>
      </dsp:nvSpPr>
      <dsp:spPr>
        <a:xfrm>
          <a:off x="995230" y="1354558"/>
          <a:ext cx="7056187" cy="677550"/>
        </a:xfrm>
        <a:prstGeom prst="rect">
          <a:avLst/>
        </a:prstGeom>
        <a:solidFill>
          <a:schemeClr val="accent3">
            <a:hueOff val="677650"/>
            <a:satOff val="25000"/>
            <a:lumOff val="-36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7805" tIns="55880" rIns="55880" bIns="55880" numCol="1" spcCol="1270" anchor="ctr" anchorCtr="0">
          <a:noAutofit/>
        </a:bodyPr>
        <a:lstStyle/>
        <a:p>
          <a:pPr marL="0" lvl="0" indent="0" algn="l" defTabSz="977900">
            <a:lnSpc>
              <a:spcPct val="90000"/>
            </a:lnSpc>
            <a:spcBef>
              <a:spcPct val="0"/>
            </a:spcBef>
            <a:spcAft>
              <a:spcPct val="35000"/>
            </a:spcAft>
            <a:buFont typeface="+mj-lt"/>
            <a:buNone/>
          </a:pPr>
          <a:r>
            <a:rPr lang="en-US" sz="2200" kern="1200" dirty="0"/>
            <a:t>Pipeline managers (</a:t>
          </a:r>
          <a:r>
            <a:rPr lang="en-US" sz="2200" kern="1200" dirty="0" err="1"/>
            <a:t>Nextflow</a:t>
          </a:r>
          <a:r>
            <a:rPr lang="en-US" sz="2200" kern="1200" dirty="0"/>
            <a:t>)</a:t>
          </a:r>
        </a:p>
      </dsp:txBody>
      <dsp:txXfrm>
        <a:off x="995230" y="1354558"/>
        <a:ext cx="7056187" cy="677550"/>
      </dsp:txXfrm>
    </dsp:sp>
    <dsp:sp modelId="{17FFF389-5B58-AC4F-8CDF-80706391AADF}">
      <dsp:nvSpPr>
        <dsp:cNvPr id="0" name=""/>
        <dsp:cNvSpPr/>
      </dsp:nvSpPr>
      <dsp:spPr>
        <a:xfrm>
          <a:off x="571761" y="1269864"/>
          <a:ext cx="846937" cy="846937"/>
        </a:xfrm>
        <a:prstGeom prst="ellipse">
          <a:avLst/>
        </a:prstGeom>
        <a:solidFill>
          <a:schemeClr val="lt1">
            <a:hueOff val="0"/>
            <a:satOff val="0"/>
            <a:lumOff val="0"/>
            <a:alphaOff val="0"/>
          </a:schemeClr>
        </a:solidFill>
        <a:ln w="12700" cap="flat" cmpd="sng" algn="ctr">
          <a:solidFill>
            <a:schemeClr val="accent3">
              <a:hueOff val="677650"/>
              <a:satOff val="25000"/>
              <a:lumOff val="-3676"/>
              <a:alphaOff val="0"/>
            </a:schemeClr>
          </a:solidFill>
          <a:prstDash val="solid"/>
          <a:miter lim="800000"/>
        </a:ln>
        <a:effectLst/>
      </dsp:spPr>
      <dsp:style>
        <a:lnRef idx="2">
          <a:scrgbClr r="0" g="0" b="0"/>
        </a:lnRef>
        <a:fillRef idx="1">
          <a:scrgbClr r="0" g="0" b="0"/>
        </a:fillRef>
        <a:effectRef idx="0">
          <a:scrgbClr r="0" g="0" b="0"/>
        </a:effectRef>
        <a:fontRef idx="minor"/>
      </dsp:style>
    </dsp:sp>
    <dsp:sp modelId="{936C2347-CE61-2D4D-AB2B-B1266C3F0B04}">
      <dsp:nvSpPr>
        <dsp:cNvPr id="0" name=""/>
        <dsp:cNvSpPr/>
      </dsp:nvSpPr>
      <dsp:spPr>
        <a:xfrm>
          <a:off x="1144243" y="2370558"/>
          <a:ext cx="6907174" cy="677550"/>
        </a:xfrm>
        <a:prstGeom prst="rect">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7805" tIns="55880" rIns="55880" bIns="55880" numCol="1" spcCol="1270" anchor="ctr" anchorCtr="0">
          <a:noAutofit/>
        </a:bodyPr>
        <a:lstStyle/>
        <a:p>
          <a:pPr marL="0" lvl="0" indent="0" algn="l" defTabSz="977900">
            <a:lnSpc>
              <a:spcPct val="90000"/>
            </a:lnSpc>
            <a:spcBef>
              <a:spcPct val="0"/>
            </a:spcBef>
            <a:spcAft>
              <a:spcPct val="35000"/>
            </a:spcAft>
            <a:buFont typeface="+mj-lt"/>
            <a:buNone/>
          </a:pPr>
          <a:r>
            <a:rPr lang="en-US" sz="2200" kern="1200" dirty="0"/>
            <a:t>Software managers (Containers)</a:t>
          </a:r>
        </a:p>
      </dsp:txBody>
      <dsp:txXfrm>
        <a:off x="1144243" y="2370558"/>
        <a:ext cx="6907174" cy="677550"/>
      </dsp:txXfrm>
    </dsp:sp>
    <dsp:sp modelId="{7DAA9F6C-D181-C943-8EAF-A41F13A7C973}">
      <dsp:nvSpPr>
        <dsp:cNvPr id="0" name=""/>
        <dsp:cNvSpPr/>
      </dsp:nvSpPr>
      <dsp:spPr>
        <a:xfrm>
          <a:off x="720774" y="2285864"/>
          <a:ext cx="846937" cy="846937"/>
        </a:xfrm>
        <a:prstGeom prst="ellipse">
          <a:avLst/>
        </a:prstGeom>
        <a:solidFill>
          <a:schemeClr val="lt1">
            <a:hueOff val="0"/>
            <a:satOff val="0"/>
            <a:lumOff val="0"/>
            <a:alphaOff val="0"/>
          </a:schemeClr>
        </a:solidFill>
        <a:ln w="12700" cap="flat" cmpd="sng" algn="ctr">
          <a:solidFill>
            <a:schemeClr val="accent3">
              <a:hueOff val="1355300"/>
              <a:satOff val="50000"/>
              <a:lumOff val="-7353"/>
              <a:alphaOff val="0"/>
            </a:schemeClr>
          </a:solidFill>
          <a:prstDash val="solid"/>
          <a:miter lim="800000"/>
        </a:ln>
        <a:effectLst/>
      </dsp:spPr>
      <dsp:style>
        <a:lnRef idx="2">
          <a:scrgbClr r="0" g="0" b="0"/>
        </a:lnRef>
        <a:fillRef idx="1">
          <a:scrgbClr r="0" g="0" b="0"/>
        </a:fillRef>
        <a:effectRef idx="0">
          <a:scrgbClr r="0" g="0" b="0"/>
        </a:effectRef>
        <a:fontRef idx="minor"/>
      </dsp:style>
    </dsp:sp>
    <dsp:sp modelId="{EF16B5E3-EC91-4F4D-B160-341AE402D1CF}">
      <dsp:nvSpPr>
        <dsp:cNvPr id="0" name=""/>
        <dsp:cNvSpPr/>
      </dsp:nvSpPr>
      <dsp:spPr>
        <a:xfrm>
          <a:off x="995230" y="3386558"/>
          <a:ext cx="7056187" cy="677550"/>
        </a:xfrm>
        <a:prstGeom prst="rect">
          <a:avLst/>
        </a:prstGeom>
        <a:solidFill>
          <a:schemeClr val="accent3">
            <a:hueOff val="2032949"/>
            <a:satOff val="75000"/>
            <a:lumOff val="-110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7805" tIns="55880" rIns="55880" bIns="55880" numCol="1" spcCol="1270" anchor="ctr" anchorCtr="0">
          <a:noAutofit/>
        </a:bodyPr>
        <a:lstStyle/>
        <a:p>
          <a:pPr marL="0" lvl="0" indent="0" algn="l" defTabSz="977900">
            <a:lnSpc>
              <a:spcPct val="90000"/>
            </a:lnSpc>
            <a:spcBef>
              <a:spcPct val="0"/>
            </a:spcBef>
            <a:spcAft>
              <a:spcPct val="35000"/>
            </a:spcAft>
            <a:buFont typeface="+mj-lt"/>
            <a:buNone/>
          </a:pPr>
          <a:r>
            <a:rPr lang="en-US" sz="2200" kern="1200" dirty="0"/>
            <a:t>Reproducibility and FAIR data principles </a:t>
          </a:r>
        </a:p>
      </dsp:txBody>
      <dsp:txXfrm>
        <a:off x="995230" y="3386558"/>
        <a:ext cx="7056187" cy="677550"/>
      </dsp:txXfrm>
    </dsp:sp>
    <dsp:sp modelId="{6341410D-162C-8E4A-9802-08BF4BF6E212}">
      <dsp:nvSpPr>
        <dsp:cNvPr id="0" name=""/>
        <dsp:cNvSpPr/>
      </dsp:nvSpPr>
      <dsp:spPr>
        <a:xfrm>
          <a:off x="571761" y="3301864"/>
          <a:ext cx="846937" cy="846937"/>
        </a:xfrm>
        <a:prstGeom prst="ellipse">
          <a:avLst/>
        </a:prstGeom>
        <a:solidFill>
          <a:schemeClr val="lt1">
            <a:hueOff val="0"/>
            <a:satOff val="0"/>
            <a:lumOff val="0"/>
            <a:alphaOff val="0"/>
          </a:schemeClr>
        </a:solidFill>
        <a:ln w="12700" cap="flat" cmpd="sng" algn="ctr">
          <a:solidFill>
            <a:schemeClr val="accent3">
              <a:hueOff val="2032949"/>
              <a:satOff val="75000"/>
              <a:lumOff val="-11029"/>
              <a:alphaOff val="0"/>
            </a:schemeClr>
          </a:solidFill>
          <a:prstDash val="solid"/>
          <a:miter lim="800000"/>
        </a:ln>
        <a:effectLst/>
      </dsp:spPr>
      <dsp:style>
        <a:lnRef idx="2">
          <a:scrgbClr r="0" g="0" b="0"/>
        </a:lnRef>
        <a:fillRef idx="1">
          <a:scrgbClr r="0" g="0" b="0"/>
        </a:fillRef>
        <a:effectRef idx="0">
          <a:scrgbClr r="0" g="0" b="0"/>
        </a:effectRef>
        <a:fontRef idx="minor"/>
      </dsp:style>
    </dsp:sp>
    <dsp:sp modelId="{8A2DEF0B-F195-354C-9716-7F6438504718}">
      <dsp:nvSpPr>
        <dsp:cNvPr id="0" name=""/>
        <dsp:cNvSpPr/>
      </dsp:nvSpPr>
      <dsp:spPr>
        <a:xfrm>
          <a:off x="509717" y="4402558"/>
          <a:ext cx="7541700" cy="677550"/>
        </a:xfrm>
        <a:prstGeom prst="rect">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7805" tIns="55880" rIns="55880" bIns="55880" numCol="1" spcCol="1270" anchor="ctr" anchorCtr="0">
          <a:noAutofit/>
        </a:bodyPr>
        <a:lstStyle/>
        <a:p>
          <a:pPr marL="0" lvl="0" indent="0" algn="l" defTabSz="977900">
            <a:lnSpc>
              <a:spcPct val="90000"/>
            </a:lnSpc>
            <a:spcBef>
              <a:spcPct val="0"/>
            </a:spcBef>
            <a:spcAft>
              <a:spcPct val="35000"/>
            </a:spcAft>
            <a:buFont typeface="+mj-lt"/>
            <a:buNone/>
          </a:pPr>
          <a:r>
            <a:rPr lang="en-US" sz="2200" kern="1200" dirty="0"/>
            <a:t>AI in bioinformatics </a:t>
          </a:r>
        </a:p>
      </dsp:txBody>
      <dsp:txXfrm>
        <a:off x="509717" y="4402558"/>
        <a:ext cx="7541700" cy="677550"/>
      </dsp:txXfrm>
    </dsp:sp>
    <dsp:sp modelId="{E3ACD804-393A-5645-B792-50D78CD817E1}">
      <dsp:nvSpPr>
        <dsp:cNvPr id="0" name=""/>
        <dsp:cNvSpPr/>
      </dsp:nvSpPr>
      <dsp:spPr>
        <a:xfrm>
          <a:off x="86248" y="4317864"/>
          <a:ext cx="846937" cy="846937"/>
        </a:xfrm>
        <a:prstGeom prst="ellipse">
          <a:avLst/>
        </a:prstGeom>
        <a:solidFill>
          <a:schemeClr val="lt1">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6A113-54A1-1943-B75C-AF78DF521A95}" type="datetimeFigureOut">
              <a:rPr lang="en-US" smtClean="0"/>
              <a:t>5/18/26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ECDC5F-13D1-1842-B2D4-75E829F601D1}" type="slidenum">
              <a:rPr lang="en-US" smtClean="0"/>
              <a:t>‹#›</a:t>
            </a:fld>
            <a:endParaRPr lang="en-US"/>
          </a:p>
        </p:txBody>
      </p:sp>
    </p:spTree>
    <p:extLst>
      <p:ext uri="{BB962C8B-B14F-4D97-AF65-F5344CB8AC3E}">
        <p14:creationId xmlns:p14="http://schemas.microsoft.com/office/powerpoint/2010/main" val="1829525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DA2D3-1664-9901-1501-0AB5DD4150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FDD826-CE25-BE2F-C97C-05CB40579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2DAFD0-FAC3-0C7B-C434-72C01DD0EA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6B16F1-668C-1606-75D6-2FF207251C03}"/>
              </a:ext>
            </a:extLst>
          </p:cNvPr>
          <p:cNvSpPr>
            <a:spLocks noGrp="1"/>
          </p:cNvSpPr>
          <p:nvPr>
            <p:ph type="sldNum" sz="quarter" idx="5"/>
          </p:nvPr>
        </p:nvSpPr>
        <p:spPr/>
        <p:txBody>
          <a:bodyPr/>
          <a:lstStyle/>
          <a:p>
            <a:fld id="{13FC26C8-C37B-D543-9AB9-4FE91B5DFE38}" type="slidenum">
              <a:rPr lang="en-US" smtClean="0"/>
              <a:t>6</a:t>
            </a:fld>
            <a:endParaRPr lang="en-US"/>
          </a:p>
        </p:txBody>
      </p:sp>
    </p:spTree>
    <p:extLst>
      <p:ext uri="{BB962C8B-B14F-4D97-AF65-F5344CB8AC3E}">
        <p14:creationId xmlns:p14="http://schemas.microsoft.com/office/powerpoint/2010/main" val="2741496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ECDC5F-13D1-1842-B2D4-75E829F601D1}" type="slidenum">
              <a:rPr lang="en-US" smtClean="0"/>
              <a:t>11</a:t>
            </a:fld>
            <a:endParaRPr lang="en-US"/>
          </a:p>
        </p:txBody>
      </p:sp>
    </p:spTree>
    <p:extLst>
      <p:ext uri="{BB962C8B-B14F-4D97-AF65-F5344CB8AC3E}">
        <p14:creationId xmlns:p14="http://schemas.microsoft.com/office/powerpoint/2010/main" val="2244543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635D4-F734-C573-2A24-CD94C09A33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EB2439-E69F-F5C4-9126-5E66298AF7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68540D-111F-DAA4-E2E6-7A34FFD2A0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5614E0-5C3B-5B0E-C407-AC2A8145148C}"/>
              </a:ext>
            </a:extLst>
          </p:cNvPr>
          <p:cNvSpPr>
            <a:spLocks noGrp="1"/>
          </p:cNvSpPr>
          <p:nvPr>
            <p:ph type="sldNum" sz="quarter" idx="5"/>
          </p:nvPr>
        </p:nvSpPr>
        <p:spPr/>
        <p:txBody>
          <a:bodyPr/>
          <a:lstStyle/>
          <a:p>
            <a:fld id="{13FC26C8-C37B-D543-9AB9-4FE91B5DFE38}" type="slidenum">
              <a:rPr lang="en-US" smtClean="0"/>
              <a:t>12</a:t>
            </a:fld>
            <a:endParaRPr lang="en-US"/>
          </a:p>
        </p:txBody>
      </p:sp>
    </p:spTree>
    <p:extLst>
      <p:ext uri="{BB962C8B-B14F-4D97-AF65-F5344CB8AC3E}">
        <p14:creationId xmlns:p14="http://schemas.microsoft.com/office/powerpoint/2010/main" val="27952247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FCC0C-E0D9-F3F0-5FAB-084E6BCE81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C3E39-CBCB-34D5-5F6B-BCAA79058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4E61E1-4FFC-B3AC-A1C3-A0B772F4EE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DA5970-D072-FD1F-21FF-0BD6BF068E3F}"/>
              </a:ext>
            </a:extLst>
          </p:cNvPr>
          <p:cNvSpPr>
            <a:spLocks noGrp="1"/>
          </p:cNvSpPr>
          <p:nvPr>
            <p:ph type="sldNum" sz="quarter" idx="5"/>
          </p:nvPr>
        </p:nvSpPr>
        <p:spPr/>
        <p:txBody>
          <a:bodyPr/>
          <a:lstStyle/>
          <a:p>
            <a:fld id="{13FC26C8-C37B-D543-9AB9-4FE91B5DFE38}" type="slidenum">
              <a:rPr lang="en-US" smtClean="0"/>
              <a:t>13</a:t>
            </a:fld>
            <a:endParaRPr lang="en-US"/>
          </a:p>
        </p:txBody>
      </p:sp>
    </p:spTree>
    <p:extLst>
      <p:ext uri="{BB962C8B-B14F-4D97-AF65-F5344CB8AC3E}">
        <p14:creationId xmlns:p14="http://schemas.microsoft.com/office/powerpoint/2010/main" val="4753968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4F4C-2561-D993-E2AF-6C2F448C37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158F02-F0A9-5C7F-59D3-45CF137DF2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A752F2-053D-BAF3-4747-65889D1D8A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6C9165-5886-2A22-7869-3C7F2BB53B87}"/>
              </a:ext>
            </a:extLst>
          </p:cNvPr>
          <p:cNvSpPr>
            <a:spLocks noGrp="1"/>
          </p:cNvSpPr>
          <p:nvPr>
            <p:ph type="sldNum" sz="quarter" idx="5"/>
          </p:nvPr>
        </p:nvSpPr>
        <p:spPr/>
        <p:txBody>
          <a:bodyPr/>
          <a:lstStyle/>
          <a:p>
            <a:fld id="{13FC26C8-C37B-D543-9AB9-4FE91B5DFE38}" type="slidenum">
              <a:rPr lang="en-US" smtClean="0"/>
              <a:t>14</a:t>
            </a:fld>
            <a:endParaRPr lang="en-US"/>
          </a:p>
        </p:txBody>
      </p:sp>
    </p:spTree>
    <p:extLst>
      <p:ext uri="{BB962C8B-B14F-4D97-AF65-F5344CB8AC3E}">
        <p14:creationId xmlns:p14="http://schemas.microsoft.com/office/powerpoint/2010/main" val="21299205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Few areas of biology have been as dramatically affected by recent advances in machine learning as bioinformatics. It is worth being precise about what we mean, because the term artificial intelligence is used loosely to cover everything from classical statistical models to large language models. We will focus on the developments that are most immediately relevant and most likely to affect your work.</a:t>
            </a:r>
          </a:p>
          <a:p>
            <a:endParaRPr lang="en-US" dirty="0"/>
          </a:p>
        </p:txBody>
      </p:sp>
      <p:sp>
        <p:nvSpPr>
          <p:cNvPr id="4" name="Slide Number Placeholder 3"/>
          <p:cNvSpPr>
            <a:spLocks noGrp="1"/>
          </p:cNvSpPr>
          <p:nvPr>
            <p:ph type="sldNum" sz="quarter" idx="5"/>
          </p:nvPr>
        </p:nvSpPr>
        <p:spPr/>
        <p:txBody>
          <a:bodyPr/>
          <a:lstStyle/>
          <a:p>
            <a:fld id="{02ECDC5F-13D1-1842-B2D4-75E829F601D1}" type="slidenum">
              <a:rPr lang="en-US" smtClean="0"/>
              <a:t>21</a:t>
            </a:fld>
            <a:endParaRPr lang="en-US"/>
          </a:p>
        </p:txBody>
      </p:sp>
    </p:spTree>
    <p:extLst>
      <p:ext uri="{BB962C8B-B14F-4D97-AF65-F5344CB8AC3E}">
        <p14:creationId xmlns:p14="http://schemas.microsoft.com/office/powerpoint/2010/main" val="415145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AlphaFold is one of the most celebrated applications of AI in science. Here's how they're connected:</a:t>
            </a:r>
          </a:p>
          <a:p>
            <a:r>
              <a:rPr lang="en-US" b="1" dirty="0"/>
              <a:t>What AlphaFold is:</a:t>
            </a:r>
            <a:r>
              <a:rPr lang="en-US" dirty="0"/>
              <a:t> A protein structure prediction system developed by Google DeepMind that solves a 50-year-old grand challenge in biology — predicting a protein's 3D shape from its amino acid sequence.</a:t>
            </a:r>
          </a:p>
          <a:p>
            <a:r>
              <a:rPr lang="en-US" b="1" dirty="0"/>
              <a:t>The AI behind it:</a:t>
            </a:r>
            <a:r>
              <a:rPr lang="en-US" dirty="0"/>
              <a:t> AlphaFold uses deep learning, specifically a transformer-based neural network architecture (similar to what powers large language models). It was trained on the Protein Data Bank, a repository of experimentally determined protein structures, and learned to predict how proteins fold with remarkable accuracy.</a:t>
            </a:r>
          </a:p>
          <a:p>
            <a:r>
              <a:rPr lang="en-US" b="1" dirty="0"/>
              <a:t>Why it was a breakthrough:</a:t>
            </a:r>
            <a:r>
              <a:rPr lang="en-US" dirty="0"/>
              <a:t> Before AlphaFold, determining protein structures experimentally (via X-ray crystallography or cryo-EM) took years and cost millions. AlphaFold 2 (released 2020–2021) achieved accuracy rivaling experimental methods, which stunned the scientific community. It won the CASP14 competition (a biennial protein-structure prediction contest) by a massive margin.</a:t>
            </a:r>
          </a:p>
          <a:p>
            <a:r>
              <a:rPr lang="en-US" b="1" dirty="0"/>
              <a:t>Impact:</a:t>
            </a:r>
            <a:r>
              <a:rPr lang="en-US" dirty="0"/>
              <a:t> DeepMind made AlphaFold's predictions freely available, releasing structures for over 200 million proteins — essentially most known proteins across almost all organisms. This has accelerated research in drug discovery, understanding diseases, enzyme engineering, and vaccine development.</a:t>
            </a:r>
          </a:p>
          <a:p>
            <a:r>
              <a:rPr lang="en-US" b="1" dirty="0"/>
              <a:t>Recognition:</a:t>
            </a:r>
            <a:r>
              <a:rPr lang="en-US" dirty="0"/>
              <a:t> The work earned Demis Hassabis (DeepMind's CEO) and John Jumper (lead researcher) a share of the 2024 Nobel Prize in Chemistry — a remarkable milestone for AI-driven science.</a:t>
            </a:r>
          </a:p>
          <a:p>
            <a:r>
              <a:rPr lang="en-US" dirty="0"/>
              <a:t>AlphaFold is widely regarded as a landmark moment showing that AI can make genuine scientific discoveries, not just assist with data analysis.</a:t>
            </a:r>
          </a:p>
          <a:p>
            <a:endParaRPr lang="en-US" dirty="0"/>
          </a:p>
        </p:txBody>
      </p:sp>
      <p:sp>
        <p:nvSpPr>
          <p:cNvPr id="4" name="Slide Number Placeholder 3"/>
          <p:cNvSpPr>
            <a:spLocks noGrp="1"/>
          </p:cNvSpPr>
          <p:nvPr>
            <p:ph type="sldNum" sz="quarter" idx="5"/>
          </p:nvPr>
        </p:nvSpPr>
        <p:spPr/>
        <p:txBody>
          <a:bodyPr/>
          <a:lstStyle/>
          <a:p>
            <a:fld id="{02ECDC5F-13D1-1842-B2D4-75E829F601D1}" type="slidenum">
              <a:rPr lang="en-US" smtClean="0"/>
              <a:t>22</a:t>
            </a:fld>
            <a:endParaRPr lang="en-US"/>
          </a:p>
        </p:txBody>
      </p:sp>
    </p:spTree>
    <p:extLst>
      <p:ext uri="{BB962C8B-B14F-4D97-AF65-F5344CB8AC3E}">
        <p14:creationId xmlns:p14="http://schemas.microsoft.com/office/powerpoint/2010/main" val="1242572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AD501-377D-7711-0D9A-9A571E4E31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94E6C7-D738-608B-7244-EB762A7744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0B0BD8-D7B9-F65F-4CA9-CA1FBA2C365E}"/>
              </a:ext>
            </a:extLst>
          </p:cNvPr>
          <p:cNvSpPr>
            <a:spLocks noGrp="1"/>
          </p:cNvSpPr>
          <p:nvPr>
            <p:ph type="body" idx="1"/>
          </p:nvPr>
        </p:nvSpPr>
        <p:spPr/>
        <p:txBody>
          <a:bodyPr/>
          <a:lstStyle/>
          <a:p>
            <a:r>
              <a:rPr lang="en-US" dirty="0"/>
              <a:t>Top to bottom and Left to right: </a:t>
            </a:r>
          </a:p>
          <a:p>
            <a:r>
              <a:rPr lang="en-US" dirty="0"/>
              <a:t>https://</a:t>
            </a:r>
            <a:r>
              <a:rPr lang="en-US" dirty="0" err="1"/>
              <a:t>journals.asm.org</a:t>
            </a:r>
            <a:r>
              <a:rPr lang="en-US" dirty="0"/>
              <a:t>/</a:t>
            </a:r>
            <a:r>
              <a:rPr lang="en-US" dirty="0" err="1"/>
              <a:t>doi</a:t>
            </a:r>
            <a:r>
              <a:rPr lang="en-US" dirty="0"/>
              <a:t>/full/10.1128/aem.00354-24</a:t>
            </a:r>
          </a:p>
          <a:p>
            <a:r>
              <a:rPr lang="en-US" dirty="0"/>
              <a:t>https://</a:t>
            </a:r>
            <a:r>
              <a:rPr lang="en-US" dirty="0" err="1"/>
              <a:t>www.sciencedirect.com</a:t>
            </a:r>
            <a:r>
              <a:rPr lang="en-US" dirty="0"/>
              <a:t>/science/article/</a:t>
            </a:r>
            <a:r>
              <a:rPr lang="en-US" dirty="0" err="1"/>
              <a:t>pii</a:t>
            </a:r>
            <a:r>
              <a:rPr lang="en-US" dirty="0"/>
              <a:t>/S0304389425003061#fig0005</a:t>
            </a:r>
          </a:p>
          <a:p>
            <a:r>
              <a:rPr lang="en-US" dirty="0"/>
              <a:t>https://</a:t>
            </a:r>
            <a:r>
              <a:rPr lang="en-US" dirty="0" err="1"/>
              <a:t>link.springer.com</a:t>
            </a:r>
            <a:r>
              <a:rPr lang="en-US" dirty="0"/>
              <a:t>/article/10.1186/s12917-026-05370-6</a:t>
            </a:r>
          </a:p>
          <a:p>
            <a:r>
              <a:rPr lang="en-US" dirty="0"/>
              <a:t>https://</a:t>
            </a:r>
            <a:r>
              <a:rPr lang="en-US" dirty="0" err="1"/>
              <a:t>www.frontiersin.org</a:t>
            </a:r>
            <a:r>
              <a:rPr lang="en-US" dirty="0"/>
              <a:t>/journals/animal-science/articles/10.3389/fanim.2026.1749097/full</a:t>
            </a:r>
          </a:p>
          <a:p>
            <a:r>
              <a:rPr lang="en-US" dirty="0"/>
              <a:t>https://</a:t>
            </a:r>
            <a:r>
              <a:rPr lang="en-US" dirty="0" err="1"/>
              <a:t>www.mdpi.com</a:t>
            </a:r>
            <a:r>
              <a:rPr lang="en-US" dirty="0"/>
              <a:t>/2076-2607/13/10/2361</a:t>
            </a:r>
          </a:p>
        </p:txBody>
      </p:sp>
      <p:sp>
        <p:nvSpPr>
          <p:cNvPr id="4" name="Slide Number Placeholder 3">
            <a:extLst>
              <a:ext uri="{FF2B5EF4-FFF2-40B4-BE49-F238E27FC236}">
                <a16:creationId xmlns:a16="http://schemas.microsoft.com/office/drawing/2014/main" id="{EF86AA52-D43A-0758-7F04-44E957F6B140}"/>
              </a:ext>
            </a:extLst>
          </p:cNvPr>
          <p:cNvSpPr>
            <a:spLocks noGrp="1"/>
          </p:cNvSpPr>
          <p:nvPr>
            <p:ph type="sldNum" sz="quarter" idx="5"/>
          </p:nvPr>
        </p:nvSpPr>
        <p:spPr/>
        <p:txBody>
          <a:bodyPr/>
          <a:lstStyle/>
          <a:p>
            <a:fld id="{02ECDC5F-13D1-1842-B2D4-75E829F601D1}" type="slidenum">
              <a:rPr lang="en-US" smtClean="0"/>
              <a:t>23</a:t>
            </a:fld>
            <a:endParaRPr lang="en-US"/>
          </a:p>
        </p:txBody>
      </p:sp>
    </p:spTree>
    <p:extLst>
      <p:ext uri="{BB962C8B-B14F-4D97-AF65-F5344CB8AC3E}">
        <p14:creationId xmlns:p14="http://schemas.microsoft.com/office/powerpoint/2010/main" val="29792272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Actions is a robot that lives inside your repository and runs shell commands in response to events. Before it existed, all the work it does — running tests, deploying code, notifying people — either required a separate CI server (Jenkins, </a:t>
            </a:r>
            <a:r>
              <a:rPr lang="en-US" dirty="0" err="1"/>
              <a:t>CircleCI</a:t>
            </a:r>
            <a:r>
              <a:rPr lang="en-US" dirty="0"/>
              <a:t>, Travis) that you had to set up and maintain, or it just didn't happen and developers did it by hand.</a:t>
            </a:r>
          </a:p>
          <a:p>
            <a:r>
              <a:rPr lang="en-US" dirty="0"/>
              <a:t>What made it a big deal when it launched is that it's native to GitHub. The configuration file lives in the repo itself, it has direct access to all your repo's context (the diff, the PR number, the commit SHA, the secrets vault), and there's a huge marketplace of pre-built "actions" so you rarely have to write the plumbing from scratch — </a:t>
            </a:r>
            <a:r>
              <a:rPr lang="en-US" sz="1200" kern="1200" dirty="0">
                <a:solidFill>
                  <a:schemeClr val="tx1"/>
                </a:solidFill>
                <a:latin typeface="+mn-lt"/>
                <a:ea typeface="+mn-ea"/>
                <a:cs typeface="+mn-cs"/>
              </a:rPr>
              <a:t>actions/checkout</a:t>
            </a:r>
            <a:r>
              <a:rPr lang="en-US" dirty="0"/>
              <a:t>, </a:t>
            </a:r>
            <a:r>
              <a:rPr lang="en-US" sz="1200" kern="1200" dirty="0">
                <a:solidFill>
                  <a:schemeClr val="tx1"/>
                </a:solidFill>
                <a:latin typeface="+mn-lt"/>
                <a:ea typeface="+mn-ea"/>
                <a:cs typeface="+mn-cs"/>
              </a:rPr>
              <a:t>actions/setup-python</a:t>
            </a:r>
            <a:r>
              <a:rPr lang="en-US" dirty="0"/>
              <a:t>, </a:t>
            </a:r>
            <a:r>
              <a:rPr lang="en-US" sz="1200" kern="1200" dirty="0">
                <a:solidFill>
                  <a:schemeClr val="tx1"/>
                </a:solidFill>
                <a:latin typeface="+mn-lt"/>
                <a:ea typeface="+mn-ea"/>
                <a:cs typeface="+mn-cs"/>
              </a:rPr>
              <a:t>actions/setup-node</a:t>
            </a:r>
            <a:r>
              <a:rPr lang="en-US" dirty="0"/>
              <a:t> and so on are all one-liners.</a:t>
            </a:r>
          </a:p>
          <a:p>
            <a:endParaRPr lang="en-US" dirty="0"/>
          </a:p>
          <a:p>
            <a:r>
              <a:rPr lang="en-US" dirty="0"/>
              <a:t>https://</a:t>
            </a:r>
            <a:r>
              <a:rPr lang="en-US" dirty="0" err="1"/>
              <a:t>github.com</a:t>
            </a:r>
            <a:r>
              <a:rPr lang="en-US" dirty="0"/>
              <a:t>/</a:t>
            </a:r>
            <a:r>
              <a:rPr lang="en-US" dirty="0" err="1"/>
              <a:t>hurwitzlab</a:t>
            </a:r>
            <a:r>
              <a:rPr lang="en-US" dirty="0"/>
              <a:t>/</a:t>
            </a:r>
            <a:r>
              <a:rPr lang="en-US" dirty="0" err="1"/>
              <a:t>brc_hazel_training</a:t>
            </a:r>
            <a:endParaRPr lang="en-US" dirty="0"/>
          </a:p>
          <a:p>
            <a:endParaRPr lang="en-US" dirty="0"/>
          </a:p>
        </p:txBody>
      </p:sp>
      <p:sp>
        <p:nvSpPr>
          <p:cNvPr id="4" name="Slide Number Placeholder 3"/>
          <p:cNvSpPr>
            <a:spLocks noGrp="1"/>
          </p:cNvSpPr>
          <p:nvPr>
            <p:ph type="sldNum" sz="quarter" idx="5"/>
          </p:nvPr>
        </p:nvSpPr>
        <p:spPr/>
        <p:txBody>
          <a:bodyPr/>
          <a:lstStyle/>
          <a:p>
            <a:fld id="{E0297423-D3CC-3744-8D89-77E28FCC7BC5}" type="slidenum">
              <a:rPr lang="en-US" smtClean="0"/>
              <a:t>29</a:t>
            </a:fld>
            <a:endParaRPr lang="en-US"/>
          </a:p>
        </p:txBody>
      </p:sp>
    </p:spTree>
    <p:extLst>
      <p:ext uri="{BB962C8B-B14F-4D97-AF65-F5344CB8AC3E}">
        <p14:creationId xmlns:p14="http://schemas.microsoft.com/office/powerpoint/2010/main" val="1231899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FF838-C411-B787-BCE9-590DB6DC33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2ED5A64-0453-470B-8355-D766CD4787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D0419E3-2DDD-2267-7CDF-16081B40221E}"/>
              </a:ext>
            </a:extLst>
          </p:cNvPr>
          <p:cNvSpPr>
            <a:spLocks noGrp="1"/>
          </p:cNvSpPr>
          <p:nvPr>
            <p:ph type="dt" sz="half" idx="10"/>
          </p:nvPr>
        </p:nvSpPr>
        <p:spPr/>
        <p:txBody>
          <a:bodyPr/>
          <a:lstStyle/>
          <a:p>
            <a:fld id="{DA4D474C-4937-5C43-ADD8-F0AF7F9B6567}" type="datetimeFigureOut">
              <a:rPr lang="en-US" smtClean="0"/>
              <a:t>5/18/26</a:t>
            </a:fld>
            <a:endParaRPr lang="en-US"/>
          </a:p>
        </p:txBody>
      </p:sp>
      <p:sp>
        <p:nvSpPr>
          <p:cNvPr id="5" name="Footer Placeholder 4">
            <a:extLst>
              <a:ext uri="{FF2B5EF4-FFF2-40B4-BE49-F238E27FC236}">
                <a16:creationId xmlns:a16="http://schemas.microsoft.com/office/drawing/2014/main" id="{ECCAAE7F-5166-4204-FF08-084E126B34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083273-D166-C0B6-1560-6A0EBD9DC883}"/>
              </a:ext>
            </a:extLst>
          </p:cNvPr>
          <p:cNvSpPr>
            <a:spLocks noGrp="1"/>
          </p:cNvSpPr>
          <p:nvPr>
            <p:ph type="sldNum" sz="quarter" idx="12"/>
          </p:nvPr>
        </p:nvSpPr>
        <p:spPr/>
        <p:txBody>
          <a:bodyPr/>
          <a:lstStyle/>
          <a:p>
            <a:fld id="{08A58C2B-998C-1E42-B4FA-465C7352F18E}" type="slidenum">
              <a:rPr lang="en-US" smtClean="0"/>
              <a:t>‹#›</a:t>
            </a:fld>
            <a:endParaRPr lang="en-US"/>
          </a:p>
        </p:txBody>
      </p:sp>
    </p:spTree>
    <p:extLst>
      <p:ext uri="{BB962C8B-B14F-4D97-AF65-F5344CB8AC3E}">
        <p14:creationId xmlns:p14="http://schemas.microsoft.com/office/powerpoint/2010/main" val="1707987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A4E11-F4F0-4464-2D99-F19C648A23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865BAB-E9A7-0616-AE31-A16F2F9442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E1E840-2A42-4DB5-1C8C-79CD9EA1B77E}"/>
              </a:ext>
            </a:extLst>
          </p:cNvPr>
          <p:cNvSpPr>
            <a:spLocks noGrp="1"/>
          </p:cNvSpPr>
          <p:nvPr>
            <p:ph type="dt" sz="half" idx="10"/>
          </p:nvPr>
        </p:nvSpPr>
        <p:spPr/>
        <p:txBody>
          <a:bodyPr/>
          <a:lstStyle/>
          <a:p>
            <a:fld id="{DA4D474C-4937-5C43-ADD8-F0AF7F9B6567}" type="datetimeFigureOut">
              <a:rPr lang="en-US" smtClean="0"/>
              <a:t>5/18/26</a:t>
            </a:fld>
            <a:endParaRPr lang="en-US"/>
          </a:p>
        </p:txBody>
      </p:sp>
      <p:sp>
        <p:nvSpPr>
          <p:cNvPr id="5" name="Footer Placeholder 4">
            <a:extLst>
              <a:ext uri="{FF2B5EF4-FFF2-40B4-BE49-F238E27FC236}">
                <a16:creationId xmlns:a16="http://schemas.microsoft.com/office/drawing/2014/main" id="{D256EA2D-3942-382B-5DCE-2C05348030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7A2162-65FF-04CD-894E-BF64FEF4C39B}"/>
              </a:ext>
            </a:extLst>
          </p:cNvPr>
          <p:cNvSpPr>
            <a:spLocks noGrp="1"/>
          </p:cNvSpPr>
          <p:nvPr>
            <p:ph type="sldNum" sz="quarter" idx="12"/>
          </p:nvPr>
        </p:nvSpPr>
        <p:spPr/>
        <p:txBody>
          <a:bodyPr/>
          <a:lstStyle/>
          <a:p>
            <a:fld id="{08A58C2B-998C-1E42-B4FA-465C7352F18E}" type="slidenum">
              <a:rPr lang="en-US" smtClean="0"/>
              <a:t>‹#›</a:t>
            </a:fld>
            <a:endParaRPr lang="en-US"/>
          </a:p>
        </p:txBody>
      </p:sp>
    </p:spTree>
    <p:extLst>
      <p:ext uri="{BB962C8B-B14F-4D97-AF65-F5344CB8AC3E}">
        <p14:creationId xmlns:p14="http://schemas.microsoft.com/office/powerpoint/2010/main" val="3077891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AAF1F-B751-3DEC-57E1-FB5A3FBC0A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442C73-9054-67D6-A5E1-B8903EC5E2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F1E18C-F42A-25D1-0909-40F0694ECB65}"/>
              </a:ext>
            </a:extLst>
          </p:cNvPr>
          <p:cNvSpPr>
            <a:spLocks noGrp="1"/>
          </p:cNvSpPr>
          <p:nvPr>
            <p:ph type="dt" sz="half" idx="10"/>
          </p:nvPr>
        </p:nvSpPr>
        <p:spPr/>
        <p:txBody>
          <a:bodyPr/>
          <a:lstStyle/>
          <a:p>
            <a:fld id="{DA4D474C-4937-5C43-ADD8-F0AF7F9B6567}" type="datetimeFigureOut">
              <a:rPr lang="en-US" smtClean="0"/>
              <a:t>5/18/26</a:t>
            </a:fld>
            <a:endParaRPr lang="en-US"/>
          </a:p>
        </p:txBody>
      </p:sp>
      <p:sp>
        <p:nvSpPr>
          <p:cNvPr id="5" name="Footer Placeholder 4">
            <a:extLst>
              <a:ext uri="{FF2B5EF4-FFF2-40B4-BE49-F238E27FC236}">
                <a16:creationId xmlns:a16="http://schemas.microsoft.com/office/drawing/2014/main" id="{FB7A7D71-08CA-ADF3-300E-3B3B7D9DBA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7FBB15-5866-DABB-67D5-FCE02D93B6EE}"/>
              </a:ext>
            </a:extLst>
          </p:cNvPr>
          <p:cNvSpPr>
            <a:spLocks noGrp="1"/>
          </p:cNvSpPr>
          <p:nvPr>
            <p:ph type="sldNum" sz="quarter" idx="12"/>
          </p:nvPr>
        </p:nvSpPr>
        <p:spPr/>
        <p:txBody>
          <a:bodyPr/>
          <a:lstStyle/>
          <a:p>
            <a:fld id="{08A58C2B-998C-1E42-B4FA-465C7352F18E}" type="slidenum">
              <a:rPr lang="en-US" smtClean="0"/>
              <a:t>‹#›</a:t>
            </a:fld>
            <a:endParaRPr lang="en-US"/>
          </a:p>
        </p:txBody>
      </p:sp>
    </p:spTree>
    <p:extLst>
      <p:ext uri="{BB962C8B-B14F-4D97-AF65-F5344CB8AC3E}">
        <p14:creationId xmlns:p14="http://schemas.microsoft.com/office/powerpoint/2010/main" val="2678648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6CA10-5582-1E47-C881-52276DED1B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665C5C-D8A9-F6D2-35C0-D6BDC9C5DA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7EA3DCE-7F42-89FD-56CC-CB91F4A090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94371B-C8D4-3367-96AD-BBA9CD170E91}"/>
              </a:ext>
            </a:extLst>
          </p:cNvPr>
          <p:cNvSpPr>
            <a:spLocks noGrp="1"/>
          </p:cNvSpPr>
          <p:nvPr>
            <p:ph type="dt" sz="half" idx="10"/>
          </p:nvPr>
        </p:nvSpPr>
        <p:spPr/>
        <p:txBody>
          <a:bodyPr/>
          <a:lstStyle/>
          <a:p>
            <a:fld id="{DA4D474C-4937-5C43-ADD8-F0AF7F9B6567}" type="datetimeFigureOut">
              <a:rPr lang="en-US" smtClean="0"/>
              <a:t>5/18/26</a:t>
            </a:fld>
            <a:endParaRPr lang="en-US"/>
          </a:p>
        </p:txBody>
      </p:sp>
      <p:sp>
        <p:nvSpPr>
          <p:cNvPr id="6" name="Footer Placeholder 5">
            <a:extLst>
              <a:ext uri="{FF2B5EF4-FFF2-40B4-BE49-F238E27FC236}">
                <a16:creationId xmlns:a16="http://schemas.microsoft.com/office/drawing/2014/main" id="{BA6CB842-130E-F3C0-F8CD-3086FF164C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002C6C-3A6E-9D17-B7D4-31991C1EA21C}"/>
              </a:ext>
            </a:extLst>
          </p:cNvPr>
          <p:cNvSpPr>
            <a:spLocks noGrp="1"/>
          </p:cNvSpPr>
          <p:nvPr>
            <p:ph type="sldNum" sz="quarter" idx="12"/>
          </p:nvPr>
        </p:nvSpPr>
        <p:spPr/>
        <p:txBody>
          <a:bodyPr/>
          <a:lstStyle/>
          <a:p>
            <a:fld id="{08A58C2B-998C-1E42-B4FA-465C7352F18E}" type="slidenum">
              <a:rPr lang="en-US" smtClean="0"/>
              <a:t>‹#›</a:t>
            </a:fld>
            <a:endParaRPr lang="en-US"/>
          </a:p>
        </p:txBody>
      </p:sp>
    </p:spTree>
    <p:extLst>
      <p:ext uri="{BB962C8B-B14F-4D97-AF65-F5344CB8AC3E}">
        <p14:creationId xmlns:p14="http://schemas.microsoft.com/office/powerpoint/2010/main" val="1685247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96EE9-02E9-C76D-46B7-501267AFB7C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EBC0D14-9339-4F92-2FA8-214E6D91B7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5CA4A1-EC6B-431C-B86F-BA4E143275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2EC3047-2EE7-AF72-0798-03465EFBB1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E4F601-5EB1-C779-F3D7-3A2A981FFE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415C36F-C3C6-FA8A-AAB3-12C99F89BEDC}"/>
              </a:ext>
            </a:extLst>
          </p:cNvPr>
          <p:cNvSpPr>
            <a:spLocks noGrp="1"/>
          </p:cNvSpPr>
          <p:nvPr>
            <p:ph type="dt" sz="half" idx="10"/>
          </p:nvPr>
        </p:nvSpPr>
        <p:spPr/>
        <p:txBody>
          <a:bodyPr/>
          <a:lstStyle/>
          <a:p>
            <a:fld id="{DA4D474C-4937-5C43-ADD8-F0AF7F9B6567}" type="datetimeFigureOut">
              <a:rPr lang="en-US" smtClean="0"/>
              <a:t>5/18/26</a:t>
            </a:fld>
            <a:endParaRPr lang="en-US"/>
          </a:p>
        </p:txBody>
      </p:sp>
      <p:sp>
        <p:nvSpPr>
          <p:cNvPr id="8" name="Footer Placeholder 7">
            <a:extLst>
              <a:ext uri="{FF2B5EF4-FFF2-40B4-BE49-F238E27FC236}">
                <a16:creationId xmlns:a16="http://schemas.microsoft.com/office/drawing/2014/main" id="{1188DCFC-3D03-3C9B-37F7-08E6D9DD5D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69E1DE-946E-D1E7-B6F7-29A1C05FE8DF}"/>
              </a:ext>
            </a:extLst>
          </p:cNvPr>
          <p:cNvSpPr>
            <a:spLocks noGrp="1"/>
          </p:cNvSpPr>
          <p:nvPr>
            <p:ph type="sldNum" sz="quarter" idx="12"/>
          </p:nvPr>
        </p:nvSpPr>
        <p:spPr/>
        <p:txBody>
          <a:bodyPr/>
          <a:lstStyle/>
          <a:p>
            <a:fld id="{08A58C2B-998C-1E42-B4FA-465C7352F18E}" type="slidenum">
              <a:rPr lang="en-US" smtClean="0"/>
              <a:t>‹#›</a:t>
            </a:fld>
            <a:endParaRPr lang="en-US"/>
          </a:p>
        </p:txBody>
      </p:sp>
    </p:spTree>
    <p:extLst>
      <p:ext uri="{BB962C8B-B14F-4D97-AF65-F5344CB8AC3E}">
        <p14:creationId xmlns:p14="http://schemas.microsoft.com/office/powerpoint/2010/main" val="425323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6A69F-7439-10A3-ABCF-6B6E6047A0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F8E3AEC-8FBB-6E64-3F73-D86248EA8021}"/>
              </a:ext>
            </a:extLst>
          </p:cNvPr>
          <p:cNvSpPr>
            <a:spLocks noGrp="1"/>
          </p:cNvSpPr>
          <p:nvPr>
            <p:ph type="dt" sz="half" idx="10"/>
          </p:nvPr>
        </p:nvSpPr>
        <p:spPr/>
        <p:txBody>
          <a:bodyPr/>
          <a:lstStyle/>
          <a:p>
            <a:fld id="{DA4D474C-4937-5C43-ADD8-F0AF7F9B6567}" type="datetimeFigureOut">
              <a:rPr lang="en-US" smtClean="0"/>
              <a:t>5/18/26</a:t>
            </a:fld>
            <a:endParaRPr lang="en-US"/>
          </a:p>
        </p:txBody>
      </p:sp>
      <p:sp>
        <p:nvSpPr>
          <p:cNvPr id="4" name="Footer Placeholder 3">
            <a:extLst>
              <a:ext uri="{FF2B5EF4-FFF2-40B4-BE49-F238E27FC236}">
                <a16:creationId xmlns:a16="http://schemas.microsoft.com/office/drawing/2014/main" id="{169C9177-7DED-EDA1-8E4A-E2743D539F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11C946C-2431-51B2-32EC-672D2390FA0B}"/>
              </a:ext>
            </a:extLst>
          </p:cNvPr>
          <p:cNvSpPr>
            <a:spLocks noGrp="1"/>
          </p:cNvSpPr>
          <p:nvPr>
            <p:ph type="sldNum" sz="quarter" idx="12"/>
          </p:nvPr>
        </p:nvSpPr>
        <p:spPr/>
        <p:txBody>
          <a:bodyPr/>
          <a:lstStyle/>
          <a:p>
            <a:fld id="{08A58C2B-998C-1E42-B4FA-465C7352F18E}" type="slidenum">
              <a:rPr lang="en-US" smtClean="0"/>
              <a:t>‹#›</a:t>
            </a:fld>
            <a:endParaRPr lang="en-US"/>
          </a:p>
        </p:txBody>
      </p:sp>
    </p:spTree>
    <p:extLst>
      <p:ext uri="{BB962C8B-B14F-4D97-AF65-F5344CB8AC3E}">
        <p14:creationId xmlns:p14="http://schemas.microsoft.com/office/powerpoint/2010/main" val="3829929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7A59A0-D0C7-055A-6C9D-0A76668CF7F5}"/>
              </a:ext>
            </a:extLst>
          </p:cNvPr>
          <p:cNvSpPr>
            <a:spLocks noGrp="1"/>
          </p:cNvSpPr>
          <p:nvPr>
            <p:ph type="dt" sz="half" idx="10"/>
          </p:nvPr>
        </p:nvSpPr>
        <p:spPr/>
        <p:txBody>
          <a:bodyPr/>
          <a:lstStyle/>
          <a:p>
            <a:fld id="{DA4D474C-4937-5C43-ADD8-F0AF7F9B6567}" type="datetimeFigureOut">
              <a:rPr lang="en-US" smtClean="0"/>
              <a:t>5/18/26</a:t>
            </a:fld>
            <a:endParaRPr lang="en-US"/>
          </a:p>
        </p:txBody>
      </p:sp>
      <p:sp>
        <p:nvSpPr>
          <p:cNvPr id="3" name="Footer Placeholder 2">
            <a:extLst>
              <a:ext uri="{FF2B5EF4-FFF2-40B4-BE49-F238E27FC236}">
                <a16:creationId xmlns:a16="http://schemas.microsoft.com/office/drawing/2014/main" id="{BF81592C-0F77-0E7D-DE74-EE46C2FB2D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07939FC-D78C-7306-C7C4-F215AD6BEEE7}"/>
              </a:ext>
            </a:extLst>
          </p:cNvPr>
          <p:cNvSpPr>
            <a:spLocks noGrp="1"/>
          </p:cNvSpPr>
          <p:nvPr>
            <p:ph type="sldNum" sz="quarter" idx="12"/>
          </p:nvPr>
        </p:nvSpPr>
        <p:spPr/>
        <p:txBody>
          <a:bodyPr/>
          <a:lstStyle/>
          <a:p>
            <a:fld id="{08A58C2B-998C-1E42-B4FA-465C7352F18E}" type="slidenum">
              <a:rPr lang="en-US" smtClean="0"/>
              <a:t>‹#›</a:t>
            </a:fld>
            <a:endParaRPr lang="en-US"/>
          </a:p>
        </p:txBody>
      </p:sp>
    </p:spTree>
    <p:extLst>
      <p:ext uri="{BB962C8B-B14F-4D97-AF65-F5344CB8AC3E}">
        <p14:creationId xmlns:p14="http://schemas.microsoft.com/office/powerpoint/2010/main" val="3027592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558F8-C3E9-6F3D-5FCD-C1933EE1FF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9E792EA-DE42-2D9F-379C-B1BD1B5AA9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00A08F-5BF8-C107-F89F-5D8FC86177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CD787B-817D-8DA8-2A8E-4B5CBAA106B9}"/>
              </a:ext>
            </a:extLst>
          </p:cNvPr>
          <p:cNvSpPr>
            <a:spLocks noGrp="1"/>
          </p:cNvSpPr>
          <p:nvPr>
            <p:ph type="dt" sz="half" idx="10"/>
          </p:nvPr>
        </p:nvSpPr>
        <p:spPr/>
        <p:txBody>
          <a:bodyPr/>
          <a:lstStyle/>
          <a:p>
            <a:fld id="{DA4D474C-4937-5C43-ADD8-F0AF7F9B6567}" type="datetimeFigureOut">
              <a:rPr lang="en-US" smtClean="0"/>
              <a:t>5/18/26</a:t>
            </a:fld>
            <a:endParaRPr lang="en-US"/>
          </a:p>
        </p:txBody>
      </p:sp>
      <p:sp>
        <p:nvSpPr>
          <p:cNvPr id="6" name="Footer Placeholder 5">
            <a:extLst>
              <a:ext uri="{FF2B5EF4-FFF2-40B4-BE49-F238E27FC236}">
                <a16:creationId xmlns:a16="http://schemas.microsoft.com/office/drawing/2014/main" id="{00F94E11-F74B-A330-C46A-443E667AAC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F518A5-0681-4297-9D64-5635E4313DAD}"/>
              </a:ext>
            </a:extLst>
          </p:cNvPr>
          <p:cNvSpPr>
            <a:spLocks noGrp="1"/>
          </p:cNvSpPr>
          <p:nvPr>
            <p:ph type="sldNum" sz="quarter" idx="12"/>
          </p:nvPr>
        </p:nvSpPr>
        <p:spPr/>
        <p:txBody>
          <a:bodyPr/>
          <a:lstStyle/>
          <a:p>
            <a:fld id="{08A58C2B-998C-1E42-B4FA-465C7352F18E}" type="slidenum">
              <a:rPr lang="en-US" smtClean="0"/>
              <a:t>‹#›</a:t>
            </a:fld>
            <a:endParaRPr lang="en-US"/>
          </a:p>
        </p:txBody>
      </p:sp>
    </p:spTree>
    <p:extLst>
      <p:ext uri="{BB962C8B-B14F-4D97-AF65-F5344CB8AC3E}">
        <p14:creationId xmlns:p14="http://schemas.microsoft.com/office/powerpoint/2010/main" val="1241520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F2AD4-0FBD-FD20-259F-0E78A01921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DD6638-D5FF-6FB1-C085-238BBD8936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A1E0C6-6F1F-6C5D-4F70-001E5ACBBD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D1B671-9D2A-C3BB-B255-81D7B4615AA4}"/>
              </a:ext>
            </a:extLst>
          </p:cNvPr>
          <p:cNvSpPr>
            <a:spLocks noGrp="1"/>
          </p:cNvSpPr>
          <p:nvPr>
            <p:ph type="dt" sz="half" idx="10"/>
          </p:nvPr>
        </p:nvSpPr>
        <p:spPr/>
        <p:txBody>
          <a:bodyPr/>
          <a:lstStyle/>
          <a:p>
            <a:fld id="{DA4D474C-4937-5C43-ADD8-F0AF7F9B6567}" type="datetimeFigureOut">
              <a:rPr lang="en-US" smtClean="0"/>
              <a:t>5/18/26</a:t>
            </a:fld>
            <a:endParaRPr lang="en-US"/>
          </a:p>
        </p:txBody>
      </p:sp>
      <p:sp>
        <p:nvSpPr>
          <p:cNvPr id="6" name="Footer Placeholder 5">
            <a:extLst>
              <a:ext uri="{FF2B5EF4-FFF2-40B4-BE49-F238E27FC236}">
                <a16:creationId xmlns:a16="http://schemas.microsoft.com/office/drawing/2014/main" id="{794CB0C7-C9B6-EFA1-B992-6BE8F8D3A8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0BE88F-CD5A-445C-8AB0-529C28AAD1CB}"/>
              </a:ext>
            </a:extLst>
          </p:cNvPr>
          <p:cNvSpPr>
            <a:spLocks noGrp="1"/>
          </p:cNvSpPr>
          <p:nvPr>
            <p:ph type="sldNum" sz="quarter" idx="12"/>
          </p:nvPr>
        </p:nvSpPr>
        <p:spPr/>
        <p:txBody>
          <a:bodyPr/>
          <a:lstStyle/>
          <a:p>
            <a:fld id="{08A58C2B-998C-1E42-B4FA-465C7352F18E}" type="slidenum">
              <a:rPr lang="en-US" smtClean="0"/>
              <a:t>‹#›</a:t>
            </a:fld>
            <a:endParaRPr lang="en-US"/>
          </a:p>
        </p:txBody>
      </p:sp>
    </p:spTree>
    <p:extLst>
      <p:ext uri="{BB962C8B-B14F-4D97-AF65-F5344CB8AC3E}">
        <p14:creationId xmlns:p14="http://schemas.microsoft.com/office/powerpoint/2010/main" val="4240895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AA98D-8015-4816-A294-E14A1C6A3A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F321AA-5F40-09FA-3642-AEBB7378AD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C8D5B4-D7AA-4D55-C1A9-BFB28A693248}"/>
              </a:ext>
            </a:extLst>
          </p:cNvPr>
          <p:cNvSpPr>
            <a:spLocks noGrp="1"/>
          </p:cNvSpPr>
          <p:nvPr>
            <p:ph type="dt" sz="half" idx="10"/>
          </p:nvPr>
        </p:nvSpPr>
        <p:spPr/>
        <p:txBody>
          <a:bodyPr/>
          <a:lstStyle/>
          <a:p>
            <a:fld id="{DA4D474C-4937-5C43-ADD8-F0AF7F9B6567}" type="datetimeFigureOut">
              <a:rPr lang="en-US" smtClean="0"/>
              <a:t>5/18/26</a:t>
            </a:fld>
            <a:endParaRPr lang="en-US"/>
          </a:p>
        </p:txBody>
      </p:sp>
      <p:sp>
        <p:nvSpPr>
          <p:cNvPr id="5" name="Footer Placeholder 4">
            <a:extLst>
              <a:ext uri="{FF2B5EF4-FFF2-40B4-BE49-F238E27FC236}">
                <a16:creationId xmlns:a16="http://schemas.microsoft.com/office/drawing/2014/main" id="{2EFF33B6-339C-25FB-197E-C184CCF542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642134-EF22-C775-1784-EAE34B4FEBEC}"/>
              </a:ext>
            </a:extLst>
          </p:cNvPr>
          <p:cNvSpPr>
            <a:spLocks noGrp="1"/>
          </p:cNvSpPr>
          <p:nvPr>
            <p:ph type="sldNum" sz="quarter" idx="12"/>
          </p:nvPr>
        </p:nvSpPr>
        <p:spPr/>
        <p:txBody>
          <a:bodyPr/>
          <a:lstStyle/>
          <a:p>
            <a:fld id="{08A58C2B-998C-1E42-B4FA-465C7352F18E}" type="slidenum">
              <a:rPr lang="en-US" smtClean="0"/>
              <a:t>‹#›</a:t>
            </a:fld>
            <a:endParaRPr lang="en-US"/>
          </a:p>
        </p:txBody>
      </p:sp>
    </p:spTree>
    <p:extLst>
      <p:ext uri="{BB962C8B-B14F-4D97-AF65-F5344CB8AC3E}">
        <p14:creationId xmlns:p14="http://schemas.microsoft.com/office/powerpoint/2010/main" val="109677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8BF4F1-10CD-EB33-9A03-6076521FD51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125DFFA-D64F-1330-0719-9C492C3567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0D3F42-CE01-32BA-FACC-3B014C717C6F}"/>
              </a:ext>
            </a:extLst>
          </p:cNvPr>
          <p:cNvSpPr>
            <a:spLocks noGrp="1"/>
          </p:cNvSpPr>
          <p:nvPr>
            <p:ph type="dt" sz="half" idx="10"/>
          </p:nvPr>
        </p:nvSpPr>
        <p:spPr/>
        <p:txBody>
          <a:bodyPr/>
          <a:lstStyle/>
          <a:p>
            <a:fld id="{DA4D474C-4937-5C43-ADD8-F0AF7F9B6567}" type="datetimeFigureOut">
              <a:rPr lang="en-US" smtClean="0"/>
              <a:t>5/18/26</a:t>
            </a:fld>
            <a:endParaRPr lang="en-US"/>
          </a:p>
        </p:txBody>
      </p:sp>
      <p:sp>
        <p:nvSpPr>
          <p:cNvPr id="5" name="Footer Placeholder 4">
            <a:extLst>
              <a:ext uri="{FF2B5EF4-FFF2-40B4-BE49-F238E27FC236}">
                <a16:creationId xmlns:a16="http://schemas.microsoft.com/office/drawing/2014/main" id="{F9921BD3-1012-0B90-D6F7-1925654B79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EB053D-274F-9081-7307-77CC052BF549}"/>
              </a:ext>
            </a:extLst>
          </p:cNvPr>
          <p:cNvSpPr>
            <a:spLocks noGrp="1"/>
          </p:cNvSpPr>
          <p:nvPr>
            <p:ph type="sldNum" sz="quarter" idx="12"/>
          </p:nvPr>
        </p:nvSpPr>
        <p:spPr/>
        <p:txBody>
          <a:bodyPr/>
          <a:lstStyle/>
          <a:p>
            <a:fld id="{08A58C2B-998C-1E42-B4FA-465C7352F18E}" type="slidenum">
              <a:rPr lang="en-US" smtClean="0"/>
              <a:t>‹#›</a:t>
            </a:fld>
            <a:endParaRPr lang="en-US"/>
          </a:p>
        </p:txBody>
      </p:sp>
    </p:spTree>
    <p:extLst>
      <p:ext uri="{BB962C8B-B14F-4D97-AF65-F5344CB8AC3E}">
        <p14:creationId xmlns:p14="http://schemas.microsoft.com/office/powerpoint/2010/main" val="2078620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C7F564-613D-5F77-F9B4-CB9F1DE3D1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EBD6AC1-D886-179E-41DC-4735BB325B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2E6073-46EE-B9DC-9AB0-9542CC2412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4D474C-4937-5C43-ADD8-F0AF7F9B6567}" type="datetimeFigureOut">
              <a:rPr lang="en-US" smtClean="0"/>
              <a:t>5/18/26</a:t>
            </a:fld>
            <a:endParaRPr lang="en-US"/>
          </a:p>
        </p:txBody>
      </p:sp>
      <p:sp>
        <p:nvSpPr>
          <p:cNvPr id="5" name="Footer Placeholder 4">
            <a:extLst>
              <a:ext uri="{FF2B5EF4-FFF2-40B4-BE49-F238E27FC236}">
                <a16:creationId xmlns:a16="http://schemas.microsoft.com/office/drawing/2014/main" id="{F454468E-1DA6-77DF-5456-28CD86119D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8458964-C78F-42A6-7F54-D4A39BCED6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A58C2B-998C-1E42-B4FA-465C7352F18E}" type="slidenum">
              <a:rPr lang="en-US" smtClean="0"/>
              <a:t>‹#›</a:t>
            </a:fld>
            <a:endParaRPr lang="en-US"/>
          </a:p>
        </p:txBody>
      </p:sp>
    </p:spTree>
    <p:extLst>
      <p:ext uri="{BB962C8B-B14F-4D97-AF65-F5344CB8AC3E}">
        <p14:creationId xmlns:p14="http://schemas.microsoft.com/office/powerpoint/2010/main" val="12773421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3.jpe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hyperlink" Target="https://rewrites.bio/"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github.com/hurwitzlab/brc_hazel_training"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hyperlink" Target="https://docs.github.com/en/desktop" TargetMode="External"/><Relationship Id="rId13" Type="http://schemas.openxmlformats.org/officeDocument/2006/relationships/hyperlink" Target="https://medium.com/@mayurchaudhari1675/transformers-in-ai-the-game-changer-powering-modern-artificial-intelligence-f85c93dd74e3" TargetMode="External"/><Relationship Id="rId3" Type="http://schemas.openxmlformats.org/officeDocument/2006/relationships/hyperlink" Target="https://training.nextflow.io/latest/" TargetMode="External"/><Relationship Id="rId7" Type="http://schemas.openxmlformats.org/officeDocument/2006/relationships/hyperlink" Target="https://github.com/git-guides" TargetMode="External"/><Relationship Id="rId12" Type="http://schemas.openxmlformats.org/officeDocument/2006/relationships/hyperlink" Target="https://proceedings.neurips.cc/paper_files/paper/2017/file/3f5ee243547dee91fbd053c1c4a845aa-Paper.pdf" TargetMode="External"/><Relationship Id="rId2" Type="http://schemas.openxmlformats.org/officeDocument/2006/relationships/hyperlink" Target="https://www.pacb.com/blog/long-read-sequencing/" TargetMode="External"/><Relationship Id="rId16" Type="http://schemas.openxmlformats.org/officeDocument/2006/relationships/hyperlink" Target="https://code.claude.com/docs/en/overview" TargetMode="External"/><Relationship Id="rId1" Type="http://schemas.openxmlformats.org/officeDocument/2006/relationships/slideLayout" Target="../slideLayouts/slideLayout2.xml"/><Relationship Id="rId6" Type="http://schemas.openxmlformats.org/officeDocument/2006/relationships/hyperlink" Target="https://www.nature.com/articles/533452a" TargetMode="External"/><Relationship Id="rId11" Type="http://schemas.openxmlformats.org/officeDocument/2006/relationships/hyperlink" Target="https://www.nature.com/articles/s41592-021-01362-6" TargetMode="External"/><Relationship Id="rId5" Type="http://schemas.openxmlformats.org/officeDocument/2006/relationships/hyperlink" Target="https://docs.sylabs.io/guides/3.5/user-guide/introduction.html" TargetMode="External"/><Relationship Id="rId15" Type="http://schemas.openxmlformats.org/officeDocument/2006/relationships/hyperlink" Target="https://rewrites.bio/" TargetMode="External"/><Relationship Id="rId10" Type="http://schemas.openxmlformats.org/officeDocument/2006/relationships/hyperlink" Target="https://github.com/features/copilot" TargetMode="External"/><Relationship Id="rId4" Type="http://schemas.openxmlformats.org/officeDocument/2006/relationships/hyperlink" Target="https://www.docker.com/resources/what-container/" TargetMode="External"/><Relationship Id="rId9" Type="http://schemas.openxmlformats.org/officeDocument/2006/relationships/hyperlink" Target="https://docs.github.com/en/codespaces/about-codespaces/what-are-codespaces" TargetMode="External"/><Relationship Id="rId14" Type="http://schemas.openxmlformats.org/officeDocument/2006/relationships/hyperlink" Target="https://www.mygreatlearning.com/blog/understanding-transformer-architectur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D3357F-A776-F041-61F2-4856E4EFBE6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Picture 4">
            <a:extLst>
              <a:ext uri="{FF2B5EF4-FFF2-40B4-BE49-F238E27FC236}">
                <a16:creationId xmlns:a16="http://schemas.microsoft.com/office/drawing/2014/main" id="{1D2F5004-E9D1-D52A-574A-A3FBFC5C22F3}"/>
              </a:ext>
            </a:extLst>
          </p:cNvPr>
          <p:cNvPicPr>
            <a:picLocks noChangeAspect="1"/>
          </p:cNvPicPr>
          <p:nvPr/>
        </p:nvPicPr>
        <p:blipFill>
          <a:blip r:embed="rId2"/>
          <a:srcRect l="18858"/>
          <a:stretch>
            <a:fillRect/>
          </a:stretch>
        </p:blipFill>
        <p:spPr>
          <a:xfrm>
            <a:off x="0" y="0"/>
            <a:ext cx="5564742" cy="6858000"/>
          </a:xfrm>
          <a:prstGeom prst="rect">
            <a:avLst/>
          </a:prstGeom>
        </p:spPr>
      </p:pic>
      <p:sp>
        <p:nvSpPr>
          <p:cNvPr id="2" name="Title 1">
            <a:extLst>
              <a:ext uri="{FF2B5EF4-FFF2-40B4-BE49-F238E27FC236}">
                <a16:creationId xmlns:a16="http://schemas.microsoft.com/office/drawing/2014/main" id="{28D6C6CD-1495-580A-FF39-B26AAB8FCF3F}"/>
              </a:ext>
            </a:extLst>
          </p:cNvPr>
          <p:cNvSpPr>
            <a:spLocks noGrp="1"/>
          </p:cNvSpPr>
          <p:nvPr>
            <p:ph type="ctrTitle"/>
          </p:nvPr>
        </p:nvSpPr>
        <p:spPr>
          <a:xfrm>
            <a:off x="5627201" y="2853544"/>
            <a:ext cx="6502340" cy="2387600"/>
          </a:xfrm>
          <a:solidFill>
            <a:schemeClr val="bg1"/>
          </a:solidFill>
          <a:ln>
            <a:noFill/>
          </a:ln>
        </p:spPr>
        <p:txBody>
          <a:bodyPr/>
          <a:lstStyle/>
          <a:p>
            <a:pPr algn="l"/>
            <a:r>
              <a:rPr lang="en-US" dirty="0"/>
              <a:t>Bonus: </a:t>
            </a:r>
            <a:br>
              <a:rPr lang="en-US" dirty="0"/>
            </a:br>
            <a:r>
              <a:rPr lang="en-US" dirty="0"/>
              <a:t>in bioinformatics</a:t>
            </a:r>
          </a:p>
        </p:txBody>
      </p:sp>
      <p:pic>
        <p:nvPicPr>
          <p:cNvPr id="1026" name="Picture 2" descr="hot-topics-icon - Bedford Behavioral Health">
            <a:extLst>
              <a:ext uri="{FF2B5EF4-FFF2-40B4-BE49-F238E27FC236}">
                <a16:creationId xmlns:a16="http://schemas.microsoft.com/office/drawing/2014/main" id="{4924FEE8-8BE7-155C-C4EE-4C0CEE129E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9900" y="3173553"/>
            <a:ext cx="3837313" cy="1181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9611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6AA71-ECFD-FF9A-4F2D-801C6B889962}"/>
              </a:ext>
            </a:extLst>
          </p:cNvPr>
          <p:cNvSpPr>
            <a:spLocks noGrp="1"/>
          </p:cNvSpPr>
          <p:nvPr>
            <p:ph type="title"/>
          </p:nvPr>
        </p:nvSpPr>
        <p:spPr>
          <a:xfrm>
            <a:off x="582880" y="-109369"/>
            <a:ext cx="10515600" cy="1325563"/>
          </a:xfrm>
        </p:spPr>
        <p:txBody>
          <a:bodyPr/>
          <a:lstStyle/>
          <a:p>
            <a:r>
              <a:rPr lang="en-US" dirty="0"/>
              <a:t>Today</a:t>
            </a:r>
          </a:p>
        </p:txBody>
      </p:sp>
      <p:sp>
        <p:nvSpPr>
          <p:cNvPr id="3" name="Content Placeholder 2">
            <a:extLst>
              <a:ext uri="{FF2B5EF4-FFF2-40B4-BE49-F238E27FC236}">
                <a16:creationId xmlns:a16="http://schemas.microsoft.com/office/drawing/2014/main" id="{2A76BDA6-A98E-82F5-982C-D76C7B5EDF91}"/>
              </a:ext>
            </a:extLst>
          </p:cNvPr>
          <p:cNvSpPr>
            <a:spLocks noGrp="1"/>
          </p:cNvSpPr>
          <p:nvPr>
            <p:ph idx="1"/>
          </p:nvPr>
        </p:nvSpPr>
        <p:spPr/>
        <p:txBody>
          <a:bodyPr/>
          <a:lstStyle/>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p:txBody>
      </p:sp>
      <p:graphicFrame>
        <p:nvGraphicFramePr>
          <p:cNvPr id="4" name="Diagram 3">
            <a:extLst>
              <a:ext uri="{FF2B5EF4-FFF2-40B4-BE49-F238E27FC236}">
                <a16:creationId xmlns:a16="http://schemas.microsoft.com/office/drawing/2014/main" id="{13EAE4A8-0527-ECB1-67B9-5134DCF752A2}"/>
              </a:ext>
            </a:extLst>
          </p:cNvPr>
          <p:cNvGraphicFramePr/>
          <p:nvPr>
            <p:extLst>
              <p:ext uri="{D42A27DB-BD31-4B8C-83A1-F6EECF244321}">
                <p14:modId xmlns:p14="http://schemas.microsoft.com/office/powerpoint/2010/main" val="885620912"/>
              </p:ext>
            </p:extLst>
          </p:nvPr>
        </p:nvGraphicFramePr>
        <p:xfrm>
          <a:off x="363517" y="974985"/>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5982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C92E8-4C0B-645B-5915-4DBEA3B5D23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CDE51AD-04CC-D921-FB5E-5C9CC0B09E5D}"/>
              </a:ext>
            </a:extLst>
          </p:cNvPr>
          <p:cNvSpPr txBox="1">
            <a:spLocks/>
          </p:cNvSpPr>
          <p:nvPr/>
        </p:nvSpPr>
        <p:spPr>
          <a:xfrm>
            <a:off x="1646320" y="2089105"/>
            <a:ext cx="4570412"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t>Long-read sequencing</a:t>
            </a:r>
            <a:endParaRPr lang="en-US" sz="5400" dirty="0">
              <a:latin typeface="Helvetica" pitchFamily="2" charset="0"/>
            </a:endParaRPr>
          </a:p>
        </p:txBody>
      </p:sp>
      <p:pic>
        <p:nvPicPr>
          <p:cNvPr id="2050" name="Picture 2" descr="Genomics 101: What is long-read sequencing? | Genomics England">
            <a:extLst>
              <a:ext uri="{FF2B5EF4-FFF2-40B4-BE49-F238E27FC236}">
                <a16:creationId xmlns:a16="http://schemas.microsoft.com/office/drawing/2014/main" id="{D8E9F1EC-9505-FDD2-0EE6-1A2EF7E7AC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0039" y="2317315"/>
            <a:ext cx="5489802" cy="2223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432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AB52-DBFB-B3CD-8910-2DE02256DC27}"/>
              </a:ext>
            </a:extLst>
          </p:cNvPr>
          <p:cNvSpPr>
            <a:spLocks noGrp="1"/>
          </p:cNvSpPr>
          <p:nvPr>
            <p:ph type="title"/>
          </p:nvPr>
        </p:nvSpPr>
        <p:spPr/>
        <p:txBody>
          <a:bodyPr/>
          <a:lstStyle/>
          <a:p>
            <a:r>
              <a:rPr lang="en-US" dirty="0"/>
              <a:t>Long-Read Sequencing and Its Impact on Microbial Genomics</a:t>
            </a:r>
          </a:p>
        </p:txBody>
      </p:sp>
      <p:sp>
        <p:nvSpPr>
          <p:cNvPr id="3" name="Content Placeholder 2">
            <a:extLst>
              <a:ext uri="{FF2B5EF4-FFF2-40B4-BE49-F238E27FC236}">
                <a16:creationId xmlns:a16="http://schemas.microsoft.com/office/drawing/2014/main" id="{A0336B36-754E-1607-15DC-6EC7F8646BC2}"/>
              </a:ext>
            </a:extLst>
          </p:cNvPr>
          <p:cNvSpPr>
            <a:spLocks noGrp="1"/>
          </p:cNvSpPr>
          <p:nvPr>
            <p:ph idx="1"/>
          </p:nvPr>
        </p:nvSpPr>
        <p:spPr>
          <a:xfrm>
            <a:off x="838200" y="1857569"/>
            <a:ext cx="7480465" cy="4351338"/>
          </a:xfrm>
        </p:spPr>
        <p:txBody>
          <a:bodyPr>
            <a:normAutofit/>
          </a:bodyPr>
          <a:lstStyle/>
          <a:p>
            <a:r>
              <a:rPr lang="en-US" sz="2000" dirty="0"/>
              <a:t>Short-read sequencing = 150 to 300 base pairs. </a:t>
            </a:r>
          </a:p>
          <a:p>
            <a:r>
              <a:rPr lang="en-US" sz="2000" dirty="0"/>
              <a:t>Long-read = x 1k – 100k </a:t>
            </a:r>
            <a:r>
              <a:rPr lang="en-US" sz="2000" dirty="0" err="1"/>
              <a:t>basepairs</a:t>
            </a:r>
            <a:endParaRPr lang="en-US" sz="2000" dirty="0"/>
          </a:p>
          <a:p>
            <a:pPr marL="457200" lvl="1" indent="0">
              <a:buNone/>
            </a:pPr>
            <a:endParaRPr lang="en-US" dirty="0"/>
          </a:p>
        </p:txBody>
      </p:sp>
      <p:pic>
        <p:nvPicPr>
          <p:cNvPr id="1026" name="Picture 2" descr="About Us - PacBio">
            <a:extLst>
              <a:ext uri="{FF2B5EF4-FFF2-40B4-BE49-F238E27FC236}">
                <a16:creationId xmlns:a16="http://schemas.microsoft.com/office/drawing/2014/main" id="{4B2D6718-57D6-AD71-CEB6-C4CDBC4630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0796" y="1387021"/>
            <a:ext cx="2887682" cy="162432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xford Nanopore | UK Technology Fast 50 | Deloitte UK">
            <a:extLst>
              <a:ext uri="{FF2B5EF4-FFF2-40B4-BE49-F238E27FC236}">
                <a16:creationId xmlns:a16="http://schemas.microsoft.com/office/drawing/2014/main" id="{3E3F9233-1CF6-DB9E-13F3-5CB61445DB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65" y="1484929"/>
            <a:ext cx="2285605" cy="14285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7DED877-4315-49E4-096F-F3403D383E37}"/>
              </a:ext>
            </a:extLst>
          </p:cNvPr>
          <p:cNvSpPr txBox="1"/>
          <p:nvPr/>
        </p:nvSpPr>
        <p:spPr>
          <a:xfrm>
            <a:off x="6301156" y="4621100"/>
            <a:ext cx="5495060" cy="369332"/>
          </a:xfrm>
          <a:prstGeom prst="rect">
            <a:avLst/>
          </a:prstGeom>
          <a:solidFill>
            <a:schemeClr val="accent1">
              <a:lumMod val="20000"/>
              <a:lumOff val="80000"/>
            </a:schemeClr>
          </a:solidFill>
        </p:spPr>
        <p:txBody>
          <a:bodyPr wrap="square">
            <a:spAutoFit/>
          </a:bodyPr>
          <a:lstStyle/>
          <a:p>
            <a:pPr marL="457200" lvl="1" indent="0">
              <a:buNone/>
            </a:pPr>
            <a:r>
              <a:rPr lang="en-US" b="1" dirty="0"/>
              <a:t>Hybrid assembly strategies = long = short read</a:t>
            </a:r>
          </a:p>
        </p:txBody>
      </p:sp>
      <p:sp>
        <p:nvSpPr>
          <p:cNvPr id="8" name="TextBox 7">
            <a:extLst>
              <a:ext uri="{FF2B5EF4-FFF2-40B4-BE49-F238E27FC236}">
                <a16:creationId xmlns:a16="http://schemas.microsoft.com/office/drawing/2014/main" id="{CD9BEA0B-D1EC-51D4-710D-ECBC28B9A3DB}"/>
              </a:ext>
            </a:extLst>
          </p:cNvPr>
          <p:cNvSpPr txBox="1"/>
          <p:nvPr/>
        </p:nvSpPr>
        <p:spPr>
          <a:xfrm>
            <a:off x="838200" y="3118540"/>
            <a:ext cx="5132863" cy="2862322"/>
          </a:xfrm>
          <a:prstGeom prst="rect">
            <a:avLst/>
          </a:prstGeom>
          <a:solidFill>
            <a:schemeClr val="accent6">
              <a:lumMod val="20000"/>
              <a:lumOff val="80000"/>
            </a:schemeClr>
          </a:solidFill>
        </p:spPr>
        <p:txBody>
          <a:bodyPr wrap="square">
            <a:spAutoFit/>
          </a:bodyPr>
          <a:lstStyle/>
          <a:p>
            <a:pPr marL="285750" indent="-285750">
              <a:buFont typeface="Arial" panose="020B0604020202020204" pitchFamily="34" charset="0"/>
              <a:buChar char="•"/>
            </a:pPr>
            <a:r>
              <a:rPr lang="en-US" dirty="0"/>
              <a:t>Assembling </a:t>
            </a:r>
            <a:r>
              <a:rPr lang="en-US" b="1" dirty="0"/>
              <a:t>complete</a:t>
            </a:r>
            <a:r>
              <a:rPr lang="en-US" dirty="0"/>
              <a:t> microbial </a:t>
            </a:r>
            <a:r>
              <a:rPr lang="en-US" b="1" dirty="0"/>
              <a:t>genomes</a:t>
            </a:r>
          </a:p>
          <a:p>
            <a:pPr marL="285750" indent="-285750">
              <a:buFont typeface="Arial" panose="020B0604020202020204" pitchFamily="34" charset="0"/>
              <a:buChar char="•"/>
            </a:pPr>
            <a:r>
              <a:rPr lang="en-US" dirty="0"/>
              <a:t>Phasing structural variants</a:t>
            </a:r>
          </a:p>
          <a:p>
            <a:pPr marL="285750" indent="-285750">
              <a:buFont typeface="Arial" panose="020B0604020202020204" pitchFamily="34" charset="0"/>
              <a:buChar char="•"/>
            </a:pPr>
            <a:r>
              <a:rPr lang="en-US" dirty="0"/>
              <a:t>Resolving repetitive regions</a:t>
            </a:r>
          </a:p>
          <a:p>
            <a:pPr marL="285750" indent="-285750">
              <a:buFont typeface="Arial" panose="020B0604020202020204" pitchFamily="34" charset="0"/>
              <a:buChar char="•"/>
            </a:pPr>
            <a:r>
              <a:rPr lang="en-US" dirty="0"/>
              <a:t>Characterizing mobile genetic elements</a:t>
            </a:r>
          </a:p>
          <a:p>
            <a:pPr marL="285750" indent="-285750">
              <a:buFont typeface="Arial" panose="020B0604020202020204" pitchFamily="34" charset="0"/>
              <a:buChar char="•"/>
            </a:pPr>
            <a:r>
              <a:rPr lang="en-US" dirty="0"/>
              <a:t>Reconstructing near-complete MAGs</a:t>
            </a:r>
          </a:p>
          <a:p>
            <a:pPr marL="285750" indent="-285750">
              <a:buFont typeface="Arial" panose="020B0604020202020204" pitchFamily="34" charset="0"/>
              <a:buChar char="•"/>
            </a:pPr>
            <a:r>
              <a:rPr lang="en-US" dirty="0"/>
              <a:t>Tracking transmission of antimicrobial resistance genes on plasmids</a:t>
            </a:r>
          </a:p>
          <a:p>
            <a:pPr marL="285750" indent="-285750">
              <a:buFont typeface="Arial" panose="020B0604020202020204" pitchFamily="34" charset="0"/>
              <a:buChar char="•"/>
            </a:pPr>
            <a:r>
              <a:rPr lang="en-US" dirty="0"/>
              <a:t>Characterizing outbreak strains with high resolution</a:t>
            </a:r>
          </a:p>
          <a:p>
            <a:pPr marL="285750" indent="-285750">
              <a:buFont typeface="Arial" panose="020B0604020202020204" pitchFamily="34" charset="0"/>
              <a:buChar char="•"/>
            </a:pPr>
            <a:r>
              <a:rPr lang="en-US" dirty="0"/>
              <a:t>Reference-quality assembly of novel pathogens</a:t>
            </a:r>
          </a:p>
        </p:txBody>
      </p:sp>
      <p:sp>
        <p:nvSpPr>
          <p:cNvPr id="10" name="TextBox 9">
            <a:extLst>
              <a:ext uri="{FF2B5EF4-FFF2-40B4-BE49-F238E27FC236}">
                <a16:creationId xmlns:a16="http://schemas.microsoft.com/office/drawing/2014/main" id="{29548F95-070F-B9B2-FCC2-8F198D20AD7D}"/>
              </a:ext>
            </a:extLst>
          </p:cNvPr>
          <p:cNvSpPr txBox="1"/>
          <p:nvPr/>
        </p:nvSpPr>
        <p:spPr>
          <a:xfrm>
            <a:off x="6482255" y="3114991"/>
            <a:ext cx="5132863" cy="1200329"/>
          </a:xfrm>
          <a:prstGeom prst="rect">
            <a:avLst/>
          </a:prstGeom>
          <a:solidFill>
            <a:schemeClr val="accent2">
              <a:lumMod val="20000"/>
              <a:lumOff val="80000"/>
            </a:schemeClr>
          </a:solidFill>
        </p:spPr>
        <p:txBody>
          <a:bodyPr wrap="square">
            <a:spAutoFit/>
          </a:bodyPr>
          <a:lstStyle/>
          <a:p>
            <a:pPr marL="285750" indent="-285750">
              <a:buFont typeface="Arial" panose="020B0604020202020204" pitchFamily="34" charset="0"/>
              <a:buChar char="•"/>
            </a:pPr>
            <a:r>
              <a:rPr lang="en-US" dirty="0"/>
              <a:t>Worse at finding non-dominant genomes</a:t>
            </a:r>
          </a:p>
          <a:p>
            <a:pPr marL="285750" indent="-285750">
              <a:buFont typeface="Arial" panose="020B0604020202020204" pitchFamily="34" charset="0"/>
              <a:buChar char="•"/>
            </a:pPr>
            <a:r>
              <a:rPr lang="en-US" dirty="0"/>
              <a:t>Require different assembly algorithms</a:t>
            </a:r>
          </a:p>
          <a:p>
            <a:pPr marL="285750" indent="-285750">
              <a:buFont typeface="Arial" panose="020B0604020202020204" pitchFamily="34" charset="0"/>
              <a:buChar char="•"/>
            </a:pPr>
            <a:r>
              <a:rPr lang="en-US" dirty="0"/>
              <a:t>Different quality control approaches</a:t>
            </a:r>
          </a:p>
          <a:p>
            <a:pPr marL="285750" indent="-285750">
              <a:buFont typeface="Arial" panose="020B0604020202020204" pitchFamily="34" charset="0"/>
              <a:buChar char="•"/>
            </a:pPr>
            <a:r>
              <a:rPr lang="en-US" dirty="0"/>
              <a:t>Different error models. </a:t>
            </a:r>
          </a:p>
        </p:txBody>
      </p:sp>
      <p:sp>
        <p:nvSpPr>
          <p:cNvPr id="12" name="TextBox 11">
            <a:extLst>
              <a:ext uri="{FF2B5EF4-FFF2-40B4-BE49-F238E27FC236}">
                <a16:creationId xmlns:a16="http://schemas.microsoft.com/office/drawing/2014/main" id="{3B6140EE-F48A-58F6-E199-E30EABABEEBD}"/>
              </a:ext>
            </a:extLst>
          </p:cNvPr>
          <p:cNvSpPr txBox="1"/>
          <p:nvPr/>
        </p:nvSpPr>
        <p:spPr>
          <a:xfrm>
            <a:off x="6180300" y="5455192"/>
            <a:ext cx="5736772" cy="830997"/>
          </a:xfrm>
          <a:prstGeom prst="rect">
            <a:avLst/>
          </a:prstGeom>
          <a:noFill/>
        </p:spPr>
        <p:txBody>
          <a:bodyPr wrap="square">
            <a:spAutoFit/>
          </a:bodyPr>
          <a:lstStyle/>
          <a:p>
            <a:pPr marL="457200" lvl="1" indent="0">
              <a:buNone/>
            </a:pPr>
            <a:r>
              <a:rPr lang="en-US" sz="1600" b="1" i="1" dirty="0"/>
              <a:t>Understanding</a:t>
            </a:r>
            <a:r>
              <a:rPr lang="en-US" sz="1600" i="1" dirty="0"/>
              <a:t> the characteristics and </a:t>
            </a:r>
            <a:r>
              <a:rPr lang="en-US" sz="1600" b="1" i="1" dirty="0"/>
              <a:t>limitations</a:t>
            </a:r>
            <a:r>
              <a:rPr lang="en-US" sz="1600" i="1" dirty="0"/>
              <a:t> of the data you are working with is as important as understanding the tools.</a:t>
            </a:r>
          </a:p>
        </p:txBody>
      </p:sp>
    </p:spTree>
    <p:extLst>
      <p:ext uri="{BB962C8B-B14F-4D97-AF65-F5344CB8AC3E}">
        <p14:creationId xmlns:p14="http://schemas.microsoft.com/office/powerpoint/2010/main" val="2038240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94C4E-4634-6ED8-C51B-8346E39BD6C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0D2A980-5EEE-D96C-D048-434F431A399D}"/>
              </a:ext>
            </a:extLst>
          </p:cNvPr>
          <p:cNvSpPr txBox="1">
            <a:spLocks/>
          </p:cNvSpPr>
          <p:nvPr/>
        </p:nvSpPr>
        <p:spPr>
          <a:xfrm>
            <a:off x="1646320" y="2089105"/>
            <a:ext cx="4570412"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err="1"/>
              <a:t>Nextflow</a:t>
            </a:r>
            <a:endParaRPr lang="en-US" sz="5400" dirty="0">
              <a:latin typeface="Helvetica" pitchFamily="2" charset="0"/>
            </a:endParaRPr>
          </a:p>
        </p:txBody>
      </p:sp>
      <p:pic>
        <p:nvPicPr>
          <p:cNvPr id="1028" name="Picture 4" descr="nextflow-io · GitHub">
            <a:extLst>
              <a:ext uri="{FF2B5EF4-FFF2-40B4-BE49-F238E27FC236}">
                <a16:creationId xmlns:a16="http://schemas.microsoft.com/office/drawing/2014/main" id="{D861EEE3-5C4A-C0CC-E945-B60389B372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9346" y="1699590"/>
            <a:ext cx="3169479" cy="31694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6654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5B6AA-761C-3BE8-5C12-3899D0D9BB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005E3C-24AB-9288-2AB1-7D30D190D317}"/>
              </a:ext>
            </a:extLst>
          </p:cNvPr>
          <p:cNvSpPr>
            <a:spLocks noGrp="1"/>
          </p:cNvSpPr>
          <p:nvPr>
            <p:ph type="title"/>
          </p:nvPr>
        </p:nvSpPr>
        <p:spPr/>
        <p:txBody>
          <a:bodyPr>
            <a:normAutofit/>
          </a:bodyPr>
          <a:lstStyle/>
          <a:p>
            <a:r>
              <a:rPr lang="en-US" sz="4000" dirty="0" err="1">
                <a:latin typeface="Helvetica" pitchFamily="2" charset="0"/>
              </a:rPr>
              <a:t>Nextflow</a:t>
            </a:r>
            <a:endParaRPr lang="en-US" sz="4000" dirty="0">
              <a:latin typeface="Helvetica" pitchFamily="2" charset="0"/>
            </a:endParaRPr>
          </a:p>
        </p:txBody>
      </p:sp>
      <p:sp>
        <p:nvSpPr>
          <p:cNvPr id="5" name="TextBox 4">
            <a:extLst>
              <a:ext uri="{FF2B5EF4-FFF2-40B4-BE49-F238E27FC236}">
                <a16:creationId xmlns:a16="http://schemas.microsoft.com/office/drawing/2014/main" id="{02248E9E-B5B7-B223-17DB-8969018CC2F3}"/>
              </a:ext>
            </a:extLst>
          </p:cNvPr>
          <p:cNvSpPr txBox="1"/>
          <p:nvPr/>
        </p:nvSpPr>
        <p:spPr>
          <a:xfrm>
            <a:off x="657101" y="2228671"/>
            <a:ext cx="10877797" cy="830997"/>
          </a:xfrm>
          <a:prstGeom prst="rect">
            <a:avLst/>
          </a:prstGeom>
          <a:noFill/>
        </p:spPr>
        <p:txBody>
          <a:bodyPr wrap="square" rtlCol="0">
            <a:spAutoFit/>
          </a:bodyPr>
          <a:lstStyle/>
          <a:p>
            <a:r>
              <a:rPr lang="en-US" sz="1600" b="1" dirty="0"/>
              <a:t>The problem: </a:t>
            </a:r>
            <a:r>
              <a:rPr lang="en-US" sz="1600" i="1" dirty="0"/>
              <a:t>You have ten samples, a shell script that works for sample one, and then something breaks on sample seven. You are not sure which step failed, you have log files scattered across three directories, and reproducing the results six months later when a reviewer asks feels like archaeology. Workflow managers exist to solve this class of problem.</a:t>
            </a:r>
          </a:p>
        </p:txBody>
      </p:sp>
      <p:sp>
        <p:nvSpPr>
          <p:cNvPr id="17" name="Rectangle 16">
            <a:extLst>
              <a:ext uri="{FF2B5EF4-FFF2-40B4-BE49-F238E27FC236}">
                <a16:creationId xmlns:a16="http://schemas.microsoft.com/office/drawing/2014/main" id="{5B127EE7-22D4-4DD1-F731-0645332D799A}"/>
              </a:ext>
            </a:extLst>
          </p:cNvPr>
          <p:cNvSpPr/>
          <p:nvPr/>
        </p:nvSpPr>
        <p:spPr>
          <a:xfrm>
            <a:off x="848638" y="3906559"/>
            <a:ext cx="2937354" cy="28810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Processes</a:t>
            </a:r>
          </a:p>
        </p:txBody>
      </p:sp>
      <p:sp>
        <p:nvSpPr>
          <p:cNvPr id="23" name="Rectangle 22">
            <a:extLst>
              <a:ext uri="{FF2B5EF4-FFF2-40B4-BE49-F238E27FC236}">
                <a16:creationId xmlns:a16="http://schemas.microsoft.com/office/drawing/2014/main" id="{B3677264-B7C1-FEAF-04B3-CB2F8C3E1B5D}"/>
              </a:ext>
            </a:extLst>
          </p:cNvPr>
          <p:cNvSpPr/>
          <p:nvPr/>
        </p:nvSpPr>
        <p:spPr>
          <a:xfrm>
            <a:off x="848638" y="4256677"/>
            <a:ext cx="2937354" cy="1618556"/>
          </a:xfrm>
          <a:prstGeom prst="rect">
            <a:avLst/>
          </a:prstGeom>
          <a:solidFill>
            <a:schemeClr val="accent2">
              <a:lumMod val="20000"/>
              <a:lumOff val="80000"/>
            </a:schemeClr>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Atomic computational tasks. Each runs in its own directory with defined inputs &amp; outputs.</a:t>
            </a:r>
          </a:p>
        </p:txBody>
      </p:sp>
      <p:sp>
        <p:nvSpPr>
          <p:cNvPr id="28" name="Rectangle 27">
            <a:extLst>
              <a:ext uri="{FF2B5EF4-FFF2-40B4-BE49-F238E27FC236}">
                <a16:creationId xmlns:a16="http://schemas.microsoft.com/office/drawing/2014/main" id="{A07069F1-A080-DF4C-71E9-ABC16BCD9581}"/>
              </a:ext>
            </a:extLst>
          </p:cNvPr>
          <p:cNvSpPr/>
          <p:nvPr/>
        </p:nvSpPr>
        <p:spPr>
          <a:xfrm>
            <a:off x="4627323" y="3906559"/>
            <a:ext cx="2937354" cy="288100"/>
          </a:xfrm>
          <a:prstGeom prst="rect">
            <a:avLst/>
          </a:prstGeom>
          <a:solidFill>
            <a:schemeClr val="accent4">
              <a:lumMod val="75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Channels</a:t>
            </a:r>
          </a:p>
        </p:txBody>
      </p:sp>
      <p:sp>
        <p:nvSpPr>
          <p:cNvPr id="30" name="Rectangle 29">
            <a:extLst>
              <a:ext uri="{FF2B5EF4-FFF2-40B4-BE49-F238E27FC236}">
                <a16:creationId xmlns:a16="http://schemas.microsoft.com/office/drawing/2014/main" id="{2A522124-875A-5724-3BC5-6459415F5874}"/>
              </a:ext>
            </a:extLst>
          </p:cNvPr>
          <p:cNvSpPr/>
          <p:nvPr/>
        </p:nvSpPr>
        <p:spPr>
          <a:xfrm>
            <a:off x="4627323" y="4256677"/>
            <a:ext cx="2937354" cy="1618556"/>
          </a:xfrm>
          <a:prstGeom prst="rect">
            <a:avLst/>
          </a:prstGeom>
          <a:solidFill>
            <a:schemeClr val="accent4">
              <a:lumMod val="20000"/>
              <a:lumOff val="80000"/>
            </a:schemeClr>
          </a:solidFill>
          <a:ln w="1905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Asynchronous queues that connect processes. Data flows through channels between tasks.</a:t>
            </a:r>
          </a:p>
        </p:txBody>
      </p:sp>
      <p:sp>
        <p:nvSpPr>
          <p:cNvPr id="31" name="Rectangle 30">
            <a:extLst>
              <a:ext uri="{FF2B5EF4-FFF2-40B4-BE49-F238E27FC236}">
                <a16:creationId xmlns:a16="http://schemas.microsoft.com/office/drawing/2014/main" id="{FFA10E26-D686-AEE8-7738-3664CACC7EA8}"/>
              </a:ext>
            </a:extLst>
          </p:cNvPr>
          <p:cNvSpPr/>
          <p:nvPr/>
        </p:nvSpPr>
        <p:spPr>
          <a:xfrm>
            <a:off x="8406008" y="3906559"/>
            <a:ext cx="2937354" cy="288100"/>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Workflows</a:t>
            </a:r>
          </a:p>
        </p:txBody>
      </p:sp>
      <p:sp>
        <p:nvSpPr>
          <p:cNvPr id="32" name="Rectangle 31">
            <a:extLst>
              <a:ext uri="{FF2B5EF4-FFF2-40B4-BE49-F238E27FC236}">
                <a16:creationId xmlns:a16="http://schemas.microsoft.com/office/drawing/2014/main" id="{A657081D-01D4-CEAD-B73D-3952B8126E3A}"/>
              </a:ext>
            </a:extLst>
          </p:cNvPr>
          <p:cNvSpPr/>
          <p:nvPr/>
        </p:nvSpPr>
        <p:spPr>
          <a:xfrm>
            <a:off x="8406008" y="4256677"/>
            <a:ext cx="2937354" cy="1618556"/>
          </a:xfrm>
          <a:prstGeom prst="rect">
            <a:avLst/>
          </a:prstGeom>
          <a:solidFill>
            <a:schemeClr val="accent5">
              <a:lumMod val="20000"/>
              <a:lumOff val="80000"/>
            </a:schemeClr>
          </a:solid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Orchestration layer that wires processes together and defines the execution topology.</a:t>
            </a:r>
          </a:p>
        </p:txBody>
      </p:sp>
      <p:sp>
        <p:nvSpPr>
          <p:cNvPr id="34" name="TextBox 33">
            <a:extLst>
              <a:ext uri="{FF2B5EF4-FFF2-40B4-BE49-F238E27FC236}">
                <a16:creationId xmlns:a16="http://schemas.microsoft.com/office/drawing/2014/main" id="{7E0E2B29-0118-CAF4-45DD-EDACAA27FE8C}"/>
              </a:ext>
            </a:extLst>
          </p:cNvPr>
          <p:cNvSpPr txBox="1"/>
          <p:nvPr/>
        </p:nvSpPr>
        <p:spPr>
          <a:xfrm>
            <a:off x="598268" y="3429000"/>
            <a:ext cx="6095010" cy="369332"/>
          </a:xfrm>
          <a:prstGeom prst="rect">
            <a:avLst/>
          </a:prstGeom>
          <a:noFill/>
        </p:spPr>
        <p:txBody>
          <a:bodyPr wrap="square">
            <a:spAutoFit/>
          </a:bodyPr>
          <a:lstStyle/>
          <a:p>
            <a:r>
              <a:rPr lang="en-US" dirty="0"/>
              <a:t>The building blocks: </a:t>
            </a:r>
          </a:p>
        </p:txBody>
      </p:sp>
      <p:sp>
        <p:nvSpPr>
          <p:cNvPr id="3" name="TextBox 2">
            <a:extLst>
              <a:ext uri="{FF2B5EF4-FFF2-40B4-BE49-F238E27FC236}">
                <a16:creationId xmlns:a16="http://schemas.microsoft.com/office/drawing/2014/main" id="{BC4BE8DB-436A-F353-31BF-6605ACE5ECF8}"/>
              </a:ext>
            </a:extLst>
          </p:cNvPr>
          <p:cNvSpPr txBox="1"/>
          <p:nvPr/>
        </p:nvSpPr>
        <p:spPr>
          <a:xfrm>
            <a:off x="657101" y="1550528"/>
            <a:ext cx="10877797" cy="369332"/>
          </a:xfrm>
          <a:prstGeom prst="rect">
            <a:avLst/>
          </a:prstGeom>
          <a:noFill/>
        </p:spPr>
        <p:txBody>
          <a:bodyPr wrap="square" rtlCol="0">
            <a:spAutoFit/>
          </a:bodyPr>
          <a:lstStyle/>
          <a:p>
            <a:r>
              <a:rPr lang="en-US" dirty="0"/>
              <a:t>Bioinformatics workflow manager and language</a:t>
            </a:r>
            <a:endParaRPr lang="en-US" i="1" dirty="0"/>
          </a:p>
        </p:txBody>
      </p:sp>
      <p:pic>
        <p:nvPicPr>
          <p:cNvPr id="2050" name="Picture 2" descr="GitHub - nextflow-io/nextflow: A DSL for data-driven computational  pipelines · GitHub">
            <a:extLst>
              <a:ext uri="{FF2B5EF4-FFF2-40B4-BE49-F238E27FC236}">
                <a16:creationId xmlns:a16="http://schemas.microsoft.com/office/drawing/2014/main" id="{85EF17DD-BD42-62C5-4489-FE21C27EC5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65704" y="56314"/>
            <a:ext cx="3067877" cy="15339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4392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Industrial conveyor belt line vector illustration. Conveyor process  abstract machine production Stock Vector Image &amp; Art - Alamy">
            <a:extLst>
              <a:ext uri="{FF2B5EF4-FFF2-40B4-BE49-F238E27FC236}">
                <a16:creationId xmlns:a16="http://schemas.microsoft.com/office/drawing/2014/main" id="{5B846E23-333C-EC1B-6E34-8636F94E9D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6962"/>
          <a:stretch>
            <a:fillRect/>
          </a:stretch>
        </p:blipFill>
        <p:spPr bwMode="auto">
          <a:xfrm>
            <a:off x="2208172" y="1241529"/>
            <a:ext cx="8232193" cy="4374941"/>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a:extLst>
              <a:ext uri="{FF2B5EF4-FFF2-40B4-BE49-F238E27FC236}">
                <a16:creationId xmlns:a16="http://schemas.microsoft.com/office/drawing/2014/main" id="{3EBE1959-0A4E-237E-64F3-F30C5C3AB922}"/>
              </a:ext>
            </a:extLst>
          </p:cNvPr>
          <p:cNvSpPr/>
          <p:nvPr/>
        </p:nvSpPr>
        <p:spPr>
          <a:xfrm>
            <a:off x="2208171" y="3044142"/>
            <a:ext cx="2978631" cy="2572328"/>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55BC98E-B37A-DA70-9929-7E21645409FA}"/>
              </a:ext>
            </a:extLst>
          </p:cNvPr>
          <p:cNvSpPr txBox="1"/>
          <p:nvPr/>
        </p:nvSpPr>
        <p:spPr>
          <a:xfrm>
            <a:off x="1179450" y="3428999"/>
            <a:ext cx="1448003" cy="1200329"/>
          </a:xfrm>
          <a:prstGeom prst="rect">
            <a:avLst/>
          </a:prstGeom>
          <a:noFill/>
        </p:spPr>
        <p:txBody>
          <a:bodyPr wrap="square" rtlCol="0">
            <a:spAutoFit/>
          </a:bodyPr>
          <a:lstStyle/>
          <a:p>
            <a:r>
              <a:rPr lang="en-US" b="1" dirty="0"/>
              <a:t>Processes </a:t>
            </a:r>
            <a:r>
              <a:rPr lang="en-US" dirty="0"/>
              <a:t>(tools, factory stations)</a:t>
            </a:r>
          </a:p>
        </p:txBody>
      </p:sp>
      <p:sp>
        <p:nvSpPr>
          <p:cNvPr id="4" name="TextBox 3">
            <a:extLst>
              <a:ext uri="{FF2B5EF4-FFF2-40B4-BE49-F238E27FC236}">
                <a16:creationId xmlns:a16="http://schemas.microsoft.com/office/drawing/2014/main" id="{3AB2DFB6-66E8-71F3-714E-BBBA2AC625F5}"/>
              </a:ext>
            </a:extLst>
          </p:cNvPr>
          <p:cNvSpPr txBox="1"/>
          <p:nvPr/>
        </p:nvSpPr>
        <p:spPr>
          <a:xfrm>
            <a:off x="4698697" y="555457"/>
            <a:ext cx="3251141" cy="369332"/>
          </a:xfrm>
          <a:prstGeom prst="rect">
            <a:avLst/>
          </a:prstGeom>
          <a:noFill/>
        </p:spPr>
        <p:txBody>
          <a:bodyPr wrap="square" rtlCol="0">
            <a:spAutoFit/>
          </a:bodyPr>
          <a:lstStyle/>
          <a:p>
            <a:r>
              <a:rPr lang="en-US" b="1" dirty="0"/>
              <a:t>Workflow</a:t>
            </a:r>
            <a:r>
              <a:rPr lang="en-US" dirty="0"/>
              <a:t> (logic, factory plan)</a:t>
            </a:r>
          </a:p>
        </p:txBody>
      </p:sp>
      <p:sp>
        <p:nvSpPr>
          <p:cNvPr id="6" name="Oval 5">
            <a:extLst>
              <a:ext uri="{FF2B5EF4-FFF2-40B4-BE49-F238E27FC236}">
                <a16:creationId xmlns:a16="http://schemas.microsoft.com/office/drawing/2014/main" id="{E52505B3-8FB4-B96B-55F4-630EDFF6CC74}"/>
              </a:ext>
            </a:extLst>
          </p:cNvPr>
          <p:cNvSpPr/>
          <p:nvPr/>
        </p:nvSpPr>
        <p:spPr>
          <a:xfrm>
            <a:off x="5425933" y="2083443"/>
            <a:ext cx="2051312" cy="221544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Brace 6">
            <a:extLst>
              <a:ext uri="{FF2B5EF4-FFF2-40B4-BE49-F238E27FC236}">
                <a16:creationId xmlns:a16="http://schemas.microsoft.com/office/drawing/2014/main" id="{2A438F05-38E5-12B8-AAD5-3063E2A4AAA4}"/>
              </a:ext>
            </a:extLst>
          </p:cNvPr>
          <p:cNvSpPr/>
          <p:nvPr/>
        </p:nvSpPr>
        <p:spPr>
          <a:xfrm rot="16200000">
            <a:off x="5944232" y="-2705692"/>
            <a:ext cx="303535" cy="7775658"/>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Oval 7">
            <a:extLst>
              <a:ext uri="{FF2B5EF4-FFF2-40B4-BE49-F238E27FC236}">
                <a16:creationId xmlns:a16="http://schemas.microsoft.com/office/drawing/2014/main" id="{BC164923-0666-18DF-DD14-76912076C831}"/>
              </a:ext>
            </a:extLst>
          </p:cNvPr>
          <p:cNvSpPr/>
          <p:nvPr/>
        </p:nvSpPr>
        <p:spPr>
          <a:xfrm>
            <a:off x="5186801" y="4298885"/>
            <a:ext cx="5253563" cy="1710237"/>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F4CBF7F-D725-7413-DAD3-09016AB6F0A1}"/>
              </a:ext>
            </a:extLst>
          </p:cNvPr>
          <p:cNvSpPr txBox="1"/>
          <p:nvPr/>
        </p:nvSpPr>
        <p:spPr>
          <a:xfrm>
            <a:off x="6451589" y="6044519"/>
            <a:ext cx="3251141" cy="369332"/>
          </a:xfrm>
          <a:prstGeom prst="rect">
            <a:avLst/>
          </a:prstGeom>
          <a:noFill/>
        </p:spPr>
        <p:txBody>
          <a:bodyPr wrap="square" rtlCol="0">
            <a:spAutoFit/>
          </a:bodyPr>
          <a:lstStyle/>
          <a:p>
            <a:r>
              <a:rPr lang="en-US" b="1" dirty="0"/>
              <a:t>Channels </a:t>
            </a:r>
            <a:r>
              <a:rPr lang="en-US" dirty="0"/>
              <a:t>(conveyor belts)</a:t>
            </a:r>
          </a:p>
        </p:txBody>
      </p:sp>
    </p:spTree>
    <p:extLst>
      <p:ext uri="{BB962C8B-B14F-4D97-AF65-F5344CB8AC3E}">
        <p14:creationId xmlns:p14="http://schemas.microsoft.com/office/powerpoint/2010/main" val="4078347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6" grpId="0" animBg="1"/>
      <p:bldP spid="7" grpId="0" animBg="1"/>
      <p:bldP spid="8" grpId="0" animBg="1"/>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0AF89-510A-C89B-55C3-CDC7529F10C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B559012-82C8-B274-9E0E-9235350F9606}"/>
              </a:ext>
            </a:extLst>
          </p:cNvPr>
          <p:cNvSpPr txBox="1"/>
          <p:nvPr/>
        </p:nvSpPr>
        <p:spPr>
          <a:xfrm>
            <a:off x="6096000" y="2134677"/>
            <a:ext cx="5499558" cy="3416320"/>
          </a:xfrm>
          <a:prstGeom prst="rect">
            <a:avLst/>
          </a:prstGeom>
          <a:noFill/>
        </p:spPr>
        <p:txBody>
          <a:bodyPr wrap="square" rtlCol="0">
            <a:spAutoFit/>
          </a:bodyPr>
          <a:lstStyle/>
          <a:p>
            <a:r>
              <a:rPr lang="en-US" b="1" dirty="0">
                <a:solidFill>
                  <a:srgbClr val="7030A0"/>
                </a:solidFill>
              </a:rPr>
              <a:t>Configuration files </a:t>
            </a:r>
            <a:r>
              <a:rPr lang="en-US" dirty="0"/>
              <a:t>(</a:t>
            </a:r>
            <a:r>
              <a:rPr lang="en-US" sz="1200" dirty="0" err="1">
                <a:latin typeface="Menlo" panose="020B0609030804020204" pitchFamily="49" charset="0"/>
                <a:ea typeface="Menlo" panose="020B0609030804020204" pitchFamily="49" charset="0"/>
                <a:cs typeface="Menlo" panose="020B0609030804020204" pitchFamily="49" charset="0"/>
              </a:rPr>
              <a:t>nextflow.config</a:t>
            </a:r>
            <a:r>
              <a:rPr lang="en-US" dirty="0"/>
              <a:t>) separate execution settings from pipeline logic:</a:t>
            </a:r>
          </a:p>
          <a:p>
            <a:pPr marL="285750" indent="-285750">
              <a:buFont typeface="Arial" panose="020B0604020202020204" pitchFamily="34" charset="0"/>
              <a:buChar char="•"/>
            </a:pPr>
            <a:r>
              <a:rPr lang="en-US" b="1" dirty="0"/>
              <a:t>Executor settings</a:t>
            </a:r>
            <a:r>
              <a:rPr lang="en-US" dirty="0"/>
              <a:t>: Where to run (local, HPC, cloud)</a:t>
            </a:r>
          </a:p>
          <a:p>
            <a:pPr marL="285750" indent="-285750">
              <a:buFont typeface="Arial" panose="020B0604020202020204" pitchFamily="34" charset="0"/>
              <a:buChar char="•"/>
            </a:pPr>
            <a:r>
              <a:rPr lang="en-US" b="1" dirty="0"/>
              <a:t>Resource allocation</a:t>
            </a:r>
            <a:r>
              <a:rPr lang="en-US" dirty="0"/>
              <a:t>: Default CPU, memory per process</a:t>
            </a:r>
          </a:p>
          <a:p>
            <a:pPr marL="285750" indent="-285750">
              <a:buFont typeface="Arial" panose="020B0604020202020204" pitchFamily="34" charset="0"/>
              <a:buChar char="•"/>
            </a:pPr>
            <a:r>
              <a:rPr lang="en-US" b="1" dirty="0"/>
              <a:t>Container settings</a:t>
            </a:r>
            <a:r>
              <a:rPr lang="en-US" dirty="0"/>
              <a:t>: Docker/Singularity configuration</a:t>
            </a:r>
          </a:p>
          <a:p>
            <a:pPr marL="285750" indent="-285750">
              <a:buFont typeface="Arial" panose="020B0604020202020204" pitchFamily="34" charset="0"/>
              <a:buChar char="•"/>
            </a:pPr>
            <a:r>
              <a:rPr lang="en-US" b="1" dirty="0"/>
              <a:t>Profiles</a:t>
            </a:r>
            <a:r>
              <a:rPr lang="en-US" dirty="0"/>
              <a:t>: Different configurations for different environments (laptop vs cluster)</a:t>
            </a:r>
          </a:p>
          <a:p>
            <a:endParaRPr lang="en-US" dirty="0"/>
          </a:p>
          <a:p>
            <a:r>
              <a:rPr lang="en-US" dirty="0"/>
              <a:t>This separation allows the same pipeline to run across different infrastructure without code changes.</a:t>
            </a:r>
          </a:p>
          <a:p>
            <a:endParaRPr lang="en-US" dirty="0"/>
          </a:p>
        </p:txBody>
      </p:sp>
      <p:sp>
        <p:nvSpPr>
          <p:cNvPr id="12" name="Title 1">
            <a:extLst>
              <a:ext uri="{FF2B5EF4-FFF2-40B4-BE49-F238E27FC236}">
                <a16:creationId xmlns:a16="http://schemas.microsoft.com/office/drawing/2014/main" id="{B8085EB4-79EB-8EF0-F251-72EB70D8F246}"/>
              </a:ext>
            </a:extLst>
          </p:cNvPr>
          <p:cNvSpPr>
            <a:spLocks noGrp="1"/>
          </p:cNvSpPr>
          <p:nvPr>
            <p:ph type="title"/>
          </p:nvPr>
        </p:nvSpPr>
        <p:spPr>
          <a:xfrm>
            <a:off x="838200" y="365125"/>
            <a:ext cx="10515600" cy="1325563"/>
          </a:xfrm>
        </p:spPr>
        <p:txBody>
          <a:bodyPr/>
          <a:lstStyle/>
          <a:p>
            <a:r>
              <a:rPr lang="en-US" dirty="0" err="1"/>
              <a:t>Nextflow</a:t>
            </a:r>
            <a:r>
              <a:rPr lang="en-US" dirty="0"/>
              <a:t> components: </a:t>
            </a:r>
            <a:r>
              <a:rPr lang="en-US" b="1" dirty="0"/>
              <a:t>config files</a:t>
            </a:r>
          </a:p>
        </p:txBody>
      </p:sp>
      <p:pic>
        <p:nvPicPr>
          <p:cNvPr id="3074" name="Picture 2" descr="Oversee - May 22, 2016 Word Of The Day | Britannica Dictionary">
            <a:extLst>
              <a:ext uri="{FF2B5EF4-FFF2-40B4-BE49-F238E27FC236}">
                <a16:creationId xmlns:a16="http://schemas.microsoft.com/office/drawing/2014/main" id="{EAB5C093-D743-8EF5-753F-81CDEB863A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193884"/>
            <a:ext cx="4334584" cy="3022802"/>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Manual Icon Vector Art, Icons, and Graphics for Free Download">
            <a:extLst>
              <a:ext uri="{FF2B5EF4-FFF2-40B4-BE49-F238E27FC236}">
                <a16:creationId xmlns:a16="http://schemas.microsoft.com/office/drawing/2014/main" id="{41F8F46F-0A04-AAB2-1EFE-A68F2CDDE9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1508" y="669604"/>
            <a:ext cx="431149" cy="537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9215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0977E-537E-42E3-43E5-3591DDE6EF97}"/>
              </a:ext>
            </a:extLst>
          </p:cNvPr>
          <p:cNvSpPr>
            <a:spLocks noGrp="1"/>
          </p:cNvSpPr>
          <p:nvPr>
            <p:ph type="title"/>
          </p:nvPr>
        </p:nvSpPr>
        <p:spPr/>
        <p:txBody>
          <a:bodyPr/>
          <a:lstStyle/>
          <a:p>
            <a:r>
              <a:rPr lang="en-US" dirty="0" err="1"/>
              <a:t>Nf</a:t>
            </a:r>
            <a:r>
              <a:rPr lang="en-US" dirty="0"/>
              <a:t>-core</a:t>
            </a:r>
          </a:p>
        </p:txBody>
      </p:sp>
      <p:sp>
        <p:nvSpPr>
          <p:cNvPr id="3" name="Content Placeholder 2">
            <a:extLst>
              <a:ext uri="{FF2B5EF4-FFF2-40B4-BE49-F238E27FC236}">
                <a16:creationId xmlns:a16="http://schemas.microsoft.com/office/drawing/2014/main" id="{27239AB8-353E-FEE7-4D7F-723F320A2A4E}"/>
              </a:ext>
            </a:extLst>
          </p:cNvPr>
          <p:cNvSpPr>
            <a:spLocks noGrp="1"/>
          </p:cNvSpPr>
          <p:nvPr>
            <p:ph idx="1"/>
          </p:nvPr>
        </p:nvSpPr>
        <p:spPr>
          <a:xfrm>
            <a:off x="678378" y="3204014"/>
            <a:ext cx="4511634" cy="4351338"/>
          </a:xfrm>
        </p:spPr>
        <p:txBody>
          <a:bodyPr>
            <a:normAutofit/>
          </a:bodyPr>
          <a:lstStyle/>
          <a:p>
            <a:r>
              <a:rPr lang="en-US" sz="1800" dirty="0"/>
              <a:t>Great for using their pipelines</a:t>
            </a:r>
          </a:p>
          <a:p>
            <a:r>
              <a:rPr lang="en-US" sz="1800" dirty="0"/>
              <a:t>Also borrowing modules and other chunks of code</a:t>
            </a:r>
          </a:p>
        </p:txBody>
      </p:sp>
      <p:pic>
        <p:nvPicPr>
          <p:cNvPr id="2050" name="Picture 2" descr="nf-core/mag metromap diagram">
            <a:extLst>
              <a:ext uri="{FF2B5EF4-FFF2-40B4-BE49-F238E27FC236}">
                <a16:creationId xmlns:a16="http://schemas.microsoft.com/office/drawing/2014/main" id="{4FBB6B28-DEE0-CA65-DAC5-3E15D8A9AC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2030" y="1354289"/>
            <a:ext cx="6300973" cy="445575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nf-core · GitHub">
            <a:extLst>
              <a:ext uri="{FF2B5EF4-FFF2-40B4-BE49-F238E27FC236}">
                <a16:creationId xmlns:a16="http://schemas.microsoft.com/office/drawing/2014/main" id="{B8BEB4A2-0CD3-F633-AA6B-746CD950C6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1485" y="293210"/>
            <a:ext cx="3322122" cy="86513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A527BF6-698E-BCB7-561A-991D6853CFBE}"/>
              </a:ext>
            </a:extLst>
          </p:cNvPr>
          <p:cNvSpPr txBox="1"/>
          <p:nvPr/>
        </p:nvSpPr>
        <p:spPr>
          <a:xfrm>
            <a:off x="678378" y="1478317"/>
            <a:ext cx="5312723" cy="1477328"/>
          </a:xfrm>
          <a:prstGeom prst="rect">
            <a:avLst/>
          </a:prstGeom>
          <a:noFill/>
        </p:spPr>
        <p:txBody>
          <a:bodyPr wrap="square">
            <a:spAutoFit/>
          </a:bodyPr>
          <a:lstStyle/>
          <a:p>
            <a:r>
              <a:rPr lang="en-US" dirty="0"/>
              <a:t>This is a community-maintained collection of curated, peer-reviewed </a:t>
            </a:r>
            <a:r>
              <a:rPr lang="en-US" dirty="0" err="1"/>
              <a:t>Nextflow</a:t>
            </a:r>
            <a:r>
              <a:rPr lang="en-US" dirty="0"/>
              <a:t> pipelines:</a:t>
            </a:r>
          </a:p>
          <a:p>
            <a:pPr marL="285750" indent="-285750">
              <a:buFontTx/>
              <a:buChar char="-"/>
            </a:pPr>
            <a:r>
              <a:rPr lang="en-US" dirty="0"/>
              <a:t>production-grade</a:t>
            </a:r>
          </a:p>
          <a:p>
            <a:pPr marL="285750" indent="-285750">
              <a:buFontTx/>
              <a:buChar char="-"/>
            </a:pPr>
            <a:r>
              <a:rPr lang="en-US" dirty="0"/>
              <a:t>extensively tested</a:t>
            </a:r>
          </a:p>
          <a:p>
            <a:pPr marL="285750" indent="-285750">
              <a:buFontTx/>
              <a:buChar char="-"/>
            </a:pPr>
            <a:r>
              <a:rPr lang="en-US" dirty="0" err="1"/>
              <a:t>standardised</a:t>
            </a:r>
            <a:r>
              <a:rPr lang="en-US" dirty="0"/>
              <a:t> structure. </a:t>
            </a:r>
          </a:p>
        </p:txBody>
      </p:sp>
    </p:spTree>
    <p:extLst>
      <p:ext uri="{BB962C8B-B14F-4D97-AF65-F5344CB8AC3E}">
        <p14:creationId xmlns:p14="http://schemas.microsoft.com/office/powerpoint/2010/main" val="531857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10FBE-7E90-00E1-71D4-C2B7718A87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D45EC1-BA85-FADD-E60D-07BF796B7247}"/>
              </a:ext>
            </a:extLst>
          </p:cNvPr>
          <p:cNvSpPr>
            <a:spLocks noGrp="1"/>
          </p:cNvSpPr>
          <p:nvPr>
            <p:ph type="title"/>
          </p:nvPr>
        </p:nvSpPr>
        <p:spPr/>
        <p:txBody>
          <a:bodyPr/>
          <a:lstStyle/>
          <a:p>
            <a:r>
              <a:rPr lang="en-US" dirty="0"/>
              <a:t>When use </a:t>
            </a:r>
            <a:r>
              <a:rPr lang="en-US" dirty="0" err="1"/>
              <a:t>nextflow</a:t>
            </a:r>
            <a:endParaRPr lang="en-US" dirty="0"/>
          </a:p>
        </p:txBody>
      </p:sp>
      <p:sp>
        <p:nvSpPr>
          <p:cNvPr id="5" name="TextBox 4">
            <a:extLst>
              <a:ext uri="{FF2B5EF4-FFF2-40B4-BE49-F238E27FC236}">
                <a16:creationId xmlns:a16="http://schemas.microsoft.com/office/drawing/2014/main" id="{6754B47E-F371-45B0-8A7C-66CE01E422E9}"/>
              </a:ext>
            </a:extLst>
          </p:cNvPr>
          <p:cNvSpPr txBox="1"/>
          <p:nvPr/>
        </p:nvSpPr>
        <p:spPr>
          <a:xfrm>
            <a:off x="2936309" y="1509834"/>
            <a:ext cx="7559139" cy="2542363"/>
          </a:xfrm>
          <a:prstGeom prst="rect">
            <a:avLst/>
          </a:prstGeom>
          <a:noFill/>
          <a:ln w="28575">
            <a:solidFill>
              <a:srgbClr val="C00000"/>
            </a:solidFill>
          </a:ln>
        </p:spPr>
        <p:txBody>
          <a:bodyPr wrap="square">
            <a:spAutoFit/>
          </a:bodyPr>
          <a:lstStyle/>
          <a:p>
            <a:pPr>
              <a:lnSpc>
                <a:spcPct val="150000"/>
              </a:lnSpc>
            </a:pPr>
            <a:r>
              <a:rPr lang="en-US" b="1" dirty="0"/>
              <a:t>What </a:t>
            </a:r>
            <a:r>
              <a:rPr lang="en-US" b="1" dirty="0" err="1"/>
              <a:t>Nextflow</a:t>
            </a:r>
            <a:r>
              <a:rPr lang="en-US" b="1" dirty="0"/>
              <a:t> </a:t>
            </a:r>
            <a:r>
              <a:rPr lang="en-US" b="1" dirty="0">
                <a:solidFill>
                  <a:srgbClr val="C00000"/>
                </a:solidFill>
              </a:rPr>
              <a:t>Is Not</a:t>
            </a:r>
          </a:p>
          <a:p>
            <a:pPr marL="285750" indent="-285750">
              <a:lnSpc>
                <a:spcPct val="150000"/>
              </a:lnSpc>
              <a:buFont typeface="Arial" panose="020B0604020202020204" pitchFamily="34" charset="0"/>
              <a:buChar char="•"/>
            </a:pPr>
            <a:r>
              <a:rPr lang="en-US" dirty="0" err="1"/>
              <a:t>Nextflow</a:t>
            </a:r>
            <a:r>
              <a:rPr lang="en-US" dirty="0"/>
              <a:t> is </a:t>
            </a:r>
            <a:r>
              <a:rPr lang="en-US" b="1" dirty="0">
                <a:solidFill>
                  <a:srgbClr val="C00000"/>
                </a:solidFill>
              </a:rPr>
              <a:t>not a magic solution to poorly designed analyses</a:t>
            </a:r>
            <a:endParaRPr lang="en-US" dirty="0"/>
          </a:p>
          <a:p>
            <a:pPr marL="285750" indent="-285750">
              <a:lnSpc>
                <a:spcPct val="150000"/>
              </a:lnSpc>
              <a:buFont typeface="Arial" panose="020B0604020202020204" pitchFamily="34" charset="0"/>
              <a:buChar char="•"/>
            </a:pPr>
            <a:r>
              <a:rPr lang="en-US" dirty="0"/>
              <a:t>It does </a:t>
            </a:r>
            <a:r>
              <a:rPr lang="en-US" b="1" dirty="0">
                <a:solidFill>
                  <a:srgbClr val="C00000"/>
                </a:solidFill>
              </a:rPr>
              <a:t>not help you choose the right tool</a:t>
            </a:r>
            <a:r>
              <a:rPr lang="en-US" b="1" dirty="0"/>
              <a:t> </a:t>
            </a:r>
            <a:r>
              <a:rPr lang="en-US" dirty="0"/>
              <a:t>for your data or interpret your results. </a:t>
            </a:r>
          </a:p>
          <a:p>
            <a:pPr marL="285750" indent="-285750">
              <a:lnSpc>
                <a:spcPct val="150000"/>
              </a:lnSpc>
              <a:buFont typeface="Arial" panose="020B0604020202020204" pitchFamily="34" charset="0"/>
              <a:buChar char="•"/>
            </a:pPr>
            <a:r>
              <a:rPr lang="en-US" dirty="0"/>
              <a:t>It is also a genuine </a:t>
            </a:r>
            <a:r>
              <a:rPr lang="en-US" b="1" dirty="0">
                <a:solidFill>
                  <a:srgbClr val="C00000"/>
                </a:solidFill>
              </a:rPr>
              <a:t>investment</a:t>
            </a:r>
            <a:r>
              <a:rPr lang="en-US" dirty="0"/>
              <a:t> to learn: the Groovy-based DSL2 syntax has its own logic and takes time to become comfortable with. </a:t>
            </a:r>
          </a:p>
        </p:txBody>
      </p:sp>
      <p:sp>
        <p:nvSpPr>
          <p:cNvPr id="4" name="TextBox 3">
            <a:extLst>
              <a:ext uri="{FF2B5EF4-FFF2-40B4-BE49-F238E27FC236}">
                <a16:creationId xmlns:a16="http://schemas.microsoft.com/office/drawing/2014/main" id="{8D479BAA-2B09-E0E0-D370-B085CCFC8560}"/>
              </a:ext>
            </a:extLst>
          </p:cNvPr>
          <p:cNvSpPr txBox="1"/>
          <p:nvPr/>
        </p:nvSpPr>
        <p:spPr>
          <a:xfrm>
            <a:off x="2936309" y="4366011"/>
            <a:ext cx="7559138" cy="2126864"/>
          </a:xfrm>
          <a:prstGeom prst="rect">
            <a:avLst/>
          </a:prstGeom>
          <a:noFill/>
          <a:ln w="28575">
            <a:solidFill>
              <a:schemeClr val="accent5"/>
            </a:solidFill>
          </a:ln>
        </p:spPr>
        <p:txBody>
          <a:bodyPr wrap="square">
            <a:spAutoFit/>
          </a:bodyPr>
          <a:lstStyle/>
          <a:p>
            <a:pPr>
              <a:lnSpc>
                <a:spcPct val="150000"/>
              </a:lnSpc>
            </a:pPr>
            <a:r>
              <a:rPr lang="en-US" sz="1800" b="1" dirty="0">
                <a:solidFill>
                  <a:schemeClr val="accent5"/>
                </a:solidFill>
              </a:rPr>
              <a:t>When</a:t>
            </a:r>
            <a:r>
              <a:rPr lang="en-US" sz="1800" b="1" dirty="0"/>
              <a:t> to use </a:t>
            </a:r>
            <a:r>
              <a:rPr lang="en-US" sz="1800" b="1" dirty="0" err="1"/>
              <a:t>nextflow</a:t>
            </a:r>
            <a:endParaRPr lang="en-US" sz="1800" b="1" dirty="0"/>
          </a:p>
          <a:p>
            <a:pPr marL="285750" indent="-285750">
              <a:lnSpc>
                <a:spcPct val="150000"/>
              </a:lnSpc>
              <a:buFont typeface="Arial" panose="020B0604020202020204" pitchFamily="34" charset="0"/>
              <a:buChar char="•"/>
            </a:pPr>
            <a:r>
              <a:rPr lang="en-US" dirty="0"/>
              <a:t>Running analyses at</a:t>
            </a:r>
            <a:r>
              <a:rPr lang="en-US" dirty="0">
                <a:solidFill>
                  <a:schemeClr val="accent5"/>
                </a:solidFill>
              </a:rPr>
              <a:t> </a:t>
            </a:r>
            <a:r>
              <a:rPr lang="en-US" b="1" dirty="0">
                <a:solidFill>
                  <a:schemeClr val="accent5"/>
                </a:solidFill>
              </a:rPr>
              <a:t>scale</a:t>
            </a:r>
            <a:r>
              <a:rPr lang="en-US" dirty="0">
                <a:solidFill>
                  <a:schemeClr val="accent5"/>
                </a:solidFill>
              </a:rPr>
              <a:t> </a:t>
            </a:r>
            <a:r>
              <a:rPr lang="en-US" dirty="0"/>
              <a:t>and/or multiple </a:t>
            </a:r>
            <a:r>
              <a:rPr lang="en-US" b="1" dirty="0">
                <a:solidFill>
                  <a:schemeClr val="accent5"/>
                </a:solidFill>
              </a:rPr>
              <a:t>times</a:t>
            </a:r>
          </a:p>
          <a:p>
            <a:pPr marL="285750" indent="-285750">
              <a:lnSpc>
                <a:spcPct val="150000"/>
              </a:lnSpc>
              <a:buFont typeface="Arial" panose="020B0604020202020204" pitchFamily="34" charset="0"/>
              <a:buChar char="•"/>
            </a:pPr>
            <a:r>
              <a:rPr lang="en-US" b="1" dirty="0">
                <a:solidFill>
                  <a:schemeClr val="accent5"/>
                </a:solidFill>
              </a:rPr>
              <a:t>Sharing</a:t>
            </a:r>
            <a:r>
              <a:rPr lang="en-US" dirty="0">
                <a:solidFill>
                  <a:schemeClr val="accent5"/>
                </a:solidFill>
              </a:rPr>
              <a:t> </a:t>
            </a:r>
            <a:r>
              <a:rPr lang="en-US" dirty="0"/>
              <a:t>pipelines with collaborators</a:t>
            </a:r>
          </a:p>
          <a:p>
            <a:pPr marL="285750" indent="-285750">
              <a:lnSpc>
                <a:spcPct val="150000"/>
              </a:lnSpc>
              <a:buFont typeface="Arial" panose="020B0604020202020204" pitchFamily="34" charset="0"/>
              <a:buChar char="•"/>
            </a:pPr>
            <a:r>
              <a:rPr lang="en-US" dirty="0"/>
              <a:t>Deploying same pipeline in </a:t>
            </a:r>
            <a:r>
              <a:rPr lang="en-US" b="1" dirty="0">
                <a:solidFill>
                  <a:schemeClr val="accent5"/>
                </a:solidFill>
              </a:rPr>
              <a:t>multiple systems</a:t>
            </a:r>
          </a:p>
          <a:p>
            <a:pPr marL="285750" indent="-285750">
              <a:lnSpc>
                <a:spcPct val="150000"/>
              </a:lnSpc>
              <a:buFont typeface="Arial" panose="020B0604020202020204" pitchFamily="34" charset="0"/>
              <a:buChar char="•"/>
            </a:pPr>
            <a:r>
              <a:rPr lang="en-US" dirty="0"/>
              <a:t>Trying to ensure that your methods are truly </a:t>
            </a:r>
            <a:r>
              <a:rPr lang="en-US" b="1" dirty="0">
                <a:solidFill>
                  <a:schemeClr val="accent5"/>
                </a:solidFill>
              </a:rPr>
              <a:t>reproducible</a:t>
            </a:r>
            <a:endParaRPr lang="en-US" sz="1800" b="1" dirty="0">
              <a:solidFill>
                <a:schemeClr val="accent5"/>
              </a:solidFill>
            </a:endParaRPr>
          </a:p>
        </p:txBody>
      </p:sp>
      <p:pic>
        <p:nvPicPr>
          <p:cNvPr id="8" name="Graphic 7" descr="No sign with solid fill">
            <a:extLst>
              <a:ext uri="{FF2B5EF4-FFF2-40B4-BE49-F238E27FC236}">
                <a16:creationId xmlns:a16="http://schemas.microsoft.com/office/drawing/2014/main" id="{F37F17C2-F4AA-08B1-D3BF-D752B6C7C2E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14078" y="2276549"/>
            <a:ext cx="914400" cy="914400"/>
          </a:xfrm>
          <a:prstGeom prst="rect">
            <a:avLst/>
          </a:prstGeom>
        </p:spPr>
      </p:pic>
      <p:pic>
        <p:nvPicPr>
          <p:cNvPr id="10" name="Graphic 9" descr="Clock with solid fill">
            <a:extLst>
              <a:ext uri="{FF2B5EF4-FFF2-40B4-BE49-F238E27FC236}">
                <a16:creationId xmlns:a16="http://schemas.microsoft.com/office/drawing/2014/main" id="{810D3446-250F-C4BF-0A9C-E4317B1010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14078" y="4697474"/>
            <a:ext cx="914400" cy="914400"/>
          </a:xfrm>
          <a:prstGeom prst="rect">
            <a:avLst/>
          </a:prstGeom>
        </p:spPr>
      </p:pic>
    </p:spTree>
    <p:extLst>
      <p:ext uri="{BB962C8B-B14F-4D97-AF65-F5344CB8AC3E}">
        <p14:creationId xmlns:p14="http://schemas.microsoft.com/office/powerpoint/2010/main" val="3953102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7E632-1B08-6D8A-3A25-87625934D76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EDBFA83-B7A1-3974-0E7E-4C0F70E71604}"/>
              </a:ext>
            </a:extLst>
          </p:cNvPr>
          <p:cNvSpPr txBox="1">
            <a:spLocks/>
          </p:cNvSpPr>
          <p:nvPr/>
        </p:nvSpPr>
        <p:spPr>
          <a:xfrm>
            <a:off x="1646320" y="2089105"/>
            <a:ext cx="4570412"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t>Containers</a:t>
            </a:r>
            <a:endParaRPr lang="en-US" sz="5400" dirty="0">
              <a:latin typeface="Helvetica" pitchFamily="2" charset="0"/>
            </a:endParaRPr>
          </a:p>
        </p:txBody>
      </p:sp>
      <p:pic>
        <p:nvPicPr>
          <p:cNvPr id="1026" name="Picture 2" descr="Software - Free computer icons">
            <a:extLst>
              <a:ext uri="{FF2B5EF4-FFF2-40B4-BE49-F238E27FC236}">
                <a16:creationId xmlns:a16="http://schemas.microsoft.com/office/drawing/2014/main" id="{90307FDE-986B-CAFD-B54C-EAD152D20F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540329"/>
            <a:ext cx="1248229" cy="1248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826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AF49B-F4D4-672E-CBAC-B59D767AF8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D63F50-ADB6-FEBA-66C6-B06489CA27C4}"/>
              </a:ext>
            </a:extLst>
          </p:cNvPr>
          <p:cNvSpPr>
            <a:spLocks noGrp="1"/>
          </p:cNvSpPr>
          <p:nvPr>
            <p:ph type="title"/>
          </p:nvPr>
        </p:nvSpPr>
        <p:spPr/>
        <p:txBody>
          <a:bodyPr>
            <a:normAutofit/>
          </a:bodyPr>
          <a:lstStyle/>
          <a:p>
            <a:r>
              <a:rPr lang="en-US" sz="4000" dirty="0">
                <a:latin typeface="Helvetica" pitchFamily="2" charset="0"/>
              </a:rPr>
              <a:t>The dependency problem</a:t>
            </a:r>
          </a:p>
        </p:txBody>
      </p:sp>
      <p:pic>
        <p:nvPicPr>
          <p:cNvPr id="3074" name="Picture 2" descr="Comprehensive Guide to Dependency Management in Python | Towards Data  Science">
            <a:extLst>
              <a:ext uri="{FF2B5EF4-FFF2-40B4-BE49-F238E27FC236}">
                <a16:creationId xmlns:a16="http://schemas.microsoft.com/office/drawing/2014/main" id="{B69F3160-5F2F-5AD0-786A-CD86791F19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1175" y="1851789"/>
            <a:ext cx="8763000" cy="4561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7772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265C6-6F3E-E159-BCCB-BF81A97674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7C3F9-71A8-FC24-43BA-7CEEF829EBE2}"/>
              </a:ext>
            </a:extLst>
          </p:cNvPr>
          <p:cNvSpPr>
            <a:spLocks noGrp="1"/>
          </p:cNvSpPr>
          <p:nvPr>
            <p:ph type="title"/>
          </p:nvPr>
        </p:nvSpPr>
        <p:spPr/>
        <p:txBody>
          <a:bodyPr>
            <a:normAutofit/>
          </a:bodyPr>
          <a:lstStyle/>
          <a:p>
            <a:r>
              <a:rPr lang="en-US" sz="4000" dirty="0">
                <a:latin typeface="Helvetica" pitchFamily="2" charset="0"/>
              </a:rPr>
              <a:t>Introduction to containers</a:t>
            </a:r>
          </a:p>
        </p:txBody>
      </p:sp>
      <p:sp>
        <p:nvSpPr>
          <p:cNvPr id="3" name="TextBox 2">
            <a:extLst>
              <a:ext uri="{FF2B5EF4-FFF2-40B4-BE49-F238E27FC236}">
                <a16:creationId xmlns:a16="http://schemas.microsoft.com/office/drawing/2014/main" id="{B5AE2760-694B-59C8-C3B1-C3202ED4722D}"/>
              </a:ext>
            </a:extLst>
          </p:cNvPr>
          <p:cNvSpPr txBox="1"/>
          <p:nvPr/>
        </p:nvSpPr>
        <p:spPr>
          <a:xfrm>
            <a:off x="838200" y="1442549"/>
            <a:ext cx="6405465" cy="4247317"/>
          </a:xfrm>
          <a:prstGeom prst="rect">
            <a:avLst/>
          </a:prstGeom>
          <a:noFill/>
        </p:spPr>
        <p:txBody>
          <a:bodyPr wrap="square" rtlCol="0">
            <a:spAutoFit/>
          </a:bodyPr>
          <a:lstStyle/>
          <a:p>
            <a:r>
              <a:rPr lang="en-US" dirty="0"/>
              <a:t>We </a:t>
            </a:r>
            <a:r>
              <a:rPr lang="en-US" b="1" dirty="0"/>
              <a:t>have to</a:t>
            </a:r>
            <a:r>
              <a:rPr lang="en-US" dirty="0"/>
              <a:t> use containers when: </a:t>
            </a:r>
          </a:p>
          <a:p>
            <a:pPr marL="285750" indent="-285750">
              <a:buFontTx/>
              <a:buChar char="-"/>
            </a:pPr>
            <a:r>
              <a:rPr lang="en-US" dirty="0"/>
              <a:t>extremely complex dependencies</a:t>
            </a:r>
          </a:p>
          <a:p>
            <a:pPr marL="285750" indent="-285750">
              <a:buFontTx/>
              <a:buChar char="-"/>
            </a:pPr>
            <a:r>
              <a:rPr lang="en-US" dirty="0"/>
              <a:t>require a specific operating system configuration</a:t>
            </a:r>
          </a:p>
          <a:p>
            <a:pPr marL="285750" indent="-285750">
              <a:buFontTx/>
              <a:buChar char="-"/>
            </a:pPr>
            <a:r>
              <a:rPr lang="en-US" dirty="0"/>
              <a:t>need to guarantee that analysis will run identically on any system — not just Hazel</a:t>
            </a:r>
          </a:p>
          <a:p>
            <a:endParaRPr lang="en-US" dirty="0"/>
          </a:p>
          <a:p>
            <a:r>
              <a:rPr lang="en-US" dirty="0"/>
              <a:t>We </a:t>
            </a:r>
            <a:r>
              <a:rPr lang="en-US" b="1" dirty="0">
                <a:solidFill>
                  <a:schemeClr val="accent2">
                    <a:lumMod val="75000"/>
                  </a:schemeClr>
                </a:solidFill>
              </a:rPr>
              <a:t>should generally use containers</a:t>
            </a:r>
            <a:endParaRPr lang="en-US" dirty="0"/>
          </a:p>
          <a:p>
            <a:endParaRPr lang="en-US" dirty="0"/>
          </a:p>
          <a:p>
            <a:r>
              <a:rPr lang="en-US" dirty="0"/>
              <a:t>A container is like a complete mini-computer: </a:t>
            </a:r>
          </a:p>
          <a:p>
            <a:pPr marL="285750" indent="-285750">
              <a:buFontTx/>
              <a:buChar char="-"/>
            </a:pPr>
            <a:r>
              <a:rPr lang="en-US" dirty="0"/>
              <a:t>Operating system</a:t>
            </a:r>
          </a:p>
          <a:p>
            <a:pPr marL="285750" indent="-285750">
              <a:buFontTx/>
              <a:buChar char="-"/>
            </a:pPr>
            <a:r>
              <a:rPr lang="en-US" dirty="0"/>
              <a:t>Libraries</a:t>
            </a:r>
          </a:p>
          <a:p>
            <a:pPr marL="285750" indent="-285750">
              <a:buFontTx/>
              <a:buChar char="-"/>
            </a:pPr>
            <a:r>
              <a:rPr lang="en-US" dirty="0"/>
              <a:t>Software</a:t>
            </a:r>
          </a:p>
          <a:p>
            <a:r>
              <a:rPr lang="en-US" dirty="0"/>
              <a:t>You don't install the software — you just run the container. </a:t>
            </a:r>
          </a:p>
          <a:p>
            <a:pPr marL="285750" indent="-285750">
              <a:buFontTx/>
              <a:buChar char="-"/>
            </a:pPr>
            <a:endParaRPr lang="en-US" dirty="0"/>
          </a:p>
          <a:p>
            <a:endParaRPr lang="en-US" dirty="0"/>
          </a:p>
        </p:txBody>
      </p:sp>
      <p:pic>
        <p:nvPicPr>
          <p:cNvPr id="4" name="Picture 3">
            <a:extLst>
              <a:ext uri="{FF2B5EF4-FFF2-40B4-BE49-F238E27FC236}">
                <a16:creationId xmlns:a16="http://schemas.microsoft.com/office/drawing/2014/main" id="{1A5E3C14-0703-76A5-5414-7B911F52189B}"/>
              </a:ext>
            </a:extLst>
          </p:cNvPr>
          <p:cNvPicPr>
            <a:picLocks noChangeAspect="1"/>
          </p:cNvPicPr>
          <p:nvPr/>
        </p:nvPicPr>
        <p:blipFill>
          <a:blip r:embed="rId3"/>
          <a:stretch>
            <a:fillRect/>
          </a:stretch>
        </p:blipFill>
        <p:spPr>
          <a:xfrm>
            <a:off x="6531428" y="1590990"/>
            <a:ext cx="6165273" cy="4281440"/>
          </a:xfrm>
          <a:prstGeom prst="rect">
            <a:avLst/>
          </a:prstGeom>
        </p:spPr>
      </p:pic>
      <p:sp>
        <p:nvSpPr>
          <p:cNvPr id="5" name="TextBox 4">
            <a:extLst>
              <a:ext uri="{FF2B5EF4-FFF2-40B4-BE49-F238E27FC236}">
                <a16:creationId xmlns:a16="http://schemas.microsoft.com/office/drawing/2014/main" id="{4ADAD4BC-53FB-4FAA-3690-291FDBF2CEFE}"/>
              </a:ext>
            </a:extLst>
          </p:cNvPr>
          <p:cNvSpPr txBox="1"/>
          <p:nvPr/>
        </p:nvSpPr>
        <p:spPr>
          <a:xfrm>
            <a:off x="838200" y="5503098"/>
            <a:ext cx="4488729" cy="369332"/>
          </a:xfrm>
          <a:prstGeom prst="rect">
            <a:avLst/>
          </a:prstGeom>
          <a:solidFill>
            <a:schemeClr val="accent4">
              <a:lumMod val="20000"/>
              <a:lumOff val="80000"/>
            </a:schemeClr>
          </a:solidFill>
        </p:spPr>
        <p:txBody>
          <a:bodyPr wrap="none" rtlCol="0">
            <a:spAutoFit/>
          </a:bodyPr>
          <a:lstStyle/>
          <a:p>
            <a:r>
              <a:rPr lang="en-US" dirty="0"/>
              <a:t>portable, versioned, immutable environments</a:t>
            </a:r>
          </a:p>
        </p:txBody>
      </p:sp>
      <p:sp>
        <p:nvSpPr>
          <p:cNvPr id="6" name="TextBox 5">
            <a:extLst>
              <a:ext uri="{FF2B5EF4-FFF2-40B4-BE49-F238E27FC236}">
                <a16:creationId xmlns:a16="http://schemas.microsoft.com/office/drawing/2014/main" id="{1114F417-8C7D-B8FB-7332-A2FC0621A712}"/>
              </a:ext>
            </a:extLst>
          </p:cNvPr>
          <p:cNvSpPr txBox="1"/>
          <p:nvPr/>
        </p:nvSpPr>
        <p:spPr>
          <a:xfrm>
            <a:off x="838200" y="6020871"/>
            <a:ext cx="8305479" cy="369332"/>
          </a:xfrm>
          <a:prstGeom prst="rect">
            <a:avLst/>
          </a:prstGeom>
          <a:solidFill>
            <a:schemeClr val="accent4">
              <a:lumMod val="40000"/>
              <a:lumOff val="60000"/>
            </a:schemeClr>
          </a:solidFill>
        </p:spPr>
        <p:txBody>
          <a:bodyPr wrap="none" rtlCol="0">
            <a:spAutoFit/>
          </a:bodyPr>
          <a:lstStyle/>
          <a:p>
            <a:r>
              <a:rPr lang="en-US" dirty="0"/>
              <a:t>An analysis is not just a script — it is a script plus the exact environment in which it run</a:t>
            </a:r>
          </a:p>
        </p:txBody>
      </p:sp>
    </p:spTree>
    <p:extLst>
      <p:ext uri="{BB962C8B-B14F-4D97-AF65-F5344CB8AC3E}">
        <p14:creationId xmlns:p14="http://schemas.microsoft.com/office/powerpoint/2010/main" val="2364049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7E178-611C-4A10-AB68-2E8C2C7D82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8F1C3-1BB9-9B74-0597-520B1FC41047}"/>
              </a:ext>
            </a:extLst>
          </p:cNvPr>
          <p:cNvSpPr>
            <a:spLocks noGrp="1"/>
          </p:cNvSpPr>
          <p:nvPr>
            <p:ph type="title"/>
          </p:nvPr>
        </p:nvSpPr>
        <p:spPr/>
        <p:txBody>
          <a:bodyPr>
            <a:normAutofit/>
          </a:bodyPr>
          <a:lstStyle/>
          <a:p>
            <a:r>
              <a:rPr lang="en-US" sz="4000" dirty="0">
                <a:latin typeface="Helvetica" pitchFamily="2" charset="0"/>
              </a:rPr>
              <a:t>Singularity vs. docker</a:t>
            </a:r>
          </a:p>
        </p:txBody>
      </p:sp>
      <p:sp>
        <p:nvSpPr>
          <p:cNvPr id="4" name="TextBox 3">
            <a:extLst>
              <a:ext uri="{FF2B5EF4-FFF2-40B4-BE49-F238E27FC236}">
                <a16:creationId xmlns:a16="http://schemas.microsoft.com/office/drawing/2014/main" id="{E6861FA9-7AF1-DC19-E5DD-5BA7E6730003}"/>
              </a:ext>
            </a:extLst>
          </p:cNvPr>
          <p:cNvSpPr txBox="1"/>
          <p:nvPr/>
        </p:nvSpPr>
        <p:spPr>
          <a:xfrm>
            <a:off x="1040495" y="4948291"/>
            <a:ext cx="4711719" cy="1477328"/>
          </a:xfrm>
          <a:prstGeom prst="rect">
            <a:avLst/>
          </a:prstGeom>
          <a:noFill/>
        </p:spPr>
        <p:txBody>
          <a:bodyPr wrap="square" rtlCol="0">
            <a:spAutoFit/>
          </a:bodyPr>
          <a:lstStyle/>
          <a:p>
            <a:pPr marL="285750" indent="-285750">
              <a:buFont typeface="Arial" panose="020B0604020202020204" pitchFamily="34" charset="0"/>
              <a:buChar char="•"/>
            </a:pPr>
            <a:r>
              <a:rPr lang="en-US" dirty="0"/>
              <a:t>dominant container platform </a:t>
            </a:r>
          </a:p>
          <a:p>
            <a:pPr marL="285750" indent="-285750">
              <a:buFont typeface="Arial" panose="020B0604020202020204" pitchFamily="34" charset="0"/>
              <a:buChar char="•"/>
            </a:pPr>
            <a:r>
              <a:rPr lang="en-US" dirty="0"/>
              <a:t>most likely to encounter in tutorials, documentation, and online resources</a:t>
            </a:r>
          </a:p>
          <a:p>
            <a:pPr marL="285750" indent="-285750">
              <a:buFont typeface="Arial" panose="020B0604020202020204" pitchFamily="34" charset="0"/>
              <a:buChar char="•"/>
            </a:pPr>
            <a:r>
              <a:rPr lang="en-US" dirty="0"/>
              <a:t>images are stored in registries(Docker Hub and the </a:t>
            </a:r>
            <a:r>
              <a:rPr lang="en-US" dirty="0" err="1"/>
              <a:t>Biocontainers</a:t>
            </a:r>
            <a:r>
              <a:rPr lang="en-US" dirty="0"/>
              <a:t>) </a:t>
            </a:r>
          </a:p>
        </p:txBody>
      </p:sp>
      <p:sp>
        <p:nvSpPr>
          <p:cNvPr id="5" name="TextBox 4">
            <a:extLst>
              <a:ext uri="{FF2B5EF4-FFF2-40B4-BE49-F238E27FC236}">
                <a16:creationId xmlns:a16="http://schemas.microsoft.com/office/drawing/2014/main" id="{B95412E8-21E2-61B4-F2FD-5F0A010D0509}"/>
              </a:ext>
            </a:extLst>
          </p:cNvPr>
          <p:cNvSpPr txBox="1"/>
          <p:nvPr/>
        </p:nvSpPr>
        <p:spPr>
          <a:xfrm>
            <a:off x="6439788" y="4948291"/>
            <a:ext cx="11066811" cy="923330"/>
          </a:xfrm>
          <a:prstGeom prst="rect">
            <a:avLst/>
          </a:prstGeom>
          <a:noFill/>
        </p:spPr>
        <p:txBody>
          <a:bodyPr wrap="square" rtlCol="0">
            <a:spAutoFit/>
          </a:bodyPr>
          <a:lstStyle/>
          <a:p>
            <a:pPr marL="285750" indent="-285750">
              <a:buFont typeface="Arial" panose="020B0604020202020204" pitchFamily="34" charset="0"/>
              <a:buChar char="•"/>
            </a:pPr>
            <a:r>
              <a:rPr lang="en-US" dirty="0"/>
              <a:t>HPC clusters: Docker requires root privileges. </a:t>
            </a:r>
          </a:p>
          <a:p>
            <a:pPr marL="285750" indent="-285750">
              <a:buFont typeface="Arial" panose="020B0604020202020204" pitchFamily="34" charset="0"/>
              <a:buChar char="•"/>
            </a:pPr>
            <a:r>
              <a:rPr lang="en-US" dirty="0"/>
              <a:t>No needing administrator access. </a:t>
            </a:r>
          </a:p>
          <a:p>
            <a:pPr marL="285750" indent="-285750">
              <a:buFont typeface="Arial" panose="020B0604020202020204" pitchFamily="34" charset="0"/>
              <a:buChar char="•"/>
            </a:pPr>
            <a:r>
              <a:rPr lang="en-US" dirty="0"/>
              <a:t>can also directly run Docker images</a:t>
            </a:r>
          </a:p>
        </p:txBody>
      </p:sp>
      <p:pic>
        <p:nvPicPr>
          <p:cNvPr id="4098" name="Picture 2" descr="Docker Logo and symbol, meaning, history, PNG, brand">
            <a:extLst>
              <a:ext uri="{FF2B5EF4-FFF2-40B4-BE49-F238E27FC236}">
                <a16:creationId xmlns:a16="http://schemas.microsoft.com/office/drawing/2014/main" id="{BD41C810-FE27-8401-204E-378BA6ECED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4744" y="2165459"/>
            <a:ext cx="4103219" cy="230806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Apptainer - Portable, Reproducible Containers">
            <a:extLst>
              <a:ext uri="{FF2B5EF4-FFF2-40B4-BE49-F238E27FC236}">
                <a16:creationId xmlns:a16="http://schemas.microsoft.com/office/drawing/2014/main" id="{7EB3E702-EF5A-9AEC-6839-E491F44BD5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30438" y="2906888"/>
            <a:ext cx="5143500" cy="157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3050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BDB14-792F-601A-90B1-292EDD9FEEDF}"/>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0927CDB-A549-B84C-12BF-3CBB0FA54CA5}"/>
              </a:ext>
            </a:extLst>
          </p:cNvPr>
          <p:cNvSpPr txBox="1">
            <a:spLocks/>
          </p:cNvSpPr>
          <p:nvPr/>
        </p:nvSpPr>
        <p:spPr>
          <a:xfrm>
            <a:off x="1646320" y="2089105"/>
            <a:ext cx="7518945"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t>Reproducibility </a:t>
            </a:r>
          </a:p>
          <a:p>
            <a:r>
              <a:rPr lang="en-US" sz="5400" dirty="0"/>
              <a:t>and 					data</a:t>
            </a:r>
            <a:endParaRPr lang="en-US" sz="5400" dirty="0">
              <a:latin typeface="Helvetica" pitchFamily="2" charset="0"/>
            </a:endParaRPr>
          </a:p>
        </p:txBody>
      </p:sp>
      <p:pic>
        <p:nvPicPr>
          <p:cNvPr id="2" name="Picture 2" descr="Common Data Elements: Standardizing Data Collection">
            <a:extLst>
              <a:ext uri="{FF2B5EF4-FFF2-40B4-BE49-F238E27FC236}">
                <a16:creationId xmlns:a16="http://schemas.microsoft.com/office/drawing/2014/main" id="{0F6582E4-E1B7-8F85-98A7-620D688693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9010" y="3282905"/>
            <a:ext cx="3913564" cy="1658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7579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DFCD4-7594-28A3-EDB2-B59FA1BA406D}"/>
              </a:ext>
            </a:extLst>
          </p:cNvPr>
          <p:cNvSpPr>
            <a:spLocks noGrp="1"/>
          </p:cNvSpPr>
          <p:nvPr>
            <p:ph type="title"/>
          </p:nvPr>
        </p:nvSpPr>
        <p:spPr/>
        <p:txBody>
          <a:bodyPr/>
          <a:lstStyle/>
          <a:p>
            <a:r>
              <a:rPr lang="en-US" dirty="0"/>
              <a:t>Reproducibility, Open Science, and FAIR Data</a:t>
            </a:r>
          </a:p>
        </p:txBody>
      </p:sp>
      <p:sp>
        <p:nvSpPr>
          <p:cNvPr id="3" name="Content Placeholder 2">
            <a:extLst>
              <a:ext uri="{FF2B5EF4-FFF2-40B4-BE49-F238E27FC236}">
                <a16:creationId xmlns:a16="http://schemas.microsoft.com/office/drawing/2014/main" id="{7CA1FCAE-83B7-57FB-50A2-02BC053D1C0B}"/>
              </a:ext>
            </a:extLst>
          </p:cNvPr>
          <p:cNvSpPr>
            <a:spLocks noGrp="1"/>
          </p:cNvSpPr>
          <p:nvPr>
            <p:ph idx="1"/>
          </p:nvPr>
        </p:nvSpPr>
        <p:spPr>
          <a:xfrm>
            <a:off x="5576778" y="2479710"/>
            <a:ext cx="5777022" cy="4351338"/>
          </a:xfrm>
        </p:spPr>
        <p:txBody>
          <a:bodyPr>
            <a:normAutofit/>
          </a:bodyPr>
          <a:lstStyle/>
          <a:p>
            <a:pPr marL="0" indent="0">
              <a:buNone/>
            </a:pPr>
            <a:r>
              <a:rPr lang="en-US" sz="2400" b="1" dirty="0"/>
              <a:t>FAIR compliance</a:t>
            </a:r>
          </a:p>
          <a:p>
            <a:pPr lvl="1"/>
            <a:r>
              <a:rPr lang="en-US" sz="2000" dirty="0"/>
              <a:t>Required by funding agencies and journals</a:t>
            </a:r>
          </a:p>
          <a:p>
            <a:pPr lvl="1"/>
            <a:r>
              <a:rPr lang="en-US" sz="2000" b="1" dirty="0"/>
              <a:t>Depositing</a:t>
            </a:r>
            <a:r>
              <a:rPr lang="en-US" sz="2000" dirty="0"/>
              <a:t> </a:t>
            </a:r>
            <a:r>
              <a:rPr lang="en-US" sz="2000" b="1" dirty="0"/>
              <a:t>raw data </a:t>
            </a:r>
            <a:r>
              <a:rPr lang="en-US" sz="2000" dirty="0"/>
              <a:t>in public repositories </a:t>
            </a:r>
          </a:p>
          <a:p>
            <a:pPr lvl="1"/>
            <a:r>
              <a:rPr lang="en-US" sz="2000" dirty="0"/>
              <a:t>Using </a:t>
            </a:r>
            <a:r>
              <a:rPr lang="en-US" sz="2000" b="1" dirty="0"/>
              <a:t>community-standard </a:t>
            </a:r>
            <a:r>
              <a:rPr lang="en-US" sz="2000" dirty="0"/>
              <a:t>metadata formats</a:t>
            </a:r>
          </a:p>
          <a:p>
            <a:pPr lvl="1"/>
            <a:r>
              <a:rPr lang="en-US" sz="2000" b="1" dirty="0"/>
              <a:t>Documenting analysis </a:t>
            </a:r>
            <a:r>
              <a:rPr lang="en-US" sz="2000" dirty="0"/>
              <a:t>code in version-controlled repositories like </a:t>
            </a:r>
            <a:r>
              <a:rPr lang="en-US" sz="2000" b="1" dirty="0">
                <a:solidFill>
                  <a:schemeClr val="accent2"/>
                </a:solidFill>
              </a:rPr>
              <a:t>GitHub</a:t>
            </a:r>
            <a:r>
              <a:rPr lang="en-US" sz="2000" dirty="0"/>
              <a:t> or GitLab.</a:t>
            </a:r>
          </a:p>
          <a:p>
            <a:pPr lvl="1"/>
            <a:r>
              <a:rPr lang="en-US" sz="2000" dirty="0"/>
              <a:t>Electronic lab notebooks, tools like </a:t>
            </a:r>
            <a:r>
              <a:rPr lang="en-US" sz="2000" b="1" dirty="0" err="1">
                <a:solidFill>
                  <a:schemeClr val="accent1"/>
                </a:solidFill>
              </a:rPr>
              <a:t>RMarkdown</a:t>
            </a:r>
            <a:r>
              <a:rPr lang="en-US" sz="2000" dirty="0"/>
              <a:t> and </a:t>
            </a:r>
            <a:r>
              <a:rPr lang="en-US" sz="2000" b="1" dirty="0">
                <a:solidFill>
                  <a:schemeClr val="accent1"/>
                </a:solidFill>
              </a:rPr>
              <a:t>Quarto</a:t>
            </a:r>
            <a:r>
              <a:rPr lang="en-US" sz="2000" dirty="0"/>
              <a:t> for combining code and narrative</a:t>
            </a:r>
          </a:p>
          <a:p>
            <a:pPr lvl="1"/>
            <a:r>
              <a:rPr lang="en-US" sz="2000" dirty="0"/>
              <a:t>Platforms like </a:t>
            </a:r>
            <a:r>
              <a:rPr lang="en-US" sz="2000" b="1" dirty="0" err="1">
                <a:solidFill>
                  <a:srgbClr val="7030A0"/>
                </a:solidFill>
              </a:rPr>
              <a:t>Zenodo</a:t>
            </a:r>
            <a:r>
              <a:rPr lang="en-US" sz="2000" dirty="0"/>
              <a:t> for archiving analysis code</a:t>
            </a:r>
          </a:p>
          <a:p>
            <a:endParaRPr lang="en-US" sz="2400" dirty="0"/>
          </a:p>
        </p:txBody>
      </p:sp>
      <p:pic>
        <p:nvPicPr>
          <p:cNvPr id="5124" name="Picture 4">
            <a:extLst>
              <a:ext uri="{FF2B5EF4-FFF2-40B4-BE49-F238E27FC236}">
                <a16:creationId xmlns:a16="http://schemas.microsoft.com/office/drawing/2014/main" id="{42405DCC-F876-3DEE-C166-61B557CF82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915910"/>
            <a:ext cx="4295553" cy="315007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7E4FAD2-7192-246E-2F02-40848758A619}"/>
              </a:ext>
            </a:extLst>
          </p:cNvPr>
          <p:cNvSpPr txBox="1"/>
          <p:nvPr/>
        </p:nvSpPr>
        <p:spPr>
          <a:xfrm>
            <a:off x="838200" y="1556380"/>
            <a:ext cx="10177130" cy="923330"/>
          </a:xfrm>
          <a:prstGeom prst="rect">
            <a:avLst/>
          </a:prstGeom>
          <a:noFill/>
        </p:spPr>
        <p:txBody>
          <a:bodyPr wrap="square" rtlCol="0">
            <a:spAutoFit/>
          </a:bodyPr>
          <a:lstStyle/>
          <a:p>
            <a:r>
              <a:rPr lang="en-US" dirty="0"/>
              <a:t>A substantial proportion of published computational analyses cannot be reproduced, even by the original authors, due to software version changes, undocumented preprocessing steps, unavailable data, or incomplete methods sections.</a:t>
            </a:r>
          </a:p>
        </p:txBody>
      </p:sp>
    </p:spTree>
    <p:extLst>
      <p:ext uri="{BB962C8B-B14F-4D97-AF65-F5344CB8AC3E}">
        <p14:creationId xmlns:p14="http://schemas.microsoft.com/office/powerpoint/2010/main" val="2041040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99A4377-6BE5-A50F-1197-79454DE0AFFF}"/>
              </a:ext>
            </a:extLst>
          </p:cNvPr>
          <p:cNvSpPr>
            <a:spLocks noGrp="1"/>
          </p:cNvSpPr>
          <p:nvPr>
            <p:ph type="title"/>
          </p:nvPr>
        </p:nvSpPr>
        <p:spPr>
          <a:xfrm>
            <a:off x="838200" y="-93996"/>
            <a:ext cx="10515600" cy="1325563"/>
          </a:xfrm>
        </p:spPr>
        <p:txBody>
          <a:bodyPr/>
          <a:lstStyle/>
          <a:p>
            <a:r>
              <a:rPr lang="en-US" dirty="0"/>
              <a:t>GitHub</a:t>
            </a:r>
          </a:p>
        </p:txBody>
      </p:sp>
      <p:sp>
        <p:nvSpPr>
          <p:cNvPr id="6" name="TextBox 5">
            <a:extLst>
              <a:ext uri="{FF2B5EF4-FFF2-40B4-BE49-F238E27FC236}">
                <a16:creationId xmlns:a16="http://schemas.microsoft.com/office/drawing/2014/main" id="{F2C65F90-DBB8-743A-D92F-CA34F074DF1D}"/>
              </a:ext>
            </a:extLst>
          </p:cNvPr>
          <p:cNvSpPr txBox="1"/>
          <p:nvPr/>
        </p:nvSpPr>
        <p:spPr>
          <a:xfrm>
            <a:off x="838200" y="1061446"/>
            <a:ext cx="10837236" cy="1477328"/>
          </a:xfrm>
          <a:prstGeom prst="rect">
            <a:avLst/>
          </a:prstGeom>
          <a:noFill/>
        </p:spPr>
        <p:txBody>
          <a:bodyPr wrap="square">
            <a:spAutoFit/>
          </a:bodyPr>
          <a:lstStyle/>
          <a:p>
            <a:r>
              <a:rPr lang="en-US" dirty="0"/>
              <a:t>GitHub is a platform for </a:t>
            </a:r>
            <a:r>
              <a:rPr lang="en-US" b="1" dirty="0"/>
              <a:t>version-controlling code and sharing workflows</a:t>
            </a:r>
            <a:r>
              <a:rPr lang="en-US" dirty="0"/>
              <a:t>. In bioinformatics it serves three core purposes: </a:t>
            </a:r>
          </a:p>
          <a:p>
            <a:r>
              <a:rPr lang="en-US" dirty="0"/>
              <a:t>1. Tracking changes to analysis scripts</a:t>
            </a:r>
          </a:p>
          <a:p>
            <a:r>
              <a:rPr lang="en-US" dirty="0"/>
              <a:t>2. Collaborating with lab members and the broader community</a:t>
            </a:r>
          </a:p>
          <a:p>
            <a:r>
              <a:rPr lang="en-US" dirty="0"/>
              <a:t>3. Publishing reproducible pipelines alongside papers.</a:t>
            </a:r>
          </a:p>
        </p:txBody>
      </p:sp>
      <p:sp>
        <p:nvSpPr>
          <p:cNvPr id="9" name="Rectangle 8">
            <a:extLst>
              <a:ext uri="{FF2B5EF4-FFF2-40B4-BE49-F238E27FC236}">
                <a16:creationId xmlns:a16="http://schemas.microsoft.com/office/drawing/2014/main" id="{E32EDC30-68D1-EA04-37D8-BC6CA97CBCAF}"/>
              </a:ext>
            </a:extLst>
          </p:cNvPr>
          <p:cNvSpPr/>
          <p:nvPr/>
        </p:nvSpPr>
        <p:spPr>
          <a:xfrm>
            <a:off x="1197932" y="3429000"/>
            <a:ext cx="2594345" cy="1037997"/>
          </a:xfrm>
          <a:prstGeom prst="rect">
            <a:avLst/>
          </a:prstGeom>
          <a:solidFill>
            <a:schemeClr val="accent2">
              <a:lumMod val="20000"/>
              <a:lumOff val="80000"/>
            </a:schemeClr>
          </a:solid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 project folder that tracks its full history of changes</a:t>
            </a:r>
          </a:p>
        </p:txBody>
      </p:sp>
      <p:sp>
        <p:nvSpPr>
          <p:cNvPr id="10" name="Rectangle 9">
            <a:extLst>
              <a:ext uri="{FF2B5EF4-FFF2-40B4-BE49-F238E27FC236}">
                <a16:creationId xmlns:a16="http://schemas.microsoft.com/office/drawing/2014/main" id="{6AC3C1EE-7EB9-F61C-7F4B-7244DE7137CE}"/>
              </a:ext>
            </a:extLst>
          </p:cNvPr>
          <p:cNvSpPr/>
          <p:nvPr/>
        </p:nvSpPr>
        <p:spPr>
          <a:xfrm>
            <a:off x="1197931" y="2901938"/>
            <a:ext cx="2594345" cy="487775"/>
          </a:xfrm>
          <a:prstGeom prst="rect">
            <a:avLst/>
          </a:prstGeom>
          <a:solidFill>
            <a:schemeClr val="accent2">
              <a:lumMod val="60000"/>
              <a:lumOff val="40000"/>
            </a:schemeClr>
          </a:solid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Repository</a:t>
            </a:r>
          </a:p>
        </p:txBody>
      </p:sp>
      <p:sp>
        <p:nvSpPr>
          <p:cNvPr id="11" name="Rectangle 10">
            <a:extLst>
              <a:ext uri="{FF2B5EF4-FFF2-40B4-BE49-F238E27FC236}">
                <a16:creationId xmlns:a16="http://schemas.microsoft.com/office/drawing/2014/main" id="{D044CB73-255E-2706-6651-438A4FE3F851}"/>
              </a:ext>
            </a:extLst>
          </p:cNvPr>
          <p:cNvSpPr/>
          <p:nvPr/>
        </p:nvSpPr>
        <p:spPr>
          <a:xfrm>
            <a:off x="4665918" y="3429000"/>
            <a:ext cx="2594345" cy="1037997"/>
          </a:xfrm>
          <a:prstGeom prst="rect">
            <a:avLst/>
          </a:prstGeom>
          <a:solidFill>
            <a:schemeClr val="accent2">
              <a:lumMod val="20000"/>
              <a:lumOff val="80000"/>
            </a:schemeClr>
          </a:solid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 saved snapshot of your changes with a message describing what changed</a:t>
            </a:r>
          </a:p>
        </p:txBody>
      </p:sp>
      <p:sp>
        <p:nvSpPr>
          <p:cNvPr id="12" name="Rectangle 11">
            <a:extLst>
              <a:ext uri="{FF2B5EF4-FFF2-40B4-BE49-F238E27FC236}">
                <a16:creationId xmlns:a16="http://schemas.microsoft.com/office/drawing/2014/main" id="{8422587E-A783-516E-003F-EADD94D0EFA9}"/>
              </a:ext>
            </a:extLst>
          </p:cNvPr>
          <p:cNvSpPr/>
          <p:nvPr/>
        </p:nvSpPr>
        <p:spPr>
          <a:xfrm>
            <a:off x="4665917" y="2896622"/>
            <a:ext cx="2594345" cy="487775"/>
          </a:xfrm>
          <a:prstGeom prst="rect">
            <a:avLst/>
          </a:prstGeom>
          <a:solidFill>
            <a:schemeClr val="accent2">
              <a:lumMod val="60000"/>
              <a:lumOff val="40000"/>
            </a:schemeClr>
          </a:solid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Commit</a:t>
            </a:r>
          </a:p>
        </p:txBody>
      </p:sp>
      <p:sp>
        <p:nvSpPr>
          <p:cNvPr id="13" name="Rectangle 12">
            <a:extLst>
              <a:ext uri="{FF2B5EF4-FFF2-40B4-BE49-F238E27FC236}">
                <a16:creationId xmlns:a16="http://schemas.microsoft.com/office/drawing/2014/main" id="{88A6272D-BDDA-5442-D8D3-9AC5AE688B67}"/>
              </a:ext>
            </a:extLst>
          </p:cNvPr>
          <p:cNvSpPr/>
          <p:nvPr/>
        </p:nvSpPr>
        <p:spPr>
          <a:xfrm>
            <a:off x="8133903" y="3450264"/>
            <a:ext cx="2594345" cy="1037997"/>
          </a:xfrm>
          <a:prstGeom prst="rect">
            <a:avLst/>
          </a:prstGeom>
          <a:solidFill>
            <a:schemeClr val="accent2">
              <a:lumMod val="20000"/>
              <a:lumOff val="80000"/>
            </a:schemeClr>
          </a:solid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 parallel copy of the repo where you can experiment without breaking the main version</a:t>
            </a:r>
          </a:p>
        </p:txBody>
      </p:sp>
      <p:sp>
        <p:nvSpPr>
          <p:cNvPr id="14" name="Rectangle 13">
            <a:extLst>
              <a:ext uri="{FF2B5EF4-FFF2-40B4-BE49-F238E27FC236}">
                <a16:creationId xmlns:a16="http://schemas.microsoft.com/office/drawing/2014/main" id="{A7351515-643D-99C1-9422-D4DE1B59360A}"/>
              </a:ext>
            </a:extLst>
          </p:cNvPr>
          <p:cNvSpPr/>
          <p:nvPr/>
        </p:nvSpPr>
        <p:spPr>
          <a:xfrm>
            <a:off x="8133903" y="2912570"/>
            <a:ext cx="2594345" cy="487775"/>
          </a:xfrm>
          <a:prstGeom prst="rect">
            <a:avLst/>
          </a:prstGeom>
          <a:solidFill>
            <a:schemeClr val="accent2">
              <a:lumMod val="60000"/>
              <a:lumOff val="40000"/>
            </a:schemeClr>
          </a:solid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Branch</a:t>
            </a:r>
          </a:p>
        </p:txBody>
      </p:sp>
      <p:sp>
        <p:nvSpPr>
          <p:cNvPr id="15" name="Rectangle 14">
            <a:extLst>
              <a:ext uri="{FF2B5EF4-FFF2-40B4-BE49-F238E27FC236}">
                <a16:creationId xmlns:a16="http://schemas.microsoft.com/office/drawing/2014/main" id="{27852BF4-BB72-2840-8B95-575600250DE4}"/>
              </a:ext>
            </a:extLst>
          </p:cNvPr>
          <p:cNvSpPr/>
          <p:nvPr/>
        </p:nvSpPr>
        <p:spPr>
          <a:xfrm>
            <a:off x="1197931" y="5357223"/>
            <a:ext cx="2594345" cy="1037997"/>
          </a:xfrm>
          <a:prstGeom prst="rect">
            <a:avLst/>
          </a:prstGeom>
          <a:solidFill>
            <a:schemeClr val="accent2">
              <a:lumMod val="20000"/>
              <a:lumOff val="80000"/>
            </a:schemeClr>
          </a:solid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 request to merge your branch into another, reviewed by collaborators</a:t>
            </a:r>
          </a:p>
        </p:txBody>
      </p:sp>
      <p:sp>
        <p:nvSpPr>
          <p:cNvPr id="16" name="Rectangle 15">
            <a:extLst>
              <a:ext uri="{FF2B5EF4-FFF2-40B4-BE49-F238E27FC236}">
                <a16:creationId xmlns:a16="http://schemas.microsoft.com/office/drawing/2014/main" id="{ADD6C092-F9D4-287D-E252-B0E59117ADFB}"/>
              </a:ext>
            </a:extLst>
          </p:cNvPr>
          <p:cNvSpPr/>
          <p:nvPr/>
        </p:nvSpPr>
        <p:spPr>
          <a:xfrm>
            <a:off x="1197932" y="4840794"/>
            <a:ext cx="2594345" cy="487775"/>
          </a:xfrm>
          <a:prstGeom prst="rect">
            <a:avLst/>
          </a:prstGeom>
          <a:solidFill>
            <a:schemeClr val="accent2">
              <a:lumMod val="60000"/>
              <a:lumOff val="40000"/>
            </a:schemeClr>
          </a:solid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Pull request (PR)</a:t>
            </a:r>
          </a:p>
        </p:txBody>
      </p:sp>
      <p:sp>
        <p:nvSpPr>
          <p:cNvPr id="17" name="Rectangle 16">
            <a:extLst>
              <a:ext uri="{FF2B5EF4-FFF2-40B4-BE49-F238E27FC236}">
                <a16:creationId xmlns:a16="http://schemas.microsoft.com/office/drawing/2014/main" id="{93F671DC-DB1C-2203-64D8-BBDF9E3D62D7}"/>
              </a:ext>
            </a:extLst>
          </p:cNvPr>
          <p:cNvSpPr/>
          <p:nvPr/>
        </p:nvSpPr>
        <p:spPr>
          <a:xfrm>
            <a:off x="4665917" y="5373172"/>
            <a:ext cx="2594345" cy="1037997"/>
          </a:xfrm>
          <a:prstGeom prst="rect">
            <a:avLst/>
          </a:prstGeom>
          <a:solidFill>
            <a:schemeClr val="accent2">
              <a:lumMod val="20000"/>
              <a:lumOff val="80000"/>
            </a:schemeClr>
          </a:solid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your own copy of someone else's repo, used to propose changes or build on their work</a:t>
            </a:r>
          </a:p>
        </p:txBody>
      </p:sp>
      <p:sp>
        <p:nvSpPr>
          <p:cNvPr id="18" name="Rectangle 17">
            <a:extLst>
              <a:ext uri="{FF2B5EF4-FFF2-40B4-BE49-F238E27FC236}">
                <a16:creationId xmlns:a16="http://schemas.microsoft.com/office/drawing/2014/main" id="{1040A65D-39DD-9A8C-ECAD-AC6E4D8B95FC}"/>
              </a:ext>
            </a:extLst>
          </p:cNvPr>
          <p:cNvSpPr/>
          <p:nvPr/>
        </p:nvSpPr>
        <p:spPr>
          <a:xfrm>
            <a:off x="4665917" y="4840794"/>
            <a:ext cx="2594345" cy="487775"/>
          </a:xfrm>
          <a:prstGeom prst="rect">
            <a:avLst/>
          </a:prstGeom>
          <a:solidFill>
            <a:schemeClr val="accent2">
              <a:lumMod val="60000"/>
              <a:lumOff val="40000"/>
            </a:schemeClr>
          </a:solid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Fork</a:t>
            </a:r>
          </a:p>
        </p:txBody>
      </p:sp>
      <p:sp>
        <p:nvSpPr>
          <p:cNvPr id="19" name="Rectangle 18">
            <a:extLst>
              <a:ext uri="{FF2B5EF4-FFF2-40B4-BE49-F238E27FC236}">
                <a16:creationId xmlns:a16="http://schemas.microsoft.com/office/drawing/2014/main" id="{ACC1462D-BE22-6075-964D-25107BB31155}"/>
              </a:ext>
            </a:extLst>
          </p:cNvPr>
          <p:cNvSpPr/>
          <p:nvPr/>
        </p:nvSpPr>
        <p:spPr>
          <a:xfrm>
            <a:off x="8133902" y="5357223"/>
            <a:ext cx="2594345" cy="1037997"/>
          </a:xfrm>
          <a:prstGeom prst="rect">
            <a:avLst/>
          </a:prstGeom>
          <a:solidFill>
            <a:schemeClr val="accent2">
              <a:lumMod val="20000"/>
              <a:lumOff val="80000"/>
            </a:schemeClr>
          </a:solid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the landing page of any repo; documents how to install dependencies, what data the tool expects, and how to run the analysis</a:t>
            </a:r>
          </a:p>
        </p:txBody>
      </p:sp>
      <p:sp>
        <p:nvSpPr>
          <p:cNvPr id="20" name="Rectangle 19">
            <a:extLst>
              <a:ext uri="{FF2B5EF4-FFF2-40B4-BE49-F238E27FC236}">
                <a16:creationId xmlns:a16="http://schemas.microsoft.com/office/drawing/2014/main" id="{E86539B4-5228-5748-4659-A3F7435DC700}"/>
              </a:ext>
            </a:extLst>
          </p:cNvPr>
          <p:cNvSpPr/>
          <p:nvPr/>
        </p:nvSpPr>
        <p:spPr>
          <a:xfrm>
            <a:off x="8133902" y="4837550"/>
            <a:ext cx="2594345" cy="487775"/>
          </a:xfrm>
          <a:prstGeom prst="rect">
            <a:avLst/>
          </a:prstGeom>
          <a:solidFill>
            <a:schemeClr val="accent2">
              <a:lumMod val="60000"/>
              <a:lumOff val="40000"/>
            </a:schemeClr>
          </a:solid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rPr>
              <a:t>README.md</a:t>
            </a:r>
            <a:endParaRPr lang="en-US" b="1" dirty="0">
              <a:solidFill>
                <a:schemeClr val="tx1"/>
              </a:solidFill>
            </a:endParaRPr>
          </a:p>
        </p:txBody>
      </p:sp>
    </p:spTree>
    <p:extLst>
      <p:ext uri="{BB962C8B-B14F-4D97-AF65-F5344CB8AC3E}">
        <p14:creationId xmlns:p14="http://schemas.microsoft.com/office/powerpoint/2010/main" val="3468742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5471A-3CE1-88D9-799D-860CBB554A7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DDC14DE-9CDB-BD25-DD24-F698B9D1CE36}"/>
              </a:ext>
            </a:extLst>
          </p:cNvPr>
          <p:cNvSpPr>
            <a:spLocks noGrp="1"/>
          </p:cNvSpPr>
          <p:nvPr>
            <p:ph type="title"/>
          </p:nvPr>
        </p:nvSpPr>
        <p:spPr>
          <a:xfrm>
            <a:off x="838200" y="-77546"/>
            <a:ext cx="10515600" cy="1325563"/>
          </a:xfrm>
        </p:spPr>
        <p:txBody>
          <a:bodyPr/>
          <a:lstStyle/>
          <a:p>
            <a:r>
              <a:rPr lang="en-US" dirty="0"/>
              <a:t>How we use GitHub</a:t>
            </a:r>
          </a:p>
        </p:txBody>
      </p:sp>
      <p:sp>
        <p:nvSpPr>
          <p:cNvPr id="3" name="TextBox 2">
            <a:extLst>
              <a:ext uri="{FF2B5EF4-FFF2-40B4-BE49-F238E27FC236}">
                <a16:creationId xmlns:a16="http://schemas.microsoft.com/office/drawing/2014/main" id="{C200994E-CAE4-F888-BA16-1BA1FCB7F1DF}"/>
              </a:ext>
            </a:extLst>
          </p:cNvPr>
          <p:cNvSpPr txBox="1"/>
          <p:nvPr/>
        </p:nvSpPr>
        <p:spPr>
          <a:xfrm>
            <a:off x="784060" y="1859715"/>
            <a:ext cx="5135478" cy="923330"/>
          </a:xfrm>
          <a:prstGeom prst="rect">
            <a:avLst/>
          </a:prstGeom>
          <a:solidFill>
            <a:schemeClr val="bg1">
              <a:lumMod val="95000"/>
            </a:schemeClr>
          </a:solidFill>
          <a:ln w="28575">
            <a:solidFill>
              <a:schemeClr val="bg1">
                <a:lumMod val="65000"/>
              </a:schemeClr>
            </a:solidFill>
          </a:ln>
        </p:spPr>
        <p:txBody>
          <a:bodyPr wrap="square" rtlCol="0">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Sharing tools and pipelines</a:t>
            </a:r>
            <a:r>
              <a:rPr lang="en-US" altLang="en-US" dirty="0">
                <a:latin typeface="Arial" panose="020B0604020202020204" pitchFamily="34" charset="0"/>
              </a:rPr>
              <a:t> — tools like STAR, GATK, Seurat, and </a:t>
            </a:r>
            <a:r>
              <a:rPr lang="en-US" altLang="en-US" dirty="0" err="1">
                <a:latin typeface="Arial" panose="020B0604020202020204" pitchFamily="34" charset="0"/>
              </a:rPr>
              <a:t>Scanpy</a:t>
            </a:r>
            <a:r>
              <a:rPr lang="en-US" altLang="en-US" dirty="0">
                <a:latin typeface="Arial" panose="020B0604020202020204" pitchFamily="34" charset="0"/>
              </a:rPr>
              <a:t> all live on GitHub </a:t>
            </a:r>
          </a:p>
        </p:txBody>
      </p:sp>
      <p:pic>
        <p:nvPicPr>
          <p:cNvPr id="2" name="Picture 1">
            <a:extLst>
              <a:ext uri="{FF2B5EF4-FFF2-40B4-BE49-F238E27FC236}">
                <a16:creationId xmlns:a16="http://schemas.microsoft.com/office/drawing/2014/main" id="{4DDAB24D-3E83-D2F6-E9F2-6BFEABBE3714}"/>
              </a:ext>
            </a:extLst>
          </p:cNvPr>
          <p:cNvPicPr>
            <a:picLocks noChangeAspect="1"/>
          </p:cNvPicPr>
          <p:nvPr/>
        </p:nvPicPr>
        <p:blipFill>
          <a:blip r:embed="rId2"/>
          <a:stretch>
            <a:fillRect/>
          </a:stretch>
        </p:blipFill>
        <p:spPr>
          <a:xfrm>
            <a:off x="6772839" y="64972"/>
            <a:ext cx="4215710" cy="2089839"/>
          </a:xfrm>
          <a:prstGeom prst="rect">
            <a:avLst/>
          </a:prstGeom>
        </p:spPr>
      </p:pic>
      <p:pic>
        <p:nvPicPr>
          <p:cNvPr id="6" name="Picture 5">
            <a:extLst>
              <a:ext uri="{FF2B5EF4-FFF2-40B4-BE49-F238E27FC236}">
                <a16:creationId xmlns:a16="http://schemas.microsoft.com/office/drawing/2014/main" id="{D9C49162-8FB4-A104-3CC5-BB1112B41829}"/>
              </a:ext>
            </a:extLst>
          </p:cNvPr>
          <p:cNvPicPr>
            <a:picLocks noChangeAspect="1"/>
          </p:cNvPicPr>
          <p:nvPr/>
        </p:nvPicPr>
        <p:blipFill>
          <a:blip r:embed="rId3"/>
          <a:stretch>
            <a:fillRect/>
          </a:stretch>
        </p:blipFill>
        <p:spPr>
          <a:xfrm>
            <a:off x="6672146" y="2313779"/>
            <a:ext cx="4436415" cy="2089839"/>
          </a:xfrm>
          <a:prstGeom prst="rect">
            <a:avLst/>
          </a:prstGeom>
        </p:spPr>
      </p:pic>
      <p:pic>
        <p:nvPicPr>
          <p:cNvPr id="7" name="Picture 6">
            <a:extLst>
              <a:ext uri="{FF2B5EF4-FFF2-40B4-BE49-F238E27FC236}">
                <a16:creationId xmlns:a16="http://schemas.microsoft.com/office/drawing/2014/main" id="{BBA65FE9-35A7-F8C9-3947-A0C0B3A6B12B}"/>
              </a:ext>
            </a:extLst>
          </p:cNvPr>
          <p:cNvPicPr>
            <a:picLocks noChangeAspect="1"/>
          </p:cNvPicPr>
          <p:nvPr/>
        </p:nvPicPr>
        <p:blipFill>
          <a:blip r:embed="rId4"/>
          <a:stretch>
            <a:fillRect/>
          </a:stretch>
        </p:blipFill>
        <p:spPr>
          <a:xfrm>
            <a:off x="6672146" y="4562586"/>
            <a:ext cx="4426755" cy="2089840"/>
          </a:xfrm>
          <a:prstGeom prst="rect">
            <a:avLst/>
          </a:prstGeom>
        </p:spPr>
      </p:pic>
      <p:sp>
        <p:nvSpPr>
          <p:cNvPr id="9" name="TextBox 8">
            <a:extLst>
              <a:ext uri="{FF2B5EF4-FFF2-40B4-BE49-F238E27FC236}">
                <a16:creationId xmlns:a16="http://schemas.microsoft.com/office/drawing/2014/main" id="{35F80988-51D1-6A4C-0D26-CB8E5E0E9554}"/>
              </a:ext>
            </a:extLst>
          </p:cNvPr>
          <p:cNvSpPr txBox="1"/>
          <p:nvPr/>
        </p:nvSpPr>
        <p:spPr>
          <a:xfrm>
            <a:off x="784059" y="2955279"/>
            <a:ext cx="5135478" cy="1477328"/>
          </a:xfrm>
          <a:prstGeom prst="rect">
            <a:avLst/>
          </a:prstGeom>
          <a:solidFill>
            <a:schemeClr val="bg1">
              <a:lumMod val="95000"/>
            </a:schemeClr>
          </a:solidFill>
          <a:ln w="28575">
            <a:solidFill>
              <a:schemeClr val="bg1">
                <a:lumMod val="65000"/>
              </a:schemeClr>
            </a:solidFill>
          </a:ln>
        </p:spPr>
        <p:txBody>
          <a:bodyPr wrap="square">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Reproducibility</a:t>
            </a:r>
            <a:r>
              <a:rPr lang="en-US" altLang="en-US" dirty="0">
                <a:latin typeface="Arial" panose="020B0604020202020204" pitchFamily="34" charset="0"/>
              </a:rPr>
              <a:t> — archiving the exact code used to generate figures in a paper </a:t>
            </a:r>
          </a:p>
          <a:p>
            <a:pPr marL="285750" indent="-28575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GitHub Releases + </a:t>
            </a:r>
            <a:r>
              <a:rPr lang="en-US" altLang="en-US" b="1" dirty="0" err="1">
                <a:latin typeface="Arial" panose="020B0604020202020204" pitchFamily="34" charset="0"/>
              </a:rPr>
              <a:t>Zenodo</a:t>
            </a:r>
            <a:r>
              <a:rPr lang="en-US" altLang="en-US" dirty="0">
                <a:latin typeface="Arial" panose="020B0604020202020204" pitchFamily="34" charset="0"/>
              </a:rPr>
              <a:t> — minting a DOI for a specific version of your software for citation</a:t>
            </a:r>
          </a:p>
        </p:txBody>
      </p:sp>
      <p:sp>
        <p:nvSpPr>
          <p:cNvPr id="11" name="TextBox 10">
            <a:extLst>
              <a:ext uri="{FF2B5EF4-FFF2-40B4-BE49-F238E27FC236}">
                <a16:creationId xmlns:a16="http://schemas.microsoft.com/office/drawing/2014/main" id="{0521CCDD-06BE-5CE3-0B07-9ABAD3F94872}"/>
              </a:ext>
            </a:extLst>
          </p:cNvPr>
          <p:cNvSpPr txBox="1"/>
          <p:nvPr/>
        </p:nvSpPr>
        <p:spPr>
          <a:xfrm>
            <a:off x="784059" y="4604842"/>
            <a:ext cx="5135478" cy="923330"/>
          </a:xfrm>
          <a:prstGeom prst="rect">
            <a:avLst/>
          </a:prstGeom>
          <a:solidFill>
            <a:schemeClr val="bg1">
              <a:lumMod val="95000"/>
            </a:schemeClr>
          </a:solidFill>
          <a:ln w="28575">
            <a:solidFill>
              <a:schemeClr val="bg1">
                <a:lumMod val="65000"/>
              </a:schemeClr>
            </a:solidFill>
          </a:ln>
        </p:spPr>
        <p:txBody>
          <a:bodyPr wrap="square">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Issues tracker</a:t>
            </a:r>
            <a:r>
              <a:rPr lang="en-US" altLang="en-US" dirty="0">
                <a:latin typeface="Arial" panose="020B0604020202020204" pitchFamily="34" charset="0"/>
              </a:rPr>
              <a:t> — filing bugs, requesting features, or asking the tool developer a question </a:t>
            </a:r>
          </a:p>
        </p:txBody>
      </p:sp>
      <p:sp>
        <p:nvSpPr>
          <p:cNvPr id="13" name="TextBox 12">
            <a:extLst>
              <a:ext uri="{FF2B5EF4-FFF2-40B4-BE49-F238E27FC236}">
                <a16:creationId xmlns:a16="http://schemas.microsoft.com/office/drawing/2014/main" id="{7A3EB7F4-431D-5293-CC58-3943E55C89A2}"/>
              </a:ext>
            </a:extLst>
          </p:cNvPr>
          <p:cNvSpPr txBox="1"/>
          <p:nvPr/>
        </p:nvSpPr>
        <p:spPr>
          <a:xfrm>
            <a:off x="675837" y="1318149"/>
            <a:ext cx="6097002" cy="369332"/>
          </a:xfrm>
          <a:prstGeom prst="rect">
            <a:avLst/>
          </a:prstGeom>
          <a:noFill/>
        </p:spPr>
        <p:txBody>
          <a:bodyPr wrap="square">
            <a:spAutoFit/>
          </a:bodyPr>
          <a:lstStyle/>
          <a:p>
            <a:pPr lvl="0" eaLnBrk="0" fontAlgn="base" hangingPunct="0">
              <a:spcBef>
                <a:spcPct val="0"/>
              </a:spcBef>
              <a:spcAft>
                <a:spcPct val="0"/>
              </a:spcAft>
            </a:pPr>
            <a:r>
              <a:rPr lang="en-US" altLang="en-US" b="1" dirty="0">
                <a:latin typeface="Arial" panose="020B0604020202020204" pitchFamily="34" charset="0"/>
              </a:rPr>
              <a:t>Basic usage:</a:t>
            </a:r>
          </a:p>
        </p:txBody>
      </p:sp>
    </p:spTree>
    <p:extLst>
      <p:ext uri="{BB962C8B-B14F-4D97-AF65-F5344CB8AC3E}">
        <p14:creationId xmlns:p14="http://schemas.microsoft.com/office/powerpoint/2010/main" val="1609840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9FE9C-6B10-21BB-1212-0639990DD36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6FF7FFD-51F9-8AE6-FDFC-DB82468F2E46}"/>
              </a:ext>
            </a:extLst>
          </p:cNvPr>
          <p:cNvSpPr>
            <a:spLocks noGrp="1"/>
          </p:cNvSpPr>
          <p:nvPr>
            <p:ph type="title"/>
          </p:nvPr>
        </p:nvSpPr>
        <p:spPr>
          <a:xfrm>
            <a:off x="838200" y="-93996"/>
            <a:ext cx="10515600" cy="1325563"/>
          </a:xfrm>
        </p:spPr>
        <p:txBody>
          <a:bodyPr/>
          <a:lstStyle/>
          <a:p>
            <a:r>
              <a:rPr lang="en-US" dirty="0"/>
              <a:t>How we use GitHub</a:t>
            </a:r>
          </a:p>
        </p:txBody>
      </p:sp>
      <p:sp>
        <p:nvSpPr>
          <p:cNvPr id="5" name="TextBox 4">
            <a:extLst>
              <a:ext uri="{FF2B5EF4-FFF2-40B4-BE49-F238E27FC236}">
                <a16:creationId xmlns:a16="http://schemas.microsoft.com/office/drawing/2014/main" id="{A0FC7882-890E-2005-A1E3-766E83C8EB13}"/>
              </a:ext>
            </a:extLst>
          </p:cNvPr>
          <p:cNvSpPr txBox="1"/>
          <p:nvPr/>
        </p:nvSpPr>
        <p:spPr>
          <a:xfrm>
            <a:off x="434444" y="1231567"/>
            <a:ext cx="6078313" cy="369332"/>
          </a:xfrm>
          <a:prstGeom prst="rect">
            <a:avLst/>
          </a:prstGeom>
          <a:noFill/>
        </p:spPr>
        <p:txBody>
          <a:bodyPr wrap="square" rtlCol="0">
            <a:spAutoFit/>
          </a:bodyPr>
          <a:lstStyle/>
          <a:p>
            <a:r>
              <a:rPr lang="en-US" b="1" dirty="0"/>
              <a:t>Newest things:</a:t>
            </a:r>
          </a:p>
        </p:txBody>
      </p:sp>
      <p:pic>
        <p:nvPicPr>
          <p:cNvPr id="1026" name="Picture 2" descr="Getting Started with Github Action Workflows - DEV Community">
            <a:extLst>
              <a:ext uri="{FF2B5EF4-FFF2-40B4-BE49-F238E27FC236}">
                <a16:creationId xmlns:a16="http://schemas.microsoft.com/office/drawing/2014/main" id="{D5B2208F-0DD0-302C-962B-5BC698659F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2252" y="1094873"/>
            <a:ext cx="2363052" cy="99260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7F0E9266-0874-1366-066A-F845E813553D}"/>
              </a:ext>
            </a:extLst>
          </p:cNvPr>
          <p:cNvPicPr>
            <a:picLocks noChangeAspect="1"/>
          </p:cNvPicPr>
          <p:nvPr/>
        </p:nvPicPr>
        <p:blipFill>
          <a:blip r:embed="rId3"/>
          <a:stretch>
            <a:fillRect/>
          </a:stretch>
        </p:blipFill>
        <p:spPr>
          <a:xfrm>
            <a:off x="9525000" y="278901"/>
            <a:ext cx="2398295" cy="3284621"/>
          </a:xfrm>
          <a:prstGeom prst="rect">
            <a:avLst/>
          </a:prstGeom>
        </p:spPr>
      </p:pic>
      <p:pic>
        <p:nvPicPr>
          <p:cNvPr id="6" name="Picture 5">
            <a:extLst>
              <a:ext uri="{FF2B5EF4-FFF2-40B4-BE49-F238E27FC236}">
                <a16:creationId xmlns:a16="http://schemas.microsoft.com/office/drawing/2014/main" id="{F599BF0B-3C5C-3BA1-1E56-C2E8964CB57C}"/>
              </a:ext>
            </a:extLst>
          </p:cNvPr>
          <p:cNvPicPr>
            <a:picLocks noChangeAspect="1"/>
          </p:cNvPicPr>
          <p:nvPr/>
        </p:nvPicPr>
        <p:blipFill>
          <a:blip r:embed="rId4"/>
          <a:stretch>
            <a:fillRect/>
          </a:stretch>
        </p:blipFill>
        <p:spPr>
          <a:xfrm>
            <a:off x="6882062" y="2349597"/>
            <a:ext cx="2465560" cy="1276749"/>
          </a:xfrm>
          <a:prstGeom prst="rect">
            <a:avLst/>
          </a:prstGeom>
        </p:spPr>
      </p:pic>
      <p:pic>
        <p:nvPicPr>
          <p:cNvPr id="7" name="Picture 6">
            <a:extLst>
              <a:ext uri="{FF2B5EF4-FFF2-40B4-BE49-F238E27FC236}">
                <a16:creationId xmlns:a16="http://schemas.microsoft.com/office/drawing/2014/main" id="{1DA51A73-CE51-D433-BBE1-6F218D0BB56B}"/>
              </a:ext>
            </a:extLst>
          </p:cNvPr>
          <p:cNvPicPr>
            <a:picLocks noChangeAspect="1"/>
          </p:cNvPicPr>
          <p:nvPr/>
        </p:nvPicPr>
        <p:blipFill>
          <a:blip r:embed="rId5"/>
          <a:stretch>
            <a:fillRect/>
          </a:stretch>
        </p:blipFill>
        <p:spPr>
          <a:xfrm>
            <a:off x="8114842" y="4210052"/>
            <a:ext cx="3718560" cy="2066838"/>
          </a:xfrm>
          <a:prstGeom prst="rect">
            <a:avLst/>
          </a:prstGeom>
        </p:spPr>
      </p:pic>
      <p:pic>
        <p:nvPicPr>
          <p:cNvPr id="1028" name="Picture 4" descr="GitHub Copilot Chat - Visual Studio Marketplace">
            <a:extLst>
              <a:ext uri="{FF2B5EF4-FFF2-40B4-BE49-F238E27FC236}">
                <a16:creationId xmlns:a16="http://schemas.microsoft.com/office/drawing/2014/main" id="{F336CC28-8E6C-92F6-19DC-378DC73DA51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82252" y="4887728"/>
            <a:ext cx="875399" cy="87539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72E4DA7-01F3-E427-BB8C-0F5B88B62CF0}"/>
              </a:ext>
            </a:extLst>
          </p:cNvPr>
          <p:cNvSpPr txBox="1"/>
          <p:nvPr/>
        </p:nvSpPr>
        <p:spPr>
          <a:xfrm>
            <a:off x="500227" y="1778967"/>
            <a:ext cx="6097088" cy="646331"/>
          </a:xfrm>
          <a:prstGeom prst="rect">
            <a:avLst/>
          </a:prstGeom>
          <a:solidFill>
            <a:schemeClr val="accent5">
              <a:lumMod val="20000"/>
              <a:lumOff val="80000"/>
            </a:schemeClr>
          </a:solidFill>
          <a:ln w="28575">
            <a:solidFill>
              <a:schemeClr val="accent5"/>
            </a:solidFill>
          </a:ln>
        </p:spPr>
        <p:txBody>
          <a:bodyPr wrap="square">
            <a:spAutoFit/>
          </a:bodyPr>
          <a:lstStyle/>
          <a:p>
            <a:pPr marL="285750" indent="-285750">
              <a:buFont typeface="Arial" panose="020B0604020202020204" pitchFamily="34" charset="0"/>
              <a:buChar char="•"/>
            </a:pPr>
            <a:r>
              <a:rPr lang="en-US" altLang="en-US" b="1" dirty="0"/>
              <a:t>GitHub Actions</a:t>
            </a:r>
            <a:r>
              <a:rPr lang="en-US" altLang="en-US" dirty="0"/>
              <a:t> — automated testing that runs every time code is pushed (continuous integration) </a:t>
            </a:r>
          </a:p>
        </p:txBody>
      </p:sp>
      <p:sp>
        <p:nvSpPr>
          <p:cNvPr id="11" name="TextBox 10">
            <a:extLst>
              <a:ext uri="{FF2B5EF4-FFF2-40B4-BE49-F238E27FC236}">
                <a16:creationId xmlns:a16="http://schemas.microsoft.com/office/drawing/2014/main" id="{32F556A0-64BE-CB95-50B1-191FAA33A072}"/>
              </a:ext>
            </a:extLst>
          </p:cNvPr>
          <p:cNvSpPr txBox="1"/>
          <p:nvPr/>
        </p:nvSpPr>
        <p:spPr>
          <a:xfrm>
            <a:off x="500227" y="2603366"/>
            <a:ext cx="6097088" cy="646331"/>
          </a:xfrm>
          <a:prstGeom prst="rect">
            <a:avLst/>
          </a:prstGeom>
          <a:solidFill>
            <a:schemeClr val="accent5">
              <a:lumMod val="20000"/>
              <a:lumOff val="80000"/>
            </a:schemeClr>
          </a:solidFill>
          <a:ln w="28575">
            <a:solidFill>
              <a:schemeClr val="accent5"/>
            </a:solidFill>
          </a:ln>
        </p:spPr>
        <p:txBody>
          <a:bodyPr wrap="square">
            <a:spAutoFit/>
          </a:bodyPr>
          <a:lstStyle/>
          <a:p>
            <a:pPr marL="285750" indent="-285750">
              <a:buFont typeface="Arial" panose="020B0604020202020204" pitchFamily="34" charset="0"/>
              <a:buChar char="•"/>
            </a:pPr>
            <a:r>
              <a:rPr lang="en-US" b="1" dirty="0"/>
              <a:t>Workflow languages on GitHub</a:t>
            </a:r>
            <a:r>
              <a:rPr lang="en-US" dirty="0"/>
              <a:t> </a:t>
            </a:r>
            <a:r>
              <a:rPr lang="en-US" dirty="0" err="1"/>
              <a:t>Snakemake</a:t>
            </a:r>
            <a:r>
              <a:rPr lang="en-US" dirty="0"/>
              <a:t> and </a:t>
            </a:r>
            <a:r>
              <a:rPr lang="en-US" dirty="0" err="1"/>
              <a:t>Nextflow</a:t>
            </a:r>
            <a:r>
              <a:rPr lang="en-US" dirty="0"/>
              <a:t> pipelines are now routinely hosted on GitHub. </a:t>
            </a:r>
          </a:p>
        </p:txBody>
      </p:sp>
      <p:sp>
        <p:nvSpPr>
          <p:cNvPr id="13" name="TextBox 12">
            <a:extLst>
              <a:ext uri="{FF2B5EF4-FFF2-40B4-BE49-F238E27FC236}">
                <a16:creationId xmlns:a16="http://schemas.microsoft.com/office/drawing/2014/main" id="{5A0C082A-1BA8-1823-B2EF-37198C408D94}"/>
              </a:ext>
            </a:extLst>
          </p:cNvPr>
          <p:cNvSpPr txBox="1"/>
          <p:nvPr/>
        </p:nvSpPr>
        <p:spPr>
          <a:xfrm>
            <a:off x="500227" y="3427765"/>
            <a:ext cx="6097088" cy="923330"/>
          </a:xfrm>
          <a:prstGeom prst="rect">
            <a:avLst/>
          </a:prstGeom>
          <a:solidFill>
            <a:schemeClr val="accent5">
              <a:lumMod val="20000"/>
              <a:lumOff val="80000"/>
            </a:schemeClr>
          </a:solidFill>
          <a:ln w="28575">
            <a:solidFill>
              <a:schemeClr val="accent5"/>
            </a:solidFill>
          </a:ln>
        </p:spPr>
        <p:txBody>
          <a:bodyPr wrap="square">
            <a:spAutoFit/>
          </a:bodyPr>
          <a:lstStyle/>
          <a:p>
            <a:pPr marL="285750" indent="-285750">
              <a:buFont typeface="Arial" panose="020B0604020202020204" pitchFamily="34" charset="0"/>
              <a:buChar char="•"/>
            </a:pPr>
            <a:r>
              <a:rPr lang="en-US" b="1" dirty="0"/>
              <a:t>GitHub </a:t>
            </a:r>
            <a:r>
              <a:rPr lang="en-US" b="1" dirty="0" err="1"/>
              <a:t>Codespaces</a:t>
            </a:r>
            <a:r>
              <a:rPr lang="en-US" b="1" dirty="0"/>
              <a:t> for reproducible environments</a:t>
            </a:r>
            <a:r>
              <a:rPr lang="en-US" dirty="0"/>
              <a:t> </a:t>
            </a:r>
            <a:r>
              <a:rPr lang="en-US" dirty="0" err="1"/>
              <a:t>Codespaces</a:t>
            </a:r>
            <a:r>
              <a:rPr lang="en-US" dirty="0"/>
              <a:t> provides a cloud-based VS Code environment spun up from a repo. </a:t>
            </a:r>
          </a:p>
        </p:txBody>
      </p:sp>
      <p:sp>
        <p:nvSpPr>
          <p:cNvPr id="15" name="TextBox 14">
            <a:extLst>
              <a:ext uri="{FF2B5EF4-FFF2-40B4-BE49-F238E27FC236}">
                <a16:creationId xmlns:a16="http://schemas.microsoft.com/office/drawing/2014/main" id="{67CB0A13-78E4-0385-4DD8-05A536F732C0}"/>
              </a:ext>
            </a:extLst>
          </p:cNvPr>
          <p:cNvSpPr txBox="1"/>
          <p:nvPr/>
        </p:nvSpPr>
        <p:spPr>
          <a:xfrm>
            <a:off x="500227" y="4529163"/>
            <a:ext cx="6097088" cy="646331"/>
          </a:xfrm>
          <a:prstGeom prst="rect">
            <a:avLst/>
          </a:prstGeom>
          <a:solidFill>
            <a:schemeClr val="accent5">
              <a:lumMod val="20000"/>
              <a:lumOff val="80000"/>
            </a:schemeClr>
          </a:solidFill>
          <a:ln w="28575">
            <a:solidFill>
              <a:schemeClr val="accent5"/>
            </a:solidFill>
          </a:ln>
        </p:spPr>
        <p:txBody>
          <a:bodyPr wrap="square">
            <a:spAutoFit/>
          </a:bodyPr>
          <a:lstStyle/>
          <a:p>
            <a:pPr marL="285750" indent="-285750">
              <a:buFont typeface="Arial" panose="020B0604020202020204" pitchFamily="34" charset="0"/>
              <a:buChar char="•"/>
            </a:pPr>
            <a:r>
              <a:rPr lang="en-US" b="1" dirty="0"/>
              <a:t>Copilot in bioinformatics</a:t>
            </a:r>
            <a:r>
              <a:rPr lang="en-US" dirty="0"/>
              <a:t> GitHub Copilot (AI code completion)</a:t>
            </a:r>
          </a:p>
        </p:txBody>
      </p:sp>
      <p:sp>
        <p:nvSpPr>
          <p:cNvPr id="17" name="TextBox 16">
            <a:extLst>
              <a:ext uri="{FF2B5EF4-FFF2-40B4-BE49-F238E27FC236}">
                <a16:creationId xmlns:a16="http://schemas.microsoft.com/office/drawing/2014/main" id="{96CD2FB6-925A-8160-C692-21017D27B9A3}"/>
              </a:ext>
            </a:extLst>
          </p:cNvPr>
          <p:cNvSpPr txBox="1"/>
          <p:nvPr/>
        </p:nvSpPr>
        <p:spPr>
          <a:xfrm>
            <a:off x="500227" y="5353560"/>
            <a:ext cx="6097088" cy="923330"/>
          </a:xfrm>
          <a:prstGeom prst="rect">
            <a:avLst/>
          </a:prstGeom>
          <a:solidFill>
            <a:schemeClr val="accent5">
              <a:lumMod val="20000"/>
              <a:lumOff val="80000"/>
            </a:schemeClr>
          </a:solidFill>
          <a:ln w="28575">
            <a:solidFill>
              <a:schemeClr val="accent5"/>
            </a:solidFill>
          </a:ln>
        </p:spPr>
        <p:txBody>
          <a:bodyPr wrap="square">
            <a:spAutoFit/>
          </a:bodyPr>
          <a:lstStyle/>
          <a:p>
            <a:pPr marL="285750" indent="-285750">
              <a:buFont typeface="Arial" panose="020B0604020202020204" pitchFamily="34" charset="0"/>
              <a:buChar char="•"/>
            </a:pPr>
            <a:r>
              <a:rPr lang="en-US" b="1" dirty="0"/>
              <a:t>AI-generated notebooks and vignettes</a:t>
            </a:r>
            <a:r>
              <a:rPr lang="en-US" dirty="0"/>
              <a:t> Researchers are using LLMs to generate tutorial notebooks directly from their GitHub repos.</a:t>
            </a:r>
          </a:p>
        </p:txBody>
      </p:sp>
    </p:spTree>
    <p:extLst>
      <p:ext uri="{BB962C8B-B14F-4D97-AF65-F5344CB8AC3E}">
        <p14:creationId xmlns:p14="http://schemas.microsoft.com/office/powerpoint/2010/main" val="707483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5" grpId="0" animBg="1"/>
      <p:bldP spid="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3127C-03A6-0569-4311-28D6CDEB680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9560786-24F3-FB68-8809-0159BC2C84C5}"/>
              </a:ext>
            </a:extLst>
          </p:cNvPr>
          <p:cNvSpPr txBox="1">
            <a:spLocks/>
          </p:cNvSpPr>
          <p:nvPr/>
        </p:nvSpPr>
        <p:spPr>
          <a:xfrm>
            <a:off x="1646320" y="2089105"/>
            <a:ext cx="4570412"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t>AI in bioinformatics</a:t>
            </a:r>
            <a:endParaRPr lang="en-US" sz="5400" dirty="0">
              <a:latin typeface="Helvetica" pitchFamily="2" charset="0"/>
            </a:endParaRPr>
          </a:p>
        </p:txBody>
      </p:sp>
    </p:spTree>
    <p:extLst>
      <p:ext uri="{BB962C8B-B14F-4D97-AF65-F5344CB8AC3E}">
        <p14:creationId xmlns:p14="http://schemas.microsoft.com/office/powerpoint/2010/main" val="2853219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56BCB-35E6-EA77-C6E4-AA1BAB18C63B}"/>
              </a:ext>
            </a:extLst>
          </p:cNvPr>
          <p:cNvSpPr>
            <a:spLocks noGrp="1"/>
          </p:cNvSpPr>
          <p:nvPr>
            <p:ph type="title"/>
          </p:nvPr>
        </p:nvSpPr>
        <p:spPr/>
        <p:txBody>
          <a:bodyPr/>
          <a:lstStyle/>
          <a:p>
            <a:r>
              <a:rPr lang="en-US" b="1" dirty="0"/>
              <a:t>AI vs. ML</a:t>
            </a:r>
            <a:endParaRPr lang="en-US" dirty="0"/>
          </a:p>
        </p:txBody>
      </p:sp>
      <p:pic>
        <p:nvPicPr>
          <p:cNvPr id="8196" name="Picture 4" descr="Machine Learning vs AI: Differences, Uses, &amp; Benefits">
            <a:extLst>
              <a:ext uri="{FF2B5EF4-FFF2-40B4-BE49-F238E27FC236}">
                <a16:creationId xmlns:a16="http://schemas.microsoft.com/office/drawing/2014/main" id="{083FA4E6-3501-0A1F-2DAC-6A9C0189B0D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633" t="8688" r="4290" b="15297"/>
          <a:stretch>
            <a:fillRect/>
          </a:stretch>
        </p:blipFill>
        <p:spPr bwMode="auto">
          <a:xfrm>
            <a:off x="2477385" y="2137255"/>
            <a:ext cx="5996763" cy="3997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755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F2BEA-0FAD-451C-48DE-9AE9123D000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F6DA99B-6C48-C33D-3E94-C44F661390A8}"/>
              </a:ext>
            </a:extLst>
          </p:cNvPr>
          <p:cNvSpPr/>
          <p:nvPr/>
        </p:nvSpPr>
        <p:spPr>
          <a:xfrm>
            <a:off x="838200" y="4497459"/>
            <a:ext cx="3021874" cy="1934165"/>
          </a:xfrm>
          <a:prstGeom prst="rect">
            <a:avLst/>
          </a:prstGeom>
          <a:solidFill>
            <a:schemeClr val="accent5">
              <a:lumMod val="20000"/>
              <a:lumOff val="80000"/>
            </a:schemeClr>
          </a:solid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DC9F9FD-CBB8-8AE9-7A5D-D89A89B18183}"/>
              </a:ext>
            </a:extLst>
          </p:cNvPr>
          <p:cNvSpPr/>
          <p:nvPr/>
        </p:nvSpPr>
        <p:spPr>
          <a:xfrm>
            <a:off x="838200" y="4029030"/>
            <a:ext cx="3021874" cy="463731"/>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it uses</a:t>
            </a:r>
          </a:p>
        </p:txBody>
      </p:sp>
      <p:sp>
        <p:nvSpPr>
          <p:cNvPr id="2" name="Title 1">
            <a:extLst>
              <a:ext uri="{FF2B5EF4-FFF2-40B4-BE49-F238E27FC236}">
                <a16:creationId xmlns:a16="http://schemas.microsoft.com/office/drawing/2014/main" id="{6E5B8653-791F-5F41-00D7-C9D75C0E60C8}"/>
              </a:ext>
            </a:extLst>
          </p:cNvPr>
          <p:cNvSpPr>
            <a:spLocks noGrp="1"/>
          </p:cNvSpPr>
          <p:nvPr>
            <p:ph type="title"/>
          </p:nvPr>
        </p:nvSpPr>
        <p:spPr/>
        <p:txBody>
          <a:bodyPr/>
          <a:lstStyle/>
          <a:p>
            <a:r>
              <a:rPr lang="en-US" dirty="0"/>
              <a:t>AlphaFold</a:t>
            </a:r>
          </a:p>
        </p:txBody>
      </p:sp>
      <p:pic>
        <p:nvPicPr>
          <p:cNvPr id="2050" name="Picture 2" descr="RCSB PDB">
            <a:extLst>
              <a:ext uri="{FF2B5EF4-FFF2-40B4-BE49-F238E27FC236}">
                <a16:creationId xmlns:a16="http://schemas.microsoft.com/office/drawing/2014/main" id="{8645026D-ADCD-1685-A5E3-599518D4B1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1221" y="5004109"/>
            <a:ext cx="997131" cy="2735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6029999-231E-ABEC-42F1-E45111A572E9}"/>
              </a:ext>
            </a:extLst>
          </p:cNvPr>
          <p:cNvSpPr txBox="1"/>
          <p:nvPr/>
        </p:nvSpPr>
        <p:spPr>
          <a:xfrm>
            <a:off x="963380" y="4587379"/>
            <a:ext cx="2266406" cy="1754326"/>
          </a:xfrm>
          <a:prstGeom prst="rect">
            <a:avLst/>
          </a:prstGeom>
          <a:noFill/>
        </p:spPr>
        <p:txBody>
          <a:bodyPr wrap="square" rtlCol="0">
            <a:spAutoFit/>
          </a:bodyPr>
          <a:lstStyle/>
          <a:p>
            <a:r>
              <a:rPr lang="en-US" dirty="0"/>
              <a:t>Protein Data Bank (for model training)</a:t>
            </a:r>
          </a:p>
          <a:p>
            <a:r>
              <a:rPr lang="en-US" dirty="0"/>
              <a:t>+ </a:t>
            </a:r>
          </a:p>
          <a:p>
            <a:r>
              <a:rPr lang="en-US" dirty="0"/>
              <a:t>transformer-based neural network architecture</a:t>
            </a:r>
          </a:p>
        </p:txBody>
      </p:sp>
      <p:sp>
        <p:nvSpPr>
          <p:cNvPr id="8" name="Rectangle 7">
            <a:extLst>
              <a:ext uri="{FF2B5EF4-FFF2-40B4-BE49-F238E27FC236}">
                <a16:creationId xmlns:a16="http://schemas.microsoft.com/office/drawing/2014/main" id="{4249CA52-8D85-43CF-AE26-76EEFCA76A0C}"/>
              </a:ext>
            </a:extLst>
          </p:cNvPr>
          <p:cNvSpPr/>
          <p:nvPr/>
        </p:nvSpPr>
        <p:spPr>
          <a:xfrm>
            <a:off x="838200" y="2466623"/>
            <a:ext cx="3021874" cy="1186804"/>
          </a:xfrm>
          <a:prstGeom prst="rect">
            <a:avLst/>
          </a:prstGeom>
          <a:solidFill>
            <a:schemeClr val="accent5">
              <a:lumMod val="20000"/>
              <a:lumOff val="80000"/>
            </a:schemeClr>
          </a:solid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High-confidence, fast, free, protein structure prediction</a:t>
            </a:r>
          </a:p>
        </p:txBody>
      </p:sp>
      <p:sp>
        <p:nvSpPr>
          <p:cNvPr id="9" name="Rectangle 8">
            <a:extLst>
              <a:ext uri="{FF2B5EF4-FFF2-40B4-BE49-F238E27FC236}">
                <a16:creationId xmlns:a16="http://schemas.microsoft.com/office/drawing/2014/main" id="{85423D6B-1A52-DD27-DDF2-216B1A260EEC}"/>
              </a:ext>
            </a:extLst>
          </p:cNvPr>
          <p:cNvSpPr/>
          <p:nvPr/>
        </p:nvSpPr>
        <p:spPr>
          <a:xfrm>
            <a:off x="838200" y="1978071"/>
            <a:ext cx="3021874" cy="463731"/>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it does</a:t>
            </a:r>
          </a:p>
        </p:txBody>
      </p:sp>
      <p:pic>
        <p:nvPicPr>
          <p:cNvPr id="2052" name="Picture 4" descr="Protein structure predictions to atomic accuracy with AlphaFold | Nature  Methods">
            <a:extLst>
              <a:ext uri="{FF2B5EF4-FFF2-40B4-BE49-F238E27FC236}">
                <a16:creationId xmlns:a16="http://schemas.microsoft.com/office/drawing/2014/main" id="{BE85B34D-853D-FF67-1166-446C1DD6FC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9624" y="1277700"/>
            <a:ext cx="6753459" cy="3549083"/>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7C369828-6173-F97E-76D5-29F5B6ADE086}"/>
              </a:ext>
            </a:extLst>
          </p:cNvPr>
          <p:cNvSpPr txBox="1"/>
          <p:nvPr/>
        </p:nvSpPr>
        <p:spPr>
          <a:xfrm>
            <a:off x="4849625" y="4399919"/>
            <a:ext cx="2277260" cy="738664"/>
          </a:xfrm>
          <a:prstGeom prst="rect">
            <a:avLst/>
          </a:prstGeom>
          <a:noFill/>
        </p:spPr>
        <p:txBody>
          <a:bodyPr wrap="square">
            <a:spAutoFit/>
          </a:bodyPr>
          <a:lstStyle/>
          <a:p>
            <a:pPr algn="ctr"/>
            <a:r>
              <a:rPr lang="en-US" sz="1400" dirty="0"/>
              <a:t>via X-ray crystallography or cryo-EM</a:t>
            </a:r>
          </a:p>
          <a:p>
            <a:pPr algn="ctr"/>
            <a:r>
              <a:rPr lang="en-US" sz="1400" dirty="0"/>
              <a:t>Expensive and long</a:t>
            </a:r>
          </a:p>
        </p:txBody>
      </p:sp>
      <p:pic>
        <p:nvPicPr>
          <p:cNvPr id="9218" name="Picture 2" descr="Tutorial: Running AlphaFold3 on CHTC">
            <a:extLst>
              <a:ext uri="{FF2B5EF4-FFF2-40B4-BE49-F238E27FC236}">
                <a16:creationId xmlns:a16="http://schemas.microsoft.com/office/drawing/2014/main" id="{0BE8C389-7F52-E7E6-4C2A-61DF5EBAB7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5809" y="314621"/>
            <a:ext cx="2460191" cy="1265012"/>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5A254A5F-5225-A5C2-FF93-82B41A5A849F}"/>
              </a:ext>
            </a:extLst>
          </p:cNvPr>
          <p:cNvSpPr/>
          <p:nvPr/>
        </p:nvSpPr>
        <p:spPr>
          <a:xfrm>
            <a:off x="4936679" y="5427752"/>
            <a:ext cx="2468880" cy="46373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bacterial virulence factor</a:t>
            </a:r>
          </a:p>
        </p:txBody>
      </p:sp>
      <p:sp>
        <p:nvSpPr>
          <p:cNvPr id="16" name="Rectangle 15">
            <a:extLst>
              <a:ext uri="{FF2B5EF4-FFF2-40B4-BE49-F238E27FC236}">
                <a16:creationId xmlns:a16="http://schemas.microsoft.com/office/drawing/2014/main" id="{9D334D0E-71CB-DBDE-3124-EAE13EB8D3C6}"/>
              </a:ext>
            </a:extLst>
          </p:cNvPr>
          <p:cNvSpPr/>
          <p:nvPr/>
        </p:nvSpPr>
        <p:spPr>
          <a:xfrm>
            <a:off x="8524625" y="6079648"/>
            <a:ext cx="2151022" cy="46373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host immune receptor</a:t>
            </a:r>
          </a:p>
        </p:txBody>
      </p:sp>
      <p:sp>
        <p:nvSpPr>
          <p:cNvPr id="18" name="Rectangle 17">
            <a:extLst>
              <a:ext uri="{FF2B5EF4-FFF2-40B4-BE49-F238E27FC236}">
                <a16:creationId xmlns:a16="http://schemas.microsoft.com/office/drawing/2014/main" id="{E3D2030E-0F5E-1F39-6676-80D3073630C2}"/>
              </a:ext>
            </a:extLst>
          </p:cNvPr>
          <p:cNvSpPr/>
          <p:nvPr/>
        </p:nvSpPr>
        <p:spPr>
          <a:xfrm>
            <a:off x="4962801" y="6068897"/>
            <a:ext cx="3291835" cy="46373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zoonotic pathogen surface protein</a:t>
            </a:r>
          </a:p>
        </p:txBody>
      </p:sp>
      <p:sp>
        <p:nvSpPr>
          <p:cNvPr id="19" name="Rectangle 18">
            <a:extLst>
              <a:ext uri="{FF2B5EF4-FFF2-40B4-BE49-F238E27FC236}">
                <a16:creationId xmlns:a16="http://schemas.microsoft.com/office/drawing/2014/main" id="{E371D7A7-A5C7-9655-4A79-BC6E6A750970}"/>
              </a:ext>
            </a:extLst>
          </p:cNvPr>
          <p:cNvSpPr/>
          <p:nvPr/>
        </p:nvSpPr>
        <p:spPr>
          <a:xfrm>
            <a:off x="7600404" y="5427752"/>
            <a:ext cx="3844835" cy="46373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enzyme involved in antimicrobial resistance</a:t>
            </a:r>
          </a:p>
        </p:txBody>
      </p:sp>
    </p:spTree>
    <p:extLst>
      <p:ext uri="{BB962C8B-B14F-4D97-AF65-F5344CB8AC3E}">
        <p14:creationId xmlns:p14="http://schemas.microsoft.com/office/powerpoint/2010/main" val="964761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29225-34F5-CCB2-0DA5-EF227EB9AD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B29D7E-0CB4-58B9-3A0C-34E5919C517B}"/>
              </a:ext>
            </a:extLst>
          </p:cNvPr>
          <p:cNvSpPr>
            <a:spLocks noGrp="1"/>
          </p:cNvSpPr>
          <p:nvPr>
            <p:ph type="title"/>
          </p:nvPr>
        </p:nvSpPr>
        <p:spPr/>
        <p:txBody>
          <a:bodyPr/>
          <a:lstStyle/>
          <a:p>
            <a:r>
              <a:rPr lang="en-US" dirty="0"/>
              <a:t>AlphaFold</a:t>
            </a:r>
          </a:p>
        </p:txBody>
      </p:sp>
      <p:pic>
        <p:nvPicPr>
          <p:cNvPr id="4" name="Picture 3">
            <a:extLst>
              <a:ext uri="{FF2B5EF4-FFF2-40B4-BE49-F238E27FC236}">
                <a16:creationId xmlns:a16="http://schemas.microsoft.com/office/drawing/2014/main" id="{9466602C-BF7A-2399-7B4F-CC2BD92202A6}"/>
              </a:ext>
            </a:extLst>
          </p:cNvPr>
          <p:cNvPicPr>
            <a:picLocks noChangeAspect="1"/>
          </p:cNvPicPr>
          <p:nvPr/>
        </p:nvPicPr>
        <p:blipFill>
          <a:blip r:embed="rId3"/>
          <a:stretch>
            <a:fillRect/>
          </a:stretch>
        </p:blipFill>
        <p:spPr>
          <a:xfrm>
            <a:off x="345258" y="2098721"/>
            <a:ext cx="3521348" cy="2164839"/>
          </a:xfrm>
          <a:prstGeom prst="rect">
            <a:avLst/>
          </a:prstGeom>
        </p:spPr>
      </p:pic>
      <p:pic>
        <p:nvPicPr>
          <p:cNvPr id="6" name="Picture 5">
            <a:extLst>
              <a:ext uri="{FF2B5EF4-FFF2-40B4-BE49-F238E27FC236}">
                <a16:creationId xmlns:a16="http://schemas.microsoft.com/office/drawing/2014/main" id="{C6880C27-5640-A51F-810D-76657434DEAF}"/>
              </a:ext>
            </a:extLst>
          </p:cNvPr>
          <p:cNvPicPr>
            <a:picLocks noChangeAspect="1"/>
          </p:cNvPicPr>
          <p:nvPr/>
        </p:nvPicPr>
        <p:blipFill>
          <a:blip r:embed="rId4"/>
          <a:stretch>
            <a:fillRect/>
          </a:stretch>
        </p:blipFill>
        <p:spPr>
          <a:xfrm>
            <a:off x="4378236" y="1940153"/>
            <a:ext cx="3003429" cy="2323407"/>
          </a:xfrm>
          <a:prstGeom prst="rect">
            <a:avLst/>
          </a:prstGeom>
        </p:spPr>
      </p:pic>
      <p:pic>
        <p:nvPicPr>
          <p:cNvPr id="12" name="Picture 11">
            <a:extLst>
              <a:ext uri="{FF2B5EF4-FFF2-40B4-BE49-F238E27FC236}">
                <a16:creationId xmlns:a16="http://schemas.microsoft.com/office/drawing/2014/main" id="{2B83D20F-D3B5-A970-6717-3316EA910108}"/>
              </a:ext>
            </a:extLst>
          </p:cNvPr>
          <p:cNvPicPr>
            <a:picLocks noChangeAspect="1"/>
          </p:cNvPicPr>
          <p:nvPr/>
        </p:nvPicPr>
        <p:blipFill>
          <a:blip r:embed="rId5"/>
          <a:stretch>
            <a:fillRect/>
          </a:stretch>
        </p:blipFill>
        <p:spPr>
          <a:xfrm>
            <a:off x="7710415" y="1922971"/>
            <a:ext cx="3606981" cy="2685490"/>
          </a:xfrm>
          <a:prstGeom prst="rect">
            <a:avLst/>
          </a:prstGeom>
        </p:spPr>
      </p:pic>
      <p:pic>
        <p:nvPicPr>
          <p:cNvPr id="13" name="Picture 12">
            <a:extLst>
              <a:ext uri="{FF2B5EF4-FFF2-40B4-BE49-F238E27FC236}">
                <a16:creationId xmlns:a16="http://schemas.microsoft.com/office/drawing/2014/main" id="{72EF1B29-B634-A80C-92C6-3633DB3569C9}"/>
              </a:ext>
            </a:extLst>
          </p:cNvPr>
          <p:cNvPicPr>
            <a:picLocks noChangeAspect="1"/>
          </p:cNvPicPr>
          <p:nvPr/>
        </p:nvPicPr>
        <p:blipFill>
          <a:blip r:embed="rId6"/>
          <a:stretch>
            <a:fillRect/>
          </a:stretch>
        </p:blipFill>
        <p:spPr>
          <a:xfrm>
            <a:off x="6630125" y="365125"/>
            <a:ext cx="5384800" cy="1041400"/>
          </a:xfrm>
          <a:prstGeom prst="rect">
            <a:avLst/>
          </a:prstGeom>
        </p:spPr>
      </p:pic>
      <p:pic>
        <p:nvPicPr>
          <p:cNvPr id="17" name="Picture 16">
            <a:extLst>
              <a:ext uri="{FF2B5EF4-FFF2-40B4-BE49-F238E27FC236}">
                <a16:creationId xmlns:a16="http://schemas.microsoft.com/office/drawing/2014/main" id="{81F540A8-6EF1-9AA4-B4D8-0289432458A7}"/>
              </a:ext>
            </a:extLst>
          </p:cNvPr>
          <p:cNvPicPr>
            <a:picLocks noChangeAspect="1"/>
          </p:cNvPicPr>
          <p:nvPr/>
        </p:nvPicPr>
        <p:blipFill>
          <a:blip r:embed="rId7"/>
          <a:stretch>
            <a:fillRect/>
          </a:stretch>
        </p:blipFill>
        <p:spPr>
          <a:xfrm>
            <a:off x="282239" y="4692990"/>
            <a:ext cx="3457067" cy="1850389"/>
          </a:xfrm>
          <a:prstGeom prst="rect">
            <a:avLst/>
          </a:prstGeom>
        </p:spPr>
      </p:pic>
      <p:pic>
        <p:nvPicPr>
          <p:cNvPr id="20" name="Picture 19">
            <a:extLst>
              <a:ext uri="{FF2B5EF4-FFF2-40B4-BE49-F238E27FC236}">
                <a16:creationId xmlns:a16="http://schemas.microsoft.com/office/drawing/2014/main" id="{EB3A6E05-41C3-1042-06A7-3572B21757E7}"/>
              </a:ext>
            </a:extLst>
          </p:cNvPr>
          <p:cNvPicPr>
            <a:picLocks noChangeAspect="1"/>
          </p:cNvPicPr>
          <p:nvPr/>
        </p:nvPicPr>
        <p:blipFill>
          <a:blip r:embed="rId8"/>
          <a:stretch>
            <a:fillRect/>
          </a:stretch>
        </p:blipFill>
        <p:spPr>
          <a:xfrm>
            <a:off x="4454434" y="4954154"/>
            <a:ext cx="6703423" cy="1589225"/>
          </a:xfrm>
          <a:prstGeom prst="rect">
            <a:avLst/>
          </a:prstGeom>
        </p:spPr>
      </p:pic>
    </p:spTree>
    <p:extLst>
      <p:ext uri="{BB962C8B-B14F-4D97-AF65-F5344CB8AC3E}">
        <p14:creationId xmlns:p14="http://schemas.microsoft.com/office/powerpoint/2010/main" val="30476232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61325-35E8-AA3A-8D84-2FAEAE1A92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811244-500A-159A-CFD7-FBB604BFF2FB}"/>
              </a:ext>
            </a:extLst>
          </p:cNvPr>
          <p:cNvSpPr>
            <a:spLocks noGrp="1"/>
          </p:cNvSpPr>
          <p:nvPr>
            <p:ph type="title"/>
          </p:nvPr>
        </p:nvSpPr>
        <p:spPr/>
        <p:txBody>
          <a:bodyPr/>
          <a:lstStyle/>
          <a:p>
            <a:r>
              <a:rPr lang="en-US" b="1" dirty="0"/>
              <a:t>Large Language Models for Biology</a:t>
            </a:r>
            <a:endParaRPr lang="en-US" dirty="0"/>
          </a:p>
        </p:txBody>
      </p:sp>
      <p:sp>
        <p:nvSpPr>
          <p:cNvPr id="3" name="Content Placeholder 2">
            <a:extLst>
              <a:ext uri="{FF2B5EF4-FFF2-40B4-BE49-F238E27FC236}">
                <a16:creationId xmlns:a16="http://schemas.microsoft.com/office/drawing/2014/main" id="{64C6B783-BCC1-39CD-D248-B0B16B48894C}"/>
              </a:ext>
            </a:extLst>
          </p:cNvPr>
          <p:cNvSpPr>
            <a:spLocks noGrp="1"/>
          </p:cNvSpPr>
          <p:nvPr>
            <p:ph idx="1"/>
          </p:nvPr>
        </p:nvSpPr>
        <p:spPr>
          <a:xfrm>
            <a:off x="838200" y="1825625"/>
            <a:ext cx="10846526" cy="4351338"/>
          </a:xfrm>
        </p:spPr>
        <p:txBody>
          <a:bodyPr>
            <a:normAutofit/>
          </a:bodyPr>
          <a:lstStyle/>
          <a:p>
            <a:r>
              <a:rPr lang="en-US" sz="2000" dirty="0"/>
              <a:t>Application of transformer architectures — the same underlying technology ChatGPT, </a:t>
            </a:r>
            <a:r>
              <a:rPr lang="en-US" sz="2000" dirty="0" err="1"/>
              <a:t>claude</a:t>
            </a:r>
            <a:r>
              <a:rPr lang="en-US" sz="2000" dirty="0"/>
              <a:t>, </a:t>
            </a:r>
            <a:r>
              <a:rPr lang="en-US" sz="2000" dirty="0" err="1"/>
              <a:t>etc</a:t>
            </a:r>
            <a:r>
              <a:rPr lang="en-US" sz="2000" dirty="0"/>
              <a:t> — to biological sequences.</a:t>
            </a:r>
          </a:p>
          <a:p>
            <a:r>
              <a:rPr lang="en-US" sz="2000" dirty="0"/>
              <a:t>Models treat genomic sequences as a language, enabling tasks like gene prediction, regulatory element identification, and even de novo sequence </a:t>
            </a:r>
            <a:r>
              <a:rPr lang="en-US" sz="2000" dirty="0" err="1"/>
              <a:t>generationThese</a:t>
            </a:r>
            <a:r>
              <a:rPr lang="en-US" sz="2000" dirty="0"/>
              <a:t> models are powerful but come with important caveats. </a:t>
            </a:r>
          </a:p>
          <a:p>
            <a:endParaRPr lang="en-US" sz="2000" dirty="0"/>
          </a:p>
        </p:txBody>
      </p:sp>
      <p:pic>
        <p:nvPicPr>
          <p:cNvPr id="5122" name="Picture 2" descr="Large language models improve annotation of prokaryotic viral proteins |  Nature Microbiology">
            <a:extLst>
              <a:ext uri="{FF2B5EF4-FFF2-40B4-BE49-F238E27FC236}">
                <a16:creationId xmlns:a16="http://schemas.microsoft.com/office/drawing/2014/main" id="{031B29A0-D9E1-4B1D-BC84-34586C54E8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417" y="3733505"/>
            <a:ext cx="5978700" cy="236501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20D67AC-7CFE-9562-4B80-610F101F293A}"/>
              </a:ext>
            </a:extLst>
          </p:cNvPr>
          <p:cNvSpPr txBox="1"/>
          <p:nvPr/>
        </p:nvSpPr>
        <p:spPr>
          <a:xfrm>
            <a:off x="7155955" y="3733505"/>
            <a:ext cx="4627609" cy="2585323"/>
          </a:xfrm>
          <a:prstGeom prst="rect">
            <a:avLst/>
          </a:prstGeom>
          <a:solidFill>
            <a:schemeClr val="accent4">
              <a:lumMod val="20000"/>
              <a:lumOff val="80000"/>
            </a:schemeClr>
          </a:solidFill>
        </p:spPr>
        <p:txBody>
          <a:bodyPr wrap="square" rtlCol="0">
            <a:spAutoFit/>
          </a:bodyPr>
          <a:lstStyle/>
          <a:p>
            <a:r>
              <a:rPr lang="en-US" dirty="0"/>
              <a:t>But!: </a:t>
            </a:r>
          </a:p>
          <a:p>
            <a:pPr marL="742950" lvl="1" indent="-285750">
              <a:buFont typeface="Arial" panose="020B0604020202020204" pitchFamily="34" charset="0"/>
              <a:buChar char="•"/>
            </a:pPr>
            <a:r>
              <a:rPr lang="en-US" dirty="0"/>
              <a:t>They require substantial computational resources to run, </a:t>
            </a:r>
          </a:p>
          <a:p>
            <a:pPr marL="742950" lvl="1" indent="-285750">
              <a:buFont typeface="Arial" panose="020B0604020202020204" pitchFamily="34" charset="0"/>
              <a:buChar char="•"/>
            </a:pPr>
            <a:r>
              <a:rPr lang="en-US" dirty="0"/>
              <a:t>They can produce confidently wrong outputs, </a:t>
            </a:r>
          </a:p>
          <a:p>
            <a:pPr marL="742950" lvl="1" indent="-285750">
              <a:buFont typeface="Arial" panose="020B0604020202020204" pitchFamily="34" charset="0"/>
              <a:buChar char="•"/>
            </a:pPr>
            <a:r>
              <a:rPr lang="en-US" dirty="0"/>
              <a:t>Their </a:t>
            </a:r>
            <a:r>
              <a:rPr lang="en-US" dirty="0" err="1"/>
              <a:t>behaviour</a:t>
            </a:r>
            <a:r>
              <a:rPr lang="en-US" dirty="0"/>
              <a:t> in understudied taxa is less well validated than in human-focused datasets.</a:t>
            </a:r>
          </a:p>
          <a:p>
            <a:endParaRPr lang="en-US" dirty="0"/>
          </a:p>
        </p:txBody>
      </p:sp>
      <p:sp>
        <p:nvSpPr>
          <p:cNvPr id="6" name="TextBox 5">
            <a:extLst>
              <a:ext uri="{FF2B5EF4-FFF2-40B4-BE49-F238E27FC236}">
                <a16:creationId xmlns:a16="http://schemas.microsoft.com/office/drawing/2014/main" id="{D2891844-043F-0035-37FA-BCD83C9BB975}"/>
              </a:ext>
            </a:extLst>
          </p:cNvPr>
          <p:cNvSpPr txBox="1"/>
          <p:nvPr/>
        </p:nvSpPr>
        <p:spPr>
          <a:xfrm>
            <a:off x="694047" y="6176963"/>
            <a:ext cx="6317755" cy="461665"/>
          </a:xfrm>
          <a:prstGeom prst="rect">
            <a:avLst/>
          </a:prstGeom>
          <a:noFill/>
        </p:spPr>
        <p:txBody>
          <a:bodyPr wrap="none" rtlCol="0">
            <a:spAutoFit/>
          </a:bodyPr>
          <a:lstStyle/>
          <a:p>
            <a:r>
              <a:rPr lang="en-US" sz="1000" dirty="0" err="1">
                <a:solidFill>
                  <a:schemeClr val="bg1">
                    <a:lumMod val="50000"/>
                  </a:schemeClr>
                </a:solidFill>
              </a:rPr>
              <a:t>Flamholz</a:t>
            </a:r>
            <a:r>
              <a:rPr lang="en-US" sz="1000" dirty="0">
                <a:solidFill>
                  <a:schemeClr val="bg1">
                    <a:lumMod val="50000"/>
                  </a:schemeClr>
                </a:solidFill>
              </a:rPr>
              <a:t> et al. (2024). </a:t>
            </a:r>
            <a:r>
              <a:rPr lang="en-US" sz="1000" i="1" dirty="0">
                <a:solidFill>
                  <a:schemeClr val="bg1">
                    <a:lumMod val="50000"/>
                  </a:schemeClr>
                </a:solidFill>
              </a:rPr>
              <a:t>Nature Microbiology</a:t>
            </a:r>
            <a:r>
              <a:rPr lang="en-US" sz="1000" dirty="0">
                <a:solidFill>
                  <a:schemeClr val="bg1">
                    <a:lumMod val="50000"/>
                  </a:schemeClr>
                </a:solidFill>
              </a:rPr>
              <a:t>. </a:t>
            </a:r>
            <a:r>
              <a:rPr lang="en-US" sz="1000" b="1" dirty="0">
                <a:solidFill>
                  <a:schemeClr val="bg1">
                    <a:lumMod val="50000"/>
                  </a:schemeClr>
                </a:solidFill>
              </a:rPr>
              <a:t>Large language models improve annotation of prokaryotic viral proteins</a:t>
            </a:r>
          </a:p>
          <a:p>
            <a:endParaRPr lang="en-US" sz="1400" dirty="0"/>
          </a:p>
        </p:txBody>
      </p:sp>
    </p:spTree>
    <p:extLst>
      <p:ext uri="{BB962C8B-B14F-4D97-AF65-F5344CB8AC3E}">
        <p14:creationId xmlns:p14="http://schemas.microsoft.com/office/powerpoint/2010/main" val="30696333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803CF-9068-CF39-44D5-AC8ECA04CFC3}"/>
              </a:ext>
            </a:extLst>
          </p:cNvPr>
          <p:cNvSpPr>
            <a:spLocks noGrp="1"/>
          </p:cNvSpPr>
          <p:nvPr>
            <p:ph type="title"/>
          </p:nvPr>
        </p:nvSpPr>
        <p:spPr/>
        <p:txBody>
          <a:bodyPr/>
          <a:lstStyle/>
          <a:p>
            <a:r>
              <a:rPr lang="en-US" b="1" dirty="0"/>
              <a:t>AI-Assisted Coding and Analysis</a:t>
            </a:r>
            <a:br>
              <a:rPr lang="en-US" b="1" dirty="0"/>
            </a:br>
            <a:endParaRPr lang="en-US" dirty="0"/>
          </a:p>
        </p:txBody>
      </p:sp>
      <p:sp>
        <p:nvSpPr>
          <p:cNvPr id="3" name="Content Placeholder 2">
            <a:extLst>
              <a:ext uri="{FF2B5EF4-FFF2-40B4-BE49-F238E27FC236}">
                <a16:creationId xmlns:a16="http://schemas.microsoft.com/office/drawing/2014/main" id="{7EFD5A02-0ADE-BE75-8E17-727BE1E41777}"/>
              </a:ext>
            </a:extLst>
          </p:cNvPr>
          <p:cNvSpPr>
            <a:spLocks noGrp="1"/>
          </p:cNvSpPr>
          <p:nvPr>
            <p:ph idx="1"/>
          </p:nvPr>
        </p:nvSpPr>
        <p:spPr>
          <a:xfrm>
            <a:off x="838200" y="1825625"/>
            <a:ext cx="5725886" cy="4351338"/>
          </a:xfrm>
        </p:spPr>
        <p:txBody>
          <a:bodyPr>
            <a:normAutofit/>
          </a:bodyPr>
          <a:lstStyle/>
          <a:p>
            <a:pPr marL="0" indent="0">
              <a:buNone/>
            </a:pPr>
            <a:r>
              <a:rPr lang="en-US" sz="2400" dirty="0"/>
              <a:t>The most immediately practical aspect of AI in bioinformatics = large language models as </a:t>
            </a:r>
            <a:r>
              <a:rPr lang="en-US" sz="2400" b="1" dirty="0">
                <a:solidFill>
                  <a:schemeClr val="accent2"/>
                </a:solidFill>
              </a:rPr>
              <a:t>coding assistants</a:t>
            </a:r>
            <a:r>
              <a:rPr lang="en-US" sz="2400" dirty="0"/>
              <a:t>. </a:t>
            </a:r>
          </a:p>
          <a:p>
            <a:pPr marL="0" indent="0">
              <a:buNone/>
            </a:pPr>
            <a:endParaRPr lang="en-US" sz="2400" dirty="0"/>
          </a:p>
          <a:p>
            <a:pPr marL="0" indent="0">
              <a:buNone/>
            </a:pPr>
            <a:r>
              <a:rPr lang="en-US" sz="1800" dirty="0">
                <a:highlight>
                  <a:srgbClr val="FFFF00"/>
                </a:highlight>
              </a:rPr>
              <a:t>Learning to use these tools &lt;&lt; learning to evaluate their outputs. </a:t>
            </a:r>
          </a:p>
          <a:p>
            <a:pPr marL="0" indent="0">
              <a:buNone/>
            </a:pPr>
            <a:endParaRPr lang="en-US" sz="1800" dirty="0">
              <a:highlight>
                <a:srgbClr val="FFFF00"/>
              </a:highlight>
            </a:endParaRPr>
          </a:p>
          <a:p>
            <a:pPr marL="0" indent="0">
              <a:buNone/>
            </a:pPr>
            <a:r>
              <a:rPr lang="en-US" sz="1800" b="1" dirty="0"/>
              <a:t>Issues: </a:t>
            </a:r>
          </a:p>
          <a:p>
            <a:pPr marL="0" indent="0">
              <a:buNone/>
            </a:pPr>
            <a:r>
              <a:rPr lang="en-US" sz="2000" dirty="0"/>
              <a:t>- Generate plausible-looking code and explanations that are sometimes subtly wrong</a:t>
            </a:r>
          </a:p>
          <a:p>
            <a:pPr marL="0" indent="0">
              <a:buNone/>
            </a:pPr>
            <a:r>
              <a:rPr lang="en-US" sz="2000" dirty="0"/>
              <a:t>- Important to know what you are trying to do and how to test it! </a:t>
            </a:r>
          </a:p>
        </p:txBody>
      </p:sp>
      <p:pic>
        <p:nvPicPr>
          <p:cNvPr id="6146" name="Picture 2" descr="Claude Code - Complete Beginner's Guide | Hieu Nguyen">
            <a:extLst>
              <a:ext uri="{FF2B5EF4-FFF2-40B4-BE49-F238E27FC236}">
                <a16:creationId xmlns:a16="http://schemas.microsoft.com/office/drawing/2014/main" id="{A5D94BE9-40B4-75E2-D549-6341997C32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7041" y="4058239"/>
            <a:ext cx="4518869" cy="234206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Is GitHub Copilot Making Me Dumber as an Engineer? | by Lino khan | Level  Up Coding">
            <a:extLst>
              <a:ext uri="{FF2B5EF4-FFF2-40B4-BE49-F238E27FC236}">
                <a16:creationId xmlns:a16="http://schemas.microsoft.com/office/drawing/2014/main" id="{3B9F4B38-B5C9-2092-A1CB-67573E7C07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3131" y="1270541"/>
            <a:ext cx="3620829" cy="234206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31E192D-81AA-0201-E960-5C10BB4107C0}"/>
              </a:ext>
            </a:extLst>
          </p:cNvPr>
          <p:cNvSpPr txBox="1"/>
          <p:nvPr/>
        </p:nvSpPr>
        <p:spPr>
          <a:xfrm>
            <a:off x="117565" y="6492875"/>
            <a:ext cx="5181355" cy="307777"/>
          </a:xfrm>
          <a:prstGeom prst="rect">
            <a:avLst/>
          </a:prstGeom>
          <a:noFill/>
        </p:spPr>
        <p:txBody>
          <a:bodyPr wrap="none" rtlCol="0">
            <a:spAutoFit/>
          </a:bodyPr>
          <a:lstStyle/>
          <a:p>
            <a:r>
              <a:rPr lang="en-US" sz="1400" dirty="0">
                <a:solidFill>
                  <a:schemeClr val="tx1">
                    <a:lumMod val="50000"/>
                    <a:lumOff val="50000"/>
                  </a:schemeClr>
                </a:solidFill>
              </a:rPr>
              <a:t>Manifest on rewriting code with AI responsibly: </a:t>
            </a:r>
            <a:r>
              <a:rPr lang="en-US" sz="1400" dirty="0">
                <a:solidFill>
                  <a:schemeClr val="tx1">
                    <a:lumMod val="50000"/>
                    <a:lumOff val="50000"/>
                  </a:schemeClr>
                </a:solidFill>
                <a:hlinkClick r:id="rId4"/>
              </a:rPr>
              <a:t>https://rewrites.bio/</a:t>
            </a:r>
            <a:r>
              <a:rPr lang="en-US" sz="1400" dirty="0">
                <a:solidFill>
                  <a:schemeClr val="tx1">
                    <a:lumMod val="50000"/>
                    <a:lumOff val="50000"/>
                  </a:schemeClr>
                </a:solidFill>
              </a:rPr>
              <a:t> </a:t>
            </a:r>
          </a:p>
        </p:txBody>
      </p:sp>
    </p:spTree>
    <p:extLst>
      <p:ext uri="{BB962C8B-B14F-4D97-AF65-F5344CB8AC3E}">
        <p14:creationId xmlns:p14="http://schemas.microsoft.com/office/powerpoint/2010/main" val="26709803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FDA42-9223-C150-31E0-5ECC1999EE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84CF74-A3EC-13CC-C0C8-2609AFFC0CFC}"/>
              </a:ext>
            </a:extLst>
          </p:cNvPr>
          <p:cNvSpPr>
            <a:spLocks noGrp="1"/>
          </p:cNvSpPr>
          <p:nvPr>
            <p:ph type="title"/>
          </p:nvPr>
        </p:nvSpPr>
        <p:spPr/>
        <p:txBody>
          <a:bodyPr/>
          <a:lstStyle/>
          <a:p>
            <a:r>
              <a:rPr lang="en-US" dirty="0"/>
              <a:t>The power combo:</a:t>
            </a:r>
          </a:p>
        </p:txBody>
      </p:sp>
      <p:sp>
        <p:nvSpPr>
          <p:cNvPr id="9" name="Rectangle 8">
            <a:extLst>
              <a:ext uri="{FF2B5EF4-FFF2-40B4-BE49-F238E27FC236}">
                <a16:creationId xmlns:a16="http://schemas.microsoft.com/office/drawing/2014/main" id="{296C24E3-3E27-B92F-B46E-616C0B533C6A}"/>
              </a:ext>
            </a:extLst>
          </p:cNvPr>
          <p:cNvSpPr/>
          <p:nvPr/>
        </p:nvSpPr>
        <p:spPr>
          <a:xfrm>
            <a:off x="1359074" y="2855934"/>
            <a:ext cx="2016690" cy="1828800"/>
          </a:xfrm>
          <a:prstGeom prst="rect">
            <a:avLst/>
          </a:prstGeom>
          <a:solidFill>
            <a:srgbClr val="DE7356">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AI Agents</a:t>
            </a:r>
          </a:p>
        </p:txBody>
      </p:sp>
      <p:sp>
        <p:nvSpPr>
          <p:cNvPr id="10" name="Rectangle 9">
            <a:extLst>
              <a:ext uri="{FF2B5EF4-FFF2-40B4-BE49-F238E27FC236}">
                <a16:creationId xmlns:a16="http://schemas.microsoft.com/office/drawing/2014/main" id="{B72CAE79-26E4-5BEF-F604-6D15E09591B9}"/>
              </a:ext>
            </a:extLst>
          </p:cNvPr>
          <p:cNvSpPr/>
          <p:nvPr/>
        </p:nvSpPr>
        <p:spPr>
          <a:xfrm>
            <a:off x="5319386" y="2855934"/>
            <a:ext cx="2016690" cy="1828800"/>
          </a:xfrm>
          <a:prstGeom prst="rect">
            <a:avLst/>
          </a:prstGeom>
          <a:solidFill>
            <a:srgbClr val="DE73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Skills</a:t>
            </a:r>
          </a:p>
        </p:txBody>
      </p:sp>
      <p:sp>
        <p:nvSpPr>
          <p:cNvPr id="11" name="Rectangle 10">
            <a:extLst>
              <a:ext uri="{FF2B5EF4-FFF2-40B4-BE49-F238E27FC236}">
                <a16:creationId xmlns:a16="http://schemas.microsoft.com/office/drawing/2014/main" id="{89681C48-7DF0-101B-4F31-510E13402FB8}"/>
              </a:ext>
            </a:extLst>
          </p:cNvPr>
          <p:cNvSpPr/>
          <p:nvPr/>
        </p:nvSpPr>
        <p:spPr>
          <a:xfrm>
            <a:off x="9025948" y="2855934"/>
            <a:ext cx="2016690" cy="1828800"/>
          </a:xfrm>
          <a:prstGeom prst="rect">
            <a:avLst/>
          </a:prstGeom>
          <a:solidFill>
            <a:srgbClr val="4183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GitHub Actions</a:t>
            </a:r>
          </a:p>
        </p:txBody>
      </p:sp>
      <p:sp>
        <p:nvSpPr>
          <p:cNvPr id="12" name="TextBox 11">
            <a:extLst>
              <a:ext uri="{FF2B5EF4-FFF2-40B4-BE49-F238E27FC236}">
                <a16:creationId xmlns:a16="http://schemas.microsoft.com/office/drawing/2014/main" id="{38D34DB5-BB67-6F06-E9ED-20B72EB789F0}"/>
              </a:ext>
            </a:extLst>
          </p:cNvPr>
          <p:cNvSpPr txBox="1"/>
          <p:nvPr/>
        </p:nvSpPr>
        <p:spPr>
          <a:xfrm>
            <a:off x="4165474" y="3539501"/>
            <a:ext cx="364202" cy="461665"/>
          </a:xfrm>
          <a:prstGeom prst="rect">
            <a:avLst/>
          </a:prstGeom>
          <a:noFill/>
        </p:spPr>
        <p:txBody>
          <a:bodyPr wrap="none" rtlCol="0">
            <a:spAutoFit/>
          </a:bodyPr>
          <a:lstStyle/>
          <a:p>
            <a:r>
              <a:rPr lang="en-US" sz="2400" dirty="0">
                <a:latin typeface="Helvetica" pitchFamily="2" charset="0"/>
              </a:rPr>
              <a:t>+</a:t>
            </a:r>
          </a:p>
        </p:txBody>
      </p:sp>
      <p:sp>
        <p:nvSpPr>
          <p:cNvPr id="13" name="TextBox 12">
            <a:extLst>
              <a:ext uri="{FF2B5EF4-FFF2-40B4-BE49-F238E27FC236}">
                <a16:creationId xmlns:a16="http://schemas.microsoft.com/office/drawing/2014/main" id="{16D735AE-9361-1673-EEE5-22B6163B3B6E}"/>
              </a:ext>
            </a:extLst>
          </p:cNvPr>
          <p:cNvSpPr txBox="1"/>
          <p:nvPr/>
        </p:nvSpPr>
        <p:spPr>
          <a:xfrm>
            <a:off x="7998911" y="3539500"/>
            <a:ext cx="364202" cy="461665"/>
          </a:xfrm>
          <a:prstGeom prst="rect">
            <a:avLst/>
          </a:prstGeom>
          <a:noFill/>
        </p:spPr>
        <p:txBody>
          <a:bodyPr wrap="none" rtlCol="0">
            <a:spAutoFit/>
          </a:bodyPr>
          <a:lstStyle/>
          <a:p>
            <a:r>
              <a:rPr lang="en-US" sz="2400" dirty="0">
                <a:latin typeface="Helvetica" pitchFamily="2" charset="0"/>
              </a:rPr>
              <a:t>+</a:t>
            </a:r>
          </a:p>
        </p:txBody>
      </p:sp>
    </p:spTree>
    <p:extLst>
      <p:ext uri="{BB962C8B-B14F-4D97-AF65-F5344CB8AC3E}">
        <p14:creationId xmlns:p14="http://schemas.microsoft.com/office/powerpoint/2010/main" val="8125904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1356E-FC5F-C1BD-1892-5D830F7547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15FE7-83A8-65F4-7AF3-08455654F739}"/>
              </a:ext>
            </a:extLst>
          </p:cNvPr>
          <p:cNvSpPr>
            <a:spLocks noGrp="1"/>
          </p:cNvSpPr>
          <p:nvPr>
            <p:ph type="title"/>
          </p:nvPr>
        </p:nvSpPr>
        <p:spPr/>
        <p:txBody>
          <a:bodyPr/>
          <a:lstStyle/>
          <a:p>
            <a:r>
              <a:rPr lang="en-US" dirty="0"/>
              <a:t>AI (</a:t>
            </a:r>
            <a:r>
              <a:rPr lang="en-US" dirty="0" err="1"/>
              <a:t>claude</a:t>
            </a:r>
            <a:r>
              <a:rPr lang="en-US" dirty="0"/>
              <a:t>) agents:</a:t>
            </a:r>
          </a:p>
        </p:txBody>
      </p:sp>
      <p:sp>
        <p:nvSpPr>
          <p:cNvPr id="4" name="TextBox 3">
            <a:extLst>
              <a:ext uri="{FF2B5EF4-FFF2-40B4-BE49-F238E27FC236}">
                <a16:creationId xmlns:a16="http://schemas.microsoft.com/office/drawing/2014/main" id="{BBE9F16A-85C3-F6D1-42E7-ABDBBF5B238C}"/>
              </a:ext>
            </a:extLst>
          </p:cNvPr>
          <p:cNvSpPr txBox="1"/>
          <p:nvPr/>
        </p:nvSpPr>
        <p:spPr>
          <a:xfrm>
            <a:off x="838200" y="1528826"/>
            <a:ext cx="10391384" cy="1077218"/>
          </a:xfrm>
          <a:prstGeom prst="rect">
            <a:avLst/>
          </a:prstGeom>
          <a:noFill/>
        </p:spPr>
        <p:txBody>
          <a:bodyPr wrap="square">
            <a:spAutoFit/>
          </a:bodyPr>
          <a:lstStyle/>
          <a:p>
            <a:r>
              <a:rPr lang="en-US" dirty="0"/>
              <a:t>An agent is just Claude with a </a:t>
            </a:r>
            <a:r>
              <a:rPr lang="en-US" b="1" dirty="0"/>
              <a:t>very focused system prompt</a:t>
            </a:r>
            <a:r>
              <a:rPr lang="en-US" dirty="0"/>
              <a:t>. You call the API, you give Claude a system prompt that defines its role, the tools it can use, and the constraints it operates under, and that becomes your agent. </a:t>
            </a:r>
            <a:r>
              <a:rPr lang="en-US" sz="1400" dirty="0">
                <a:solidFill>
                  <a:schemeClr val="bg1">
                    <a:lumMod val="50000"/>
                  </a:schemeClr>
                </a:solidFill>
              </a:rPr>
              <a:t>Ex. A "PR review agent" is Claude + a system prompt that says "you are a code reviewer, here is the diff, here are the rules, output GitHub review comments." The specialization is entirely in how you configure the call.</a:t>
            </a:r>
            <a:endParaRPr lang="en-US" dirty="0">
              <a:solidFill>
                <a:schemeClr val="bg1">
                  <a:lumMod val="50000"/>
                </a:schemeClr>
              </a:solidFill>
            </a:endParaRPr>
          </a:p>
        </p:txBody>
      </p:sp>
      <p:pic>
        <p:nvPicPr>
          <p:cNvPr id="8" name="Picture 7">
            <a:extLst>
              <a:ext uri="{FF2B5EF4-FFF2-40B4-BE49-F238E27FC236}">
                <a16:creationId xmlns:a16="http://schemas.microsoft.com/office/drawing/2014/main" id="{50CCA28E-A78E-C26C-329A-DBA1D9C8FBA4}"/>
              </a:ext>
            </a:extLst>
          </p:cNvPr>
          <p:cNvPicPr>
            <a:picLocks noChangeAspect="1"/>
          </p:cNvPicPr>
          <p:nvPr/>
        </p:nvPicPr>
        <p:blipFill>
          <a:blip r:embed="rId2"/>
          <a:stretch>
            <a:fillRect/>
          </a:stretch>
        </p:blipFill>
        <p:spPr>
          <a:xfrm>
            <a:off x="5772333" y="3686256"/>
            <a:ext cx="5924888" cy="2453274"/>
          </a:xfrm>
          <a:prstGeom prst="rect">
            <a:avLst/>
          </a:prstGeom>
        </p:spPr>
      </p:pic>
      <p:sp>
        <p:nvSpPr>
          <p:cNvPr id="11" name="TextBox 10">
            <a:extLst>
              <a:ext uri="{FF2B5EF4-FFF2-40B4-BE49-F238E27FC236}">
                <a16:creationId xmlns:a16="http://schemas.microsoft.com/office/drawing/2014/main" id="{F4E355C6-2BCA-6975-E534-95543FAB0C5E}"/>
              </a:ext>
            </a:extLst>
          </p:cNvPr>
          <p:cNvSpPr txBox="1"/>
          <p:nvPr/>
        </p:nvSpPr>
        <p:spPr>
          <a:xfrm>
            <a:off x="875256" y="2754770"/>
            <a:ext cx="10441488" cy="646331"/>
          </a:xfrm>
          <a:prstGeom prst="rect">
            <a:avLst/>
          </a:prstGeom>
          <a:solidFill>
            <a:schemeClr val="accent4">
              <a:lumMod val="20000"/>
              <a:lumOff val="80000"/>
            </a:schemeClr>
          </a:solidFill>
        </p:spPr>
        <p:txBody>
          <a:bodyPr wrap="square">
            <a:spAutoFit/>
          </a:bodyPr>
          <a:lstStyle/>
          <a:p>
            <a:pPr algn="ctr">
              <a:buNone/>
            </a:pPr>
            <a:r>
              <a:rPr lang="en-US" b="0" i="0" dirty="0">
                <a:solidFill>
                  <a:srgbClr val="3D3D3A"/>
                </a:solidFill>
                <a:effectLst/>
                <a:latin typeface="Anthropic Sans"/>
              </a:rPr>
              <a:t>An agent is just a Claude API call with three things configured: a system prompt (role + goal), optional tools (bash, file write, search), and a task as the user message.</a:t>
            </a:r>
          </a:p>
        </p:txBody>
      </p:sp>
      <p:pic>
        <p:nvPicPr>
          <p:cNvPr id="12" name="Picture 11">
            <a:extLst>
              <a:ext uri="{FF2B5EF4-FFF2-40B4-BE49-F238E27FC236}">
                <a16:creationId xmlns:a16="http://schemas.microsoft.com/office/drawing/2014/main" id="{5FA624E7-5DB7-D12E-A984-734C35C4EA24}"/>
              </a:ext>
            </a:extLst>
          </p:cNvPr>
          <p:cNvPicPr>
            <a:picLocks noChangeAspect="1"/>
          </p:cNvPicPr>
          <p:nvPr/>
        </p:nvPicPr>
        <p:blipFill>
          <a:blip r:embed="rId3"/>
          <a:stretch>
            <a:fillRect/>
          </a:stretch>
        </p:blipFill>
        <p:spPr>
          <a:xfrm>
            <a:off x="924578" y="3613758"/>
            <a:ext cx="3854102" cy="2598271"/>
          </a:xfrm>
          <a:prstGeom prst="rect">
            <a:avLst/>
          </a:prstGeom>
        </p:spPr>
      </p:pic>
    </p:spTree>
    <p:extLst>
      <p:ext uri="{BB962C8B-B14F-4D97-AF65-F5344CB8AC3E}">
        <p14:creationId xmlns:p14="http://schemas.microsoft.com/office/powerpoint/2010/main" val="22608533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15ADE-7F04-62CB-08C9-8FAC84D38C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68B71C-B9C0-CC29-4510-D2C6FCB1B0B0}"/>
              </a:ext>
            </a:extLst>
          </p:cNvPr>
          <p:cNvSpPr>
            <a:spLocks noGrp="1"/>
          </p:cNvSpPr>
          <p:nvPr>
            <p:ph type="title"/>
          </p:nvPr>
        </p:nvSpPr>
        <p:spPr/>
        <p:txBody>
          <a:bodyPr/>
          <a:lstStyle/>
          <a:p>
            <a:r>
              <a:rPr lang="en-US" dirty="0"/>
              <a:t>Claude skills</a:t>
            </a:r>
          </a:p>
        </p:txBody>
      </p:sp>
      <p:sp>
        <p:nvSpPr>
          <p:cNvPr id="3" name="Content Placeholder 2">
            <a:extLst>
              <a:ext uri="{FF2B5EF4-FFF2-40B4-BE49-F238E27FC236}">
                <a16:creationId xmlns:a16="http://schemas.microsoft.com/office/drawing/2014/main" id="{FF8B775C-66C9-A5F4-1D83-771AC305C212}"/>
              </a:ext>
            </a:extLst>
          </p:cNvPr>
          <p:cNvSpPr>
            <a:spLocks noGrp="1"/>
          </p:cNvSpPr>
          <p:nvPr>
            <p:ph idx="1"/>
          </p:nvPr>
        </p:nvSpPr>
        <p:spPr>
          <a:xfrm>
            <a:off x="838200" y="1690688"/>
            <a:ext cx="6826164" cy="4351338"/>
          </a:xfrm>
        </p:spPr>
        <p:txBody>
          <a:bodyPr>
            <a:normAutofit/>
          </a:bodyPr>
          <a:lstStyle/>
          <a:p>
            <a:pPr marL="0" indent="0">
              <a:buNone/>
            </a:pPr>
            <a:r>
              <a:rPr lang="en-US" sz="2000" dirty="0"/>
              <a:t>Reusable instruction sets that teach Claude how to produce high-quality, consistent output for specific tasks.</a:t>
            </a:r>
          </a:p>
          <a:p>
            <a:pPr marL="0" indent="0">
              <a:buNone/>
            </a:pPr>
            <a:r>
              <a:rPr lang="en-US" sz="1600" dirty="0">
                <a:solidFill>
                  <a:schemeClr val="bg1">
                    <a:lumMod val="50000"/>
                  </a:schemeClr>
                </a:solidFill>
              </a:rPr>
              <a:t>The system prompt alone is often not enough for complex, format-sensitive tasks. A Skill is a </a:t>
            </a:r>
            <a:r>
              <a:rPr lang="en-US" sz="1600" dirty="0" err="1">
                <a:solidFill>
                  <a:schemeClr val="bg1">
                    <a:lumMod val="50000"/>
                  </a:schemeClr>
                </a:solidFill>
              </a:rPr>
              <a:t>SKILL.md</a:t>
            </a:r>
            <a:r>
              <a:rPr lang="en-US" sz="1200" dirty="0">
                <a:solidFill>
                  <a:schemeClr val="bg1">
                    <a:lumMod val="50000"/>
                  </a:schemeClr>
                </a:solidFill>
              </a:rPr>
              <a:t> </a:t>
            </a:r>
            <a:r>
              <a:rPr lang="en-US" sz="1600" dirty="0">
                <a:solidFill>
                  <a:schemeClr val="bg1">
                    <a:lumMod val="50000"/>
                  </a:schemeClr>
                </a:solidFill>
              </a:rPr>
              <a:t>file that the agent reads </a:t>
            </a:r>
            <a:r>
              <a:rPr lang="en-US" sz="1600" i="1" dirty="0">
                <a:solidFill>
                  <a:schemeClr val="bg1">
                    <a:lumMod val="50000"/>
                  </a:schemeClr>
                </a:solidFill>
              </a:rPr>
              <a:t>before</a:t>
            </a:r>
            <a:r>
              <a:rPr lang="en-US" sz="1600" dirty="0">
                <a:solidFill>
                  <a:schemeClr val="bg1">
                    <a:lumMod val="50000"/>
                  </a:schemeClr>
                </a:solidFill>
              </a:rPr>
              <a:t> doing its work — think of it as the agent's reference manual. The system prompt gives the agent its identity and goal. The Skill gives it the detailed knowledge of </a:t>
            </a:r>
            <a:r>
              <a:rPr lang="en-US" sz="1600" i="1" dirty="0">
                <a:solidFill>
                  <a:schemeClr val="bg1">
                    <a:lumMod val="50000"/>
                  </a:schemeClr>
                </a:solidFill>
              </a:rPr>
              <a:t>how</a:t>
            </a:r>
            <a:r>
              <a:rPr lang="en-US" sz="1600" dirty="0">
                <a:solidFill>
                  <a:schemeClr val="bg1">
                    <a:lumMod val="50000"/>
                  </a:schemeClr>
                </a:solidFill>
              </a:rPr>
              <a:t> to do the task well: what libraries to use, what output format is expected, what mistakes to avoid, what conventions to follow. The agent reads the file at runtime (via a tool call or by having its contents injected into context), then applies that knowledge to the task.</a:t>
            </a:r>
          </a:p>
        </p:txBody>
      </p:sp>
      <p:sp>
        <p:nvSpPr>
          <p:cNvPr id="4" name="TextBox 3">
            <a:extLst>
              <a:ext uri="{FF2B5EF4-FFF2-40B4-BE49-F238E27FC236}">
                <a16:creationId xmlns:a16="http://schemas.microsoft.com/office/drawing/2014/main" id="{B08F29B9-A8DA-C481-49E8-60A513AF6257}"/>
              </a:ext>
            </a:extLst>
          </p:cNvPr>
          <p:cNvSpPr txBox="1"/>
          <p:nvPr/>
        </p:nvSpPr>
        <p:spPr>
          <a:xfrm>
            <a:off x="736948" y="4557574"/>
            <a:ext cx="2824620" cy="1754326"/>
          </a:xfrm>
          <a:prstGeom prst="rect">
            <a:avLst/>
          </a:prstGeom>
          <a:noFill/>
          <a:ln w="19050">
            <a:solidFill>
              <a:schemeClr val="accent6"/>
            </a:solidFill>
          </a:ln>
        </p:spPr>
        <p:txBody>
          <a:bodyPr wrap="square" rtlCol="0">
            <a:spAutoFit/>
          </a:bodyPr>
          <a:lstStyle/>
          <a:p>
            <a:r>
              <a:rPr lang="en-US" b="1" dirty="0">
                <a:solidFill>
                  <a:schemeClr val="accent6"/>
                </a:solidFill>
              </a:rPr>
              <a:t>What they contain</a:t>
            </a:r>
          </a:p>
          <a:p>
            <a:r>
              <a:rPr lang="en-US" dirty="0"/>
              <a:t>Step-by-step instructions, best practices, tool usage, and formatting standards for a given task type.</a:t>
            </a:r>
          </a:p>
          <a:p>
            <a:endParaRPr lang="en-US" dirty="0"/>
          </a:p>
        </p:txBody>
      </p:sp>
      <p:sp>
        <p:nvSpPr>
          <p:cNvPr id="5" name="TextBox 4">
            <a:extLst>
              <a:ext uri="{FF2B5EF4-FFF2-40B4-BE49-F238E27FC236}">
                <a16:creationId xmlns:a16="http://schemas.microsoft.com/office/drawing/2014/main" id="{145A625C-D7B5-9ABA-2EDC-34617E89E820}"/>
              </a:ext>
            </a:extLst>
          </p:cNvPr>
          <p:cNvSpPr txBox="1"/>
          <p:nvPr/>
        </p:nvSpPr>
        <p:spPr>
          <a:xfrm>
            <a:off x="4072786" y="4553774"/>
            <a:ext cx="3237978" cy="1754326"/>
          </a:xfrm>
          <a:prstGeom prst="rect">
            <a:avLst/>
          </a:prstGeom>
          <a:noFill/>
          <a:ln w="19050">
            <a:solidFill>
              <a:schemeClr val="accent2"/>
            </a:solidFill>
          </a:ln>
        </p:spPr>
        <p:txBody>
          <a:bodyPr wrap="square" rtlCol="0">
            <a:spAutoFit/>
          </a:bodyPr>
          <a:lstStyle/>
          <a:p>
            <a:r>
              <a:rPr lang="en-US" b="1" dirty="0">
                <a:solidFill>
                  <a:schemeClr val="accent2"/>
                </a:solidFill>
              </a:rPr>
              <a:t>How Claude uses them</a:t>
            </a:r>
          </a:p>
          <a:p>
            <a:r>
              <a:rPr lang="en-US" dirty="0"/>
              <a:t>Claude reads the relevant </a:t>
            </a:r>
            <a:r>
              <a:rPr lang="en-US" dirty="0" err="1"/>
              <a:t>SKILL.md</a:t>
            </a:r>
            <a:r>
              <a:rPr lang="en-US" dirty="0"/>
              <a:t> file before starting a task to apply the right constraints and approach.</a:t>
            </a:r>
          </a:p>
          <a:p>
            <a:endParaRPr lang="en-US" dirty="0"/>
          </a:p>
        </p:txBody>
      </p:sp>
      <p:sp>
        <p:nvSpPr>
          <p:cNvPr id="6" name="TextBox 5">
            <a:extLst>
              <a:ext uri="{FF2B5EF4-FFF2-40B4-BE49-F238E27FC236}">
                <a16:creationId xmlns:a16="http://schemas.microsoft.com/office/drawing/2014/main" id="{8D77359B-CC84-E6A9-F86E-FC1E497F9637}"/>
              </a:ext>
            </a:extLst>
          </p:cNvPr>
          <p:cNvSpPr txBox="1"/>
          <p:nvPr/>
        </p:nvSpPr>
        <p:spPr>
          <a:xfrm>
            <a:off x="7765616" y="4554337"/>
            <a:ext cx="3237977" cy="1754326"/>
          </a:xfrm>
          <a:prstGeom prst="rect">
            <a:avLst/>
          </a:prstGeom>
          <a:noFill/>
          <a:ln w="19050">
            <a:solidFill>
              <a:schemeClr val="accent4">
                <a:lumMod val="75000"/>
              </a:schemeClr>
            </a:solidFill>
          </a:ln>
        </p:spPr>
        <p:txBody>
          <a:bodyPr wrap="square" rtlCol="0">
            <a:spAutoFit/>
          </a:bodyPr>
          <a:lstStyle/>
          <a:p>
            <a:r>
              <a:rPr lang="en-US" b="1" dirty="0">
                <a:solidFill>
                  <a:schemeClr val="accent4">
                    <a:lumMod val="75000"/>
                  </a:schemeClr>
                </a:solidFill>
              </a:rPr>
              <a:t>Why they exist</a:t>
            </a:r>
          </a:p>
          <a:p>
            <a:r>
              <a:rPr lang="en-US" dirty="0"/>
              <a:t>LLMs benefit from environment-specific constraints that aren't in training data — skills encode that hard-won knowledge.</a:t>
            </a:r>
          </a:p>
          <a:p>
            <a:endParaRPr lang="en-US" dirty="0"/>
          </a:p>
        </p:txBody>
      </p:sp>
      <p:pic>
        <p:nvPicPr>
          <p:cNvPr id="7" name="Picture 6">
            <a:extLst>
              <a:ext uri="{FF2B5EF4-FFF2-40B4-BE49-F238E27FC236}">
                <a16:creationId xmlns:a16="http://schemas.microsoft.com/office/drawing/2014/main" id="{037F329F-8D42-43A2-402D-788AEF10EF9C}"/>
              </a:ext>
            </a:extLst>
          </p:cNvPr>
          <p:cNvPicPr>
            <a:picLocks noChangeAspect="1"/>
          </p:cNvPicPr>
          <p:nvPr/>
        </p:nvPicPr>
        <p:blipFill>
          <a:blip r:embed="rId2"/>
          <a:stretch>
            <a:fillRect/>
          </a:stretch>
        </p:blipFill>
        <p:spPr>
          <a:xfrm>
            <a:off x="8416707" y="655616"/>
            <a:ext cx="3162300" cy="3492500"/>
          </a:xfrm>
          <a:prstGeom prst="rect">
            <a:avLst/>
          </a:prstGeom>
        </p:spPr>
      </p:pic>
    </p:spTree>
    <p:extLst>
      <p:ext uri="{BB962C8B-B14F-4D97-AF65-F5344CB8AC3E}">
        <p14:creationId xmlns:p14="http://schemas.microsoft.com/office/powerpoint/2010/main" val="10001592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17FE7-BD52-E2F1-769D-37E3168EA7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1F824-9DF7-787A-E43F-F65FFC548977}"/>
              </a:ext>
            </a:extLst>
          </p:cNvPr>
          <p:cNvSpPr>
            <a:spLocks noGrp="1"/>
          </p:cNvSpPr>
          <p:nvPr>
            <p:ph type="title"/>
          </p:nvPr>
        </p:nvSpPr>
        <p:spPr/>
        <p:txBody>
          <a:bodyPr/>
          <a:lstStyle/>
          <a:p>
            <a:r>
              <a:rPr lang="en-US" dirty="0"/>
              <a:t>GitHub Actions</a:t>
            </a:r>
          </a:p>
        </p:txBody>
      </p:sp>
      <p:sp>
        <p:nvSpPr>
          <p:cNvPr id="3" name="Content Placeholder 2">
            <a:extLst>
              <a:ext uri="{FF2B5EF4-FFF2-40B4-BE49-F238E27FC236}">
                <a16:creationId xmlns:a16="http://schemas.microsoft.com/office/drawing/2014/main" id="{834BDFC0-965B-B143-9E27-44637E07DC71}"/>
              </a:ext>
            </a:extLst>
          </p:cNvPr>
          <p:cNvSpPr>
            <a:spLocks noGrp="1"/>
          </p:cNvSpPr>
          <p:nvPr>
            <p:ph idx="1"/>
          </p:nvPr>
        </p:nvSpPr>
        <p:spPr>
          <a:xfrm>
            <a:off x="838200" y="1690688"/>
            <a:ext cx="5418551" cy="4351338"/>
          </a:xfrm>
        </p:spPr>
        <p:txBody>
          <a:bodyPr>
            <a:normAutofit/>
          </a:bodyPr>
          <a:lstStyle/>
          <a:p>
            <a:pPr marL="0" indent="0">
              <a:buNone/>
            </a:pPr>
            <a:r>
              <a:rPr lang="en-US" sz="1800" dirty="0"/>
              <a:t>GitHub Actions is an automation platform built into GitHub. You describe </a:t>
            </a:r>
            <a:r>
              <a:rPr lang="en-US" sz="1800" i="1" dirty="0"/>
              <a:t>what should happen</a:t>
            </a:r>
            <a:r>
              <a:rPr lang="en-US" sz="1800" dirty="0"/>
              <a:t> and </a:t>
            </a:r>
            <a:r>
              <a:rPr lang="en-US" sz="1800" i="1" dirty="0"/>
              <a:t>when it should happen</a:t>
            </a:r>
            <a:r>
              <a:rPr lang="en-US" sz="1800" dirty="0"/>
              <a:t> in a YAML file, and GitHub runs it for you on its own servers — no infrastructure required.</a:t>
            </a:r>
            <a:endParaRPr lang="en-US" sz="1600" dirty="0">
              <a:solidFill>
                <a:schemeClr val="bg1">
                  <a:lumMod val="50000"/>
                </a:schemeClr>
              </a:solidFill>
            </a:endParaRPr>
          </a:p>
        </p:txBody>
      </p:sp>
      <p:sp>
        <p:nvSpPr>
          <p:cNvPr id="4" name="TextBox 3">
            <a:extLst>
              <a:ext uri="{FF2B5EF4-FFF2-40B4-BE49-F238E27FC236}">
                <a16:creationId xmlns:a16="http://schemas.microsoft.com/office/drawing/2014/main" id="{3C56F647-60B2-A1A7-D4A7-D690C9FB77F9}"/>
              </a:ext>
            </a:extLst>
          </p:cNvPr>
          <p:cNvSpPr txBox="1"/>
          <p:nvPr/>
        </p:nvSpPr>
        <p:spPr>
          <a:xfrm>
            <a:off x="993732" y="3809544"/>
            <a:ext cx="2324620" cy="2616101"/>
          </a:xfrm>
          <a:prstGeom prst="rect">
            <a:avLst/>
          </a:prstGeom>
          <a:noFill/>
          <a:ln w="19050">
            <a:solidFill>
              <a:schemeClr val="accent3"/>
            </a:solidFill>
          </a:ln>
        </p:spPr>
        <p:txBody>
          <a:bodyPr wrap="square" rtlCol="0">
            <a:spAutoFit/>
          </a:bodyPr>
          <a:lstStyle/>
          <a:p>
            <a:r>
              <a:rPr lang="en-US" b="1" dirty="0"/>
              <a:t>Without GitHub Actions</a:t>
            </a:r>
          </a:p>
          <a:p>
            <a:r>
              <a:rPr lang="en-US" sz="1600" dirty="0"/>
              <a:t>Developer pushes code → manually runs tests → manually builds the app → manually deploys it → manually notifies the team. All of this requires a human to remember and execute each step.</a:t>
            </a:r>
          </a:p>
        </p:txBody>
      </p:sp>
      <p:sp>
        <p:nvSpPr>
          <p:cNvPr id="5" name="TextBox 4">
            <a:extLst>
              <a:ext uri="{FF2B5EF4-FFF2-40B4-BE49-F238E27FC236}">
                <a16:creationId xmlns:a16="http://schemas.microsoft.com/office/drawing/2014/main" id="{031DA454-E0C0-3DAE-7E16-8CA1E3A61E84}"/>
              </a:ext>
            </a:extLst>
          </p:cNvPr>
          <p:cNvSpPr txBox="1"/>
          <p:nvPr/>
        </p:nvSpPr>
        <p:spPr>
          <a:xfrm>
            <a:off x="3612716" y="3822516"/>
            <a:ext cx="2324620" cy="2616101"/>
          </a:xfrm>
          <a:prstGeom prst="rect">
            <a:avLst/>
          </a:prstGeom>
          <a:noFill/>
          <a:ln w="19050">
            <a:solidFill>
              <a:schemeClr val="accent5"/>
            </a:solidFill>
          </a:ln>
        </p:spPr>
        <p:txBody>
          <a:bodyPr wrap="square" rtlCol="0">
            <a:spAutoFit/>
          </a:bodyPr>
          <a:lstStyle/>
          <a:p>
            <a:r>
              <a:rPr lang="en-US" b="1" dirty="0"/>
              <a:t>With GitHub Actions</a:t>
            </a:r>
          </a:p>
          <a:p>
            <a:r>
              <a:rPr lang="en-US" sz="1600" dirty="0"/>
              <a:t>Developer pushes code → GitHub automatically runs tests, builds the app, deploys it, and notifies the team. Every step happens in order, every time, with no human involvement.</a:t>
            </a:r>
          </a:p>
          <a:p>
            <a:endParaRPr lang="en-US" dirty="0"/>
          </a:p>
        </p:txBody>
      </p:sp>
      <p:sp>
        <p:nvSpPr>
          <p:cNvPr id="8" name="TextBox 7">
            <a:extLst>
              <a:ext uri="{FF2B5EF4-FFF2-40B4-BE49-F238E27FC236}">
                <a16:creationId xmlns:a16="http://schemas.microsoft.com/office/drawing/2014/main" id="{484525FF-9E6E-18D9-2AD4-13826CE0AC4F}"/>
              </a:ext>
            </a:extLst>
          </p:cNvPr>
          <p:cNvSpPr txBox="1"/>
          <p:nvPr/>
        </p:nvSpPr>
        <p:spPr>
          <a:xfrm>
            <a:off x="838200" y="2825087"/>
            <a:ext cx="5418551" cy="738664"/>
          </a:xfrm>
          <a:prstGeom prst="rect">
            <a:avLst/>
          </a:prstGeom>
          <a:noFill/>
        </p:spPr>
        <p:txBody>
          <a:bodyPr wrap="square" rtlCol="0">
            <a:spAutoFit/>
          </a:bodyPr>
          <a:lstStyle/>
          <a:p>
            <a:r>
              <a:rPr lang="en-US" sz="1400" dirty="0">
                <a:solidFill>
                  <a:schemeClr val="bg1">
                    <a:lumMod val="50000"/>
                  </a:schemeClr>
                </a:solidFill>
              </a:rPr>
              <a:t>It lives in your repo at .</a:t>
            </a:r>
            <a:r>
              <a:rPr lang="en-US" sz="1400" dirty="0" err="1">
                <a:solidFill>
                  <a:schemeClr val="bg1">
                    <a:lumMod val="50000"/>
                  </a:schemeClr>
                </a:solidFill>
              </a:rPr>
              <a:t>github</a:t>
            </a:r>
            <a:r>
              <a:rPr lang="en-US" sz="1400" dirty="0">
                <a:solidFill>
                  <a:schemeClr val="bg1">
                    <a:lumMod val="50000"/>
                  </a:schemeClr>
                </a:solidFill>
              </a:rPr>
              <a:t>/workflows/ as plain YAML files — versioned alongside your code, visible to the whole team, no external service to configure.</a:t>
            </a:r>
          </a:p>
        </p:txBody>
      </p:sp>
      <p:pic>
        <p:nvPicPr>
          <p:cNvPr id="9" name="Picture 8">
            <a:extLst>
              <a:ext uri="{FF2B5EF4-FFF2-40B4-BE49-F238E27FC236}">
                <a16:creationId xmlns:a16="http://schemas.microsoft.com/office/drawing/2014/main" id="{9E4274D6-35D5-4614-D667-B353A0C12A0D}"/>
              </a:ext>
            </a:extLst>
          </p:cNvPr>
          <p:cNvPicPr>
            <a:picLocks noChangeAspect="1"/>
          </p:cNvPicPr>
          <p:nvPr/>
        </p:nvPicPr>
        <p:blipFill>
          <a:blip r:embed="rId3"/>
          <a:stretch>
            <a:fillRect/>
          </a:stretch>
        </p:blipFill>
        <p:spPr>
          <a:xfrm>
            <a:off x="6412283" y="2107535"/>
            <a:ext cx="5352335" cy="3250633"/>
          </a:xfrm>
          <a:prstGeom prst="rect">
            <a:avLst/>
          </a:prstGeom>
        </p:spPr>
      </p:pic>
      <p:sp>
        <p:nvSpPr>
          <p:cNvPr id="11" name="TextBox 10">
            <a:extLst>
              <a:ext uri="{FF2B5EF4-FFF2-40B4-BE49-F238E27FC236}">
                <a16:creationId xmlns:a16="http://schemas.microsoft.com/office/drawing/2014/main" id="{BB5ABAAB-2742-91DC-6F21-7FFC018B5EC4}"/>
              </a:ext>
            </a:extLst>
          </p:cNvPr>
          <p:cNvSpPr txBox="1"/>
          <p:nvPr/>
        </p:nvSpPr>
        <p:spPr>
          <a:xfrm>
            <a:off x="6815969" y="5974915"/>
            <a:ext cx="4544962" cy="307777"/>
          </a:xfrm>
          <a:prstGeom prst="rect">
            <a:avLst/>
          </a:prstGeom>
          <a:noFill/>
        </p:spPr>
        <p:txBody>
          <a:bodyPr wrap="none" rtlCol="0">
            <a:spAutoFit/>
          </a:bodyPr>
          <a:lstStyle/>
          <a:p>
            <a:r>
              <a:rPr lang="en-US" sz="1400" dirty="0"/>
              <a:t>Example: </a:t>
            </a:r>
            <a:r>
              <a:rPr lang="en-US" sz="1400" dirty="0">
                <a:hlinkClick r:id="rId4"/>
              </a:rPr>
              <a:t>https://github.com/hurwitzlab/brc_hazel_training</a:t>
            </a:r>
            <a:r>
              <a:rPr lang="en-US" sz="1400" dirty="0"/>
              <a:t> </a:t>
            </a:r>
          </a:p>
        </p:txBody>
      </p:sp>
    </p:spTree>
    <p:extLst>
      <p:ext uri="{BB962C8B-B14F-4D97-AF65-F5344CB8AC3E}">
        <p14:creationId xmlns:p14="http://schemas.microsoft.com/office/powerpoint/2010/main" val="2990348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90DA4-64A8-3AFA-202A-BBA605CE47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369FF-38D3-53C8-53FA-B42B42A1E669}"/>
              </a:ext>
            </a:extLst>
          </p:cNvPr>
          <p:cNvSpPr>
            <a:spLocks noGrp="1"/>
          </p:cNvSpPr>
          <p:nvPr>
            <p:ph type="title"/>
          </p:nvPr>
        </p:nvSpPr>
        <p:spPr/>
        <p:txBody>
          <a:bodyPr/>
          <a:lstStyle/>
          <a:p>
            <a:r>
              <a:rPr lang="en-US" dirty="0"/>
              <a:t>The power combo:</a:t>
            </a:r>
          </a:p>
        </p:txBody>
      </p:sp>
      <p:sp>
        <p:nvSpPr>
          <p:cNvPr id="9" name="Rectangle 8">
            <a:extLst>
              <a:ext uri="{FF2B5EF4-FFF2-40B4-BE49-F238E27FC236}">
                <a16:creationId xmlns:a16="http://schemas.microsoft.com/office/drawing/2014/main" id="{A9A171C1-8A2C-135A-668E-23B3A1177F7D}"/>
              </a:ext>
            </a:extLst>
          </p:cNvPr>
          <p:cNvSpPr/>
          <p:nvPr/>
        </p:nvSpPr>
        <p:spPr>
          <a:xfrm>
            <a:off x="1014608" y="1734529"/>
            <a:ext cx="1371600" cy="1227876"/>
          </a:xfrm>
          <a:prstGeom prst="rect">
            <a:avLst/>
          </a:prstGeom>
          <a:solidFill>
            <a:srgbClr val="DE7356">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AI Agents</a:t>
            </a:r>
          </a:p>
        </p:txBody>
      </p:sp>
      <p:sp>
        <p:nvSpPr>
          <p:cNvPr id="10" name="Rectangle 9">
            <a:extLst>
              <a:ext uri="{FF2B5EF4-FFF2-40B4-BE49-F238E27FC236}">
                <a16:creationId xmlns:a16="http://schemas.microsoft.com/office/drawing/2014/main" id="{948F0891-1457-2FA4-FB04-8802E4D02E72}"/>
              </a:ext>
            </a:extLst>
          </p:cNvPr>
          <p:cNvSpPr/>
          <p:nvPr/>
        </p:nvSpPr>
        <p:spPr>
          <a:xfrm>
            <a:off x="2851777" y="3118303"/>
            <a:ext cx="1371600" cy="1227876"/>
          </a:xfrm>
          <a:prstGeom prst="rect">
            <a:avLst/>
          </a:prstGeom>
          <a:solidFill>
            <a:srgbClr val="DE73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Skills</a:t>
            </a:r>
          </a:p>
        </p:txBody>
      </p:sp>
      <p:sp>
        <p:nvSpPr>
          <p:cNvPr id="11" name="Rectangle 10">
            <a:extLst>
              <a:ext uri="{FF2B5EF4-FFF2-40B4-BE49-F238E27FC236}">
                <a16:creationId xmlns:a16="http://schemas.microsoft.com/office/drawing/2014/main" id="{BAF42D5F-3EE1-9A6B-86D4-4A87B1B51DB4}"/>
              </a:ext>
            </a:extLst>
          </p:cNvPr>
          <p:cNvSpPr/>
          <p:nvPr/>
        </p:nvSpPr>
        <p:spPr>
          <a:xfrm>
            <a:off x="4688946" y="4502074"/>
            <a:ext cx="1371601" cy="1227876"/>
          </a:xfrm>
          <a:prstGeom prst="rect">
            <a:avLst/>
          </a:prstGeom>
          <a:solidFill>
            <a:srgbClr val="4183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GitHub Actions</a:t>
            </a:r>
          </a:p>
        </p:txBody>
      </p:sp>
      <p:sp>
        <p:nvSpPr>
          <p:cNvPr id="12" name="TextBox 11">
            <a:extLst>
              <a:ext uri="{FF2B5EF4-FFF2-40B4-BE49-F238E27FC236}">
                <a16:creationId xmlns:a16="http://schemas.microsoft.com/office/drawing/2014/main" id="{A4C41C2D-36B4-8E43-49D8-414445BB9181}"/>
              </a:ext>
            </a:extLst>
          </p:cNvPr>
          <p:cNvSpPr txBox="1"/>
          <p:nvPr/>
        </p:nvSpPr>
        <p:spPr>
          <a:xfrm>
            <a:off x="2419619" y="3472841"/>
            <a:ext cx="364202" cy="461665"/>
          </a:xfrm>
          <a:prstGeom prst="rect">
            <a:avLst/>
          </a:prstGeom>
          <a:noFill/>
        </p:spPr>
        <p:txBody>
          <a:bodyPr wrap="none" rtlCol="0">
            <a:spAutoFit/>
          </a:bodyPr>
          <a:lstStyle/>
          <a:p>
            <a:r>
              <a:rPr lang="en-US" sz="2400" dirty="0">
                <a:latin typeface="Helvetica" pitchFamily="2" charset="0"/>
              </a:rPr>
              <a:t>+</a:t>
            </a:r>
          </a:p>
        </p:txBody>
      </p:sp>
      <p:sp>
        <p:nvSpPr>
          <p:cNvPr id="13" name="TextBox 12">
            <a:extLst>
              <a:ext uri="{FF2B5EF4-FFF2-40B4-BE49-F238E27FC236}">
                <a16:creationId xmlns:a16="http://schemas.microsoft.com/office/drawing/2014/main" id="{FDACE2DF-E814-9E4D-AABD-13B0BEEF76FE}"/>
              </a:ext>
            </a:extLst>
          </p:cNvPr>
          <p:cNvSpPr txBox="1"/>
          <p:nvPr/>
        </p:nvSpPr>
        <p:spPr>
          <a:xfrm>
            <a:off x="4274060" y="4856612"/>
            <a:ext cx="364202" cy="461665"/>
          </a:xfrm>
          <a:prstGeom prst="rect">
            <a:avLst/>
          </a:prstGeom>
          <a:noFill/>
        </p:spPr>
        <p:txBody>
          <a:bodyPr wrap="none" rtlCol="0">
            <a:spAutoFit/>
          </a:bodyPr>
          <a:lstStyle/>
          <a:p>
            <a:r>
              <a:rPr lang="en-US" sz="2400" dirty="0">
                <a:latin typeface="Helvetica" pitchFamily="2" charset="0"/>
              </a:rPr>
              <a:t>+</a:t>
            </a:r>
          </a:p>
        </p:txBody>
      </p:sp>
      <p:sp>
        <p:nvSpPr>
          <p:cNvPr id="3" name="TextBox 2">
            <a:extLst>
              <a:ext uri="{FF2B5EF4-FFF2-40B4-BE49-F238E27FC236}">
                <a16:creationId xmlns:a16="http://schemas.microsoft.com/office/drawing/2014/main" id="{8DAF70F7-D77C-057A-9EDC-7B27C4B1A08A}"/>
              </a:ext>
            </a:extLst>
          </p:cNvPr>
          <p:cNvSpPr txBox="1"/>
          <p:nvPr/>
        </p:nvSpPr>
        <p:spPr>
          <a:xfrm>
            <a:off x="2601720" y="2104937"/>
            <a:ext cx="3525324" cy="538609"/>
          </a:xfrm>
          <a:prstGeom prst="rect">
            <a:avLst/>
          </a:prstGeom>
          <a:noFill/>
        </p:spPr>
        <p:txBody>
          <a:bodyPr wrap="none" rtlCol="0">
            <a:spAutoFit/>
          </a:bodyPr>
          <a:lstStyle/>
          <a:p>
            <a:r>
              <a:rPr lang="en-US" dirty="0"/>
              <a:t>= Pattern</a:t>
            </a:r>
          </a:p>
          <a:p>
            <a:r>
              <a:rPr lang="en-US" sz="1100" dirty="0">
                <a:solidFill>
                  <a:schemeClr val="bg1">
                    <a:lumMod val="50000"/>
                  </a:schemeClr>
                </a:solidFill>
              </a:rPr>
              <a:t>a focused Claude API call with a system prompt and a task </a:t>
            </a:r>
          </a:p>
        </p:txBody>
      </p:sp>
      <p:sp>
        <p:nvSpPr>
          <p:cNvPr id="4" name="TextBox 3">
            <a:extLst>
              <a:ext uri="{FF2B5EF4-FFF2-40B4-BE49-F238E27FC236}">
                <a16:creationId xmlns:a16="http://schemas.microsoft.com/office/drawing/2014/main" id="{9A1FFCEA-2E3B-9230-FDDA-CCA7EC613FA5}"/>
              </a:ext>
            </a:extLst>
          </p:cNvPr>
          <p:cNvSpPr txBox="1"/>
          <p:nvPr/>
        </p:nvSpPr>
        <p:spPr>
          <a:xfrm>
            <a:off x="4552156" y="3472841"/>
            <a:ext cx="3269275" cy="707886"/>
          </a:xfrm>
          <a:prstGeom prst="rect">
            <a:avLst/>
          </a:prstGeom>
          <a:noFill/>
        </p:spPr>
        <p:txBody>
          <a:bodyPr wrap="square" rtlCol="0">
            <a:spAutoFit/>
          </a:bodyPr>
          <a:lstStyle/>
          <a:p>
            <a:r>
              <a:rPr lang="en-US" dirty="0"/>
              <a:t>= Domain expert</a:t>
            </a:r>
          </a:p>
          <a:p>
            <a:r>
              <a:rPr lang="en-US" sz="1100" dirty="0">
                <a:solidFill>
                  <a:schemeClr val="bg1">
                    <a:lumMod val="50000"/>
                  </a:schemeClr>
                </a:solidFill>
              </a:rPr>
              <a:t>it encodes all the knowledge that's too detailed and too specific to write into a system prompt every time</a:t>
            </a:r>
          </a:p>
        </p:txBody>
      </p:sp>
      <p:sp>
        <p:nvSpPr>
          <p:cNvPr id="5" name="Rectangle 4">
            <a:extLst>
              <a:ext uri="{FF2B5EF4-FFF2-40B4-BE49-F238E27FC236}">
                <a16:creationId xmlns:a16="http://schemas.microsoft.com/office/drawing/2014/main" id="{41D31341-2A27-350D-FEB4-BFFD0C4F1372}"/>
              </a:ext>
            </a:extLst>
          </p:cNvPr>
          <p:cNvSpPr/>
          <p:nvPr/>
        </p:nvSpPr>
        <p:spPr>
          <a:xfrm>
            <a:off x="1014608" y="3118302"/>
            <a:ext cx="1371600" cy="1227876"/>
          </a:xfrm>
          <a:prstGeom prst="rect">
            <a:avLst/>
          </a:prstGeom>
          <a:solidFill>
            <a:srgbClr val="DE7356">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AI Agents</a:t>
            </a:r>
          </a:p>
        </p:txBody>
      </p:sp>
      <p:sp>
        <p:nvSpPr>
          <p:cNvPr id="6" name="Rectangle 5">
            <a:extLst>
              <a:ext uri="{FF2B5EF4-FFF2-40B4-BE49-F238E27FC236}">
                <a16:creationId xmlns:a16="http://schemas.microsoft.com/office/drawing/2014/main" id="{96D3D2BB-EB18-D273-F6CB-7F9F36285010}"/>
              </a:ext>
            </a:extLst>
          </p:cNvPr>
          <p:cNvSpPr/>
          <p:nvPr/>
        </p:nvSpPr>
        <p:spPr>
          <a:xfrm>
            <a:off x="2851777" y="4502075"/>
            <a:ext cx="1371600" cy="1227876"/>
          </a:xfrm>
          <a:prstGeom prst="rect">
            <a:avLst/>
          </a:prstGeom>
          <a:solidFill>
            <a:srgbClr val="DE73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Skills</a:t>
            </a:r>
          </a:p>
        </p:txBody>
      </p:sp>
      <p:sp>
        <p:nvSpPr>
          <p:cNvPr id="7" name="TextBox 6">
            <a:extLst>
              <a:ext uri="{FF2B5EF4-FFF2-40B4-BE49-F238E27FC236}">
                <a16:creationId xmlns:a16="http://schemas.microsoft.com/office/drawing/2014/main" id="{5B7E65AF-F6A0-6621-44C6-D55384C34B76}"/>
              </a:ext>
            </a:extLst>
          </p:cNvPr>
          <p:cNvSpPr txBox="1"/>
          <p:nvPr/>
        </p:nvSpPr>
        <p:spPr>
          <a:xfrm>
            <a:off x="2419619" y="4856613"/>
            <a:ext cx="364202" cy="461665"/>
          </a:xfrm>
          <a:prstGeom prst="rect">
            <a:avLst/>
          </a:prstGeom>
          <a:noFill/>
        </p:spPr>
        <p:txBody>
          <a:bodyPr wrap="none" rtlCol="0">
            <a:spAutoFit/>
          </a:bodyPr>
          <a:lstStyle/>
          <a:p>
            <a:r>
              <a:rPr lang="en-US" sz="2400" dirty="0">
                <a:latin typeface="Helvetica" pitchFamily="2" charset="0"/>
              </a:rPr>
              <a:t>+</a:t>
            </a:r>
          </a:p>
        </p:txBody>
      </p:sp>
      <p:sp>
        <p:nvSpPr>
          <p:cNvPr id="8" name="Rectangle 7">
            <a:extLst>
              <a:ext uri="{FF2B5EF4-FFF2-40B4-BE49-F238E27FC236}">
                <a16:creationId xmlns:a16="http://schemas.microsoft.com/office/drawing/2014/main" id="{CE9AABAA-A4BF-6515-1C2F-738341ACC2BC}"/>
              </a:ext>
            </a:extLst>
          </p:cNvPr>
          <p:cNvSpPr/>
          <p:nvPr/>
        </p:nvSpPr>
        <p:spPr>
          <a:xfrm>
            <a:off x="1014608" y="4502074"/>
            <a:ext cx="1371600" cy="1227876"/>
          </a:xfrm>
          <a:prstGeom prst="rect">
            <a:avLst/>
          </a:prstGeom>
          <a:solidFill>
            <a:srgbClr val="DE7356">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AI Agents</a:t>
            </a:r>
          </a:p>
        </p:txBody>
      </p:sp>
      <p:sp>
        <p:nvSpPr>
          <p:cNvPr id="14" name="TextBox 13">
            <a:extLst>
              <a:ext uri="{FF2B5EF4-FFF2-40B4-BE49-F238E27FC236}">
                <a16:creationId xmlns:a16="http://schemas.microsoft.com/office/drawing/2014/main" id="{2F07ECC2-DCDA-C9E1-5479-0BCB4FFC01B7}"/>
              </a:ext>
            </a:extLst>
          </p:cNvPr>
          <p:cNvSpPr txBox="1"/>
          <p:nvPr/>
        </p:nvSpPr>
        <p:spPr>
          <a:xfrm>
            <a:off x="6383044" y="4808950"/>
            <a:ext cx="3269275" cy="707886"/>
          </a:xfrm>
          <a:prstGeom prst="rect">
            <a:avLst/>
          </a:prstGeom>
          <a:noFill/>
        </p:spPr>
        <p:txBody>
          <a:bodyPr wrap="square" rtlCol="0">
            <a:spAutoFit/>
          </a:bodyPr>
          <a:lstStyle/>
          <a:p>
            <a:r>
              <a:rPr lang="en-US" dirty="0"/>
              <a:t>= </a:t>
            </a:r>
            <a:r>
              <a:rPr lang="en-US" dirty="0">
                <a:solidFill>
                  <a:srgbClr val="4183C4"/>
                </a:solidFill>
              </a:rPr>
              <a:t>Autonomous</a:t>
            </a:r>
            <a:r>
              <a:rPr lang="en-US" dirty="0"/>
              <a:t> domain expert</a:t>
            </a:r>
          </a:p>
          <a:p>
            <a:r>
              <a:rPr lang="en-US" sz="1100" dirty="0">
                <a:solidFill>
                  <a:schemeClr val="bg1">
                    <a:lumMod val="50000"/>
                  </a:schemeClr>
                </a:solidFill>
              </a:rPr>
              <a:t>fires on every event, injects its own context, routes its own output — no human in the loop</a:t>
            </a:r>
          </a:p>
        </p:txBody>
      </p:sp>
    </p:spTree>
    <p:extLst>
      <p:ext uri="{BB962C8B-B14F-4D97-AF65-F5344CB8AC3E}">
        <p14:creationId xmlns:p14="http://schemas.microsoft.com/office/powerpoint/2010/main" val="7781576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DD004-8EA1-F35F-B086-3D86754D4B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7B048F-C223-CA77-2F78-1FE2D22508E3}"/>
              </a:ext>
            </a:extLst>
          </p:cNvPr>
          <p:cNvSpPr>
            <a:spLocks noGrp="1"/>
          </p:cNvSpPr>
          <p:nvPr>
            <p:ph type="title"/>
          </p:nvPr>
        </p:nvSpPr>
        <p:spPr/>
        <p:txBody>
          <a:bodyPr/>
          <a:lstStyle/>
          <a:p>
            <a:r>
              <a:rPr lang="en-US" dirty="0"/>
              <a:t>Resources</a:t>
            </a:r>
          </a:p>
        </p:txBody>
      </p:sp>
      <p:sp>
        <p:nvSpPr>
          <p:cNvPr id="15" name="TextBox 14">
            <a:extLst>
              <a:ext uri="{FF2B5EF4-FFF2-40B4-BE49-F238E27FC236}">
                <a16:creationId xmlns:a16="http://schemas.microsoft.com/office/drawing/2014/main" id="{154C8325-9031-B3A7-9BB4-85EC4D480ABB}"/>
              </a:ext>
            </a:extLst>
          </p:cNvPr>
          <p:cNvSpPr txBox="1"/>
          <p:nvPr/>
        </p:nvSpPr>
        <p:spPr>
          <a:xfrm>
            <a:off x="838200" y="1379577"/>
            <a:ext cx="11041292" cy="5478423"/>
          </a:xfrm>
          <a:prstGeom prst="rect">
            <a:avLst/>
          </a:prstGeom>
          <a:noFill/>
        </p:spPr>
        <p:txBody>
          <a:bodyPr wrap="none" rtlCol="0">
            <a:spAutoFit/>
          </a:bodyPr>
          <a:lstStyle/>
          <a:p>
            <a:r>
              <a:rPr lang="en-US" sz="1400" b="1" dirty="0"/>
              <a:t>Long reads: </a:t>
            </a:r>
          </a:p>
          <a:p>
            <a:r>
              <a:rPr lang="en-US" sz="1400" dirty="0"/>
              <a:t>- PacBio intro:  </a:t>
            </a:r>
            <a:r>
              <a:rPr lang="en-US" sz="1400" dirty="0">
                <a:hlinkClick r:id="rId2"/>
              </a:rPr>
              <a:t>https://www.pacb.com/blog/long-read-sequencing/</a:t>
            </a:r>
            <a:r>
              <a:rPr lang="en-US" sz="1400" dirty="0"/>
              <a:t> </a:t>
            </a:r>
          </a:p>
          <a:p>
            <a:r>
              <a:rPr lang="en-US" sz="1400" b="1" dirty="0" err="1"/>
              <a:t>Nextflow</a:t>
            </a:r>
            <a:r>
              <a:rPr lang="en-US" sz="1400" b="1" dirty="0"/>
              <a:t>:</a:t>
            </a:r>
          </a:p>
          <a:p>
            <a:pPr marL="285750" indent="-285750">
              <a:buFontTx/>
              <a:buChar char="-"/>
            </a:pPr>
            <a:r>
              <a:rPr lang="en-US" sz="1400" dirty="0"/>
              <a:t>Trainings: </a:t>
            </a:r>
            <a:r>
              <a:rPr lang="en-US" sz="1400" dirty="0">
                <a:hlinkClick r:id="rId3"/>
              </a:rPr>
              <a:t>https://training.nextflow.io/latest/</a:t>
            </a:r>
            <a:r>
              <a:rPr lang="en-US" sz="1400" dirty="0"/>
              <a:t> </a:t>
            </a:r>
          </a:p>
          <a:p>
            <a:r>
              <a:rPr lang="en-US" sz="1400" b="1" dirty="0"/>
              <a:t>Containers: </a:t>
            </a:r>
          </a:p>
          <a:p>
            <a:pPr marL="285750" indent="-285750">
              <a:buFontTx/>
              <a:buChar char="-"/>
            </a:pPr>
            <a:r>
              <a:rPr lang="en-US" sz="1400" dirty="0"/>
              <a:t>Docker basics: </a:t>
            </a:r>
            <a:r>
              <a:rPr lang="en-US" sz="1400" dirty="0">
                <a:hlinkClick r:id="rId4"/>
              </a:rPr>
              <a:t>https://www.docker.com/resources/what-container/</a:t>
            </a:r>
            <a:r>
              <a:rPr lang="en-US" sz="1400" dirty="0"/>
              <a:t> </a:t>
            </a:r>
          </a:p>
          <a:p>
            <a:pPr marL="285750" indent="-285750">
              <a:buFontTx/>
              <a:buChar char="-"/>
            </a:pPr>
            <a:r>
              <a:rPr lang="en-US" sz="1400" dirty="0"/>
              <a:t>Singularity/</a:t>
            </a:r>
            <a:r>
              <a:rPr lang="en-US" sz="1400" dirty="0" err="1"/>
              <a:t>Apptainer</a:t>
            </a:r>
            <a:r>
              <a:rPr lang="en-US" sz="1400" dirty="0"/>
              <a:t> basics: </a:t>
            </a:r>
            <a:r>
              <a:rPr lang="en-US" sz="1400" dirty="0">
                <a:hlinkClick r:id="rId5"/>
              </a:rPr>
              <a:t>https://docs.sylabs.io/guides/3.5/user-guide/introduction.html</a:t>
            </a:r>
            <a:r>
              <a:rPr lang="en-US" sz="1400" dirty="0"/>
              <a:t> </a:t>
            </a:r>
          </a:p>
          <a:p>
            <a:r>
              <a:rPr lang="en-US" sz="1400" b="1" dirty="0"/>
              <a:t>Reproducibility and FAIR</a:t>
            </a:r>
          </a:p>
          <a:p>
            <a:r>
              <a:rPr lang="en-US" sz="1400" dirty="0"/>
              <a:t>The reproducibility crisis: </a:t>
            </a:r>
            <a:r>
              <a:rPr lang="en-US" sz="1400" dirty="0">
                <a:hlinkClick r:id="rId6"/>
              </a:rPr>
              <a:t>https://www.nature.com/articles/533452a</a:t>
            </a:r>
            <a:endParaRPr lang="en-US" sz="1400" dirty="0"/>
          </a:p>
          <a:p>
            <a:r>
              <a:rPr lang="en-US" sz="1400" dirty="0" err="1"/>
              <a:t>Github</a:t>
            </a:r>
            <a:r>
              <a:rPr lang="en-US" sz="1400" dirty="0"/>
              <a:t>: </a:t>
            </a:r>
          </a:p>
          <a:p>
            <a:pPr marL="285750" indent="-285750">
              <a:buFontTx/>
              <a:buChar char="-"/>
            </a:pPr>
            <a:r>
              <a:rPr lang="en-US" sz="1400" dirty="0"/>
              <a:t>Git Guides: </a:t>
            </a:r>
            <a:r>
              <a:rPr lang="en-US" sz="1400" dirty="0">
                <a:hlinkClick r:id="rId7"/>
              </a:rPr>
              <a:t>https://github.com/git-guides</a:t>
            </a:r>
            <a:r>
              <a:rPr lang="en-US" sz="1400" dirty="0"/>
              <a:t> </a:t>
            </a:r>
          </a:p>
          <a:p>
            <a:pPr marL="285750" indent="-285750">
              <a:buFontTx/>
              <a:buChar char="-"/>
            </a:pPr>
            <a:r>
              <a:rPr lang="en-US" sz="1400" dirty="0"/>
              <a:t>Desktop: </a:t>
            </a:r>
            <a:r>
              <a:rPr lang="en-US" sz="1400" dirty="0">
                <a:hlinkClick r:id="rId8"/>
              </a:rPr>
              <a:t>https://docs.github.com/en/desktop</a:t>
            </a:r>
            <a:r>
              <a:rPr lang="en-US" sz="1400" dirty="0"/>
              <a:t> </a:t>
            </a:r>
          </a:p>
          <a:p>
            <a:pPr marL="285750" indent="-285750">
              <a:buFontTx/>
              <a:buChar char="-"/>
            </a:pPr>
            <a:r>
              <a:rPr lang="en-US" sz="1400" dirty="0" err="1"/>
              <a:t>Codespaces</a:t>
            </a:r>
            <a:r>
              <a:rPr lang="en-US" sz="1400" dirty="0"/>
              <a:t>: </a:t>
            </a:r>
            <a:r>
              <a:rPr lang="en-US" sz="1400" dirty="0">
                <a:hlinkClick r:id="rId9"/>
              </a:rPr>
              <a:t>https://docs.github.com/en/codespaces/about-codespaces/what-are-codespaces</a:t>
            </a:r>
            <a:endParaRPr lang="en-US" sz="1400" dirty="0"/>
          </a:p>
          <a:p>
            <a:pPr marL="285750" indent="-285750">
              <a:buFontTx/>
              <a:buChar char="-"/>
            </a:pPr>
            <a:r>
              <a:rPr lang="en-US" sz="1400" dirty="0"/>
              <a:t>Copilot: </a:t>
            </a:r>
            <a:r>
              <a:rPr lang="en-US" sz="1400" dirty="0">
                <a:hlinkClick r:id="rId10"/>
              </a:rPr>
              <a:t>https://github.com/features/copilot</a:t>
            </a:r>
            <a:r>
              <a:rPr lang="en-US" sz="1400" dirty="0"/>
              <a:t> </a:t>
            </a:r>
          </a:p>
          <a:p>
            <a:r>
              <a:rPr lang="en-US" sz="1400" b="1" dirty="0"/>
              <a:t>AI in biology: </a:t>
            </a:r>
          </a:p>
          <a:p>
            <a:pPr marL="285750" indent="-285750">
              <a:buFontTx/>
              <a:buChar char="-"/>
            </a:pPr>
            <a:r>
              <a:rPr lang="en-US" sz="1400" dirty="0" err="1"/>
              <a:t>Alphafold</a:t>
            </a:r>
            <a:r>
              <a:rPr lang="en-US" sz="1400" dirty="0"/>
              <a:t> paper: </a:t>
            </a:r>
            <a:r>
              <a:rPr lang="en-US" sz="1400" dirty="0">
                <a:hlinkClick r:id="rId11"/>
              </a:rPr>
              <a:t>https://www.nature.com/articles/s41592-021-01362-6</a:t>
            </a:r>
            <a:endParaRPr lang="en-US" sz="1400" dirty="0"/>
          </a:p>
          <a:p>
            <a:pPr marL="285750" indent="-285750">
              <a:buFontTx/>
              <a:buChar char="-"/>
            </a:pPr>
            <a:r>
              <a:rPr lang="en-US" sz="1400" dirty="0"/>
              <a:t>Transformers: </a:t>
            </a:r>
            <a:r>
              <a:rPr lang="en-US" sz="1400" dirty="0">
                <a:hlinkClick r:id="rId12"/>
              </a:rPr>
              <a:t>https://proceedings.neurips.cc/paper_files/paper/2017/file/3f5ee243547dee91fbd053c1c4a845aa-Paper.pdf</a:t>
            </a:r>
            <a:endParaRPr lang="en-US" sz="1400" dirty="0"/>
          </a:p>
          <a:p>
            <a:pPr marL="742950" lvl="1" indent="-285750">
              <a:buFontTx/>
              <a:buChar char="-"/>
            </a:pPr>
            <a:r>
              <a:rPr lang="en-US" sz="1400" dirty="0">
                <a:hlinkClick r:id="rId13"/>
              </a:rPr>
              <a:t>https://medium.com/@mayurchaudhari1675/transformers-in-ai-the-game-changer-powering-modern-artificial-intelligence-f85c93dd74e3</a:t>
            </a:r>
            <a:endParaRPr lang="en-US" sz="1400" dirty="0"/>
          </a:p>
          <a:p>
            <a:pPr marL="742950" lvl="1" indent="-285750">
              <a:buFontTx/>
              <a:buChar char="-"/>
            </a:pPr>
            <a:r>
              <a:rPr lang="en-US" sz="1400" dirty="0">
                <a:hlinkClick r:id="rId14"/>
              </a:rPr>
              <a:t>https://www.mygreatlearning.com/blog/understanding-transformer-architecture/</a:t>
            </a:r>
            <a:endParaRPr lang="en-US" sz="1400" dirty="0"/>
          </a:p>
          <a:p>
            <a:pPr marL="285750" indent="-285750">
              <a:buFontTx/>
              <a:buChar char="-"/>
            </a:pPr>
            <a:r>
              <a:rPr lang="en-US" sz="1400" dirty="0"/>
              <a:t>Rewrites manifest: </a:t>
            </a:r>
            <a:r>
              <a:rPr lang="en-US" sz="1400" dirty="0">
                <a:hlinkClick r:id="rId15"/>
              </a:rPr>
              <a:t>https://rewrites.bio/</a:t>
            </a:r>
            <a:endParaRPr lang="en-US" sz="1400" dirty="0"/>
          </a:p>
          <a:p>
            <a:pPr marL="285750" indent="-285750">
              <a:buFontTx/>
              <a:buChar char="-"/>
            </a:pPr>
            <a:r>
              <a:rPr lang="en-US" sz="1400" dirty="0"/>
              <a:t>Claude code: </a:t>
            </a:r>
            <a:r>
              <a:rPr lang="en-US" sz="1400" dirty="0">
                <a:hlinkClick r:id="rId16"/>
              </a:rPr>
              <a:t>https://code.claude.com/docs/en/overview</a:t>
            </a:r>
            <a:endParaRPr lang="en-US" sz="1400" dirty="0"/>
          </a:p>
          <a:p>
            <a:pPr marL="285750" indent="-285750">
              <a:buFontTx/>
              <a:buChar char="-"/>
            </a:pPr>
            <a:endParaRPr lang="en-US" sz="1400" dirty="0"/>
          </a:p>
          <a:p>
            <a:pPr marL="285750" indent="-285750">
              <a:buFontTx/>
              <a:buChar char="-"/>
            </a:pPr>
            <a:endParaRPr lang="en-US" sz="1400" dirty="0"/>
          </a:p>
          <a:p>
            <a:pPr marL="285750" indent="-285750">
              <a:buFontTx/>
              <a:buChar char="-"/>
            </a:pPr>
            <a:endParaRPr lang="en-US" sz="1400" dirty="0"/>
          </a:p>
          <a:p>
            <a:pPr marL="285750" indent="-285750">
              <a:buFontTx/>
              <a:buChar char="-"/>
            </a:pPr>
            <a:endParaRPr lang="en-US" sz="1400" dirty="0"/>
          </a:p>
        </p:txBody>
      </p:sp>
    </p:spTree>
    <p:extLst>
      <p:ext uri="{BB962C8B-B14F-4D97-AF65-F5344CB8AC3E}">
        <p14:creationId xmlns:p14="http://schemas.microsoft.com/office/powerpoint/2010/main" val="8647057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3383</TotalTime>
  <Words>2699</Words>
  <Application>Microsoft Macintosh PowerPoint</Application>
  <PresentationFormat>Widescreen</PresentationFormat>
  <Paragraphs>256</Paragraphs>
  <Slides>31</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Anthropic Sans</vt:lpstr>
      <vt:lpstr>Arial</vt:lpstr>
      <vt:lpstr>Calibri</vt:lpstr>
      <vt:lpstr>Calibri Light</vt:lpstr>
      <vt:lpstr>Helvetica</vt:lpstr>
      <vt:lpstr>Menlo</vt:lpstr>
      <vt:lpstr>Office Theme</vt:lpstr>
      <vt:lpstr>Bonus:  in bioinformatics</vt:lpstr>
      <vt:lpstr>Today</vt:lpstr>
      <vt:lpstr>PowerPoint Presentation</vt:lpstr>
      <vt:lpstr>Long-Read Sequencing and Its Impact on Microbial Genomics</vt:lpstr>
      <vt:lpstr>PowerPoint Presentation</vt:lpstr>
      <vt:lpstr>Nextflow</vt:lpstr>
      <vt:lpstr>PowerPoint Presentation</vt:lpstr>
      <vt:lpstr>Nextflow components: config files</vt:lpstr>
      <vt:lpstr>Nf-core</vt:lpstr>
      <vt:lpstr>When use nextflow</vt:lpstr>
      <vt:lpstr>PowerPoint Presentation</vt:lpstr>
      <vt:lpstr>The dependency problem</vt:lpstr>
      <vt:lpstr>Introduction to containers</vt:lpstr>
      <vt:lpstr>Singularity vs. docker</vt:lpstr>
      <vt:lpstr>PowerPoint Presentation</vt:lpstr>
      <vt:lpstr>Reproducibility, Open Science, and FAIR Data</vt:lpstr>
      <vt:lpstr>GitHub</vt:lpstr>
      <vt:lpstr>How we use GitHub</vt:lpstr>
      <vt:lpstr>How we use GitHub</vt:lpstr>
      <vt:lpstr>PowerPoint Presentation</vt:lpstr>
      <vt:lpstr>AI vs. ML</vt:lpstr>
      <vt:lpstr>AlphaFold</vt:lpstr>
      <vt:lpstr>AlphaFold</vt:lpstr>
      <vt:lpstr>Large Language Models for Biology</vt:lpstr>
      <vt:lpstr>AI-Assisted Coding and Analysis </vt:lpstr>
      <vt:lpstr>The power combo:</vt:lpstr>
      <vt:lpstr>AI (claude) agents:</vt:lpstr>
      <vt:lpstr>Claude skills</vt:lpstr>
      <vt:lpstr>GitHub Actions</vt:lpstr>
      <vt:lpstr>The power combo:</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Touceda Suarez</dc:creator>
  <cp:lastModifiedBy>Maria Touceda Suarez</cp:lastModifiedBy>
  <cp:revision>13</cp:revision>
  <dcterms:created xsi:type="dcterms:W3CDTF">2026-04-30T21:19:04Z</dcterms:created>
  <dcterms:modified xsi:type="dcterms:W3CDTF">2026-05-18T16:25:12Z</dcterms:modified>
</cp:coreProperties>
</file>