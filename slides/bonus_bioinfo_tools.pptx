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8" r:id="rId3"/>
    <p:sldId id="257" r:id="rId4"/>
    <p:sldId id="259" r:id="rId5"/>
    <p:sldId id="261" r:id="rId6"/>
    <p:sldId id="260" r:id="rId7"/>
    <p:sldId id="262" r:id="rId8"/>
    <p:sldId id="335" r:id="rId9"/>
    <p:sldId id="263" r:id="rId10"/>
    <p:sldId id="264" r:id="rId11"/>
    <p:sldId id="330" r:id="rId12"/>
    <p:sldId id="331" r:id="rId13"/>
    <p:sldId id="332" r:id="rId14"/>
    <p:sldId id="333" r:id="rId15"/>
    <p:sldId id="334" r:id="rId16"/>
    <p:sldId id="272" r:id="rId17"/>
    <p:sldId id="274" r:id="rId18"/>
    <p:sldId id="265" r:id="rId19"/>
    <p:sldId id="273" r:id="rId20"/>
    <p:sldId id="266" r:id="rId21"/>
    <p:sldId id="298" r:id="rId22"/>
    <p:sldId id="299" r:id="rId23"/>
    <p:sldId id="267" r:id="rId24"/>
    <p:sldId id="275" r:id="rId25"/>
    <p:sldId id="337" r:id="rId26"/>
    <p:sldId id="338" r:id="rId27"/>
    <p:sldId id="339" r:id="rId28"/>
    <p:sldId id="340" r:id="rId29"/>
    <p:sldId id="33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94720"/>
  </p:normalViewPr>
  <p:slideViewPr>
    <p:cSldViewPr snapToGrid="0">
      <p:cViewPr>
        <p:scale>
          <a:sx n="155" d="100"/>
          <a:sy n="155" d="100"/>
        </p:scale>
        <p:origin x="2096" y="1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E2AC60-3FAD-2D45-BFC4-AEC3C557549D}" type="datetimeFigureOut">
              <a:rPr lang="en-US" smtClean="0"/>
              <a:t>6/4/26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479BD-40DE-FA4A-81C8-E9C4446B0B74}" type="slidenum">
              <a:rPr lang="en-US" smtClean="0"/>
              <a:t>‹#›</a:t>
            </a:fld>
            <a:endParaRPr lang="en-US"/>
          </a:p>
        </p:txBody>
      </p:sp>
    </p:spTree>
    <p:extLst>
      <p:ext uri="{BB962C8B-B14F-4D97-AF65-F5344CB8AC3E}">
        <p14:creationId xmlns:p14="http://schemas.microsoft.com/office/powerpoint/2010/main" val="1176486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24</a:t>
            </a:fld>
            <a:endParaRPr lang="en-US"/>
          </a:p>
        </p:txBody>
      </p:sp>
    </p:spTree>
    <p:extLst>
      <p:ext uri="{BB962C8B-B14F-4D97-AF65-F5344CB8AC3E}">
        <p14:creationId xmlns:p14="http://schemas.microsoft.com/office/powerpoint/2010/main" val="378576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099F-8853-A45B-09AF-33E4301DF6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AE1313-2C94-F6B9-2B2A-C09BAFA530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C87D53-28A5-E505-8F30-235DF529F6CF}"/>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5" name="Footer Placeholder 4">
            <a:extLst>
              <a:ext uri="{FF2B5EF4-FFF2-40B4-BE49-F238E27FC236}">
                <a16:creationId xmlns:a16="http://schemas.microsoft.com/office/drawing/2014/main" id="{31433353-BB55-3D17-7D32-97F07EFCA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5E7E0-D825-29E5-8D08-6B519FC3290D}"/>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2230481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04A4-1CF5-D921-87A9-4C648BE35C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1BD3F4-DE03-A37D-306E-EDFFF4C0E4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35ECF3-4B19-CA62-B5EE-34B885E93953}"/>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5" name="Footer Placeholder 4">
            <a:extLst>
              <a:ext uri="{FF2B5EF4-FFF2-40B4-BE49-F238E27FC236}">
                <a16:creationId xmlns:a16="http://schemas.microsoft.com/office/drawing/2014/main" id="{D13F640B-8C2E-22D6-432F-4C335A259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0BEE2-4BBF-0302-162A-D5EACDD1C9F4}"/>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2860357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203FF-557B-2473-40C6-A627852C00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C4D61A-BEB2-AC93-8D64-9BD3DE3B08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82E9DE-E899-E8E3-4922-6BE707B64A12}"/>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5" name="Footer Placeholder 4">
            <a:extLst>
              <a:ext uri="{FF2B5EF4-FFF2-40B4-BE49-F238E27FC236}">
                <a16:creationId xmlns:a16="http://schemas.microsoft.com/office/drawing/2014/main" id="{7BEA5C1C-1F9A-EAA1-9FB2-4069C35157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EF0F6-2E94-3253-2547-3AF6D7949CD1}"/>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3676362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9BEE-E0E1-0DAB-AF4E-47D61C805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2E517B-8EFD-F51A-2A38-7A67D01E81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9ADA6B-199A-2D64-F073-A984D925FF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684828-88CF-36C4-8A7F-BA3CAC28D2B1}"/>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6" name="Footer Placeholder 5">
            <a:extLst>
              <a:ext uri="{FF2B5EF4-FFF2-40B4-BE49-F238E27FC236}">
                <a16:creationId xmlns:a16="http://schemas.microsoft.com/office/drawing/2014/main" id="{F3533F8E-DF8F-857C-F1D6-FF8F2892B7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0F4013-7301-4F14-0CDE-6819A5AA9CFA}"/>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4125880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F33A8-DFCD-8AD5-A456-CC421F3D4F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65A402-00A5-E085-4CCE-014F3434CA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B47390-221E-0886-CDE9-7BAC33CB84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8774EB-5F93-D7A8-706A-C9673DA373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4B4C72-7054-A7B6-DB23-6A768D1C7E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974690-8AFB-B639-CE20-21B23831B78D}"/>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8" name="Footer Placeholder 7">
            <a:extLst>
              <a:ext uri="{FF2B5EF4-FFF2-40B4-BE49-F238E27FC236}">
                <a16:creationId xmlns:a16="http://schemas.microsoft.com/office/drawing/2014/main" id="{8636F7D6-BDF6-DE89-392C-CF8ED1E545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DA05B2-D92F-00DD-9052-CE2CF3711902}"/>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3039311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A582-671A-B75F-F3A4-8895A65733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69660D-FD3F-6826-9C52-55BE8D41FFF0}"/>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4" name="Footer Placeholder 3">
            <a:extLst>
              <a:ext uri="{FF2B5EF4-FFF2-40B4-BE49-F238E27FC236}">
                <a16:creationId xmlns:a16="http://schemas.microsoft.com/office/drawing/2014/main" id="{ED379929-279D-DFC6-B2C0-0F5FE320DE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85AC77-C9E7-88E5-E65E-E608AE942775}"/>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3856645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D06CC3-7891-E8CF-C8B1-1342FC9C57B6}"/>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3" name="Footer Placeholder 2">
            <a:extLst>
              <a:ext uri="{FF2B5EF4-FFF2-40B4-BE49-F238E27FC236}">
                <a16:creationId xmlns:a16="http://schemas.microsoft.com/office/drawing/2014/main" id="{2313DBB9-1E71-F0D5-CBDA-A48C12B45F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884C2E-36D2-3B05-C93E-7FD247AF8A27}"/>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2983914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7F42-25D5-0F5C-8D50-04FBA69619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103F68-E103-4602-F6B1-02313E5DC9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4BC63-CC9C-8499-3AAF-5A15D59E7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2F1E81-D71D-E323-26CA-EE5DF5D5409F}"/>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6" name="Footer Placeholder 5">
            <a:extLst>
              <a:ext uri="{FF2B5EF4-FFF2-40B4-BE49-F238E27FC236}">
                <a16:creationId xmlns:a16="http://schemas.microsoft.com/office/drawing/2014/main" id="{D4F798F6-CCCC-6CE4-915F-C5746571C8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508C28-CF9D-9482-E68A-C9200BDA1E7E}"/>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3969599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B9312-D4E2-89C4-3E83-FE70AE67CB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65B8B1-38E4-486C-E589-7754FAACF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94361-F406-ED06-58A4-FAD35CAE0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364F2-2876-CB14-4F78-23AD0794F457}"/>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6" name="Footer Placeholder 5">
            <a:extLst>
              <a:ext uri="{FF2B5EF4-FFF2-40B4-BE49-F238E27FC236}">
                <a16:creationId xmlns:a16="http://schemas.microsoft.com/office/drawing/2014/main" id="{771438A6-BEFA-A71E-A88F-3AEAF307F7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3A62D5-32B9-823B-5038-2FF095E01845}"/>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3613180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F2D3-CF34-7DF5-8B00-1AE8B8908A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863563-59C6-0AAB-DBCB-BEBB717A50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1F103-B771-301D-6D86-66FA2F7C9737}"/>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5" name="Footer Placeholder 4">
            <a:extLst>
              <a:ext uri="{FF2B5EF4-FFF2-40B4-BE49-F238E27FC236}">
                <a16:creationId xmlns:a16="http://schemas.microsoft.com/office/drawing/2014/main" id="{117D13A9-CFAE-4832-9906-2C5408EB2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E1C980-EB15-9583-2BC8-BF315C05EAAA}"/>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1295812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E42DA0-3D4C-4716-BD97-7DFBACE80F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76C2E4-DA1C-A0F2-BD20-9BD68ABB13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76860-F911-E5FE-8247-C4C6E30391F7}"/>
              </a:ext>
            </a:extLst>
          </p:cNvPr>
          <p:cNvSpPr>
            <a:spLocks noGrp="1"/>
          </p:cNvSpPr>
          <p:nvPr>
            <p:ph type="dt" sz="half" idx="10"/>
          </p:nvPr>
        </p:nvSpPr>
        <p:spPr/>
        <p:txBody>
          <a:bodyPr/>
          <a:lstStyle/>
          <a:p>
            <a:fld id="{CA229DDB-1EF9-794F-B363-6D32AD0C04B8}" type="datetimeFigureOut">
              <a:rPr lang="en-US" smtClean="0"/>
              <a:t>6/4/26</a:t>
            </a:fld>
            <a:endParaRPr lang="en-US"/>
          </a:p>
        </p:txBody>
      </p:sp>
      <p:sp>
        <p:nvSpPr>
          <p:cNvPr id="5" name="Footer Placeholder 4">
            <a:extLst>
              <a:ext uri="{FF2B5EF4-FFF2-40B4-BE49-F238E27FC236}">
                <a16:creationId xmlns:a16="http://schemas.microsoft.com/office/drawing/2014/main" id="{3F79DB5C-83FB-7F68-3289-8092AD2BC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E1EC0-868C-6439-31FB-723BAE203019}"/>
              </a:ext>
            </a:extLst>
          </p:cNvPr>
          <p:cNvSpPr>
            <a:spLocks noGrp="1"/>
          </p:cNvSpPr>
          <p:nvPr>
            <p:ph type="sldNum" sz="quarter" idx="12"/>
          </p:nvPr>
        </p:nvSpPr>
        <p:spPr/>
        <p:txBody>
          <a:bodyPr/>
          <a:lstStyle/>
          <a:p>
            <a:fld id="{1F3FD7E6-45CB-F24C-9274-F8610CF9A37A}" type="slidenum">
              <a:rPr lang="en-US" smtClean="0"/>
              <a:t>‹#›</a:t>
            </a:fld>
            <a:endParaRPr lang="en-US"/>
          </a:p>
        </p:txBody>
      </p:sp>
    </p:spTree>
    <p:extLst>
      <p:ext uri="{BB962C8B-B14F-4D97-AF65-F5344CB8AC3E}">
        <p14:creationId xmlns:p14="http://schemas.microsoft.com/office/powerpoint/2010/main" val="3271727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C6CE9C-B3AF-9904-9488-8B082B2C94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B843C8-8695-20EF-7EE5-D8E98EC644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4DE9E-0D41-8C7D-01E9-6F5DB508E6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229DDB-1EF9-794F-B363-6D32AD0C04B8}" type="datetimeFigureOut">
              <a:rPr lang="en-US" smtClean="0"/>
              <a:t>6/4/26</a:t>
            </a:fld>
            <a:endParaRPr lang="en-US"/>
          </a:p>
        </p:txBody>
      </p:sp>
      <p:sp>
        <p:nvSpPr>
          <p:cNvPr id="5" name="Footer Placeholder 4">
            <a:extLst>
              <a:ext uri="{FF2B5EF4-FFF2-40B4-BE49-F238E27FC236}">
                <a16:creationId xmlns:a16="http://schemas.microsoft.com/office/drawing/2014/main" id="{BFE79BB8-EE4F-E822-3381-64598E1AD5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0F3E73-B831-E444-7DAE-5B1DAAD58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FD7E6-45CB-F24C-9274-F8610CF9A37A}" type="slidenum">
              <a:rPr lang="en-US" smtClean="0"/>
              <a:t>‹#›</a:t>
            </a:fld>
            <a:endParaRPr lang="en-US"/>
          </a:p>
        </p:txBody>
      </p:sp>
    </p:spTree>
    <p:extLst>
      <p:ext uri="{BB962C8B-B14F-4D97-AF65-F5344CB8AC3E}">
        <p14:creationId xmlns:p14="http://schemas.microsoft.com/office/powerpoint/2010/main" val="918827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A325-7DC4-C40A-8230-5FFC57E5BCC5}"/>
              </a:ext>
            </a:extLst>
          </p:cNvPr>
          <p:cNvSpPr>
            <a:spLocks noGrp="1"/>
          </p:cNvSpPr>
          <p:nvPr>
            <p:ph type="ctrTitle"/>
          </p:nvPr>
        </p:nvSpPr>
        <p:spPr/>
        <p:txBody>
          <a:bodyPr>
            <a:normAutofit/>
          </a:bodyPr>
          <a:lstStyle/>
          <a:p>
            <a:r>
              <a:rPr lang="en-US" dirty="0"/>
              <a:t>Bonus: Bioinformatics tools (GitHub, HPC, Cloud)</a:t>
            </a:r>
          </a:p>
        </p:txBody>
      </p:sp>
      <p:sp>
        <p:nvSpPr>
          <p:cNvPr id="3" name="Subtitle 2">
            <a:extLst>
              <a:ext uri="{FF2B5EF4-FFF2-40B4-BE49-F238E27FC236}">
                <a16:creationId xmlns:a16="http://schemas.microsoft.com/office/drawing/2014/main" id="{73276319-46A7-85D8-6FF0-AA9B6FDC37C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20435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it(local repo) and GitHub (remote repo) | The Startup">
            <a:extLst>
              <a:ext uri="{FF2B5EF4-FFF2-40B4-BE49-F238E27FC236}">
                <a16:creationId xmlns:a16="http://schemas.microsoft.com/office/drawing/2014/main" id="{4CF75D4F-3458-C1D0-C7E6-5D8A13DAB0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568" b="21144"/>
          <a:stretch>
            <a:fillRect/>
          </a:stretch>
        </p:blipFill>
        <p:spPr bwMode="auto">
          <a:xfrm>
            <a:off x="2862448" y="1795951"/>
            <a:ext cx="5557299" cy="19774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E055C0F-AA39-152C-B3EA-85074141A555}"/>
              </a:ext>
            </a:extLst>
          </p:cNvPr>
          <p:cNvSpPr txBox="1"/>
          <p:nvPr/>
        </p:nvSpPr>
        <p:spPr>
          <a:xfrm>
            <a:off x="3469512" y="4637314"/>
            <a:ext cx="2379088" cy="923330"/>
          </a:xfrm>
          <a:prstGeom prst="rect">
            <a:avLst/>
          </a:prstGeom>
          <a:noFill/>
        </p:spPr>
        <p:txBody>
          <a:bodyPr wrap="square" rtlCol="0">
            <a:spAutoFit/>
          </a:bodyPr>
          <a:lstStyle/>
          <a:p>
            <a:pPr algn="ctr"/>
            <a:r>
              <a:rPr lang="en-US" dirty="0"/>
              <a:t>local software tool used for version control</a:t>
            </a:r>
          </a:p>
        </p:txBody>
      </p:sp>
      <p:sp>
        <p:nvSpPr>
          <p:cNvPr id="6" name="TextBox 5">
            <a:extLst>
              <a:ext uri="{FF2B5EF4-FFF2-40B4-BE49-F238E27FC236}">
                <a16:creationId xmlns:a16="http://schemas.microsoft.com/office/drawing/2014/main" id="{5764CAC9-B81D-32A5-C871-C3AD5AFB415F}"/>
              </a:ext>
            </a:extLst>
          </p:cNvPr>
          <p:cNvSpPr txBox="1"/>
          <p:nvPr/>
        </p:nvSpPr>
        <p:spPr>
          <a:xfrm>
            <a:off x="5848600" y="4637314"/>
            <a:ext cx="2396839" cy="1200329"/>
          </a:xfrm>
          <a:prstGeom prst="rect">
            <a:avLst/>
          </a:prstGeom>
          <a:noFill/>
        </p:spPr>
        <p:txBody>
          <a:bodyPr wrap="square" rtlCol="0">
            <a:spAutoFit/>
          </a:bodyPr>
          <a:lstStyle/>
          <a:p>
            <a:pPr algn="ctr"/>
            <a:r>
              <a:rPr lang="en-US" dirty="0"/>
              <a:t>cloud-based platform that hosts Git projects and enables team collaboration</a:t>
            </a:r>
          </a:p>
        </p:txBody>
      </p:sp>
      <p:sp>
        <p:nvSpPr>
          <p:cNvPr id="7" name="Down Arrow 6">
            <a:extLst>
              <a:ext uri="{FF2B5EF4-FFF2-40B4-BE49-F238E27FC236}">
                <a16:creationId xmlns:a16="http://schemas.microsoft.com/office/drawing/2014/main" id="{0E3C478A-98C3-B29E-E24F-2384285181DE}"/>
              </a:ext>
            </a:extLst>
          </p:cNvPr>
          <p:cNvSpPr/>
          <p:nvPr/>
        </p:nvSpPr>
        <p:spPr>
          <a:xfrm>
            <a:off x="4537333" y="3773384"/>
            <a:ext cx="267195" cy="64423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Down Arrow 7">
            <a:extLst>
              <a:ext uri="{FF2B5EF4-FFF2-40B4-BE49-F238E27FC236}">
                <a16:creationId xmlns:a16="http://schemas.microsoft.com/office/drawing/2014/main" id="{04247193-BAE1-4B8D-BA06-5C79A93CFF00}"/>
              </a:ext>
            </a:extLst>
          </p:cNvPr>
          <p:cNvSpPr/>
          <p:nvPr/>
        </p:nvSpPr>
        <p:spPr>
          <a:xfrm>
            <a:off x="6913421" y="3773384"/>
            <a:ext cx="267195" cy="64423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2" name="Picture 2" descr="GitHub is crying in the corner · ProgrammerHumor.io">
            <a:extLst>
              <a:ext uri="{FF2B5EF4-FFF2-40B4-BE49-F238E27FC236}">
                <a16:creationId xmlns:a16="http://schemas.microsoft.com/office/drawing/2014/main" id="{32C69860-3870-07BA-D697-9CA0F82DE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9303" y="1605254"/>
            <a:ext cx="2656338" cy="3093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27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E62D6-0590-E8A9-B845-01086031ADD2}"/>
              </a:ext>
            </a:extLst>
          </p:cNvPr>
          <p:cNvSpPr>
            <a:spLocks noGrp="1"/>
          </p:cNvSpPr>
          <p:nvPr>
            <p:ph type="title"/>
          </p:nvPr>
        </p:nvSpPr>
        <p:spPr/>
        <p:txBody>
          <a:bodyPr/>
          <a:lstStyle/>
          <a:p>
            <a:r>
              <a:rPr lang="en-US" dirty="0"/>
              <a:t>Why Git &amp; GitHub</a:t>
            </a:r>
          </a:p>
        </p:txBody>
      </p:sp>
      <p:pic>
        <p:nvPicPr>
          <p:cNvPr id="1026" name="Picture 2" descr="Git(local repo) and GitHub (remote repo) | The Startup">
            <a:extLst>
              <a:ext uri="{FF2B5EF4-FFF2-40B4-BE49-F238E27FC236}">
                <a16:creationId xmlns:a16="http://schemas.microsoft.com/office/drawing/2014/main" id="{75AFF4F0-0D58-B26E-4B3D-85C819661D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568" b="21144"/>
          <a:stretch>
            <a:fillRect/>
          </a:stretch>
        </p:blipFill>
        <p:spPr bwMode="auto">
          <a:xfrm>
            <a:off x="8811987" y="85905"/>
            <a:ext cx="3325092" cy="118315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5EFA629-7E05-CA60-23CD-2FB7AFEE6835}"/>
              </a:ext>
            </a:extLst>
          </p:cNvPr>
          <p:cNvPicPr>
            <a:picLocks noChangeAspect="1"/>
          </p:cNvPicPr>
          <p:nvPr/>
        </p:nvPicPr>
        <p:blipFill>
          <a:blip r:embed="rId3"/>
          <a:srcRect r="28201"/>
          <a:stretch>
            <a:fillRect/>
          </a:stretch>
        </p:blipFill>
        <p:spPr>
          <a:xfrm>
            <a:off x="1063830" y="2272970"/>
            <a:ext cx="4102924" cy="3145768"/>
          </a:xfrm>
          <a:prstGeom prst="rect">
            <a:avLst/>
          </a:prstGeom>
        </p:spPr>
      </p:pic>
      <p:sp>
        <p:nvSpPr>
          <p:cNvPr id="5" name="TextBox 4">
            <a:extLst>
              <a:ext uri="{FF2B5EF4-FFF2-40B4-BE49-F238E27FC236}">
                <a16:creationId xmlns:a16="http://schemas.microsoft.com/office/drawing/2014/main" id="{45053DC6-993C-B1B1-5359-29D2951A4310}"/>
              </a:ext>
            </a:extLst>
          </p:cNvPr>
          <p:cNvSpPr txBox="1"/>
          <p:nvPr/>
        </p:nvSpPr>
        <p:spPr>
          <a:xfrm>
            <a:off x="927263" y="1903638"/>
            <a:ext cx="1381597" cy="369332"/>
          </a:xfrm>
          <a:prstGeom prst="rect">
            <a:avLst/>
          </a:prstGeom>
          <a:noFill/>
        </p:spPr>
        <p:txBody>
          <a:bodyPr wrap="none" rtlCol="0">
            <a:spAutoFit/>
          </a:bodyPr>
          <a:lstStyle/>
          <a:p>
            <a:r>
              <a:rPr lang="en-US" dirty="0"/>
              <a:t>The problem</a:t>
            </a:r>
          </a:p>
        </p:txBody>
      </p:sp>
      <p:sp>
        <p:nvSpPr>
          <p:cNvPr id="6" name="TextBox 5">
            <a:extLst>
              <a:ext uri="{FF2B5EF4-FFF2-40B4-BE49-F238E27FC236}">
                <a16:creationId xmlns:a16="http://schemas.microsoft.com/office/drawing/2014/main" id="{7C135ED5-87D6-768B-0A53-20C2B932FAB8}"/>
              </a:ext>
            </a:extLst>
          </p:cNvPr>
          <p:cNvSpPr txBox="1"/>
          <p:nvPr/>
        </p:nvSpPr>
        <p:spPr>
          <a:xfrm>
            <a:off x="1840674" y="5801890"/>
            <a:ext cx="8122801" cy="338554"/>
          </a:xfrm>
          <a:prstGeom prst="rect">
            <a:avLst/>
          </a:prstGeom>
          <a:solidFill>
            <a:schemeClr val="accent2">
              <a:lumMod val="20000"/>
              <a:lumOff val="80000"/>
            </a:schemeClr>
          </a:solidFill>
        </p:spPr>
        <p:txBody>
          <a:bodyPr wrap="none" rtlCol="0">
            <a:spAutoFit/>
          </a:bodyPr>
          <a:lstStyle/>
          <a:p>
            <a:r>
              <a:rPr lang="en-US" sz="1600" b="1" dirty="0"/>
              <a:t>git solves: </a:t>
            </a:r>
            <a:r>
              <a:rPr lang="en-US" sz="1600" dirty="0"/>
              <a:t>Track </a:t>
            </a:r>
            <a:r>
              <a:rPr lang="en-US" sz="1600" i="1" dirty="0"/>
              <a:t>who</a:t>
            </a:r>
            <a:r>
              <a:rPr lang="en-US" sz="1600" dirty="0"/>
              <a:t> changed </a:t>
            </a:r>
            <a:r>
              <a:rPr lang="en-US" sz="1600" i="1" dirty="0"/>
              <a:t>what</a:t>
            </a:r>
            <a:r>
              <a:rPr lang="en-US" sz="1600" dirty="0"/>
              <a:t> and </a:t>
            </a:r>
            <a:r>
              <a:rPr lang="en-US" sz="1600" i="1" dirty="0"/>
              <a:t>when</a:t>
            </a:r>
            <a:r>
              <a:rPr lang="en-US" sz="1600" dirty="0"/>
              <a:t>, revert mistakes, collaborate without overwriting</a:t>
            </a:r>
          </a:p>
        </p:txBody>
      </p:sp>
      <p:pic>
        <p:nvPicPr>
          <p:cNvPr id="7" name="Picture 6">
            <a:extLst>
              <a:ext uri="{FF2B5EF4-FFF2-40B4-BE49-F238E27FC236}">
                <a16:creationId xmlns:a16="http://schemas.microsoft.com/office/drawing/2014/main" id="{1C76550C-3D98-B151-A9A1-EE5A571B391E}"/>
              </a:ext>
            </a:extLst>
          </p:cNvPr>
          <p:cNvPicPr>
            <a:picLocks noChangeAspect="1"/>
          </p:cNvPicPr>
          <p:nvPr/>
        </p:nvPicPr>
        <p:blipFill>
          <a:blip r:embed="rId4"/>
          <a:stretch>
            <a:fillRect/>
          </a:stretch>
        </p:blipFill>
        <p:spPr>
          <a:xfrm>
            <a:off x="6341424" y="1690688"/>
            <a:ext cx="4727370" cy="3898252"/>
          </a:xfrm>
          <a:prstGeom prst="rect">
            <a:avLst/>
          </a:prstGeom>
        </p:spPr>
      </p:pic>
      <p:sp>
        <p:nvSpPr>
          <p:cNvPr id="8" name="TextBox 7">
            <a:extLst>
              <a:ext uri="{FF2B5EF4-FFF2-40B4-BE49-F238E27FC236}">
                <a16:creationId xmlns:a16="http://schemas.microsoft.com/office/drawing/2014/main" id="{CC28A152-10D5-6A81-3ADA-27DFB0746942}"/>
              </a:ext>
            </a:extLst>
          </p:cNvPr>
          <p:cNvSpPr txBox="1"/>
          <p:nvPr/>
        </p:nvSpPr>
        <p:spPr>
          <a:xfrm>
            <a:off x="6341424" y="1319106"/>
            <a:ext cx="1687834" cy="369332"/>
          </a:xfrm>
          <a:prstGeom prst="rect">
            <a:avLst/>
          </a:prstGeom>
          <a:noFill/>
        </p:spPr>
        <p:txBody>
          <a:bodyPr wrap="none" rtlCol="0">
            <a:spAutoFit/>
          </a:bodyPr>
          <a:lstStyle/>
          <a:p>
            <a:r>
              <a:rPr lang="en-US" dirty="0"/>
              <a:t>Commit history:</a:t>
            </a:r>
          </a:p>
        </p:txBody>
      </p:sp>
      <p:sp>
        <p:nvSpPr>
          <p:cNvPr id="9" name="TextBox 8">
            <a:extLst>
              <a:ext uri="{FF2B5EF4-FFF2-40B4-BE49-F238E27FC236}">
                <a16:creationId xmlns:a16="http://schemas.microsoft.com/office/drawing/2014/main" id="{C3A42B34-E690-ED8E-67F9-6689D5712FA1}"/>
              </a:ext>
            </a:extLst>
          </p:cNvPr>
          <p:cNvSpPr txBox="1"/>
          <p:nvPr/>
        </p:nvSpPr>
        <p:spPr>
          <a:xfrm>
            <a:off x="927263" y="6270171"/>
            <a:ext cx="10238508" cy="338554"/>
          </a:xfrm>
          <a:prstGeom prst="rect">
            <a:avLst/>
          </a:prstGeom>
          <a:noFill/>
        </p:spPr>
        <p:txBody>
          <a:bodyPr wrap="none" rtlCol="0">
            <a:spAutoFit/>
          </a:bodyPr>
          <a:lstStyle/>
          <a:p>
            <a:r>
              <a:rPr lang="en-US" sz="1600" b="1" dirty="0"/>
              <a:t>Bioinformatics angle</a:t>
            </a:r>
            <a:r>
              <a:rPr lang="en-US" sz="1600" dirty="0"/>
              <a:t>: Reproducibility crisis, tracking pipeline versions, sharing analysis code with collaborators/reviewers</a:t>
            </a:r>
          </a:p>
        </p:txBody>
      </p:sp>
    </p:spTree>
    <p:extLst>
      <p:ext uri="{BB962C8B-B14F-4D97-AF65-F5344CB8AC3E}">
        <p14:creationId xmlns:p14="http://schemas.microsoft.com/office/powerpoint/2010/main" val="378815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E6B24-DE2D-0780-096B-189E707BB9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2C6DA9-717B-F07D-532C-109E905B043D}"/>
              </a:ext>
            </a:extLst>
          </p:cNvPr>
          <p:cNvSpPr txBox="1"/>
          <p:nvPr/>
        </p:nvSpPr>
        <p:spPr>
          <a:xfrm>
            <a:off x="880258" y="1707599"/>
            <a:ext cx="4336968" cy="2031325"/>
          </a:xfrm>
          <a:prstGeom prst="rect">
            <a:avLst/>
          </a:prstGeom>
          <a:noFill/>
        </p:spPr>
        <p:txBody>
          <a:bodyPr wrap="square">
            <a:spAutoFit/>
          </a:bodyPr>
          <a:lstStyle/>
          <a:p>
            <a:r>
              <a:rPr lang="en-US" b="1" dirty="0"/>
              <a:t>Key concepts:</a:t>
            </a:r>
            <a:endParaRPr lang="en-US" dirty="0"/>
          </a:p>
          <a:p>
            <a:pPr marL="285750" indent="-285750">
              <a:buFont typeface="Arial" panose="020B0604020202020204" pitchFamily="34" charset="0"/>
              <a:buChar char="•"/>
            </a:pPr>
            <a:r>
              <a:rPr lang="en-US" dirty="0"/>
              <a:t>Repository (a folder + history)</a:t>
            </a:r>
          </a:p>
          <a:p>
            <a:pPr marL="285750" indent="-285750">
              <a:buFont typeface="Arial" panose="020B0604020202020204" pitchFamily="34" charset="0"/>
              <a:buChar char="•"/>
            </a:pPr>
            <a:r>
              <a:rPr lang="en-US" dirty="0"/>
              <a:t>Commits (snapshots of work with messages)</a:t>
            </a:r>
          </a:p>
          <a:p>
            <a:pPr marL="285750" indent="-285750">
              <a:buFont typeface="Arial" panose="020B0604020202020204" pitchFamily="34" charset="0"/>
              <a:buChar char="•"/>
            </a:pPr>
            <a:r>
              <a:rPr lang="en-US" dirty="0"/>
              <a:t>Branches (parallel work streams)</a:t>
            </a:r>
          </a:p>
          <a:p>
            <a:pPr marL="285750" indent="-285750">
              <a:buFont typeface="Arial" panose="020B0604020202020204" pitchFamily="34" charset="0"/>
              <a:buChar char="•"/>
            </a:pPr>
            <a:r>
              <a:rPr lang="en-US" dirty="0"/>
              <a:t>Working directory → Staging area → Commit</a:t>
            </a:r>
          </a:p>
        </p:txBody>
      </p:sp>
      <p:sp>
        <p:nvSpPr>
          <p:cNvPr id="9" name="Title 1">
            <a:extLst>
              <a:ext uri="{FF2B5EF4-FFF2-40B4-BE49-F238E27FC236}">
                <a16:creationId xmlns:a16="http://schemas.microsoft.com/office/drawing/2014/main" id="{ACBF05CE-F8A5-913E-01DF-1A4D5E40211D}"/>
              </a:ext>
            </a:extLst>
          </p:cNvPr>
          <p:cNvSpPr>
            <a:spLocks noGrp="1"/>
          </p:cNvSpPr>
          <p:nvPr>
            <p:ph type="title"/>
          </p:nvPr>
        </p:nvSpPr>
        <p:spPr>
          <a:xfrm>
            <a:off x="838200" y="365125"/>
            <a:ext cx="10515600" cy="1325563"/>
          </a:xfrm>
        </p:spPr>
        <p:txBody>
          <a:bodyPr/>
          <a:lstStyle/>
          <a:p>
            <a:r>
              <a:rPr lang="en-US" dirty="0"/>
              <a:t>Basics of Git &amp; GitHub</a:t>
            </a:r>
          </a:p>
        </p:txBody>
      </p:sp>
      <p:pic>
        <p:nvPicPr>
          <p:cNvPr id="4098" name="Picture 2" descr="13. GitHub: How not to lose your entire analysis! — 2019-UNR-omics 0.0.1  documentation">
            <a:extLst>
              <a:ext uri="{FF2B5EF4-FFF2-40B4-BE49-F238E27FC236}">
                <a16:creationId xmlns:a16="http://schemas.microsoft.com/office/drawing/2014/main" id="{EC60EBC1-54E2-F6FD-78A5-0D0441379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049" y="1121851"/>
            <a:ext cx="5741205" cy="483847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19C0EEF-DD91-B576-E229-9B9BCC4E4DB2}"/>
              </a:ext>
            </a:extLst>
          </p:cNvPr>
          <p:cNvSpPr txBox="1"/>
          <p:nvPr/>
        </p:nvSpPr>
        <p:spPr>
          <a:xfrm>
            <a:off x="880258" y="3829792"/>
            <a:ext cx="3765774" cy="1477328"/>
          </a:xfrm>
          <a:prstGeom prst="rect">
            <a:avLst/>
          </a:prstGeom>
          <a:noFill/>
        </p:spPr>
        <p:txBody>
          <a:bodyPr wrap="none" rtlCol="0">
            <a:spAutoFit/>
          </a:bodyPr>
          <a:lstStyle/>
          <a:p>
            <a:r>
              <a:rPr lang="en-US" b="1" dirty="0"/>
              <a:t>Basic workflow</a:t>
            </a:r>
            <a:r>
              <a:rPr lang="en-US" dirty="0"/>
              <a:t>: </a:t>
            </a:r>
          </a:p>
          <a:p>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a:t>
            </a:r>
            <a:r>
              <a:rPr lang="en-US" sz="1400" dirty="0" err="1">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init</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 </a:t>
            </a:r>
            <a:r>
              <a:rPr lang="en-US" dirty="0"/>
              <a:t>(create a repo)</a:t>
            </a:r>
          </a:p>
          <a:p>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add </a:t>
            </a:r>
            <a:r>
              <a:rPr lang="en-US" dirty="0"/>
              <a:t>+ </a:t>
            </a:r>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commit </a:t>
            </a:r>
            <a:r>
              <a:rPr lang="en-US" dirty="0"/>
              <a:t>(save changes)</a:t>
            </a:r>
          </a:p>
          <a:p>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log </a:t>
            </a:r>
            <a:r>
              <a:rPr lang="en-US" dirty="0"/>
              <a:t>(see history)</a:t>
            </a:r>
          </a:p>
          <a:p>
            <a:r>
              <a:rPr 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diff </a:t>
            </a:r>
            <a:r>
              <a:rPr lang="en-US" dirty="0"/>
              <a:t>(see what changed)</a:t>
            </a:r>
          </a:p>
        </p:txBody>
      </p:sp>
      <p:pic>
        <p:nvPicPr>
          <p:cNvPr id="4102" name="Picture 6" descr="What Is Git Bash? Working With Git Bash Commands">
            <a:extLst>
              <a:ext uri="{FF2B5EF4-FFF2-40B4-BE49-F238E27FC236}">
                <a16:creationId xmlns:a16="http://schemas.microsoft.com/office/drawing/2014/main" id="{9E124331-1B5A-9A16-0592-980C4375E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333" y="5397988"/>
            <a:ext cx="2948420" cy="1347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58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77079-9E09-A93C-888C-8131002A319D}"/>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A82677A-D9B7-1FBA-17DB-2D1F2C079F62}"/>
              </a:ext>
            </a:extLst>
          </p:cNvPr>
          <p:cNvSpPr>
            <a:spLocks noGrp="1"/>
          </p:cNvSpPr>
          <p:nvPr>
            <p:ph type="title"/>
          </p:nvPr>
        </p:nvSpPr>
        <p:spPr>
          <a:xfrm>
            <a:off x="838200" y="365125"/>
            <a:ext cx="10515600" cy="1325563"/>
          </a:xfrm>
        </p:spPr>
        <p:txBody>
          <a:bodyPr/>
          <a:lstStyle/>
          <a:p>
            <a:r>
              <a:rPr lang="en-US" dirty="0"/>
              <a:t>Branches</a:t>
            </a:r>
          </a:p>
        </p:txBody>
      </p:sp>
      <p:pic>
        <p:nvPicPr>
          <p:cNvPr id="6146" name="Picture 2" descr="Git &amp; GitHub: Workflow, Branches, Merges, &amp; More - Kevin's Guides">
            <a:extLst>
              <a:ext uri="{FF2B5EF4-FFF2-40B4-BE49-F238E27FC236}">
                <a16:creationId xmlns:a16="http://schemas.microsoft.com/office/drawing/2014/main" id="{BF0D8723-D6D7-4C62-A81B-0F07A6F68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533" y="1152068"/>
            <a:ext cx="5612081" cy="51715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E8A9843-FFA0-AB44-463C-DBBA779054B2}"/>
              </a:ext>
            </a:extLst>
          </p:cNvPr>
          <p:cNvSpPr txBox="1"/>
          <p:nvPr/>
        </p:nvSpPr>
        <p:spPr>
          <a:xfrm>
            <a:off x="662756" y="1270152"/>
            <a:ext cx="4901844" cy="1754326"/>
          </a:xfrm>
          <a:prstGeom prst="rect">
            <a:avLst/>
          </a:prstGeom>
          <a:noFill/>
        </p:spPr>
        <p:txBody>
          <a:bodyPr wrap="square" rtlCol="0">
            <a:spAutoFit/>
          </a:bodyPr>
          <a:lstStyle/>
          <a:p>
            <a:pPr lvl="0" eaLnBrk="0" fontAlgn="base" hangingPunct="0">
              <a:spcBef>
                <a:spcPct val="0"/>
              </a:spcBef>
              <a:spcAft>
                <a:spcPct val="0"/>
              </a:spcAft>
            </a:pPr>
            <a:endParaRPr lang="en-US" altLang="en-US" dirty="0"/>
          </a:p>
          <a:p>
            <a:pPr marL="285750" lvl="0" indent="-285750" eaLnBrk="0" fontAlgn="base" hangingPunct="0">
              <a:spcBef>
                <a:spcPct val="0"/>
              </a:spcBef>
              <a:spcAft>
                <a:spcPct val="0"/>
              </a:spcAft>
              <a:buFont typeface="Arial" panose="020B0604020202020204" pitchFamily="34" charset="0"/>
              <a:buChar char="•"/>
            </a:pPr>
            <a:r>
              <a:rPr lang="en-US" altLang="en-US" dirty="0"/>
              <a:t>A </a:t>
            </a:r>
            <a:r>
              <a:rPr lang="en-US" altLang="en-US" b="1" dirty="0"/>
              <a:t>pointer to a specific commit</a:t>
            </a:r>
            <a:r>
              <a:rPr lang="en-US" altLang="en-US" dirty="0"/>
              <a:t>: a parallel timeline of your project </a:t>
            </a:r>
          </a:p>
          <a:p>
            <a:pPr marL="285750" lvl="0" indent="-285750" eaLnBrk="0" fontAlgn="base" hangingPunct="0">
              <a:spcBef>
                <a:spcPct val="0"/>
              </a:spcBef>
              <a:spcAft>
                <a:spcPct val="0"/>
              </a:spcAft>
              <a:buFont typeface="Arial" panose="020B0604020202020204" pitchFamily="34" charset="0"/>
              <a:buChar char="•"/>
            </a:pPr>
            <a:r>
              <a:rPr lang="en-US" altLang="en-US" dirty="0"/>
              <a:t>The default branch is </a:t>
            </a:r>
            <a:r>
              <a:rPr lang="en-US" altLang="en-US" sz="16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main</a:t>
            </a:r>
            <a:endParaRPr lang="en-US" altLang="en-US" sz="1600" dirty="0">
              <a:latin typeface="Menlo" panose="020B0609030804020204" pitchFamily="49" charset="0"/>
              <a:ea typeface="Menlo" panose="020B0609030804020204" pitchFamily="49" charset="0"/>
              <a:cs typeface="Menlo" panose="020B0609030804020204" pitchFamily="49"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t>Creating a branch doesn't copy files; it's just a lightweight reference </a:t>
            </a:r>
          </a:p>
        </p:txBody>
      </p:sp>
      <p:sp>
        <p:nvSpPr>
          <p:cNvPr id="7" name="TextBox 6">
            <a:extLst>
              <a:ext uri="{FF2B5EF4-FFF2-40B4-BE49-F238E27FC236}">
                <a16:creationId xmlns:a16="http://schemas.microsoft.com/office/drawing/2014/main" id="{8E534935-26CA-1C7E-93F9-4F7FFFC599D2}"/>
              </a:ext>
            </a:extLst>
          </p:cNvPr>
          <p:cNvSpPr txBox="1"/>
          <p:nvPr/>
        </p:nvSpPr>
        <p:spPr>
          <a:xfrm>
            <a:off x="725386" y="3210705"/>
            <a:ext cx="4573124" cy="1600438"/>
          </a:xfrm>
          <a:prstGeom prst="rect">
            <a:avLst/>
          </a:prstGeom>
          <a:noFill/>
          <a:ln w="28575">
            <a:solidFill>
              <a:schemeClr val="accent5"/>
            </a:solidFill>
          </a:ln>
        </p:spPr>
        <p:txBody>
          <a:bodyPr wrap="square" rtlCol="0">
            <a:spAutoFit/>
          </a:bodyPr>
          <a:lstStyle/>
          <a:p>
            <a:pPr lvl="0" eaLnBrk="0" fontAlgn="base" hangingPunct="0">
              <a:spcBef>
                <a:spcPct val="0"/>
              </a:spcBef>
              <a:spcAft>
                <a:spcPct val="0"/>
              </a:spcAft>
            </a:pPr>
            <a:r>
              <a:rPr lang="en-US" altLang="en-US" sz="1400" b="1" dirty="0"/>
              <a:t>Scenario 1</a:t>
            </a:r>
            <a:r>
              <a:rPr lang="en-US" altLang="en-US" sz="1400" dirty="0"/>
              <a:t>: </a:t>
            </a:r>
          </a:p>
          <a:p>
            <a:pPr marL="285750" lvl="0" indent="-285750" eaLnBrk="0" fontAlgn="base" hangingPunct="0">
              <a:spcBef>
                <a:spcPct val="0"/>
              </a:spcBef>
              <a:spcAft>
                <a:spcPct val="0"/>
              </a:spcAft>
              <a:buFont typeface="Courier New" panose="02070309020205020404" pitchFamily="49" charset="0"/>
              <a:buChar char="o"/>
            </a:pPr>
            <a:r>
              <a:rPr lang="en-US" altLang="en-US" sz="1400" dirty="0"/>
              <a:t>Main branch: your validated pipeline </a:t>
            </a:r>
          </a:p>
          <a:p>
            <a:pPr marL="285750" lvl="0" indent="-285750" eaLnBrk="0" fontAlgn="base" hangingPunct="0">
              <a:spcBef>
                <a:spcPct val="0"/>
              </a:spcBef>
              <a:spcAft>
                <a:spcPct val="0"/>
              </a:spcAft>
              <a:buFont typeface="Courier New" panose="02070309020205020404" pitchFamily="49" charset="0"/>
              <a:buChar char="o"/>
            </a:pPr>
            <a:r>
              <a:rPr lang="en-US" altLang="en-US" sz="1400" dirty="0"/>
              <a:t>New branch (try-deseq2-v2): experiment with a newer version of DESeq2 </a:t>
            </a:r>
          </a:p>
          <a:p>
            <a:pPr marL="285750" lvl="0" indent="-285750" eaLnBrk="0" fontAlgn="base" hangingPunct="0">
              <a:spcBef>
                <a:spcPct val="0"/>
              </a:spcBef>
              <a:spcAft>
                <a:spcPct val="0"/>
              </a:spcAft>
              <a:buFont typeface="Courier New" panose="02070309020205020404" pitchFamily="49" charset="0"/>
              <a:buChar char="o"/>
            </a:pPr>
            <a:r>
              <a:rPr lang="en-US" altLang="en-US" sz="1400" dirty="0"/>
              <a:t>If it works → merge back to main </a:t>
            </a:r>
          </a:p>
          <a:p>
            <a:pPr marL="285750" lvl="0" indent="-285750" eaLnBrk="0" fontAlgn="base" hangingPunct="0">
              <a:spcBef>
                <a:spcPct val="0"/>
              </a:spcBef>
              <a:spcAft>
                <a:spcPct val="0"/>
              </a:spcAft>
              <a:buFont typeface="Courier New" panose="02070309020205020404" pitchFamily="49" charset="0"/>
              <a:buChar char="o"/>
            </a:pPr>
            <a:r>
              <a:rPr lang="en-US" altLang="en-US" sz="1400" dirty="0"/>
              <a:t>If it breaks downstream analysis → throw it away, main is untouched</a:t>
            </a:r>
          </a:p>
        </p:txBody>
      </p:sp>
      <p:sp>
        <p:nvSpPr>
          <p:cNvPr id="8" name="TextBox 7">
            <a:extLst>
              <a:ext uri="{FF2B5EF4-FFF2-40B4-BE49-F238E27FC236}">
                <a16:creationId xmlns:a16="http://schemas.microsoft.com/office/drawing/2014/main" id="{39D9E707-26D4-14D3-CDC4-3C113742F817}"/>
              </a:ext>
            </a:extLst>
          </p:cNvPr>
          <p:cNvSpPr txBox="1"/>
          <p:nvPr/>
        </p:nvSpPr>
        <p:spPr>
          <a:xfrm>
            <a:off x="725386" y="4938624"/>
            <a:ext cx="4573124" cy="1600438"/>
          </a:xfrm>
          <a:prstGeom prst="rect">
            <a:avLst/>
          </a:prstGeom>
          <a:noFill/>
          <a:ln w="28575">
            <a:solidFill>
              <a:schemeClr val="accent6"/>
            </a:solidFill>
          </a:ln>
        </p:spPr>
        <p:txBody>
          <a:bodyPr wrap="square" rtlCol="0">
            <a:spAutoFit/>
          </a:bodyPr>
          <a:lstStyle/>
          <a:p>
            <a:r>
              <a:rPr lang="en-US" sz="1400" b="1" dirty="0"/>
              <a:t>Scenario 2: Multiple people working on the same project</a:t>
            </a:r>
            <a:endParaRPr lang="en-US" sz="1400" dirty="0"/>
          </a:p>
          <a:p>
            <a:pPr marL="285750" indent="-285750">
              <a:buFont typeface="Courier New" panose="02070309020205020404" pitchFamily="49" charset="0"/>
              <a:buChar char="o"/>
            </a:pPr>
            <a:r>
              <a:rPr lang="en-US" sz="1400" dirty="0"/>
              <a:t>Person A is working on quality control improvements (feature/qc-filters)</a:t>
            </a:r>
          </a:p>
          <a:p>
            <a:pPr marL="285750" indent="-285750">
              <a:buFont typeface="Courier New" panose="02070309020205020404" pitchFamily="49" charset="0"/>
              <a:buChar char="o"/>
            </a:pPr>
            <a:r>
              <a:rPr lang="en-US" sz="1400" dirty="0"/>
              <a:t>Person B is optimizing the alignment step (feature/faster-alignment)</a:t>
            </a:r>
          </a:p>
          <a:p>
            <a:pPr marL="285750" indent="-285750">
              <a:buFont typeface="Courier New" panose="02070309020205020404" pitchFamily="49" charset="0"/>
              <a:buChar char="o"/>
            </a:pPr>
            <a:r>
              <a:rPr lang="en-US" sz="1400" dirty="0"/>
              <a:t>Both work independently, merge when ready</a:t>
            </a:r>
          </a:p>
          <a:p>
            <a:pPr marL="285750" indent="-285750">
              <a:buFont typeface="Courier New" panose="02070309020205020404" pitchFamily="49" charset="0"/>
              <a:buChar char="o"/>
            </a:pPr>
            <a:r>
              <a:rPr lang="en-US" sz="1400" dirty="0"/>
              <a:t>No accidental overwrites</a:t>
            </a:r>
          </a:p>
        </p:txBody>
      </p:sp>
    </p:spTree>
    <p:extLst>
      <p:ext uri="{BB962C8B-B14F-4D97-AF65-F5344CB8AC3E}">
        <p14:creationId xmlns:p14="http://schemas.microsoft.com/office/powerpoint/2010/main" val="46119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6C33D-7CBF-C8D6-040E-47C726A2D48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C6E0055-6DBA-A27D-03D7-62F1482BB1EA}"/>
              </a:ext>
            </a:extLst>
          </p:cNvPr>
          <p:cNvSpPr>
            <a:spLocks noGrp="1"/>
          </p:cNvSpPr>
          <p:nvPr>
            <p:ph type="title"/>
          </p:nvPr>
        </p:nvSpPr>
        <p:spPr>
          <a:xfrm>
            <a:off x="838200" y="365125"/>
            <a:ext cx="10515600" cy="1325563"/>
          </a:xfrm>
        </p:spPr>
        <p:txBody>
          <a:bodyPr/>
          <a:lstStyle/>
          <a:p>
            <a:r>
              <a:rPr lang="en-US" dirty="0"/>
              <a:t>Collaborating with GitHub</a:t>
            </a:r>
          </a:p>
        </p:txBody>
      </p:sp>
      <p:sp>
        <p:nvSpPr>
          <p:cNvPr id="5" name="TextBox 4">
            <a:extLst>
              <a:ext uri="{FF2B5EF4-FFF2-40B4-BE49-F238E27FC236}">
                <a16:creationId xmlns:a16="http://schemas.microsoft.com/office/drawing/2014/main" id="{26EB0BF8-FBBF-45AB-8815-B977CE16B7F3}"/>
              </a:ext>
            </a:extLst>
          </p:cNvPr>
          <p:cNvSpPr txBox="1"/>
          <p:nvPr/>
        </p:nvSpPr>
        <p:spPr>
          <a:xfrm>
            <a:off x="1171906" y="1643186"/>
            <a:ext cx="5141151" cy="4801314"/>
          </a:xfrm>
          <a:prstGeom prst="rect">
            <a:avLst/>
          </a:prstGeom>
          <a:noFill/>
        </p:spPr>
        <p:txBody>
          <a:bodyPr wrap="none" rtlCol="0">
            <a:spAutoFit/>
          </a:bodyPr>
          <a:lstStyle/>
          <a:p>
            <a:pPr lvl="0" eaLnBrk="0" fontAlgn="base" hangingPunct="0">
              <a:spcBef>
                <a:spcPct val="0"/>
              </a:spcBef>
              <a:spcAft>
                <a:spcPct val="0"/>
              </a:spcAft>
            </a:pPr>
            <a:r>
              <a:rPr lang="en-US" altLang="en-US" b="1" dirty="0">
                <a:latin typeface="Arial" panose="020B0604020202020204" pitchFamily="34" charset="0"/>
              </a:rPr>
              <a:t>What GitHub adds</a:t>
            </a:r>
            <a:r>
              <a:rPr lang="en-US" altLang="en-US"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Cloud backup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Collaboration features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Visibility (sharing code) </a:t>
            </a:r>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pPr>
            <a:r>
              <a:rPr lang="en-US" altLang="en-US" b="1" dirty="0">
                <a:latin typeface="Arial" panose="020B0604020202020204" pitchFamily="34" charset="0"/>
              </a:rPr>
              <a:t>Basic GitHub workflow</a:t>
            </a:r>
            <a:r>
              <a:rPr lang="en-US" altLang="en-US"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lang="en-US" alt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push </a:t>
            </a:r>
            <a:r>
              <a:rPr lang="en-US" altLang="en-US" dirty="0"/>
              <a:t>(send to GitHub)</a:t>
            </a:r>
            <a:r>
              <a:rPr lang="en-US" altLang="en-US"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lang="en-US" altLang="en-US" sz="1400" dirty="0">
                <a:solidFill>
                  <a:schemeClr val="accent2">
                    <a:lumMod val="75000"/>
                  </a:schemeClr>
                </a:solidFill>
                <a:latin typeface="Menlo" panose="020B0609030804020204" pitchFamily="49" charset="0"/>
                <a:ea typeface="Menlo" panose="020B0609030804020204" pitchFamily="49" charset="0"/>
                <a:cs typeface="Menlo" panose="020B0609030804020204" pitchFamily="49" charset="0"/>
              </a:rPr>
              <a:t>git pull </a:t>
            </a:r>
            <a:r>
              <a:rPr lang="en-US" altLang="en-US" dirty="0"/>
              <a:t>(get others' changes)</a:t>
            </a:r>
            <a:r>
              <a:rPr lang="en-US" altLang="en-US"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Pull requests (propose, review, merge)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Simple merge conflicts &amp; how to resolve them</a:t>
            </a:r>
          </a:p>
          <a:p>
            <a:pPr lvl="0" eaLnBrk="0" fontAlgn="base" hangingPunct="0">
              <a:spcBef>
                <a:spcPct val="0"/>
              </a:spcBef>
              <a:spcAft>
                <a:spcPct val="0"/>
              </a:spcAft>
            </a:pPr>
            <a:r>
              <a:rPr lang="en-US" altLang="en-US" dirty="0">
                <a:latin typeface="Arial" panose="020B0604020202020204" pitchFamily="34" charset="0"/>
              </a:rPr>
              <a:t> </a:t>
            </a:r>
          </a:p>
          <a:p>
            <a:pPr lvl="0" eaLnBrk="0" fontAlgn="base" hangingPunct="0">
              <a:spcBef>
                <a:spcPct val="0"/>
              </a:spcBef>
              <a:spcAft>
                <a:spcPct val="0"/>
              </a:spcAft>
            </a:pPr>
            <a:r>
              <a:rPr lang="en-US" altLang="en-US" b="1" dirty="0">
                <a:latin typeface="Arial" panose="020B0604020202020204" pitchFamily="34" charset="0"/>
              </a:rPr>
              <a:t>GitHub as a portfolio</a:t>
            </a:r>
            <a:r>
              <a:rPr lang="en-US" altLang="en-US"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Your repos as proof of work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README importance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Making repos public for sharing analyses</a:t>
            </a:r>
          </a:p>
          <a:p>
            <a:pPr lvl="0" eaLnBrk="0" fontAlgn="base" hangingPunct="0">
              <a:spcBef>
                <a:spcPct val="0"/>
              </a:spcBef>
              <a:spcAft>
                <a:spcPct val="0"/>
              </a:spcAft>
            </a:pPr>
            <a:endParaRPr lang="en-US" altLang="en-US" dirty="0">
              <a:latin typeface="Arial" panose="020B0604020202020204" pitchFamily="34" charset="0"/>
            </a:endParaRPr>
          </a:p>
          <a:p>
            <a:endParaRPr lang="en-US" dirty="0"/>
          </a:p>
        </p:txBody>
      </p:sp>
      <p:pic>
        <p:nvPicPr>
          <p:cNvPr id="6" name="Picture 5">
            <a:extLst>
              <a:ext uri="{FF2B5EF4-FFF2-40B4-BE49-F238E27FC236}">
                <a16:creationId xmlns:a16="http://schemas.microsoft.com/office/drawing/2014/main" id="{22BEA868-652F-766E-CE8C-131563C94708}"/>
              </a:ext>
            </a:extLst>
          </p:cNvPr>
          <p:cNvPicPr>
            <a:picLocks noChangeAspect="1"/>
          </p:cNvPicPr>
          <p:nvPr/>
        </p:nvPicPr>
        <p:blipFill>
          <a:blip r:embed="rId2"/>
          <a:stretch>
            <a:fillRect/>
          </a:stretch>
        </p:blipFill>
        <p:spPr>
          <a:xfrm>
            <a:off x="6425237" y="1393804"/>
            <a:ext cx="5436950" cy="4852015"/>
          </a:xfrm>
          <a:prstGeom prst="rect">
            <a:avLst/>
          </a:prstGeom>
        </p:spPr>
      </p:pic>
    </p:spTree>
    <p:extLst>
      <p:ext uri="{BB962C8B-B14F-4D97-AF65-F5344CB8AC3E}">
        <p14:creationId xmlns:p14="http://schemas.microsoft.com/office/powerpoint/2010/main" val="4184791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047C-FD2C-02DF-01D9-D58FC7B4615B}"/>
              </a:ext>
            </a:extLst>
          </p:cNvPr>
          <p:cNvSpPr>
            <a:spLocks noGrp="1"/>
          </p:cNvSpPr>
          <p:nvPr>
            <p:ph type="title"/>
          </p:nvPr>
        </p:nvSpPr>
        <p:spPr/>
        <p:txBody>
          <a:bodyPr/>
          <a:lstStyle/>
          <a:p>
            <a:r>
              <a:rPr lang="en-US" dirty="0"/>
              <a:t>GitHub Desktop</a:t>
            </a:r>
          </a:p>
        </p:txBody>
      </p:sp>
      <p:pic>
        <p:nvPicPr>
          <p:cNvPr id="4" name="Picture 3">
            <a:extLst>
              <a:ext uri="{FF2B5EF4-FFF2-40B4-BE49-F238E27FC236}">
                <a16:creationId xmlns:a16="http://schemas.microsoft.com/office/drawing/2014/main" id="{F11196D6-22B8-C712-6EEA-79A80A10D9E1}"/>
              </a:ext>
            </a:extLst>
          </p:cNvPr>
          <p:cNvPicPr>
            <a:picLocks noChangeAspect="1"/>
          </p:cNvPicPr>
          <p:nvPr/>
        </p:nvPicPr>
        <p:blipFill>
          <a:blip r:embed="rId2"/>
          <a:stretch>
            <a:fillRect/>
          </a:stretch>
        </p:blipFill>
        <p:spPr>
          <a:xfrm>
            <a:off x="4935255" y="1690688"/>
            <a:ext cx="6944638" cy="4506745"/>
          </a:xfrm>
          <a:prstGeom prst="rect">
            <a:avLst/>
          </a:prstGeom>
        </p:spPr>
      </p:pic>
      <p:sp>
        <p:nvSpPr>
          <p:cNvPr id="5" name="TextBox 4">
            <a:extLst>
              <a:ext uri="{FF2B5EF4-FFF2-40B4-BE49-F238E27FC236}">
                <a16:creationId xmlns:a16="http://schemas.microsoft.com/office/drawing/2014/main" id="{E758AE78-22E0-0B8A-B562-B75FB1115608}"/>
              </a:ext>
            </a:extLst>
          </p:cNvPr>
          <p:cNvSpPr txBox="1"/>
          <p:nvPr/>
        </p:nvSpPr>
        <p:spPr>
          <a:xfrm>
            <a:off x="883085" y="1615858"/>
            <a:ext cx="2849671" cy="646331"/>
          </a:xfrm>
          <a:prstGeom prst="rect">
            <a:avLst/>
          </a:prstGeom>
          <a:noFill/>
        </p:spPr>
        <p:txBody>
          <a:bodyPr wrap="square" rtlCol="0">
            <a:spAutoFit/>
          </a:bodyPr>
          <a:lstStyle/>
          <a:p>
            <a:r>
              <a:rPr lang="en-US" dirty="0"/>
              <a:t>Desktop application to manage git actions</a:t>
            </a:r>
          </a:p>
        </p:txBody>
      </p:sp>
    </p:spTree>
    <p:extLst>
      <p:ext uri="{BB962C8B-B14F-4D97-AF65-F5344CB8AC3E}">
        <p14:creationId xmlns:p14="http://schemas.microsoft.com/office/powerpoint/2010/main" val="922665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4A256-1487-F26B-337C-6CE6AD8F5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407F5-F067-C36D-B1D9-5BA741EC01B0}"/>
              </a:ext>
            </a:extLst>
          </p:cNvPr>
          <p:cNvSpPr>
            <a:spLocks noGrp="1"/>
          </p:cNvSpPr>
          <p:nvPr>
            <p:ph type="title"/>
          </p:nvPr>
        </p:nvSpPr>
        <p:spPr/>
        <p:txBody>
          <a:bodyPr/>
          <a:lstStyle/>
          <a:p>
            <a:r>
              <a:rPr lang="en-US" dirty="0"/>
              <a:t>GitHub for Bioinformatics</a:t>
            </a:r>
          </a:p>
        </p:txBody>
      </p:sp>
      <p:sp>
        <p:nvSpPr>
          <p:cNvPr id="5" name="TextBox 4">
            <a:extLst>
              <a:ext uri="{FF2B5EF4-FFF2-40B4-BE49-F238E27FC236}">
                <a16:creationId xmlns:a16="http://schemas.microsoft.com/office/drawing/2014/main" id="{559584D7-9CCB-B688-4B7D-25C6CEDB2603}"/>
              </a:ext>
            </a:extLst>
          </p:cNvPr>
          <p:cNvSpPr txBox="1"/>
          <p:nvPr/>
        </p:nvSpPr>
        <p:spPr>
          <a:xfrm>
            <a:off x="735835" y="1554987"/>
            <a:ext cx="7161826" cy="4524315"/>
          </a:xfrm>
          <a:prstGeom prst="rect">
            <a:avLst/>
          </a:prstGeom>
          <a:noFill/>
        </p:spPr>
        <p:txBody>
          <a:bodyPr wrap="square" rtlCol="0">
            <a:spAutoFit/>
          </a:bodyPr>
          <a:lstStyle/>
          <a:p>
            <a:r>
              <a:rPr lang="en-US" b="1" dirty="0"/>
              <a:t>Practical Bioinformatics Examples</a:t>
            </a:r>
          </a:p>
          <a:p>
            <a:pPr marL="285750" indent="-285750">
              <a:buFont typeface="Arial" panose="020B0604020202020204" pitchFamily="34" charset="0"/>
              <a:buChar char="•"/>
            </a:pPr>
            <a:r>
              <a:rPr lang="en-US" b="1" dirty="0"/>
              <a:t>Scenario 1</a:t>
            </a:r>
            <a:r>
              <a:rPr lang="en-US" dirty="0"/>
              <a:t>: Tracking versions of a data analysis pipeline </a:t>
            </a:r>
          </a:p>
          <a:p>
            <a:pPr marL="285750" indent="-285750">
              <a:buFont typeface="Arial" panose="020B0604020202020204" pitchFamily="34" charset="0"/>
              <a:buChar char="•"/>
            </a:pPr>
            <a:r>
              <a:rPr lang="en-US" b="1" dirty="0"/>
              <a:t>Scenario 2</a:t>
            </a:r>
            <a:r>
              <a:rPr lang="en-US" dirty="0"/>
              <a:t>: Two lab members working on the same pipeline avoiding overwriting</a:t>
            </a:r>
          </a:p>
          <a:p>
            <a:pPr marL="285750" indent="-285750">
              <a:buFont typeface="Arial" panose="020B0604020202020204" pitchFamily="34" charset="0"/>
              <a:buChar char="•"/>
            </a:pPr>
            <a:r>
              <a:rPr lang="en-US" b="1" dirty="0"/>
              <a:t>Scenario 3</a:t>
            </a:r>
            <a:r>
              <a:rPr lang="en-US" dirty="0"/>
              <a:t>: Sharing your analysis code with a collaborator or for publication</a:t>
            </a:r>
          </a:p>
          <a:p>
            <a:pPr marL="285750" indent="-285750">
              <a:buFont typeface="Arial" panose="020B0604020202020204" pitchFamily="34" charset="0"/>
              <a:buChar char="•"/>
            </a:pPr>
            <a:r>
              <a:rPr lang="en-US" b="1" dirty="0"/>
              <a:t>Scenario 4</a:t>
            </a:r>
            <a:r>
              <a:rPr lang="en-US" dirty="0"/>
              <a:t>: Finding when a bug was introduced in your preprocessing script</a:t>
            </a:r>
          </a:p>
          <a:p>
            <a:endParaRPr lang="en-US" dirty="0"/>
          </a:p>
          <a:p>
            <a:r>
              <a:rPr lang="en-US" b="1" dirty="0"/>
              <a:t>Best Practices for Bioinformaticians</a:t>
            </a:r>
          </a:p>
          <a:p>
            <a:pPr marL="285750" indent="-285750">
              <a:buFont typeface="Arial" panose="020B0604020202020204" pitchFamily="34" charset="0"/>
              <a:buChar char="•"/>
            </a:pPr>
            <a:r>
              <a:rPr lang="en-US" dirty="0"/>
              <a:t>What to version control: code, scripts, documentation, metadata</a:t>
            </a:r>
          </a:p>
          <a:p>
            <a:pPr marL="285750" indent="-285750">
              <a:buFont typeface="Arial" panose="020B0604020202020204" pitchFamily="34" charset="0"/>
              <a:buChar char="•"/>
            </a:pPr>
            <a:r>
              <a:rPr lang="en-US" dirty="0"/>
              <a:t>What NOT to version: raw/processed data (it's too large), large files → .</a:t>
            </a:r>
            <a:r>
              <a:rPr lang="en-US" dirty="0" err="1"/>
              <a:t>gitignore</a:t>
            </a:r>
            <a:endParaRPr lang="en-US" dirty="0"/>
          </a:p>
          <a:p>
            <a:pPr marL="285750" indent="-285750">
              <a:buFont typeface="Arial" panose="020B0604020202020204" pitchFamily="34" charset="0"/>
              <a:buChar char="•"/>
            </a:pPr>
            <a:r>
              <a:rPr lang="en-US" dirty="0"/>
              <a:t>Commit message conventions (makes history readable)</a:t>
            </a:r>
          </a:p>
          <a:p>
            <a:pPr marL="285750" indent="-285750">
              <a:buFont typeface="Arial" panose="020B0604020202020204" pitchFamily="34" charset="0"/>
              <a:buChar char="•"/>
            </a:pPr>
            <a:r>
              <a:rPr lang="en-US" dirty="0"/>
              <a:t>When to branch: experimenting with new tools, trying new statistical methods</a:t>
            </a:r>
          </a:p>
        </p:txBody>
      </p:sp>
      <p:pic>
        <p:nvPicPr>
          <p:cNvPr id="9220" name="Picture 4" descr="1/ a single job opening receives &gt;1000 applications. | 🎯 Ming &quot;Tommy&quot; Tang">
            <a:extLst>
              <a:ext uri="{FF2B5EF4-FFF2-40B4-BE49-F238E27FC236}">
                <a16:creationId xmlns:a16="http://schemas.microsoft.com/office/drawing/2014/main" id="{3F479290-3D26-7FDC-AA13-75A0A1C8F6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1394" y="1496860"/>
            <a:ext cx="3324222" cy="4409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480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A7820-D1EB-FC0C-700E-119D06EE8805}"/>
            </a:ext>
          </a:extLst>
        </p:cNvPr>
        <p:cNvGrpSpPr/>
        <p:nvPr/>
      </p:nvGrpSpPr>
      <p:grpSpPr>
        <a:xfrm>
          <a:off x="0" y="0"/>
          <a:ext cx="0" cy="0"/>
          <a:chOff x="0" y="0"/>
          <a:chExt cx="0" cy="0"/>
        </a:xfrm>
      </p:grpSpPr>
      <p:pic>
        <p:nvPicPr>
          <p:cNvPr id="8194" name="Picture 2" descr="Demo - Free computer icons">
            <a:extLst>
              <a:ext uri="{FF2B5EF4-FFF2-40B4-BE49-F238E27FC236}">
                <a16:creationId xmlns:a16="http://schemas.microsoft.com/office/drawing/2014/main" id="{9FF7AEF0-CD7B-F290-3024-AA79B7192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6413" y="1485377"/>
            <a:ext cx="3679173" cy="3679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766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646320" y="2089105"/>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HPC fundamentals</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F1ED029-BF96-DB0C-CA25-0CBEF7F8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76D1-CC64-6C7C-1EF7-A72FEF48A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D505A-798F-B5F2-3DAA-7B32D04E03A6}"/>
              </a:ext>
            </a:extLst>
          </p:cNvPr>
          <p:cNvSpPr>
            <a:spLocks noGrp="1"/>
          </p:cNvSpPr>
          <p:nvPr>
            <p:ph type="title"/>
          </p:nvPr>
        </p:nvSpPr>
        <p:spPr/>
        <p:txBody>
          <a:bodyPr>
            <a:normAutofit/>
          </a:bodyPr>
          <a:lstStyle/>
          <a:p>
            <a:r>
              <a:rPr lang="en-US" sz="4000" dirty="0">
                <a:latin typeface="Helvetica" pitchFamily="2" charset="0"/>
              </a:rPr>
              <a:t>The bioinformatics data challenge</a:t>
            </a:r>
          </a:p>
        </p:txBody>
      </p:sp>
      <p:pic>
        <p:nvPicPr>
          <p:cNvPr id="2050" name="Picture 2" descr="6+ Thousand High Performance Computing Icon Royalty-Free Images, Stock  Photos &amp; Pictures | Shutterstock">
            <a:extLst>
              <a:ext uri="{FF2B5EF4-FFF2-40B4-BE49-F238E27FC236}">
                <a16:creationId xmlns:a16="http://schemas.microsoft.com/office/drawing/2014/main" id="{20056B37-6D49-2E05-E94B-C4CF0183F7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888"/>
          <a:stretch>
            <a:fillRect/>
          </a:stretch>
        </p:blipFill>
        <p:spPr bwMode="auto">
          <a:xfrm>
            <a:off x="3604273" y="4007742"/>
            <a:ext cx="1899431" cy="176146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descr="Laptop with solid fill">
            <a:extLst>
              <a:ext uri="{FF2B5EF4-FFF2-40B4-BE49-F238E27FC236}">
                <a16:creationId xmlns:a16="http://schemas.microsoft.com/office/drawing/2014/main" id="{00EFECDC-DDB3-5611-52AB-434245D1D6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8694" y="1962472"/>
            <a:ext cx="1325563" cy="1325563"/>
          </a:xfrm>
          <a:prstGeom prst="rect">
            <a:avLst/>
          </a:prstGeom>
        </p:spPr>
      </p:pic>
      <p:pic>
        <p:nvPicPr>
          <p:cNvPr id="2052" name="Picture 4" descr="Sequencing - Free computer icons">
            <a:extLst>
              <a:ext uri="{FF2B5EF4-FFF2-40B4-BE49-F238E27FC236}">
                <a16:creationId xmlns:a16="http://schemas.microsoft.com/office/drawing/2014/main" id="{9BCCD70B-1AF3-E550-EDE9-4E864BB54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91" y="2113500"/>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D1BBE614-B373-2D88-AE8F-F6DFB27F74E0}"/>
              </a:ext>
            </a:extLst>
          </p:cNvPr>
          <p:cNvCxnSpPr>
            <a:cxnSpLocks/>
          </p:cNvCxnSpPr>
          <p:nvPr/>
        </p:nvCxnSpPr>
        <p:spPr>
          <a:xfrm>
            <a:off x="2398023" y="2625254"/>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D9E40E9-106A-7C33-0435-1C099766561F}"/>
              </a:ext>
            </a:extLst>
          </p:cNvPr>
          <p:cNvSpPr txBox="1"/>
          <p:nvPr/>
        </p:nvSpPr>
        <p:spPr>
          <a:xfrm>
            <a:off x="8596221" y="1690688"/>
            <a:ext cx="2842805" cy="1569660"/>
          </a:xfrm>
          <a:prstGeom prst="rect">
            <a:avLst/>
          </a:prstGeom>
          <a:noFill/>
        </p:spPr>
        <p:txBody>
          <a:bodyPr wrap="square">
            <a:spAutoFit/>
          </a:bodyPr>
          <a:lstStyle/>
          <a:p>
            <a:r>
              <a:rPr lang="en-US" sz="1600" b="1" dirty="0">
                <a:solidFill>
                  <a:srgbClr val="FF0000"/>
                </a:solidFill>
                <a:latin typeface="Helvetica" pitchFamily="2" charset="0"/>
              </a:rPr>
              <a:t>Problem:</a:t>
            </a:r>
            <a:r>
              <a:rPr lang="en-US" sz="1600" dirty="0">
                <a:solidFill>
                  <a:srgbClr val="FF0000"/>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Computation takes too long</a:t>
            </a:r>
          </a:p>
          <a:p>
            <a:pPr marL="285750" indent="-285750" fontAlgn="base">
              <a:buFont typeface="Arial" panose="020B0604020202020204" pitchFamily="34" charset="0"/>
              <a:buChar char="•"/>
            </a:pPr>
            <a:r>
              <a:rPr lang="en-US" sz="1600" dirty="0">
                <a:latin typeface="Helvetica" pitchFamily="2" charset="0"/>
              </a:rPr>
              <a:t>Modern datasets are too big </a:t>
            </a:r>
          </a:p>
          <a:p>
            <a:pPr marL="285750" indent="-285750" fontAlgn="base">
              <a:buFont typeface="Arial" panose="020B0604020202020204" pitchFamily="34" charset="0"/>
              <a:buChar char="•"/>
            </a:pPr>
            <a:r>
              <a:rPr lang="en-US" sz="1600" dirty="0">
                <a:latin typeface="Helvetica" pitchFamily="2" charset="0"/>
              </a:rPr>
              <a:t>Too many calculations</a:t>
            </a:r>
          </a:p>
        </p:txBody>
      </p:sp>
      <p:cxnSp>
        <p:nvCxnSpPr>
          <p:cNvPr id="18" name="Straight Arrow Connector 17">
            <a:extLst>
              <a:ext uri="{FF2B5EF4-FFF2-40B4-BE49-F238E27FC236}">
                <a16:creationId xmlns:a16="http://schemas.microsoft.com/office/drawing/2014/main" id="{8CF01938-FD82-80CF-A85F-94AACCD15833}"/>
              </a:ext>
            </a:extLst>
          </p:cNvPr>
          <p:cNvCxnSpPr>
            <a:cxnSpLocks/>
          </p:cNvCxnSpPr>
          <p:nvPr/>
        </p:nvCxnSpPr>
        <p:spPr>
          <a:xfrm>
            <a:off x="5672447" y="2639700"/>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4" descr="Sequencing - Free computer icons">
            <a:extLst>
              <a:ext uri="{FF2B5EF4-FFF2-40B4-BE49-F238E27FC236}">
                <a16:creationId xmlns:a16="http://schemas.microsoft.com/office/drawing/2014/main" id="{37A534C0-A95B-7D99-2DFA-D7F053E85E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991" y="4565473"/>
            <a:ext cx="1052400" cy="10524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81996C50-5981-4FEB-86A5-15C575E30361}"/>
              </a:ext>
            </a:extLst>
          </p:cNvPr>
          <p:cNvCxnSpPr>
            <a:cxnSpLocks/>
          </p:cNvCxnSpPr>
          <p:nvPr/>
        </p:nvCxnSpPr>
        <p:spPr>
          <a:xfrm>
            <a:off x="2398023"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B1F02-9131-0979-3D9B-DDFC27110B8D}"/>
              </a:ext>
            </a:extLst>
          </p:cNvPr>
          <p:cNvCxnSpPr>
            <a:cxnSpLocks/>
          </p:cNvCxnSpPr>
          <p:nvPr/>
        </p:nvCxnSpPr>
        <p:spPr>
          <a:xfrm>
            <a:off x="5672447" y="5077227"/>
            <a:ext cx="1037508"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56" name="Picture 8" descr="6+ Thousand Success Fail Icon Royalty-Free Images, Stock Photos &amp; Pictures  | Shutterstock">
            <a:extLst>
              <a:ext uri="{FF2B5EF4-FFF2-40B4-BE49-F238E27FC236}">
                <a16:creationId xmlns:a16="http://schemas.microsoft.com/office/drawing/2014/main" id="{13685A5D-F48E-664B-0452-1CC3C33CDC3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4956" b="17466"/>
          <a:stretch>
            <a:fillRect/>
          </a:stretch>
        </p:blipFill>
        <p:spPr bwMode="auto">
          <a:xfrm>
            <a:off x="6782252" y="4390999"/>
            <a:ext cx="1342845" cy="108417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6+ Thousand Success Fail Icon Royalty-Free Images, Stock Photos &amp; Pictures  | Shutterstock">
            <a:extLst>
              <a:ext uri="{FF2B5EF4-FFF2-40B4-BE49-F238E27FC236}">
                <a16:creationId xmlns:a16="http://schemas.microsoft.com/office/drawing/2014/main" id="{67EA9F03-6C27-FB94-8814-601BB079F56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320" b="13714"/>
          <a:stretch>
            <a:fillRect/>
          </a:stretch>
        </p:blipFill>
        <p:spPr bwMode="auto">
          <a:xfrm>
            <a:off x="7034348" y="2032437"/>
            <a:ext cx="1163185" cy="113346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64B79496-0D26-424A-C06B-0F5BC4BA1D09}"/>
              </a:ext>
            </a:extLst>
          </p:cNvPr>
          <p:cNvSpPr txBox="1"/>
          <p:nvPr/>
        </p:nvSpPr>
        <p:spPr>
          <a:xfrm>
            <a:off x="8596221" y="3917423"/>
            <a:ext cx="3160351" cy="1815882"/>
          </a:xfrm>
          <a:prstGeom prst="rect">
            <a:avLst/>
          </a:prstGeom>
          <a:noFill/>
        </p:spPr>
        <p:txBody>
          <a:bodyPr wrap="square">
            <a:spAutoFit/>
          </a:bodyPr>
          <a:lstStyle/>
          <a:p>
            <a:r>
              <a:rPr lang="en-US" sz="1600" b="1" dirty="0">
                <a:solidFill>
                  <a:schemeClr val="accent6"/>
                </a:solidFill>
                <a:latin typeface="Helvetica" pitchFamily="2" charset="0"/>
              </a:rPr>
              <a:t>Solution:</a:t>
            </a:r>
            <a:r>
              <a:rPr lang="en-US" sz="1600" dirty="0">
                <a:solidFill>
                  <a:schemeClr val="accent6"/>
                </a:solidFill>
                <a:latin typeface="Helvetica" pitchFamily="2" charset="0"/>
              </a:rPr>
              <a:t> </a:t>
            </a:r>
          </a:p>
          <a:p>
            <a:pPr marL="285750" indent="-285750" fontAlgn="base">
              <a:buFont typeface="Arial" panose="020B0604020202020204" pitchFamily="34" charset="0"/>
              <a:buChar char="•"/>
            </a:pPr>
            <a:r>
              <a:rPr lang="en-US" sz="1600" dirty="0">
                <a:latin typeface="Helvetica" pitchFamily="2" charset="0"/>
              </a:rPr>
              <a:t>Get a computer for exclusive use</a:t>
            </a:r>
          </a:p>
          <a:p>
            <a:pPr marL="285750" indent="-285750" fontAlgn="base">
              <a:buFont typeface="Arial" panose="020B0604020202020204" pitchFamily="34" charset="0"/>
              <a:buChar char="•"/>
            </a:pPr>
            <a:r>
              <a:rPr lang="en-US" sz="1600" dirty="0">
                <a:latin typeface="Helvetica" pitchFamily="2" charset="0"/>
              </a:rPr>
              <a:t>Divide tasks between many computers</a:t>
            </a:r>
          </a:p>
          <a:p>
            <a:pPr marL="285750" indent="-285750" fontAlgn="base">
              <a:buFont typeface="Arial" panose="020B0604020202020204" pitchFamily="34" charset="0"/>
              <a:buChar char="•"/>
            </a:pPr>
            <a:r>
              <a:rPr lang="en-US" sz="1600" dirty="0">
                <a:latin typeface="Helvetica" pitchFamily="2" charset="0"/>
              </a:rPr>
              <a:t>Use lots of computers simultaneously</a:t>
            </a:r>
          </a:p>
        </p:txBody>
      </p:sp>
      <p:sp>
        <p:nvSpPr>
          <p:cNvPr id="27" name="TextBox 26">
            <a:extLst>
              <a:ext uri="{FF2B5EF4-FFF2-40B4-BE49-F238E27FC236}">
                <a16:creationId xmlns:a16="http://schemas.microsoft.com/office/drawing/2014/main" id="{A9A74D1D-10EB-3067-0763-9B694966D223}"/>
              </a:ext>
            </a:extLst>
          </p:cNvPr>
          <p:cNvSpPr txBox="1"/>
          <p:nvPr/>
        </p:nvSpPr>
        <p:spPr>
          <a:xfrm>
            <a:off x="797166" y="3291125"/>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8" name="TextBox 27">
            <a:extLst>
              <a:ext uri="{FF2B5EF4-FFF2-40B4-BE49-F238E27FC236}">
                <a16:creationId xmlns:a16="http://schemas.microsoft.com/office/drawing/2014/main" id="{B21A965D-B813-D289-1EBB-694ABF58FF03}"/>
              </a:ext>
            </a:extLst>
          </p:cNvPr>
          <p:cNvSpPr txBox="1"/>
          <p:nvPr/>
        </p:nvSpPr>
        <p:spPr>
          <a:xfrm>
            <a:off x="797166" y="5659928"/>
            <a:ext cx="135005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Biological data</a:t>
            </a:r>
          </a:p>
        </p:txBody>
      </p:sp>
      <p:sp>
        <p:nvSpPr>
          <p:cNvPr id="29" name="TextBox 28">
            <a:extLst>
              <a:ext uri="{FF2B5EF4-FFF2-40B4-BE49-F238E27FC236}">
                <a16:creationId xmlns:a16="http://schemas.microsoft.com/office/drawing/2014/main" id="{E25569EB-14A4-4BAC-D182-71354458BE4E}"/>
              </a:ext>
            </a:extLst>
          </p:cNvPr>
          <p:cNvSpPr txBox="1"/>
          <p:nvPr/>
        </p:nvSpPr>
        <p:spPr>
          <a:xfrm>
            <a:off x="3708135" y="3291125"/>
            <a:ext cx="1686680"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Personal computer</a:t>
            </a:r>
          </a:p>
        </p:txBody>
      </p:sp>
      <p:sp>
        <p:nvSpPr>
          <p:cNvPr id="30" name="TextBox 29">
            <a:extLst>
              <a:ext uri="{FF2B5EF4-FFF2-40B4-BE49-F238E27FC236}">
                <a16:creationId xmlns:a16="http://schemas.microsoft.com/office/drawing/2014/main" id="{DBA359E4-38A4-536D-AEB7-E614AA3B9345}"/>
              </a:ext>
            </a:extLst>
          </p:cNvPr>
          <p:cNvSpPr txBox="1"/>
          <p:nvPr/>
        </p:nvSpPr>
        <p:spPr>
          <a:xfrm>
            <a:off x="3257465" y="5659928"/>
            <a:ext cx="2731838" cy="307777"/>
          </a:xfrm>
          <a:prstGeom prst="rect">
            <a:avLst/>
          </a:prstGeom>
          <a:noFill/>
        </p:spPr>
        <p:txBody>
          <a:bodyPr wrap="none" rtlCol="0">
            <a:spAutoFit/>
          </a:bodyPr>
          <a:lstStyle/>
          <a:p>
            <a:r>
              <a:rPr lang="en-US" sz="1400" dirty="0">
                <a:solidFill>
                  <a:schemeClr val="bg1">
                    <a:lumMod val="50000"/>
                  </a:schemeClr>
                </a:solidFill>
                <a:latin typeface="Helvetica" pitchFamily="2" charset="0"/>
              </a:rPr>
              <a:t>High performance cluster (HPC)</a:t>
            </a:r>
          </a:p>
        </p:txBody>
      </p:sp>
    </p:spTree>
    <p:extLst>
      <p:ext uri="{BB962C8B-B14F-4D97-AF65-F5344CB8AC3E}">
        <p14:creationId xmlns:p14="http://schemas.microsoft.com/office/powerpoint/2010/main" val="3603461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81B9-A535-46D6-8D1F-FB28C8E97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08573-F8FD-0FA6-7F73-ECD08151652F}"/>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9379BE18-A732-C3EA-0967-B4349149A278}"/>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5122" name="Picture 2" descr="Graphical user interface&#10;&#10;Description automatically generated">
            <a:extLst>
              <a:ext uri="{FF2B5EF4-FFF2-40B4-BE49-F238E27FC236}">
                <a16:creationId xmlns:a16="http://schemas.microsoft.com/office/drawing/2014/main" id="{4071D3FF-8388-B734-EB7A-FC772230E9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32" t="26476" r="2535" b="26762"/>
          <a:stretch>
            <a:fillRect/>
          </a:stretch>
        </p:blipFill>
        <p:spPr bwMode="auto">
          <a:xfrm>
            <a:off x="1881052" y="2809018"/>
            <a:ext cx="8255725" cy="3000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89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60F9-6E56-DEA6-E2D2-EBB155253C50}"/>
            </a:ext>
          </a:extLst>
        </p:cNvPr>
        <p:cNvGrpSpPr/>
        <p:nvPr/>
      </p:nvGrpSpPr>
      <p:grpSpPr>
        <a:xfrm>
          <a:off x="0" y="0"/>
          <a:ext cx="0" cy="0"/>
          <a:chOff x="0" y="0"/>
          <a:chExt cx="0" cy="0"/>
        </a:xfrm>
      </p:grpSpPr>
      <p:pic>
        <p:nvPicPr>
          <p:cNvPr id="7170" name="Picture 2" descr="Graphical user interface&#10;&#10;Description automatically generated">
            <a:extLst>
              <a:ext uri="{FF2B5EF4-FFF2-40B4-BE49-F238E27FC236}">
                <a16:creationId xmlns:a16="http://schemas.microsoft.com/office/drawing/2014/main" id="{508F6F86-8EC7-6D62-1437-2C43705369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9" t="28571" r="2100" b="27678"/>
          <a:stretch>
            <a:fillRect/>
          </a:stretch>
        </p:blipFill>
        <p:spPr bwMode="auto">
          <a:xfrm>
            <a:off x="1815737" y="2869512"/>
            <a:ext cx="8495211" cy="287942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1E1C2B-5CA1-ACED-5C17-3CEC9222FC13}"/>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0A520AA3-9322-61B8-4551-E5F4D8040672}"/>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spTree>
    <p:extLst>
      <p:ext uri="{BB962C8B-B14F-4D97-AF65-F5344CB8AC3E}">
        <p14:creationId xmlns:p14="http://schemas.microsoft.com/office/powerpoint/2010/main" val="1093437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872EB-397D-9D9E-5D4A-406DCF452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FCBF7-C404-517C-D712-1D1371DEEB38}"/>
              </a:ext>
            </a:extLst>
          </p:cNvPr>
          <p:cNvSpPr>
            <a:spLocks noGrp="1"/>
          </p:cNvSpPr>
          <p:nvPr>
            <p:ph type="title"/>
          </p:nvPr>
        </p:nvSpPr>
        <p:spPr/>
        <p:txBody>
          <a:bodyPr>
            <a:normAutofit/>
          </a:bodyPr>
          <a:lstStyle/>
          <a:p>
            <a:r>
              <a:rPr lang="en-US" sz="4000" dirty="0">
                <a:latin typeface="Helvetica" pitchFamily="2" charset="0"/>
              </a:rPr>
              <a:t>What is an HPC?</a:t>
            </a:r>
          </a:p>
        </p:txBody>
      </p:sp>
      <p:sp>
        <p:nvSpPr>
          <p:cNvPr id="4" name="TextBox 3">
            <a:extLst>
              <a:ext uri="{FF2B5EF4-FFF2-40B4-BE49-F238E27FC236}">
                <a16:creationId xmlns:a16="http://schemas.microsoft.com/office/drawing/2014/main" id="{1CE433F4-4BBE-906F-0A9D-7514686F17BD}"/>
              </a:ext>
            </a:extLst>
          </p:cNvPr>
          <p:cNvSpPr txBox="1"/>
          <p:nvPr/>
        </p:nvSpPr>
        <p:spPr>
          <a:xfrm>
            <a:off x="932361" y="1483455"/>
            <a:ext cx="9929406" cy="1231106"/>
          </a:xfrm>
          <a:prstGeom prst="rect">
            <a:avLst/>
          </a:prstGeom>
          <a:noFill/>
        </p:spPr>
        <p:txBody>
          <a:bodyPr wrap="square">
            <a:spAutoFit/>
          </a:bodyPr>
          <a:lstStyle/>
          <a:p>
            <a:pPr rtl="0">
              <a:spcAft>
                <a:spcPts val="1200"/>
              </a:spcAft>
              <a:buNone/>
            </a:pPr>
            <a:r>
              <a:rPr lang="en-US" sz="1600" b="0" i="0" u="none" strike="noStrike" dirty="0">
                <a:solidFill>
                  <a:srgbClr val="000000"/>
                </a:solidFill>
                <a:effectLst/>
                <a:latin typeface="Helvetica" pitchFamily="2" charset="0"/>
              </a:rPr>
              <a:t>A </a:t>
            </a:r>
            <a:r>
              <a:rPr lang="en-US" sz="1600" b="1" i="0" u="none" strike="noStrike" dirty="0">
                <a:solidFill>
                  <a:srgbClr val="000000"/>
                </a:solidFill>
                <a:effectLst/>
                <a:latin typeface="Helvetica" pitchFamily="2" charset="0"/>
              </a:rPr>
              <a:t>shared</a:t>
            </a:r>
            <a:r>
              <a:rPr lang="en-US" sz="1600" b="0" i="0" u="none" strike="noStrike" dirty="0">
                <a:solidFill>
                  <a:srgbClr val="000000"/>
                </a:solidFill>
                <a:effectLst/>
                <a:latin typeface="Helvetica" pitchFamily="2" charset="0"/>
              </a:rPr>
              <a:t> collection, or cluster, of a large number of regular </a:t>
            </a:r>
            <a:r>
              <a:rPr lang="en-US" sz="1600" b="1" i="0" u="none" strike="noStrike" dirty="0">
                <a:solidFill>
                  <a:srgbClr val="000000"/>
                </a:solidFill>
                <a:effectLst/>
                <a:latin typeface="Helvetica" pitchFamily="2" charset="0"/>
              </a:rPr>
              <a:t>computers</a:t>
            </a:r>
            <a:r>
              <a:rPr lang="en-US" sz="1600" b="0" i="0" u="none" strike="noStrike" dirty="0">
                <a:solidFill>
                  <a:srgbClr val="000000"/>
                </a:solidFill>
                <a:effectLst/>
                <a:latin typeface="Helvetica" pitchFamily="2" charset="0"/>
              </a:rPr>
              <a:t> (compute nodes) </a:t>
            </a:r>
            <a:r>
              <a:rPr lang="en-US" sz="1600" b="1" i="0" u="none" strike="noStrike" dirty="0">
                <a:solidFill>
                  <a:srgbClr val="000000"/>
                </a:solidFill>
                <a:effectLst/>
                <a:latin typeface="Helvetica" pitchFamily="2" charset="0"/>
              </a:rPr>
              <a:t>connected</a:t>
            </a:r>
            <a:r>
              <a:rPr lang="en-US" sz="1600" b="0" i="0" u="none" strike="noStrike" dirty="0">
                <a:solidFill>
                  <a:srgbClr val="000000"/>
                </a:solidFill>
                <a:effectLst/>
                <a:latin typeface="Helvetica" pitchFamily="2" charset="0"/>
              </a:rPr>
              <a:t> over a network.</a:t>
            </a:r>
            <a:r>
              <a:rPr lang="en-US" sz="1600" b="1" i="0" u="none" strike="noStrike" dirty="0">
                <a:solidFill>
                  <a:srgbClr val="000000"/>
                </a:solidFill>
                <a:effectLst/>
                <a:latin typeface="Helvetica" pitchFamily="2" charset="0"/>
              </a:rPr>
              <a:t> </a:t>
            </a:r>
            <a:endParaRPr lang="en-US" sz="1600" b="0" dirty="0">
              <a:effectLst/>
              <a:latin typeface="Helvetica" pitchFamily="2" charset="0"/>
            </a:endParaRPr>
          </a:p>
          <a:p>
            <a:pPr>
              <a:buNone/>
            </a:pPr>
            <a:br>
              <a:rPr lang="en-US" sz="1600" dirty="0">
                <a:latin typeface="Helvetica" pitchFamily="2" charset="0"/>
              </a:rPr>
            </a:br>
            <a:endParaRPr lang="en-US" sz="1600" dirty="0">
              <a:latin typeface="Helvetica" pitchFamily="2" charset="0"/>
            </a:endParaRPr>
          </a:p>
        </p:txBody>
      </p:sp>
      <p:pic>
        <p:nvPicPr>
          <p:cNvPr id="9218" name="Picture 2">
            <a:extLst>
              <a:ext uri="{FF2B5EF4-FFF2-40B4-BE49-F238E27FC236}">
                <a16:creationId xmlns:a16="http://schemas.microsoft.com/office/drawing/2014/main" id="{8BFC1275-6A55-D69B-3BFA-365F79B42A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328" y="2409377"/>
            <a:ext cx="6674439" cy="4083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45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812F-FD91-EF7F-A8B9-F15559D63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0241E-7BD0-D5F3-80A4-1E63961F5888}"/>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EB60A4D9-2D50-1C28-1090-8EDF32EC9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6C110A-578E-CE85-9E54-83175489E54D}"/>
              </a:ext>
            </a:extLst>
          </p:cNvPr>
          <p:cNvSpPr txBox="1"/>
          <p:nvPr/>
        </p:nvSpPr>
        <p:spPr>
          <a:xfrm>
            <a:off x="642900" y="1690688"/>
            <a:ext cx="6097088" cy="2215991"/>
          </a:xfrm>
          <a:prstGeom prst="rect">
            <a:avLst/>
          </a:prstGeom>
          <a:noFill/>
        </p:spPr>
        <p:txBody>
          <a:bodyPr wrap="square">
            <a:spAutoFit/>
          </a:bodyPr>
          <a:lstStyle/>
          <a:p>
            <a:pPr marL="285750" indent="-285750">
              <a:buFont typeface="Arial" panose="020B0604020202020204" pitchFamily="34" charset="0"/>
              <a:buChar char="•"/>
            </a:pPr>
            <a:r>
              <a:rPr lang="en-US" b="1" dirty="0">
                <a:latin typeface="Helvetica" pitchFamily="2" charset="0"/>
              </a:rPr>
              <a:t>CPU  </a:t>
            </a:r>
            <a:r>
              <a:rPr lang="en-US" dirty="0">
                <a:latin typeface="Helvetica" pitchFamily="2" charset="0"/>
              </a:rPr>
              <a:t>(Central processing unit) </a:t>
            </a:r>
            <a:r>
              <a:rPr lang="en-US" b="1" dirty="0">
                <a:latin typeface="Helvetica" pitchFamily="2" charset="0"/>
              </a:rPr>
              <a:t>= Taskmaster:</a:t>
            </a:r>
            <a:r>
              <a:rPr lang="en-US" dirty="0">
                <a:latin typeface="Helvetica" pitchFamily="2" charset="0"/>
              </a:rPr>
              <a:t> General purpose, sequential work. 8-64 cores.</a:t>
            </a:r>
          </a:p>
          <a:p>
            <a:r>
              <a:rPr lang="en-US" sz="1400" i="1" dirty="0">
                <a:latin typeface="Helvetica Light Oblique" panose="020B0403020202020204" pitchFamily="34" charset="0"/>
              </a:rPr>
              <a:t>Think of a CPU as a small team of highly skilled experts. Each core can tackle complex, diverse tasks independently and make sophisticated decisions.</a:t>
            </a:r>
            <a:endParaRPr lang="en-US" dirty="0">
              <a:latin typeface="Helvetica" pitchFamily="2" charset="0"/>
            </a:endParaRPr>
          </a:p>
          <a:p>
            <a:pPr marL="742950" lvl="1" indent="-285750">
              <a:buFont typeface="Arial" panose="020B0604020202020204" pitchFamily="34" charset="0"/>
              <a:buChar char="•"/>
            </a:pPr>
            <a:r>
              <a:rPr lang="en-US" sz="1400" dirty="0">
                <a:latin typeface="Helvetica" pitchFamily="2" charset="0"/>
              </a:rPr>
              <a:t>Sequence alignment (BWA, Bowtie) </a:t>
            </a:r>
          </a:p>
          <a:p>
            <a:pPr marL="742950" lvl="1" indent="-285750">
              <a:buFont typeface="Arial" panose="020B0604020202020204" pitchFamily="34" charset="0"/>
              <a:buChar char="•"/>
            </a:pPr>
            <a:r>
              <a:rPr lang="en-US" sz="1400" dirty="0">
                <a:latin typeface="Helvetica" pitchFamily="2" charset="0"/>
              </a:rPr>
              <a:t>Variant calling (GATK), </a:t>
            </a:r>
          </a:p>
          <a:p>
            <a:pPr marL="742950" lvl="1" indent="-285750">
              <a:buFont typeface="Arial" panose="020B0604020202020204" pitchFamily="34" charset="0"/>
              <a:buChar char="•"/>
            </a:pPr>
            <a:r>
              <a:rPr lang="en-US" sz="1400" dirty="0">
                <a:latin typeface="Helvetica" pitchFamily="2" charset="0"/>
              </a:rPr>
              <a:t>Gene expression analysis (DESeq2)</a:t>
            </a:r>
          </a:p>
          <a:p>
            <a:endParaRPr lang="en-US" dirty="0">
              <a:latin typeface="Helvetica" pitchFamily="2" charset="0"/>
            </a:endParaRPr>
          </a:p>
        </p:txBody>
      </p:sp>
    </p:spTree>
    <p:extLst>
      <p:ext uri="{BB962C8B-B14F-4D97-AF65-F5344CB8AC3E}">
        <p14:creationId xmlns:p14="http://schemas.microsoft.com/office/powerpoint/2010/main" val="1926250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302D-752C-DC45-2306-781B3D4F8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1ECD0-5722-9778-284D-B12200C6BF9B}"/>
              </a:ext>
            </a:extLst>
          </p:cNvPr>
          <p:cNvSpPr>
            <a:spLocks noGrp="1"/>
          </p:cNvSpPr>
          <p:nvPr>
            <p:ph type="title"/>
          </p:nvPr>
        </p:nvSpPr>
        <p:spPr/>
        <p:txBody>
          <a:bodyPr>
            <a:normAutofit/>
          </a:bodyPr>
          <a:lstStyle/>
          <a:p>
            <a:r>
              <a:rPr lang="en-US" sz="4000" dirty="0">
                <a:latin typeface="Helvetica" pitchFamily="2" charset="0"/>
              </a:rPr>
              <a:t>CPU vs. GPU</a:t>
            </a:r>
          </a:p>
        </p:txBody>
      </p:sp>
      <p:pic>
        <p:nvPicPr>
          <p:cNvPr id="11268" name="Picture 4">
            <a:extLst>
              <a:ext uri="{FF2B5EF4-FFF2-40B4-BE49-F238E27FC236}">
                <a16:creationId xmlns:a16="http://schemas.microsoft.com/office/drawing/2014/main" id="{F8F7E9E6-AA9A-B767-D1F1-DEBD9A654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0938" y="2090057"/>
            <a:ext cx="4306417" cy="34943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6B948E3-ED56-AB76-B756-7935446AF413}"/>
              </a:ext>
            </a:extLst>
          </p:cNvPr>
          <p:cNvSpPr txBox="1"/>
          <p:nvPr/>
        </p:nvSpPr>
        <p:spPr>
          <a:xfrm>
            <a:off x="642900" y="1690688"/>
            <a:ext cx="6097088" cy="4124206"/>
          </a:xfrm>
          <a:prstGeom prst="rect">
            <a:avLst/>
          </a:prstGeom>
          <a:noFill/>
        </p:spPr>
        <p:txBody>
          <a:bodyPr wrap="square">
            <a:spAutoFit/>
          </a:bodyPr>
          <a:lstStyle/>
          <a:p>
            <a:pPr marL="285750" indent="-285750">
              <a:buFont typeface="Arial" panose="020B0604020202020204" pitchFamily="34" charset="0"/>
              <a:buChar char="•"/>
            </a:pPr>
            <a:r>
              <a:rPr lang="en-US" b="1" dirty="0">
                <a:solidFill>
                  <a:schemeClr val="bg1">
                    <a:lumMod val="50000"/>
                  </a:schemeClr>
                </a:solidFill>
                <a:latin typeface="Helvetica" pitchFamily="2" charset="0"/>
              </a:rPr>
              <a:t>CPU  </a:t>
            </a:r>
            <a:r>
              <a:rPr lang="en-US" dirty="0">
                <a:solidFill>
                  <a:schemeClr val="bg1">
                    <a:lumMod val="50000"/>
                  </a:schemeClr>
                </a:solidFill>
                <a:latin typeface="Helvetica" pitchFamily="2" charset="0"/>
              </a:rPr>
              <a:t>(Central processing unit) </a:t>
            </a:r>
            <a:r>
              <a:rPr lang="en-US" b="1" dirty="0">
                <a:solidFill>
                  <a:schemeClr val="bg1">
                    <a:lumMod val="50000"/>
                  </a:schemeClr>
                </a:solidFill>
                <a:latin typeface="Helvetica" pitchFamily="2" charset="0"/>
              </a:rPr>
              <a:t>= Taskmaster:</a:t>
            </a:r>
            <a:r>
              <a:rPr lang="en-US" dirty="0">
                <a:solidFill>
                  <a:schemeClr val="bg1">
                    <a:lumMod val="50000"/>
                  </a:schemeClr>
                </a:solidFill>
                <a:latin typeface="Helvetica" pitchFamily="2" charset="0"/>
              </a:rPr>
              <a:t> General purpose, sequential work. 8-64 cores.</a:t>
            </a:r>
          </a:p>
          <a:p>
            <a:r>
              <a:rPr lang="en-US" sz="1400" i="1" dirty="0">
                <a:solidFill>
                  <a:schemeClr val="bg1">
                    <a:lumMod val="50000"/>
                  </a:schemeClr>
                </a:solidFill>
                <a:latin typeface="Helvetica Light Oblique" panose="020B0403020202020204" pitchFamily="34" charset="0"/>
              </a:rPr>
              <a:t>Think of a CPU as a small team of highly skilled experts. Each core can tackle complex, diverse tasks independently and make sophisticated decisions.</a:t>
            </a:r>
            <a:endParaRPr lang="en-US" dirty="0">
              <a:solidFill>
                <a:schemeClr val="bg1">
                  <a:lumMod val="50000"/>
                </a:schemeClr>
              </a:solidFill>
              <a:latin typeface="Helvetica" pitchFamily="2" charset="0"/>
            </a:endParaRP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Sequence alignment (BWA, Bowtie)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Variant calling (GATK), </a:t>
            </a:r>
          </a:p>
          <a:p>
            <a:pPr marL="742950" lvl="1" indent="-285750">
              <a:buFont typeface="Arial" panose="020B0604020202020204" pitchFamily="34" charset="0"/>
              <a:buChar char="•"/>
            </a:pPr>
            <a:r>
              <a:rPr lang="en-US" sz="1400" dirty="0">
                <a:solidFill>
                  <a:schemeClr val="bg1">
                    <a:lumMod val="50000"/>
                  </a:schemeClr>
                </a:solidFill>
                <a:latin typeface="Helvetica" pitchFamily="2" charset="0"/>
              </a:rPr>
              <a:t>Gene expression analysis (DESeq2)</a:t>
            </a:r>
          </a:p>
          <a:p>
            <a:endParaRPr lang="en-US" dirty="0">
              <a:latin typeface="Helvetica" pitchFamily="2" charset="0"/>
            </a:endParaRPr>
          </a:p>
          <a:p>
            <a:pPr marL="285750" indent="-285750">
              <a:buFont typeface="Arial" panose="020B0604020202020204" pitchFamily="34" charset="0"/>
              <a:buChar char="•"/>
            </a:pPr>
            <a:r>
              <a:rPr lang="en-US" b="1" dirty="0">
                <a:latin typeface="Helvetica" pitchFamily="2" charset="0"/>
              </a:rPr>
              <a:t>GPU </a:t>
            </a:r>
            <a:r>
              <a:rPr lang="en-US" dirty="0">
                <a:latin typeface="Helvetica" pitchFamily="2" charset="0"/>
              </a:rPr>
              <a:t>(Graphic processing unit) </a:t>
            </a:r>
            <a:r>
              <a:rPr lang="en-US" b="1" dirty="0">
                <a:latin typeface="Helvetica" pitchFamily="2" charset="0"/>
              </a:rPr>
              <a:t>= Turbo-Boost:</a:t>
            </a:r>
            <a:r>
              <a:rPr lang="en-US" dirty="0">
                <a:latin typeface="Helvetica" pitchFamily="2" charset="0"/>
              </a:rPr>
              <a:t> Specialized, massive parallel work (Deep Learning, Protein Prediction). Thousands of cores.</a:t>
            </a:r>
          </a:p>
          <a:p>
            <a:r>
              <a:rPr lang="en-US" sz="1400" i="1" dirty="0">
                <a:latin typeface="Helvetica Light Oblique" panose="020B0403020202020204" pitchFamily="34" charset="0"/>
              </a:rPr>
              <a:t>A GPU is  like having thousands of workers who can all do the same simple task simultaneously.</a:t>
            </a:r>
          </a:p>
          <a:p>
            <a:pPr marL="742950" lvl="1" indent="-285750">
              <a:buFont typeface="Arial" panose="020B0604020202020204" pitchFamily="34" charset="0"/>
              <a:buChar char="•"/>
            </a:pPr>
            <a:r>
              <a:rPr lang="en-US" sz="1400" dirty="0">
                <a:latin typeface="Helvetica" pitchFamily="2" charset="0"/>
              </a:rPr>
              <a:t>Deep learning (AlphaFold, protein structure prediction)</a:t>
            </a:r>
          </a:p>
          <a:p>
            <a:pPr marL="742950" lvl="1" indent="-285750">
              <a:buFont typeface="Arial" panose="020B0604020202020204" pitchFamily="34" charset="0"/>
              <a:buChar char="•"/>
            </a:pPr>
            <a:r>
              <a:rPr lang="en-US" sz="1400" dirty="0">
                <a:latin typeface="Helvetica" pitchFamily="2" charset="0"/>
              </a:rPr>
              <a:t>Molecular dynamics simulations</a:t>
            </a:r>
          </a:p>
          <a:p>
            <a:pPr marL="742950" lvl="1" indent="-285750">
              <a:buFont typeface="Arial" panose="020B0604020202020204" pitchFamily="34" charset="0"/>
              <a:buChar char="•"/>
            </a:pPr>
            <a:r>
              <a:rPr lang="en-US" sz="1400" dirty="0">
                <a:latin typeface="Helvetica" pitchFamily="2" charset="0"/>
              </a:rPr>
              <a:t>Some genome assembly algorithms</a:t>
            </a:r>
            <a:endParaRPr lang="en-US" sz="1400" i="1" dirty="0">
              <a:latin typeface="Helvetica" pitchFamily="2" charset="0"/>
            </a:endParaRPr>
          </a:p>
        </p:txBody>
      </p:sp>
    </p:spTree>
    <p:extLst>
      <p:ext uri="{BB962C8B-B14F-4D97-AF65-F5344CB8AC3E}">
        <p14:creationId xmlns:p14="http://schemas.microsoft.com/office/powerpoint/2010/main" val="1027911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B7653-2B50-AEB2-747D-1C847DEF0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6A812-3C65-51A5-469E-4F5AA25BE7F8}"/>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7359E43-7C1E-361E-2264-53712D534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248C0F-3164-DA58-071F-C6F698A4D10C}"/>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685680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BAD-DC17-E664-89B0-29E816D01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4C19D-DD0D-D938-F48E-78AE17E5C28F}"/>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0B9F0F9D-BB10-ED14-4F70-045461165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75BAF5-DDD2-2F5F-AA14-55CDFD17116D}"/>
              </a:ext>
            </a:extLst>
          </p:cNvPr>
          <p:cNvSpPr txBox="1"/>
          <p:nvPr/>
        </p:nvSpPr>
        <p:spPr>
          <a:xfrm>
            <a:off x="632598" y="2118241"/>
            <a:ext cx="6159136" cy="2739211"/>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Helvetica" pitchFamily="2" charset="0"/>
              </a:rPr>
              <a:t>Node: </a:t>
            </a:r>
          </a:p>
          <a:p>
            <a:r>
              <a:rPr lang="en-US" sz="1400" dirty="0">
                <a:latin typeface="Helvetica" pitchFamily="2" charset="0"/>
              </a:rPr>
              <a:t>A node is </a:t>
            </a:r>
            <a:r>
              <a:rPr lang="en-US" sz="1400" b="1" dirty="0">
                <a:latin typeface="Helvetica" pitchFamily="2" charset="0"/>
              </a:rPr>
              <a:t>an entire computer </a:t>
            </a:r>
            <a:r>
              <a:rPr lang="en-US" sz="1400" dirty="0">
                <a:latin typeface="Helvetica" pitchFamily="2" charset="0"/>
              </a:rPr>
              <a:t>within the HPC cluster. </a:t>
            </a:r>
            <a:r>
              <a:rPr lang="en-US" sz="1400" i="1" dirty="0">
                <a:latin typeface="Helvetica" pitchFamily="2" charset="0"/>
              </a:rPr>
              <a:t>Think of a node as a complete office workspace with everything needed to function independently. </a:t>
            </a:r>
            <a:r>
              <a:rPr lang="en-US" sz="1400" dirty="0">
                <a:latin typeface="Helvetica" pitchFamily="2" charset="0"/>
              </a:rPr>
              <a:t>Each node contains:</a:t>
            </a:r>
          </a:p>
          <a:p>
            <a:pPr marL="742950" lvl="1" indent="-285750">
              <a:buFont typeface="Arial" panose="020B0604020202020204" pitchFamily="34" charset="0"/>
              <a:buChar char="•"/>
            </a:pPr>
            <a:r>
              <a:rPr lang="en-US" sz="1400" dirty="0">
                <a:latin typeface="Helvetica" pitchFamily="2" charset="0"/>
              </a:rPr>
              <a:t>One or more CPUs and/or GPUs (each with multiple cores)</a:t>
            </a:r>
          </a:p>
          <a:p>
            <a:pPr marL="742950" lvl="1" indent="-285750">
              <a:buFont typeface="Arial" panose="020B0604020202020204" pitchFamily="34" charset="0"/>
              <a:buChar char="•"/>
            </a:pPr>
            <a:r>
              <a:rPr lang="en-US" sz="1400" dirty="0">
                <a:latin typeface="Helvetica" pitchFamily="2" charset="0"/>
              </a:rPr>
              <a:t>Memory (RAM)</a:t>
            </a:r>
          </a:p>
          <a:p>
            <a:pPr marL="742950" lvl="1" indent="-285750">
              <a:buFont typeface="Arial" panose="020B0604020202020204" pitchFamily="34" charset="0"/>
              <a:buChar char="•"/>
            </a:pPr>
            <a:r>
              <a:rPr lang="en-US" sz="1400" dirty="0">
                <a:latin typeface="Helvetica" pitchFamily="2" charset="0"/>
              </a:rPr>
              <a:t>Storage connection</a:t>
            </a:r>
          </a:p>
          <a:p>
            <a:pPr marL="742950" lvl="1" indent="-285750">
              <a:buFont typeface="Arial" panose="020B0604020202020204" pitchFamily="34" charset="0"/>
              <a:buChar char="•"/>
            </a:pPr>
            <a:r>
              <a:rPr lang="en-US" sz="1400" dirty="0">
                <a:latin typeface="Helvetica" pitchFamily="2" charset="0"/>
              </a:rPr>
              <a:t>Network connection to other nodes </a:t>
            </a:r>
          </a:p>
          <a:p>
            <a:pPr marL="742950" lvl="1" indent="-285750">
              <a:buFont typeface="Arial" panose="020B0604020202020204" pitchFamily="34" charset="0"/>
              <a:buChar char="•"/>
            </a:pPr>
            <a:r>
              <a:rPr lang="en-US" sz="1400" dirty="0">
                <a:latin typeface="Helvetica" pitchFamily="2" charset="0"/>
              </a:rPr>
              <a:t>Note: in Hazel compute nodes do not have internet connection!</a:t>
            </a: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endParaRPr lang="en-US" sz="1400" dirty="0">
              <a:latin typeface="Helvetica" pitchFamily="2" charset="0"/>
            </a:endParaRPr>
          </a:p>
        </p:txBody>
      </p:sp>
      <p:sp>
        <p:nvSpPr>
          <p:cNvPr id="5" name="TextBox 4">
            <a:extLst>
              <a:ext uri="{FF2B5EF4-FFF2-40B4-BE49-F238E27FC236}">
                <a16:creationId xmlns:a16="http://schemas.microsoft.com/office/drawing/2014/main" id="{795EDF3B-86D3-BF09-3D4E-24A5FD628F57}"/>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pic>
        <p:nvPicPr>
          <p:cNvPr id="17" name="Picture 2">
            <a:extLst>
              <a:ext uri="{FF2B5EF4-FFF2-40B4-BE49-F238E27FC236}">
                <a16:creationId xmlns:a16="http://schemas.microsoft.com/office/drawing/2014/main" id="{25BE3D07-2DD4-B95C-D9FA-4A737D7E96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04" b="34535"/>
          <a:stretch>
            <a:fillRect/>
          </a:stretch>
        </p:blipFill>
        <p:spPr bwMode="auto">
          <a:xfrm>
            <a:off x="10444347" y="5282178"/>
            <a:ext cx="1668483" cy="135838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B9DCF0F5-E2DE-7BEB-1CAC-600BF2CD5853}"/>
              </a:ext>
            </a:extLst>
          </p:cNvPr>
          <p:cNvCxnSpPr>
            <a:cxnSpLocks/>
          </p:cNvCxnSpPr>
          <p:nvPr/>
        </p:nvCxnSpPr>
        <p:spPr>
          <a:xfrm flipH="1" flipV="1">
            <a:off x="11780322" y="3877293"/>
            <a:ext cx="89065" cy="163879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740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64B5-46AE-53A5-D2B1-8D5AAF0DA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DC1A8-643B-55FF-7774-9B6C51CCBFED}"/>
              </a:ext>
            </a:extLst>
          </p:cNvPr>
          <p:cNvSpPr>
            <a:spLocks noGrp="1"/>
          </p:cNvSpPr>
          <p:nvPr>
            <p:ph type="title"/>
          </p:nvPr>
        </p:nvSpPr>
        <p:spPr/>
        <p:txBody>
          <a:bodyPr>
            <a:normAutofit/>
          </a:bodyPr>
          <a:lstStyle/>
          <a:p>
            <a:r>
              <a:rPr lang="en-US" sz="4000" dirty="0">
                <a:latin typeface="Helvetica" pitchFamily="2" charset="0"/>
              </a:rPr>
              <a:t>Node vs. core</a:t>
            </a:r>
          </a:p>
        </p:txBody>
      </p:sp>
      <p:pic>
        <p:nvPicPr>
          <p:cNvPr id="11266" name="Picture 2">
            <a:extLst>
              <a:ext uri="{FF2B5EF4-FFF2-40B4-BE49-F238E27FC236}">
                <a16:creationId xmlns:a16="http://schemas.microsoft.com/office/drawing/2014/main" id="{A2F0CC91-2C95-9FD9-1234-5AF2C07F7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272" y="2224749"/>
            <a:ext cx="4990963" cy="36938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D844C2-5CA9-8A6D-9E75-0027219067A2}"/>
              </a:ext>
            </a:extLst>
          </p:cNvPr>
          <p:cNvSpPr txBox="1"/>
          <p:nvPr/>
        </p:nvSpPr>
        <p:spPr>
          <a:xfrm>
            <a:off x="632598" y="2118241"/>
            <a:ext cx="6159136" cy="4739759"/>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lumMod val="65000"/>
                  </a:schemeClr>
                </a:solidFill>
                <a:latin typeface="Helvetica" pitchFamily="2" charset="0"/>
              </a:rPr>
              <a:t>Node: </a:t>
            </a:r>
          </a:p>
          <a:p>
            <a:r>
              <a:rPr lang="en-US" sz="1400" dirty="0">
                <a:solidFill>
                  <a:schemeClr val="bg1">
                    <a:lumMod val="65000"/>
                  </a:schemeClr>
                </a:solidFill>
                <a:latin typeface="Helvetica" pitchFamily="2" charset="0"/>
              </a:rPr>
              <a:t>A node is </a:t>
            </a:r>
            <a:r>
              <a:rPr lang="en-US" sz="1400" b="1" dirty="0">
                <a:solidFill>
                  <a:schemeClr val="bg1">
                    <a:lumMod val="65000"/>
                  </a:schemeClr>
                </a:solidFill>
                <a:latin typeface="Helvetica" pitchFamily="2" charset="0"/>
              </a:rPr>
              <a:t>an entire computer </a:t>
            </a:r>
            <a:r>
              <a:rPr lang="en-US" sz="1400" dirty="0">
                <a:solidFill>
                  <a:schemeClr val="bg1">
                    <a:lumMod val="65000"/>
                  </a:schemeClr>
                </a:solidFill>
                <a:latin typeface="Helvetica" pitchFamily="2" charset="0"/>
              </a:rPr>
              <a:t>within the HPC cluster. </a:t>
            </a:r>
            <a:r>
              <a:rPr lang="en-US" sz="1400" i="1" dirty="0">
                <a:solidFill>
                  <a:schemeClr val="bg1">
                    <a:lumMod val="65000"/>
                  </a:schemeClr>
                </a:solidFill>
                <a:latin typeface="Helvetica" pitchFamily="2" charset="0"/>
              </a:rPr>
              <a:t>Think of a node as a complete office workspace with everything needed to function independently. </a:t>
            </a:r>
            <a:r>
              <a:rPr lang="en-US" sz="1400" dirty="0">
                <a:solidFill>
                  <a:schemeClr val="bg1">
                    <a:lumMod val="65000"/>
                  </a:schemeClr>
                </a:solidFill>
                <a:latin typeface="Helvetica" pitchFamily="2" charset="0"/>
              </a:rPr>
              <a:t>Each node contains: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One or more CPUs and/or GPUs (each with multiple cores)</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Memory (RAM)</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Storage connection</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Network connection to other nodes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Note: in Hazel compute nodes do not have internet connection!</a:t>
            </a:r>
            <a:endParaRPr lang="en-US" sz="1400" b="1" dirty="0">
              <a:solidFill>
                <a:schemeClr val="bg1">
                  <a:lumMod val="65000"/>
                </a:schemeClr>
              </a:solidFill>
              <a:latin typeface="Helvetica" pitchFamily="2" charset="0"/>
            </a:endParaRPr>
          </a:p>
          <a:p>
            <a:pPr marL="285750" indent="-285750">
              <a:buFont typeface="Arial" panose="020B0604020202020204" pitchFamily="34" charset="0"/>
              <a:buChar char="•"/>
            </a:pPr>
            <a:endParaRPr lang="en-US" sz="1400" b="1" dirty="0">
              <a:latin typeface="Helvetica" pitchFamily="2" charset="0"/>
            </a:endParaRPr>
          </a:p>
          <a:p>
            <a:pPr marL="285750" indent="-285750">
              <a:buFont typeface="Arial" panose="020B0604020202020204" pitchFamily="34" charset="0"/>
              <a:buChar char="•"/>
            </a:pPr>
            <a:r>
              <a:rPr lang="en-US" b="1" dirty="0">
                <a:latin typeface="Helvetica" pitchFamily="2" charset="0"/>
              </a:rPr>
              <a:t>Core: </a:t>
            </a:r>
          </a:p>
          <a:p>
            <a:r>
              <a:rPr lang="en-US" sz="1400" dirty="0">
                <a:latin typeface="Helvetica" pitchFamily="2" charset="0"/>
              </a:rPr>
              <a:t>A core is a</a:t>
            </a:r>
            <a:r>
              <a:rPr lang="en-US" sz="1400" b="1" dirty="0">
                <a:latin typeface="Helvetica" pitchFamily="2" charset="0"/>
              </a:rPr>
              <a:t> single processing unit </a:t>
            </a:r>
            <a:r>
              <a:rPr lang="en-US" sz="1400" dirty="0">
                <a:latin typeface="Helvetica" pitchFamily="2" charset="0"/>
              </a:rPr>
              <a:t>within a CPU. It's the fundamental unit that executes instructions. </a:t>
            </a:r>
            <a:r>
              <a:rPr lang="en-US" sz="1400" i="1" dirty="0">
                <a:latin typeface="Helvetica" pitchFamily="2" charset="0"/>
              </a:rPr>
              <a:t>Think of a core as one individual worker who can complete tasks.</a:t>
            </a:r>
          </a:p>
          <a:p>
            <a:pPr marL="742950" lvl="1" indent="-285750">
              <a:buFont typeface="Arial" panose="020B0604020202020204" pitchFamily="34" charset="0"/>
              <a:buChar char="•"/>
            </a:pPr>
            <a:r>
              <a:rPr lang="en-US" sz="1400" dirty="0">
                <a:latin typeface="Helvetica" pitchFamily="2" charset="0"/>
              </a:rPr>
              <a:t>Modern CPUs contain multiple cores (typically 8-64 cores per CPU)</a:t>
            </a:r>
          </a:p>
          <a:p>
            <a:pPr marL="742950" lvl="1" indent="-285750">
              <a:buFont typeface="Arial" panose="020B0604020202020204" pitchFamily="34" charset="0"/>
              <a:buChar char="•"/>
            </a:pPr>
            <a:r>
              <a:rPr lang="en-US" sz="1400" dirty="0">
                <a:latin typeface="Helvetica" pitchFamily="2" charset="0"/>
              </a:rPr>
              <a:t>Each core can run its own thread of execution independently</a:t>
            </a:r>
          </a:p>
          <a:p>
            <a:pPr marL="742950" lvl="1" indent="-285750">
              <a:buFont typeface="Arial" panose="020B0604020202020204" pitchFamily="34" charset="0"/>
              <a:buChar char="•"/>
            </a:pPr>
            <a:r>
              <a:rPr lang="en-US" sz="1400" dirty="0">
                <a:latin typeface="Helvetica" pitchFamily="2" charset="0"/>
              </a:rPr>
              <a:t>More cores = more tasks can run simultaneously</a:t>
            </a:r>
          </a:p>
          <a:p>
            <a:pPr marL="742950" lvl="1" indent="-285750">
              <a:buFont typeface="Arial" panose="020B0604020202020204" pitchFamily="34" charset="0"/>
              <a:buChar char="•"/>
            </a:pPr>
            <a:r>
              <a:rPr lang="en-US" sz="1400" dirty="0">
                <a:latin typeface="Helvetica" pitchFamily="2" charset="0"/>
              </a:rPr>
              <a:t>Example: A 32-core CPU can theoretically run 32 different calculations at the same time</a:t>
            </a:r>
          </a:p>
          <a:p>
            <a:endParaRPr lang="en-US" sz="1400" dirty="0">
              <a:latin typeface="Helvetica" pitchFamily="2" charset="0"/>
            </a:endParaRPr>
          </a:p>
        </p:txBody>
      </p:sp>
      <p:sp>
        <p:nvSpPr>
          <p:cNvPr id="5" name="TextBox 4">
            <a:extLst>
              <a:ext uri="{FF2B5EF4-FFF2-40B4-BE49-F238E27FC236}">
                <a16:creationId xmlns:a16="http://schemas.microsoft.com/office/drawing/2014/main" id="{26C0FA63-C607-4532-2BCA-4219E61B56F6}"/>
              </a:ext>
            </a:extLst>
          </p:cNvPr>
          <p:cNvSpPr txBox="1"/>
          <p:nvPr/>
        </p:nvSpPr>
        <p:spPr>
          <a:xfrm>
            <a:off x="632598" y="1319689"/>
            <a:ext cx="10973207" cy="584775"/>
          </a:xfrm>
          <a:prstGeom prst="rect">
            <a:avLst/>
          </a:prstGeom>
          <a:noFill/>
        </p:spPr>
        <p:txBody>
          <a:bodyPr wrap="square">
            <a:spAutoFit/>
          </a:bodyPr>
          <a:lstStyle/>
          <a:p>
            <a:r>
              <a:rPr lang="en-US" sz="1600" dirty="0">
                <a:latin typeface="Helvetica" pitchFamily="2" charset="0"/>
              </a:rPr>
              <a:t>A </a:t>
            </a:r>
            <a:r>
              <a:rPr lang="en-US" sz="1600" b="1" dirty="0">
                <a:latin typeface="Helvetica" pitchFamily="2" charset="0"/>
              </a:rPr>
              <a:t>node </a:t>
            </a:r>
            <a:r>
              <a:rPr lang="en-US" sz="1600" dirty="0">
                <a:latin typeface="Helvetica" pitchFamily="2" charset="0"/>
              </a:rPr>
              <a:t>is a single, self-contained computer in the cluster, connected to the others via a high-speed network. Each node has a number of computing units, </a:t>
            </a:r>
            <a:r>
              <a:rPr lang="en-US" sz="1600" b="1" dirty="0">
                <a:latin typeface="Helvetica" pitchFamily="2" charset="0"/>
              </a:rPr>
              <a:t>cores</a:t>
            </a:r>
            <a:r>
              <a:rPr lang="en-US" sz="1600" dirty="0">
                <a:latin typeface="Helvetica" pitchFamily="2" charset="0"/>
              </a:rPr>
              <a:t>.</a:t>
            </a:r>
          </a:p>
        </p:txBody>
      </p:sp>
    </p:spTree>
    <p:extLst>
      <p:ext uri="{BB962C8B-B14F-4D97-AF65-F5344CB8AC3E}">
        <p14:creationId xmlns:p14="http://schemas.microsoft.com/office/powerpoint/2010/main" val="2773095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A12A-EAC2-BEA2-A23B-E9DF2CE5F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AA2C3-ABB2-9B43-F1F6-839CB7037F46}"/>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7684A8EE-85A0-8F7A-E326-39B51E108337}"/>
              </a:ext>
            </a:extLst>
          </p:cNvPr>
          <p:cNvSpPr txBox="1"/>
          <p:nvPr/>
        </p:nvSpPr>
        <p:spPr>
          <a:xfrm>
            <a:off x="397466" y="1690688"/>
            <a:ext cx="6159136" cy="1877437"/>
          </a:xfrm>
          <a:prstGeom prst="rect">
            <a:avLst/>
          </a:prstGeom>
          <a:noFill/>
        </p:spPr>
        <p:txBody>
          <a:bodyPr wrap="square" rtlCol="0">
            <a:spAutoFit/>
          </a:bodyPr>
          <a:lstStyle/>
          <a:p>
            <a:r>
              <a:rPr lang="en-US" sz="1600" b="1" dirty="0">
                <a:latin typeface="Helvetica" pitchFamily="2" charset="0"/>
              </a:rPr>
              <a:t>Single-node jobs</a:t>
            </a:r>
            <a:r>
              <a:rPr lang="en-US" sz="1600" dirty="0">
                <a:latin typeface="Helvetica" pitchFamily="2" charset="0"/>
              </a:rPr>
              <a:t>: Your program uses multiple cores on ONE node </a:t>
            </a:r>
          </a:p>
          <a:p>
            <a:pPr marL="742950" lvl="1" indent="-285750">
              <a:buFont typeface="Arial" panose="020B0604020202020204" pitchFamily="34" charset="0"/>
              <a:buChar char="•"/>
            </a:pPr>
            <a:r>
              <a:rPr lang="en-US" sz="1400" dirty="0">
                <a:latin typeface="Helvetica" pitchFamily="2" charset="0"/>
              </a:rPr>
              <a:t>Faster communication between cores (they share memory)</a:t>
            </a:r>
          </a:p>
          <a:p>
            <a:pPr marL="742950" lvl="1" indent="-285750">
              <a:buFont typeface="Arial" panose="020B0604020202020204" pitchFamily="34" charset="0"/>
              <a:buChar char="•"/>
            </a:pPr>
            <a:r>
              <a:rPr lang="en-US" sz="1400" dirty="0">
                <a:latin typeface="Helvetica" pitchFamily="2" charset="0"/>
              </a:rPr>
              <a:t>Limited by one node's resources (if a node has 32 cores and 128GB RAM, that's your max)</a:t>
            </a:r>
          </a:p>
          <a:p>
            <a:pPr lvl="1"/>
            <a:r>
              <a:rPr lang="en-US" sz="1400" i="1" dirty="0">
                <a:latin typeface="Helvetica" pitchFamily="2" charset="0"/>
              </a:rPr>
              <a:t>Example: Most alignment tools (BWA, STAR) run on a single node</a:t>
            </a:r>
          </a:p>
          <a:p>
            <a:pPr lvl="1"/>
            <a:endParaRPr lang="en-US" sz="1400" i="1" dirty="0">
              <a:latin typeface="Helvetica" pitchFamily="2" charset="0"/>
            </a:endParaRPr>
          </a:p>
          <a:p>
            <a:endParaRPr lang="en-US" sz="1400" dirty="0">
              <a:latin typeface="Helvetica" pitchFamily="2" charset="0"/>
            </a:endParaRPr>
          </a:p>
        </p:txBody>
      </p:sp>
      <p:pic>
        <p:nvPicPr>
          <p:cNvPr id="7" name="Picture 2">
            <a:extLst>
              <a:ext uri="{FF2B5EF4-FFF2-40B4-BE49-F238E27FC236}">
                <a16:creationId xmlns:a16="http://schemas.microsoft.com/office/drawing/2014/main" id="{E627B80D-214D-15DF-9567-61B30B0993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104D6AC0-160F-1AF8-852E-3F15928EF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55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C2A9E-5935-7D8C-A638-D55C94E91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DD537-C84E-5AFD-5F8A-9CF234BC0F35}"/>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4F856ABA-D7F4-48EE-B65C-3C5B3957FBBF}"/>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pic>
        <p:nvPicPr>
          <p:cNvPr id="13314" name="Picture 2" descr="MPI for Multi-node and Parallel Jobs — Sheffield HPC Documentation">
            <a:extLst>
              <a:ext uri="{FF2B5EF4-FFF2-40B4-BE49-F238E27FC236}">
                <a16:creationId xmlns:a16="http://schemas.microsoft.com/office/drawing/2014/main" id="{9A6EB347-2470-DA30-367E-B2D2D4B77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23C56612-3051-0631-7D9A-D7962AA46A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15AC4FE9-71B6-B45B-1865-712A68DA84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782F16E-EC1B-E5AA-6B47-060C20327F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2B3507B4-558B-F434-2006-BB75F9EB38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944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A058B-0E5C-5AE7-C7DB-9194E5316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B30D-8516-CE98-0A62-78DCCAB2935D}"/>
              </a:ext>
            </a:extLst>
          </p:cNvPr>
          <p:cNvSpPr>
            <a:spLocks noGrp="1"/>
          </p:cNvSpPr>
          <p:nvPr>
            <p:ph type="title"/>
          </p:nvPr>
        </p:nvSpPr>
        <p:spPr/>
        <p:txBody>
          <a:bodyPr>
            <a:normAutofit/>
          </a:bodyPr>
          <a:lstStyle/>
          <a:p>
            <a:r>
              <a:rPr lang="en-US" sz="4000" dirty="0">
                <a:latin typeface="Helvetica" pitchFamily="2" charset="0"/>
              </a:rPr>
              <a:t>Node vs. core</a:t>
            </a:r>
          </a:p>
        </p:txBody>
      </p:sp>
      <p:sp>
        <p:nvSpPr>
          <p:cNvPr id="3" name="TextBox 2">
            <a:extLst>
              <a:ext uri="{FF2B5EF4-FFF2-40B4-BE49-F238E27FC236}">
                <a16:creationId xmlns:a16="http://schemas.microsoft.com/office/drawing/2014/main" id="{15FCFC9C-B047-2C4F-A850-0B910793FF7A}"/>
              </a:ext>
            </a:extLst>
          </p:cNvPr>
          <p:cNvSpPr txBox="1"/>
          <p:nvPr/>
        </p:nvSpPr>
        <p:spPr>
          <a:xfrm>
            <a:off x="397466" y="1690688"/>
            <a:ext cx="6159136" cy="3662541"/>
          </a:xfrm>
          <a:prstGeom prst="rect">
            <a:avLst/>
          </a:prstGeom>
          <a:noFill/>
        </p:spPr>
        <p:txBody>
          <a:bodyPr wrap="square" rtlCol="0">
            <a:spAutoFit/>
          </a:bodyPr>
          <a:lstStyle/>
          <a:p>
            <a:r>
              <a:rPr lang="en-US" sz="1600" b="1" dirty="0">
                <a:solidFill>
                  <a:schemeClr val="bg1">
                    <a:lumMod val="65000"/>
                  </a:schemeClr>
                </a:solidFill>
                <a:latin typeface="Helvetica" pitchFamily="2" charset="0"/>
              </a:rPr>
              <a:t>Single-node jobs</a:t>
            </a:r>
            <a:r>
              <a:rPr lang="en-US" sz="1600" dirty="0">
                <a:solidFill>
                  <a:schemeClr val="bg1">
                    <a:lumMod val="65000"/>
                  </a:schemeClr>
                </a:solidFill>
                <a:latin typeface="Helvetica" pitchFamily="2" charset="0"/>
              </a:rPr>
              <a:t>: Your program uses multiple cores on ONE node </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Faster communication between cores (they share memory)</a:t>
            </a:r>
          </a:p>
          <a:p>
            <a:pPr marL="742950" lvl="1" indent="-285750">
              <a:buFont typeface="Arial" panose="020B0604020202020204" pitchFamily="34" charset="0"/>
              <a:buChar char="•"/>
            </a:pPr>
            <a:r>
              <a:rPr lang="en-US" sz="1400" dirty="0">
                <a:solidFill>
                  <a:schemeClr val="bg1">
                    <a:lumMod val="65000"/>
                  </a:schemeClr>
                </a:solidFill>
                <a:latin typeface="Helvetica" pitchFamily="2" charset="0"/>
              </a:rPr>
              <a:t>Limited by one node's resources (if a node has 32 cores and 128GB RAM, that's your max)</a:t>
            </a:r>
          </a:p>
          <a:p>
            <a:pPr lvl="1"/>
            <a:r>
              <a:rPr lang="en-US" sz="1400" i="1" dirty="0">
                <a:solidFill>
                  <a:schemeClr val="bg1">
                    <a:lumMod val="65000"/>
                  </a:schemeClr>
                </a:solidFill>
                <a:latin typeface="Helvetica" pitchFamily="2" charset="0"/>
              </a:rPr>
              <a:t>Example: Most alignment tools (BWA, STAR) run on a single node</a:t>
            </a:r>
          </a:p>
          <a:p>
            <a:pPr lvl="1"/>
            <a:endParaRPr lang="en-US" sz="1400" i="1" dirty="0">
              <a:latin typeface="Helvetica" pitchFamily="2" charset="0"/>
            </a:endParaRPr>
          </a:p>
          <a:p>
            <a:r>
              <a:rPr lang="en-US" sz="1600" b="1" dirty="0">
                <a:latin typeface="Helvetica" pitchFamily="2" charset="0"/>
              </a:rPr>
              <a:t>Multi-node jobs</a:t>
            </a:r>
            <a:r>
              <a:rPr lang="en-US" sz="1600" dirty="0">
                <a:latin typeface="Helvetica" pitchFamily="2" charset="0"/>
              </a:rPr>
              <a:t>: Your program uses cores across MULTIPLE nodes </a:t>
            </a:r>
          </a:p>
          <a:p>
            <a:pPr marL="742950" lvl="1" indent="-285750">
              <a:buFont typeface="Arial" panose="020B0604020202020204" pitchFamily="34" charset="0"/>
              <a:buChar char="•"/>
            </a:pPr>
            <a:r>
              <a:rPr lang="en-US" sz="1400" dirty="0">
                <a:latin typeface="Helvetica" pitchFamily="2" charset="0"/>
              </a:rPr>
              <a:t>Access to more total resources (hundreds of cores, terabytes of RAM)</a:t>
            </a:r>
          </a:p>
          <a:p>
            <a:pPr marL="742950" lvl="1" indent="-285750">
              <a:buFont typeface="Arial" panose="020B0604020202020204" pitchFamily="34" charset="0"/>
              <a:buChar char="•"/>
            </a:pPr>
            <a:r>
              <a:rPr lang="en-US" sz="1400" dirty="0">
                <a:latin typeface="Helvetica" pitchFamily="2" charset="0"/>
              </a:rPr>
              <a:t>Slower communication (data must travel over network between nodes)</a:t>
            </a:r>
          </a:p>
          <a:p>
            <a:pPr marL="742950" lvl="1" indent="-285750">
              <a:buFont typeface="Arial" panose="020B0604020202020204" pitchFamily="34" charset="0"/>
              <a:buChar char="•"/>
            </a:pPr>
            <a:r>
              <a:rPr lang="en-US" sz="1400" dirty="0">
                <a:latin typeface="Helvetica" pitchFamily="2" charset="0"/>
              </a:rPr>
              <a:t>Only works if your software supports it (needs MPI or similar)</a:t>
            </a:r>
          </a:p>
          <a:p>
            <a:pPr lvl="1"/>
            <a:r>
              <a:rPr lang="en-US" sz="1400" i="1" dirty="0">
                <a:latin typeface="Helvetica" pitchFamily="2" charset="0"/>
              </a:rPr>
              <a:t>Example: Large-scale genome assembly, distributed machine learning</a:t>
            </a:r>
          </a:p>
          <a:p>
            <a:endParaRPr lang="en-US" sz="1400" dirty="0">
              <a:latin typeface="Helvetica" pitchFamily="2" charset="0"/>
            </a:endParaRPr>
          </a:p>
        </p:txBody>
      </p:sp>
      <p:sp>
        <p:nvSpPr>
          <p:cNvPr id="8" name="TextBox 7">
            <a:extLst>
              <a:ext uri="{FF2B5EF4-FFF2-40B4-BE49-F238E27FC236}">
                <a16:creationId xmlns:a16="http://schemas.microsoft.com/office/drawing/2014/main" id="{19715517-0F65-007E-BB70-AC12086D6A61}"/>
              </a:ext>
            </a:extLst>
          </p:cNvPr>
          <p:cNvSpPr txBox="1"/>
          <p:nvPr/>
        </p:nvSpPr>
        <p:spPr>
          <a:xfrm>
            <a:off x="397466" y="5476161"/>
            <a:ext cx="6459582" cy="1077218"/>
          </a:xfrm>
          <a:prstGeom prst="rect">
            <a:avLst/>
          </a:prstGeom>
          <a:solidFill>
            <a:schemeClr val="accent6">
              <a:lumMod val="20000"/>
              <a:lumOff val="80000"/>
            </a:schemeClr>
          </a:solidFill>
        </p:spPr>
        <p:txBody>
          <a:bodyPr wrap="square">
            <a:spAutoFit/>
          </a:bodyPr>
          <a:lstStyle/>
          <a:p>
            <a:r>
              <a:rPr lang="en-US" sz="1600" dirty="0">
                <a:latin typeface="Helvetica" pitchFamily="2" charset="0"/>
              </a:rPr>
              <a:t>Not all bioinformatics software can use multiple nodes! </a:t>
            </a:r>
            <a:r>
              <a:rPr lang="en-US" sz="1600" b="1" dirty="0">
                <a:latin typeface="Helvetica" pitchFamily="2" charset="0"/>
              </a:rPr>
              <a:t>Most tools are designed to use multiple cores on a single node</a:t>
            </a:r>
            <a:r>
              <a:rPr lang="en-US" sz="1600" dirty="0">
                <a:latin typeface="Helvetica" pitchFamily="2" charset="0"/>
              </a:rPr>
              <a:t>. Always check your software's documentation before requesting multi-node resources.</a:t>
            </a:r>
          </a:p>
        </p:txBody>
      </p:sp>
      <p:pic>
        <p:nvPicPr>
          <p:cNvPr id="13314" name="Picture 2" descr="MPI for Multi-node and Parallel Jobs — Sheffield HPC Documentation">
            <a:extLst>
              <a:ext uri="{FF2B5EF4-FFF2-40B4-BE49-F238E27FC236}">
                <a16:creationId xmlns:a16="http://schemas.microsoft.com/office/drawing/2014/main" id="{2BB4CEE0-7FE1-72A8-7A39-E96C363B8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310" y="3860442"/>
            <a:ext cx="4775964" cy="23394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84863020-BDF1-1676-B401-82B7585025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7754083"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F616E44D-CD95-6810-1713-C2772003E1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10899849" y="3314376"/>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9D0769C-BB9B-4302-8260-A5F76E9418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7451" t="33094" r="56740" b="57414"/>
          <a:stretch>
            <a:fillRect/>
          </a:stretch>
        </p:blipFill>
        <p:spPr bwMode="auto">
          <a:xfrm>
            <a:off x="9657064" y="190759"/>
            <a:ext cx="461476" cy="4613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4E709820-833B-C1C3-4617-116F0663E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521" y="700452"/>
            <a:ext cx="2877541" cy="233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779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61DD-055F-56DF-FC5D-605571E5E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652C0-085C-6A1C-E223-BA5E8B943558}"/>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9BB185E2-CF0F-E9D3-8CE5-602CD6C1702F}"/>
              </a:ext>
            </a:extLst>
          </p:cNvPr>
          <p:cNvSpPr txBox="1"/>
          <p:nvPr/>
        </p:nvSpPr>
        <p:spPr>
          <a:xfrm>
            <a:off x="397466" y="1690688"/>
            <a:ext cx="6159136" cy="2492990"/>
          </a:xfrm>
          <a:prstGeom prst="rect">
            <a:avLst/>
          </a:prstGeom>
          <a:noFill/>
        </p:spPr>
        <p:txBody>
          <a:bodyPr wrap="square" rtlCol="0">
            <a:spAutoFit/>
          </a:bodyPr>
          <a:lstStyle/>
          <a:p>
            <a:r>
              <a:rPr lang="en-US" sz="1600" b="1" dirty="0">
                <a:latin typeface="Helvetica" pitchFamily="2" charset="0"/>
              </a:rPr>
              <a:t>Memory (RAM - Random Access Memory)</a:t>
            </a:r>
          </a:p>
          <a:p>
            <a:pPr marL="285750" indent="-285750">
              <a:buFont typeface="Arial" panose="020B0604020202020204" pitchFamily="34" charset="0"/>
              <a:buChar char="•"/>
            </a:pPr>
            <a:r>
              <a:rPr lang="en-US" sz="1400" b="1" dirty="0">
                <a:latin typeface="Helvetica" pitchFamily="2" charset="0"/>
              </a:rPr>
              <a:t>Small</a:t>
            </a:r>
            <a:r>
              <a:rPr lang="en-US" sz="1400" dirty="0">
                <a:latin typeface="Helvetica" pitchFamily="2" charset="0"/>
              </a:rPr>
              <a:t> - Typically 16-512 GB per node on HPC systems</a:t>
            </a:r>
          </a:p>
          <a:p>
            <a:pPr marL="285750" indent="-285750">
              <a:buFont typeface="Arial" panose="020B0604020202020204" pitchFamily="34" charset="0"/>
              <a:buChar char="•"/>
            </a:pPr>
            <a:r>
              <a:rPr lang="en-US" sz="1400" b="1" dirty="0">
                <a:latin typeface="Helvetica" pitchFamily="2" charset="0"/>
              </a:rPr>
              <a:t>Fast</a:t>
            </a:r>
            <a:r>
              <a:rPr lang="en-US" sz="1400" dirty="0">
                <a:latin typeface="Helvetica" pitchFamily="2" charset="0"/>
              </a:rPr>
              <a:t> - Nanosecond access times; data transfer at 100+ GB/second</a:t>
            </a:r>
          </a:p>
          <a:p>
            <a:pPr marL="285750" indent="-285750">
              <a:buFont typeface="Arial" panose="020B0604020202020204" pitchFamily="34" charset="0"/>
              <a:buChar char="•"/>
            </a:pPr>
            <a:r>
              <a:rPr lang="en-US" sz="1400" b="1" dirty="0">
                <a:latin typeface="Helvetica" pitchFamily="2" charset="0"/>
              </a:rPr>
              <a:t>Expensive</a:t>
            </a:r>
            <a:r>
              <a:rPr lang="en-US" sz="1400" dirty="0">
                <a:latin typeface="Helvetica" pitchFamily="2" charset="0"/>
              </a:rPr>
              <a:t> - Costs significantly more per GB than storage</a:t>
            </a:r>
          </a:p>
          <a:p>
            <a:pPr marL="285750" indent="-285750">
              <a:buFont typeface="Arial" panose="020B0604020202020204" pitchFamily="34" charset="0"/>
              <a:buChar char="•"/>
            </a:pPr>
            <a:r>
              <a:rPr lang="en-US" sz="1400" b="1" dirty="0">
                <a:latin typeface="Helvetica" pitchFamily="2" charset="0"/>
              </a:rPr>
              <a:t>Volatile</a:t>
            </a:r>
            <a:r>
              <a:rPr lang="en-US" sz="1400" dirty="0">
                <a:latin typeface="Helvetica" pitchFamily="2" charset="0"/>
              </a:rPr>
              <a:t> - All data is lost when the computer powers off or your job ends</a:t>
            </a:r>
          </a:p>
          <a:p>
            <a:r>
              <a:rPr lang="en-US" sz="1400" b="1" dirty="0">
                <a:latin typeface="Helvetica" pitchFamily="2" charset="0"/>
              </a:rPr>
              <a:t>Purpose:</a:t>
            </a:r>
            <a:r>
              <a:rPr lang="en-US" sz="1400" dirty="0">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p:txBody>
      </p:sp>
      <p:pic>
        <p:nvPicPr>
          <p:cNvPr id="15362" name="Picture 2" descr="Understanding RAM versus hard-drive space via an analogy - CNET">
            <a:extLst>
              <a:ext uri="{FF2B5EF4-FFF2-40B4-BE49-F238E27FC236}">
                <a16:creationId xmlns:a16="http://schemas.microsoft.com/office/drawing/2014/main" id="{91C596E3-AE90-E60A-2DA3-8DC37B6AB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C64C22-3F41-2AC2-36DF-3FDCBE7AD289}"/>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Tree>
    <p:extLst>
      <p:ext uri="{BB962C8B-B14F-4D97-AF65-F5344CB8AC3E}">
        <p14:creationId xmlns:p14="http://schemas.microsoft.com/office/powerpoint/2010/main" val="3234883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42336-29DC-2203-B216-8F95146D3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5D6D4-E1A5-0B85-6274-30E0FA0D4C12}"/>
              </a:ext>
            </a:extLst>
          </p:cNvPr>
          <p:cNvSpPr>
            <a:spLocks noGrp="1"/>
          </p:cNvSpPr>
          <p:nvPr>
            <p:ph type="title"/>
          </p:nvPr>
        </p:nvSpPr>
        <p:spPr/>
        <p:txBody>
          <a:bodyPr>
            <a:normAutofit/>
          </a:bodyPr>
          <a:lstStyle/>
          <a:p>
            <a:r>
              <a:rPr lang="en-US" sz="4000" dirty="0">
                <a:latin typeface="Helvetica" pitchFamily="2" charset="0"/>
              </a:rPr>
              <a:t>Memory vs. Storage</a:t>
            </a:r>
          </a:p>
        </p:txBody>
      </p:sp>
      <p:sp>
        <p:nvSpPr>
          <p:cNvPr id="3" name="TextBox 2">
            <a:extLst>
              <a:ext uri="{FF2B5EF4-FFF2-40B4-BE49-F238E27FC236}">
                <a16:creationId xmlns:a16="http://schemas.microsoft.com/office/drawing/2014/main" id="{2FD4A457-5220-9906-3025-2B1AF83621B7}"/>
              </a:ext>
            </a:extLst>
          </p:cNvPr>
          <p:cNvSpPr txBox="1"/>
          <p:nvPr/>
        </p:nvSpPr>
        <p:spPr>
          <a:xfrm>
            <a:off x="397466" y="1690688"/>
            <a:ext cx="6159136" cy="4462760"/>
          </a:xfrm>
          <a:prstGeom prst="rect">
            <a:avLst/>
          </a:prstGeom>
          <a:noFill/>
        </p:spPr>
        <p:txBody>
          <a:bodyPr wrap="square" rtlCol="0">
            <a:spAutoFit/>
          </a:bodyPr>
          <a:lstStyle/>
          <a:p>
            <a:r>
              <a:rPr lang="en-US" sz="1600" b="1" dirty="0">
                <a:solidFill>
                  <a:schemeClr val="bg1">
                    <a:lumMod val="50000"/>
                  </a:schemeClr>
                </a:solidFill>
                <a:latin typeface="Helvetica" pitchFamily="2" charset="0"/>
              </a:rPr>
              <a:t>Memory (RAM - Random Access Memory)</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Small</a:t>
            </a:r>
            <a:r>
              <a:rPr lang="en-US" sz="1400" dirty="0">
                <a:solidFill>
                  <a:schemeClr val="bg1">
                    <a:lumMod val="50000"/>
                  </a:schemeClr>
                </a:solidFill>
                <a:latin typeface="Helvetica" pitchFamily="2" charset="0"/>
              </a:rPr>
              <a:t> - Typically 16-512 GB per node on HPC systems</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Fast</a:t>
            </a:r>
            <a:r>
              <a:rPr lang="en-US" sz="1400" dirty="0">
                <a:solidFill>
                  <a:schemeClr val="bg1">
                    <a:lumMod val="50000"/>
                  </a:schemeClr>
                </a:solidFill>
                <a:latin typeface="Helvetica" pitchFamily="2" charset="0"/>
              </a:rPr>
              <a:t> - Nanosecond access times; data transfer at 100+ GB/second</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Expensive</a:t>
            </a:r>
            <a:r>
              <a:rPr lang="en-US" sz="1400" dirty="0">
                <a:solidFill>
                  <a:schemeClr val="bg1">
                    <a:lumMod val="50000"/>
                  </a:schemeClr>
                </a:solidFill>
                <a:latin typeface="Helvetica" pitchFamily="2" charset="0"/>
              </a:rPr>
              <a:t> - Costs significantly more per GB than storage</a:t>
            </a:r>
          </a:p>
          <a:p>
            <a:pPr marL="285750" indent="-285750">
              <a:buFont typeface="Arial" panose="020B0604020202020204" pitchFamily="34" charset="0"/>
              <a:buChar char="•"/>
            </a:pPr>
            <a:r>
              <a:rPr lang="en-US" sz="1400" b="1" dirty="0">
                <a:solidFill>
                  <a:schemeClr val="bg1">
                    <a:lumMod val="50000"/>
                  </a:schemeClr>
                </a:solidFill>
                <a:latin typeface="Helvetica" pitchFamily="2" charset="0"/>
              </a:rPr>
              <a:t>Volatile</a:t>
            </a:r>
            <a:r>
              <a:rPr lang="en-US" sz="1400" dirty="0">
                <a:solidFill>
                  <a:schemeClr val="bg1">
                    <a:lumMod val="50000"/>
                  </a:schemeClr>
                </a:solidFill>
                <a:latin typeface="Helvetica" pitchFamily="2" charset="0"/>
              </a:rPr>
              <a:t> - All data is lost when the computer powers off or your job ends</a:t>
            </a:r>
          </a:p>
          <a:p>
            <a:r>
              <a:rPr lang="en-US" sz="1400" b="1" dirty="0">
                <a:solidFill>
                  <a:schemeClr val="bg1">
                    <a:lumMod val="50000"/>
                  </a:schemeClr>
                </a:solidFill>
                <a:latin typeface="Helvetica" pitchFamily="2" charset="0"/>
              </a:rPr>
              <a:t>Purpose:</a:t>
            </a:r>
            <a:r>
              <a:rPr lang="en-US" sz="1400" dirty="0">
                <a:solidFill>
                  <a:schemeClr val="bg1">
                    <a:lumMod val="50000"/>
                  </a:schemeClr>
                </a:solidFill>
                <a:latin typeface="Helvetica" pitchFamily="2" charset="0"/>
              </a:rPr>
              <a:t> Memory is your active workspace. When your program runs, it loads data from storage into memory where the CPU can access it extremely quickly. Think of memory as your desk surface—limited space, but everything is immediately at hand.</a:t>
            </a:r>
          </a:p>
          <a:p>
            <a:endParaRPr lang="en-US" sz="1400" dirty="0">
              <a:latin typeface="Helvetica" pitchFamily="2" charset="0"/>
            </a:endParaRPr>
          </a:p>
          <a:p>
            <a:endParaRPr lang="en-US" sz="1400" dirty="0">
              <a:latin typeface="Helvetica" pitchFamily="2" charset="0"/>
            </a:endParaRPr>
          </a:p>
          <a:p>
            <a:r>
              <a:rPr lang="en-US" sz="1600" b="1" dirty="0">
                <a:latin typeface="Helvetica" pitchFamily="2" charset="0"/>
              </a:rPr>
              <a:t>Storage (Disk - Hard Drives or SSDs)</a:t>
            </a:r>
          </a:p>
          <a:p>
            <a:pPr marL="285750" indent="-285750">
              <a:buFont typeface="Arial" panose="020B0604020202020204" pitchFamily="34" charset="0"/>
              <a:buChar char="•"/>
            </a:pPr>
            <a:r>
              <a:rPr lang="en-US" sz="1400" b="1" dirty="0">
                <a:latin typeface="Helvetica" pitchFamily="2" charset="0"/>
              </a:rPr>
              <a:t>Large</a:t>
            </a:r>
            <a:r>
              <a:rPr lang="en-US" sz="1400" dirty="0">
                <a:latin typeface="Helvetica" pitchFamily="2" charset="0"/>
              </a:rPr>
              <a:t> - Terabytes to petabytes on HPC systems</a:t>
            </a:r>
          </a:p>
          <a:p>
            <a:pPr marL="285750" indent="-285750">
              <a:buFont typeface="Arial" panose="020B0604020202020204" pitchFamily="34" charset="0"/>
              <a:buChar char="•"/>
            </a:pPr>
            <a:r>
              <a:rPr lang="en-US" sz="1400" b="1" dirty="0">
                <a:latin typeface="Helvetica" pitchFamily="2" charset="0"/>
              </a:rPr>
              <a:t>Slower</a:t>
            </a:r>
            <a:r>
              <a:rPr lang="en-US" sz="1400" dirty="0">
                <a:latin typeface="Helvetica" pitchFamily="2" charset="0"/>
              </a:rPr>
              <a:t> - Millisecond access times; data transfer at 1-10 GB/second</a:t>
            </a:r>
          </a:p>
          <a:p>
            <a:pPr marL="285750" indent="-285750">
              <a:buFont typeface="Arial" panose="020B0604020202020204" pitchFamily="34" charset="0"/>
              <a:buChar char="•"/>
            </a:pPr>
            <a:r>
              <a:rPr lang="en-US" sz="1400" b="1" dirty="0">
                <a:latin typeface="Helvetica" pitchFamily="2" charset="0"/>
              </a:rPr>
              <a:t>Cheaper</a:t>
            </a:r>
            <a:r>
              <a:rPr lang="en-US" sz="1400" dirty="0">
                <a:latin typeface="Helvetica" pitchFamily="2" charset="0"/>
              </a:rPr>
              <a:t> - Costs much less per GB than memory</a:t>
            </a:r>
          </a:p>
          <a:p>
            <a:pPr marL="285750" indent="-285750">
              <a:buFont typeface="Arial" panose="020B0604020202020204" pitchFamily="34" charset="0"/>
              <a:buChar char="•"/>
            </a:pPr>
            <a:r>
              <a:rPr lang="en-US" sz="1400" b="1" dirty="0">
                <a:latin typeface="Helvetica" pitchFamily="2" charset="0"/>
              </a:rPr>
              <a:t>Non-volatile</a:t>
            </a:r>
            <a:r>
              <a:rPr lang="en-US" sz="1400" dirty="0">
                <a:latin typeface="Helvetica" pitchFamily="2" charset="0"/>
              </a:rPr>
              <a:t> - Data persists even when powered off</a:t>
            </a:r>
          </a:p>
          <a:p>
            <a:r>
              <a:rPr lang="en-US" sz="1400" b="1" dirty="0">
                <a:latin typeface="Helvetica" pitchFamily="2" charset="0"/>
              </a:rPr>
              <a:t>Purpose:</a:t>
            </a:r>
            <a:r>
              <a:rPr lang="en-US" sz="1400" dirty="0">
                <a:latin typeface="Helvetica" pitchFamily="2" charset="0"/>
              </a:rPr>
              <a:t> Storage is your filing cabinet. It holds all your data long-term: raw sequencing files, reference genomes, analysis results, scripts, and software. You can't work directly from storage—data must be copied into memory first.</a:t>
            </a:r>
          </a:p>
        </p:txBody>
      </p:sp>
      <p:pic>
        <p:nvPicPr>
          <p:cNvPr id="15362" name="Picture 2" descr="Understanding RAM versus hard-drive space via an analogy - CNET">
            <a:extLst>
              <a:ext uri="{FF2B5EF4-FFF2-40B4-BE49-F238E27FC236}">
                <a16:creationId xmlns:a16="http://schemas.microsoft.com/office/drawing/2014/main" id="{3A1689CB-2E12-E400-5AED-13A704A56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8993" y="2262840"/>
            <a:ext cx="4119608" cy="28839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82F83B6-526C-3213-3350-A77B16534B2B}"/>
              </a:ext>
            </a:extLst>
          </p:cNvPr>
          <p:cNvSpPr txBox="1"/>
          <p:nvPr/>
        </p:nvSpPr>
        <p:spPr>
          <a:xfrm>
            <a:off x="7656559" y="951843"/>
            <a:ext cx="3884476" cy="1200329"/>
          </a:xfrm>
          <a:prstGeom prst="rect">
            <a:avLst/>
          </a:prstGeom>
          <a:noFill/>
          <a:ln w="12700">
            <a:solidFill>
              <a:srgbClr val="D80003"/>
            </a:solidFill>
          </a:ln>
        </p:spPr>
        <p:txBody>
          <a:bodyPr wrap="square">
            <a:spAutoFit/>
          </a:bodyPr>
          <a:lstStyle/>
          <a:p>
            <a:r>
              <a:rPr lang="en-US" sz="1200" dirty="0">
                <a:latin typeface="Helvetica" pitchFamily="2" charset="0"/>
              </a:rPr>
              <a:t>What lives in </a:t>
            </a:r>
            <a:r>
              <a:rPr lang="en-US" sz="1200" b="1" dirty="0">
                <a:latin typeface="Helvetica" pitchFamily="2" charset="0"/>
              </a:rPr>
              <a:t>memory:</a:t>
            </a:r>
            <a:endParaRPr lang="en-US" sz="1200" dirty="0">
              <a:latin typeface="Helvetica" pitchFamily="2" charset="0"/>
            </a:endParaRPr>
          </a:p>
          <a:p>
            <a:pPr marL="171450" indent="-171450">
              <a:buFont typeface="Arial" panose="020B0604020202020204" pitchFamily="34" charset="0"/>
              <a:buChar char="•"/>
            </a:pPr>
            <a:r>
              <a:rPr lang="en-US" sz="1200" dirty="0">
                <a:latin typeface="Helvetica" pitchFamily="2" charset="0"/>
              </a:rPr>
              <a:t>Currently running programs and their instructions</a:t>
            </a:r>
          </a:p>
          <a:p>
            <a:pPr marL="171450" indent="-171450">
              <a:buFont typeface="Arial" panose="020B0604020202020204" pitchFamily="34" charset="0"/>
              <a:buChar char="•"/>
            </a:pPr>
            <a:r>
              <a:rPr lang="en-US" sz="1200" dirty="0">
                <a:latin typeface="Helvetica" pitchFamily="2" charset="0"/>
              </a:rPr>
              <a:t>Data being actively processed (sequence reads being aligned RIGHT NOW)</a:t>
            </a:r>
          </a:p>
          <a:p>
            <a:pPr marL="171450" indent="-171450">
              <a:buFont typeface="Arial" panose="020B0604020202020204" pitchFamily="34" charset="0"/>
              <a:buChar char="•"/>
            </a:pPr>
            <a:r>
              <a:rPr lang="en-US" sz="1200" dirty="0">
                <a:latin typeface="Helvetica" pitchFamily="2" charset="0"/>
              </a:rPr>
              <a:t>Intermediate calculations</a:t>
            </a:r>
          </a:p>
          <a:p>
            <a:pPr marL="171450" indent="-171450">
              <a:buFont typeface="Arial" panose="020B0604020202020204" pitchFamily="34" charset="0"/>
              <a:buChar char="•"/>
            </a:pPr>
            <a:r>
              <a:rPr lang="en-US" sz="1200" dirty="0">
                <a:latin typeface="Helvetica" pitchFamily="2" charset="0"/>
              </a:rPr>
              <a:t>Variables and temporary results</a:t>
            </a:r>
          </a:p>
        </p:txBody>
      </p:sp>
      <p:sp>
        <p:nvSpPr>
          <p:cNvPr id="6" name="TextBox 5">
            <a:extLst>
              <a:ext uri="{FF2B5EF4-FFF2-40B4-BE49-F238E27FC236}">
                <a16:creationId xmlns:a16="http://schemas.microsoft.com/office/drawing/2014/main" id="{84C7B99F-B130-EB6B-D55C-1DC3D1EBA7B7}"/>
              </a:ext>
            </a:extLst>
          </p:cNvPr>
          <p:cNvSpPr txBox="1"/>
          <p:nvPr/>
        </p:nvSpPr>
        <p:spPr>
          <a:xfrm>
            <a:off x="8353698" y="5368101"/>
            <a:ext cx="3530134" cy="1384995"/>
          </a:xfrm>
          <a:prstGeom prst="rect">
            <a:avLst/>
          </a:prstGeom>
          <a:noFill/>
          <a:ln w="12700">
            <a:solidFill>
              <a:srgbClr val="D80003"/>
            </a:solidFill>
          </a:ln>
        </p:spPr>
        <p:txBody>
          <a:bodyPr wrap="none" rtlCol="0">
            <a:spAutoFit/>
          </a:bodyPr>
          <a:lstStyle/>
          <a:p>
            <a:r>
              <a:rPr lang="en-US" sz="1200" dirty="0">
                <a:latin typeface="Helvetica" pitchFamily="2" charset="0"/>
              </a:rPr>
              <a:t>What lives in </a:t>
            </a:r>
            <a:r>
              <a:rPr lang="en-US" sz="1200" b="1" dirty="0">
                <a:latin typeface="Helvetica" pitchFamily="2" charset="0"/>
              </a:rPr>
              <a:t>storage:</a:t>
            </a:r>
            <a:endParaRPr lang="en-US" sz="1200" dirty="0">
              <a:latin typeface="Helvetica" pitchFamily="2" charset="0"/>
            </a:endParaRPr>
          </a:p>
          <a:p>
            <a:r>
              <a:rPr lang="en-US" sz="1200" dirty="0">
                <a:latin typeface="Helvetica" pitchFamily="2" charset="0"/>
              </a:rPr>
              <a:t>Raw data files (FASTQ, FASTA)</a:t>
            </a:r>
          </a:p>
          <a:p>
            <a:r>
              <a:rPr lang="en-US" sz="1200" dirty="0">
                <a:latin typeface="Helvetica" pitchFamily="2" charset="0"/>
              </a:rPr>
              <a:t>Reference genomes and annotations</a:t>
            </a:r>
          </a:p>
          <a:p>
            <a:r>
              <a:rPr lang="en-US" sz="1200" dirty="0">
                <a:latin typeface="Helvetica" pitchFamily="2" charset="0"/>
              </a:rPr>
              <a:t>Final analysis results (BAM, VCF, counts tables)</a:t>
            </a:r>
          </a:p>
          <a:p>
            <a:r>
              <a:rPr lang="en-US" sz="1200" dirty="0">
                <a:latin typeface="Helvetica" pitchFamily="2" charset="0"/>
              </a:rPr>
              <a:t>Your scripts and programs</a:t>
            </a:r>
          </a:p>
          <a:p>
            <a:r>
              <a:rPr lang="en-US" sz="1200" dirty="0">
                <a:latin typeface="Helvetica" pitchFamily="2" charset="0"/>
              </a:rPr>
              <a:t>Everything you want to keep after the job finishes</a:t>
            </a:r>
          </a:p>
          <a:p>
            <a:endParaRPr lang="en-US" sz="1200" dirty="0"/>
          </a:p>
        </p:txBody>
      </p:sp>
    </p:spTree>
    <p:extLst>
      <p:ext uri="{BB962C8B-B14F-4D97-AF65-F5344CB8AC3E}">
        <p14:creationId xmlns:p14="http://schemas.microsoft.com/office/powerpoint/2010/main" val="2845574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loud Computing | What it is &amp; what it can do | GFOS">
            <a:extLst>
              <a:ext uri="{FF2B5EF4-FFF2-40B4-BE49-F238E27FC236}">
                <a16:creationId xmlns:a16="http://schemas.microsoft.com/office/drawing/2014/main" id="{BF8E64CC-2779-CED6-DF6E-ABC416A50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5015" y="807928"/>
            <a:ext cx="5861970" cy="5123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0548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F7D40-92DD-0E45-ACCE-C382D0BEE53E}"/>
              </a:ext>
            </a:extLst>
          </p:cNvPr>
          <p:cNvSpPr>
            <a:spLocks noGrp="1"/>
          </p:cNvSpPr>
          <p:nvPr>
            <p:ph type="title"/>
          </p:nvPr>
        </p:nvSpPr>
        <p:spPr/>
        <p:txBody>
          <a:bodyPr/>
          <a:lstStyle/>
          <a:p>
            <a:r>
              <a:rPr lang="en-US" dirty="0"/>
              <a:t>Cloud computing</a:t>
            </a:r>
          </a:p>
        </p:txBody>
      </p:sp>
      <p:sp>
        <p:nvSpPr>
          <p:cNvPr id="4" name="Rectangle 1">
            <a:extLst>
              <a:ext uri="{FF2B5EF4-FFF2-40B4-BE49-F238E27FC236}">
                <a16:creationId xmlns:a16="http://schemas.microsoft.com/office/drawing/2014/main" id="{62F0AA5F-2F9F-2894-3BCE-A4B0FDBDA576}"/>
              </a:ext>
            </a:extLst>
          </p:cNvPr>
          <p:cNvSpPr>
            <a:spLocks noGrp="1" noChangeArrowheads="1"/>
          </p:cNvSpPr>
          <p:nvPr>
            <p:ph idx="1"/>
          </p:nvPr>
        </p:nvSpPr>
        <p:spPr bwMode="auto">
          <a:xfrm>
            <a:off x="964575" y="1690688"/>
            <a:ext cx="980826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Computing resources (CPU, storage, memory) rented on-demand instead of owning physical hardware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Pay for what you use, when you use it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Access from anywhere with internet</a:t>
            </a:r>
          </a:p>
        </p:txBody>
      </p:sp>
      <p:sp>
        <p:nvSpPr>
          <p:cNvPr id="5" name="TextBox 4">
            <a:extLst>
              <a:ext uri="{FF2B5EF4-FFF2-40B4-BE49-F238E27FC236}">
                <a16:creationId xmlns:a16="http://schemas.microsoft.com/office/drawing/2014/main" id="{273B25DD-906D-24F0-A107-1F82AEE0448D}"/>
              </a:ext>
            </a:extLst>
          </p:cNvPr>
          <p:cNvSpPr txBox="1"/>
          <p:nvPr/>
        </p:nvSpPr>
        <p:spPr>
          <a:xfrm>
            <a:off x="964575" y="3016251"/>
            <a:ext cx="6645281" cy="1200329"/>
          </a:xfrm>
          <a:prstGeom prst="rect">
            <a:avLst/>
          </a:prstGeom>
          <a:noFill/>
        </p:spPr>
        <p:txBody>
          <a:bodyPr wrap="non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t>On-demand</a:t>
            </a:r>
            <a:r>
              <a:rPr lang="en-US" altLang="en-US" dirty="0"/>
              <a:t>: spin up resources in minutes, tear down when done </a:t>
            </a:r>
          </a:p>
          <a:p>
            <a:pPr marL="285750" lvl="0" indent="-285750" eaLnBrk="0" fontAlgn="base" hangingPunct="0">
              <a:spcBef>
                <a:spcPct val="0"/>
              </a:spcBef>
              <a:spcAft>
                <a:spcPct val="0"/>
              </a:spcAft>
              <a:buFont typeface="Arial" panose="020B0604020202020204" pitchFamily="34" charset="0"/>
              <a:buChar char="•"/>
            </a:pPr>
            <a:r>
              <a:rPr lang="en-US" altLang="en-US" b="1" dirty="0"/>
              <a:t>Scalable</a:t>
            </a:r>
            <a:r>
              <a:rPr lang="en-US" altLang="en-US" dirty="0"/>
              <a:t>: need 2 cores today, 100 cores tomorrow? Easy. </a:t>
            </a:r>
          </a:p>
          <a:p>
            <a:pPr marL="285750" lvl="0" indent="-285750" eaLnBrk="0" fontAlgn="base" hangingPunct="0">
              <a:spcBef>
                <a:spcPct val="0"/>
              </a:spcBef>
              <a:spcAft>
                <a:spcPct val="0"/>
              </a:spcAft>
              <a:buFont typeface="Arial" panose="020B0604020202020204" pitchFamily="34" charset="0"/>
              <a:buChar char="•"/>
            </a:pPr>
            <a:r>
              <a:rPr lang="en-US" altLang="en-US" b="1" dirty="0"/>
              <a:t>Flexible</a:t>
            </a:r>
            <a:r>
              <a:rPr lang="en-US" altLang="en-US" dirty="0"/>
              <a:t>: different machine types for different jobs </a:t>
            </a:r>
          </a:p>
          <a:p>
            <a:pPr marL="285750" lvl="0" indent="-285750" eaLnBrk="0" fontAlgn="base" hangingPunct="0">
              <a:spcBef>
                <a:spcPct val="0"/>
              </a:spcBef>
              <a:spcAft>
                <a:spcPct val="0"/>
              </a:spcAft>
              <a:buFont typeface="Arial" panose="020B0604020202020204" pitchFamily="34" charset="0"/>
              <a:buChar char="•"/>
            </a:pPr>
            <a:r>
              <a:rPr lang="en-US" altLang="en-US" b="1" dirty="0"/>
              <a:t>Pay-as-you-go</a:t>
            </a:r>
            <a:r>
              <a:rPr lang="en-US" altLang="en-US" dirty="0"/>
              <a:t>: no upfront hardware costs</a:t>
            </a:r>
          </a:p>
        </p:txBody>
      </p:sp>
      <p:sp>
        <p:nvSpPr>
          <p:cNvPr id="7" name="TextBox 6">
            <a:extLst>
              <a:ext uri="{FF2B5EF4-FFF2-40B4-BE49-F238E27FC236}">
                <a16:creationId xmlns:a16="http://schemas.microsoft.com/office/drawing/2014/main" id="{7A46337E-4C4B-02C7-0BC2-0FC86BA35B1E}"/>
              </a:ext>
            </a:extLst>
          </p:cNvPr>
          <p:cNvSpPr txBox="1"/>
          <p:nvPr/>
        </p:nvSpPr>
        <p:spPr>
          <a:xfrm>
            <a:off x="2793304" y="4618813"/>
            <a:ext cx="6463757" cy="369332"/>
          </a:xfrm>
          <a:prstGeom prst="rect">
            <a:avLst/>
          </a:prstGeom>
          <a:noFill/>
        </p:spPr>
        <p:txBody>
          <a:bodyPr wrap="none" rtlCol="0">
            <a:spAutoFit/>
          </a:bodyPr>
          <a:lstStyle/>
          <a:p>
            <a:r>
              <a:rPr lang="en-US" dirty="0"/>
              <a:t>HPC is like owning a car; cloud is like renting one when you need it.</a:t>
            </a:r>
          </a:p>
        </p:txBody>
      </p:sp>
    </p:spTree>
    <p:extLst>
      <p:ext uri="{BB962C8B-B14F-4D97-AF65-F5344CB8AC3E}">
        <p14:creationId xmlns:p14="http://schemas.microsoft.com/office/powerpoint/2010/main" val="2091214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9FEE-B425-98EC-5225-E58496D0F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F7F0A-AE22-92E6-C697-E764B28F0D1C}"/>
              </a:ext>
            </a:extLst>
          </p:cNvPr>
          <p:cNvSpPr>
            <a:spLocks noGrp="1"/>
          </p:cNvSpPr>
          <p:nvPr>
            <p:ph type="title"/>
          </p:nvPr>
        </p:nvSpPr>
        <p:spPr/>
        <p:txBody>
          <a:bodyPr/>
          <a:lstStyle/>
          <a:p>
            <a:r>
              <a:rPr lang="en-US" dirty="0"/>
              <a:t>Cloud computing</a:t>
            </a:r>
          </a:p>
        </p:txBody>
      </p:sp>
      <p:graphicFrame>
        <p:nvGraphicFramePr>
          <p:cNvPr id="6" name="Table 5">
            <a:extLst>
              <a:ext uri="{FF2B5EF4-FFF2-40B4-BE49-F238E27FC236}">
                <a16:creationId xmlns:a16="http://schemas.microsoft.com/office/drawing/2014/main" id="{49CB1635-126D-15F5-E494-50EAFE5756E3}"/>
              </a:ext>
            </a:extLst>
          </p:cNvPr>
          <p:cNvGraphicFramePr>
            <a:graphicFrameLocks noGrp="1"/>
          </p:cNvGraphicFramePr>
          <p:nvPr>
            <p:extLst>
              <p:ext uri="{D42A27DB-BD31-4B8C-83A1-F6EECF244321}">
                <p14:modId xmlns:p14="http://schemas.microsoft.com/office/powerpoint/2010/main" val="1217167754"/>
              </p:ext>
            </p:extLst>
          </p:nvPr>
        </p:nvGraphicFramePr>
        <p:xfrm>
          <a:off x="1628346" y="1690688"/>
          <a:ext cx="9286791" cy="4577080"/>
        </p:xfrm>
        <a:graphic>
          <a:graphicData uri="http://schemas.openxmlformats.org/drawingml/2006/table">
            <a:tbl>
              <a:tblPr firstRow="1" bandRow="1">
                <a:tableStyleId>{5C22544A-7EE6-4342-B048-85BDC9FD1C3A}</a:tableStyleId>
              </a:tblPr>
              <a:tblGrid>
                <a:gridCol w="3095597">
                  <a:extLst>
                    <a:ext uri="{9D8B030D-6E8A-4147-A177-3AD203B41FA5}">
                      <a16:colId xmlns:a16="http://schemas.microsoft.com/office/drawing/2014/main" val="3650723263"/>
                    </a:ext>
                  </a:extLst>
                </a:gridCol>
                <a:gridCol w="3095597">
                  <a:extLst>
                    <a:ext uri="{9D8B030D-6E8A-4147-A177-3AD203B41FA5}">
                      <a16:colId xmlns:a16="http://schemas.microsoft.com/office/drawing/2014/main" val="2910049"/>
                    </a:ext>
                  </a:extLst>
                </a:gridCol>
                <a:gridCol w="3095597">
                  <a:extLst>
                    <a:ext uri="{9D8B030D-6E8A-4147-A177-3AD203B41FA5}">
                      <a16:colId xmlns:a16="http://schemas.microsoft.com/office/drawing/2014/main" val="1624323004"/>
                    </a:ext>
                  </a:extLst>
                </a:gridCol>
              </a:tblGrid>
              <a:tr h="291435">
                <a:tc>
                  <a:txBody>
                    <a:bodyPr/>
                    <a:lstStyle/>
                    <a:p>
                      <a:endParaRPr lang="en-US" dirty="0"/>
                    </a:p>
                  </a:txBody>
                  <a:tcPr/>
                </a:tc>
                <a:tc>
                  <a:txBody>
                    <a:bodyPr/>
                    <a:lstStyle/>
                    <a:p>
                      <a:r>
                        <a:rPr lang="en-US" dirty="0"/>
                        <a:t>HPC Cluster</a:t>
                      </a:r>
                    </a:p>
                  </a:txBody>
                  <a:tcPr/>
                </a:tc>
                <a:tc>
                  <a:txBody>
                    <a:bodyPr/>
                    <a:lstStyle/>
                    <a:p>
                      <a:r>
                        <a:rPr lang="en-US" dirty="0"/>
                        <a:t>Cloud</a:t>
                      </a:r>
                    </a:p>
                  </a:txBody>
                  <a:tcPr/>
                </a:tc>
                <a:extLst>
                  <a:ext uri="{0D108BD9-81ED-4DB2-BD59-A6C34878D82A}">
                    <a16:rowId xmlns:a16="http://schemas.microsoft.com/office/drawing/2014/main" val="1410398066"/>
                  </a:ext>
                </a:extLst>
              </a:tr>
              <a:tr h="370840">
                <a:tc>
                  <a:txBody>
                    <a:bodyPr/>
                    <a:lstStyle/>
                    <a:p>
                      <a:r>
                        <a:rPr lang="en-US" b="1" dirty="0"/>
                        <a:t>Cost model</a:t>
                      </a:r>
                    </a:p>
                  </a:txBody>
                  <a:tcPr/>
                </a:tc>
                <a:tc>
                  <a:txBody>
                    <a:bodyPr/>
                    <a:lstStyle/>
                    <a:p>
                      <a:r>
                        <a:rPr lang="en-US" dirty="0"/>
                        <a:t>High upfront capital; fixed monthly</a:t>
                      </a:r>
                    </a:p>
                  </a:txBody>
                  <a:tcPr/>
                </a:tc>
                <a:tc>
                  <a:txBody>
                    <a:bodyPr/>
                    <a:lstStyle/>
                    <a:p>
                      <a:r>
                        <a:rPr lang="en-US" dirty="0"/>
                        <a:t>Pay per compute hour; variable</a:t>
                      </a:r>
                    </a:p>
                  </a:txBody>
                  <a:tcPr/>
                </a:tc>
                <a:extLst>
                  <a:ext uri="{0D108BD9-81ED-4DB2-BD59-A6C34878D82A}">
                    <a16:rowId xmlns:a16="http://schemas.microsoft.com/office/drawing/2014/main" val="3878222316"/>
                  </a:ext>
                </a:extLst>
              </a:tr>
              <a:tr h="370840">
                <a:tc>
                  <a:txBody>
                    <a:bodyPr/>
                    <a:lstStyle/>
                    <a:p>
                      <a:r>
                        <a:rPr lang="en-US" b="1" dirty="0"/>
                        <a:t>Setup time</a:t>
                      </a:r>
                    </a:p>
                  </a:txBody>
                  <a:tcPr/>
                </a:tc>
                <a:tc>
                  <a:txBody>
                    <a:bodyPr/>
                    <a:lstStyle/>
                    <a:p>
                      <a:r>
                        <a:rPr lang="en-US" dirty="0"/>
                        <a:t>Account access (hours); queue wait (mins-hours)</a:t>
                      </a:r>
                    </a:p>
                  </a:txBody>
                  <a:tcPr/>
                </a:tc>
                <a:tc>
                  <a:txBody>
                    <a:bodyPr/>
                    <a:lstStyle/>
                    <a:p>
                      <a:r>
                        <a:rPr lang="en-US" dirty="0"/>
                        <a:t>Account setup (mins); launch (mins)</a:t>
                      </a:r>
                    </a:p>
                  </a:txBody>
                  <a:tcPr/>
                </a:tc>
                <a:extLst>
                  <a:ext uri="{0D108BD9-81ED-4DB2-BD59-A6C34878D82A}">
                    <a16:rowId xmlns:a16="http://schemas.microsoft.com/office/drawing/2014/main" val="2777273117"/>
                  </a:ext>
                </a:extLst>
              </a:tr>
              <a:tr h="370840">
                <a:tc>
                  <a:txBody>
                    <a:bodyPr/>
                    <a:lstStyle/>
                    <a:p>
                      <a:r>
                        <a:rPr lang="en-US" b="1" dirty="0"/>
                        <a:t>Scalability</a:t>
                      </a:r>
                    </a:p>
                  </a:txBody>
                  <a:tcPr/>
                </a:tc>
                <a:tc>
                  <a:txBody>
                    <a:bodyPr/>
                    <a:lstStyle/>
                    <a:p>
                      <a:r>
                        <a:rPr lang="en-US" dirty="0"/>
                        <a:t>Fixed cluster size; job queue limits</a:t>
                      </a:r>
                    </a:p>
                  </a:txBody>
                  <a:tcPr/>
                </a:tc>
                <a:tc>
                  <a:txBody>
                    <a:bodyPr/>
                    <a:lstStyle/>
                    <a:p>
                      <a:r>
                        <a:rPr lang="en-US" dirty="0"/>
                        <a:t>Unlimited (pay for it)</a:t>
                      </a:r>
                    </a:p>
                  </a:txBody>
                  <a:tcPr/>
                </a:tc>
                <a:extLst>
                  <a:ext uri="{0D108BD9-81ED-4DB2-BD59-A6C34878D82A}">
                    <a16:rowId xmlns:a16="http://schemas.microsoft.com/office/drawing/2014/main" val="2534178910"/>
                  </a:ext>
                </a:extLst>
              </a:tr>
              <a:tr h="370840">
                <a:tc>
                  <a:txBody>
                    <a:bodyPr/>
                    <a:lstStyle/>
                    <a:p>
                      <a:r>
                        <a:rPr lang="en-US" b="1" dirty="0"/>
                        <a:t>Storage</a:t>
                      </a:r>
                    </a:p>
                  </a:txBody>
                  <a:tcPr/>
                </a:tc>
                <a:tc>
                  <a:txBody>
                    <a:bodyPr/>
                    <a:lstStyle/>
                    <a:p>
                      <a:r>
                        <a:rPr lang="en-US" dirty="0"/>
                        <a:t>Local, managed by your institution</a:t>
                      </a:r>
                    </a:p>
                  </a:txBody>
                  <a:tcPr/>
                </a:tc>
                <a:tc>
                  <a:txBody>
                    <a:bodyPr/>
                    <a:lstStyle/>
                    <a:p>
                      <a:r>
                        <a:rPr lang="en-US" dirty="0"/>
                        <a:t>Multiple options (object, block); pay per GB</a:t>
                      </a:r>
                    </a:p>
                  </a:txBody>
                  <a:tcPr/>
                </a:tc>
                <a:extLst>
                  <a:ext uri="{0D108BD9-81ED-4DB2-BD59-A6C34878D82A}">
                    <a16:rowId xmlns:a16="http://schemas.microsoft.com/office/drawing/2014/main" val="886297962"/>
                  </a:ext>
                </a:extLst>
              </a:tr>
              <a:tr h="370840">
                <a:tc>
                  <a:txBody>
                    <a:bodyPr/>
                    <a:lstStyle/>
                    <a:p>
                      <a:r>
                        <a:rPr lang="en-US" b="1" dirty="0"/>
                        <a:t>Who maintains hardware</a:t>
                      </a:r>
                    </a:p>
                  </a:txBody>
                  <a:tcPr/>
                </a:tc>
                <a:tc>
                  <a:txBody>
                    <a:bodyPr/>
                    <a:lstStyle/>
                    <a:p>
                      <a:r>
                        <a:rPr lang="en-US" dirty="0"/>
                        <a:t>Your IT department</a:t>
                      </a:r>
                    </a:p>
                  </a:txBody>
                  <a:tcPr/>
                </a:tc>
                <a:tc>
                  <a:txBody>
                    <a:bodyPr/>
                    <a:lstStyle/>
                    <a:p>
                      <a:r>
                        <a:rPr lang="en-US" dirty="0"/>
                        <a:t>Cloud provider</a:t>
                      </a:r>
                    </a:p>
                  </a:txBody>
                  <a:tcPr/>
                </a:tc>
                <a:extLst>
                  <a:ext uri="{0D108BD9-81ED-4DB2-BD59-A6C34878D82A}">
                    <a16:rowId xmlns:a16="http://schemas.microsoft.com/office/drawing/2014/main" val="4284157525"/>
                  </a:ext>
                </a:extLst>
              </a:tr>
              <a:tr h="370840">
                <a:tc>
                  <a:txBody>
                    <a:bodyPr/>
                    <a:lstStyle/>
                    <a:p>
                      <a:r>
                        <a:rPr lang="en-US" b="1" dirty="0"/>
                        <a:t>Best for</a:t>
                      </a:r>
                    </a:p>
                  </a:txBody>
                  <a:tcPr/>
                </a:tc>
                <a:tc>
                  <a:txBody>
                    <a:bodyPr/>
                    <a:lstStyle/>
                    <a:p>
                      <a:r>
                        <a:rPr lang="en-US" dirty="0"/>
                        <a:t>Consistent, scheduled workloads</a:t>
                      </a:r>
                    </a:p>
                  </a:txBody>
                  <a:tcPr/>
                </a:tc>
                <a:tc>
                  <a:txBody>
                    <a:bodyPr/>
                    <a:lstStyle/>
                    <a:p>
                      <a:r>
                        <a:rPr lang="en-US" dirty="0"/>
                        <a:t>Bursty, variable workloads</a:t>
                      </a:r>
                    </a:p>
                  </a:txBody>
                  <a:tcPr/>
                </a:tc>
                <a:extLst>
                  <a:ext uri="{0D108BD9-81ED-4DB2-BD59-A6C34878D82A}">
                    <a16:rowId xmlns:a16="http://schemas.microsoft.com/office/drawing/2014/main" val="3799405300"/>
                  </a:ext>
                </a:extLst>
              </a:tr>
              <a:tr h="370840">
                <a:tc>
                  <a:txBody>
                    <a:bodyPr/>
                    <a:lstStyle/>
                    <a:p>
                      <a:r>
                        <a:rPr lang="en-US" b="1" dirty="0"/>
                        <a:t>Learning curve</a:t>
                      </a:r>
                    </a:p>
                  </a:txBody>
                  <a:tcPr/>
                </a:tc>
                <a:tc>
                  <a:txBody>
                    <a:bodyPr/>
                    <a:lstStyle/>
                    <a:p>
                      <a:r>
                        <a:rPr lang="en-US" dirty="0"/>
                        <a:t>Higher (job schedulers, modules)</a:t>
                      </a:r>
                    </a:p>
                  </a:txBody>
                  <a:tcPr/>
                </a:tc>
                <a:tc>
                  <a:txBody>
                    <a:bodyPr/>
                    <a:lstStyle/>
                    <a:p>
                      <a:r>
                        <a:rPr lang="en-US" dirty="0"/>
                        <a:t>Lower (GUI-based options)</a:t>
                      </a:r>
                    </a:p>
                  </a:txBody>
                  <a:tcPr/>
                </a:tc>
                <a:extLst>
                  <a:ext uri="{0D108BD9-81ED-4DB2-BD59-A6C34878D82A}">
                    <a16:rowId xmlns:a16="http://schemas.microsoft.com/office/drawing/2014/main" val="4028844457"/>
                  </a:ext>
                </a:extLst>
              </a:tr>
            </a:tbl>
          </a:graphicData>
        </a:graphic>
      </p:graphicFrame>
    </p:spTree>
    <p:extLst>
      <p:ext uri="{BB962C8B-B14F-4D97-AF65-F5344CB8AC3E}">
        <p14:creationId xmlns:p14="http://schemas.microsoft.com/office/powerpoint/2010/main" val="948714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1712E-07CC-9B0F-6965-202DFE6EB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02067-F6E4-AABC-98DC-726920B6215A}"/>
              </a:ext>
            </a:extLst>
          </p:cNvPr>
          <p:cNvSpPr>
            <a:spLocks noGrp="1"/>
          </p:cNvSpPr>
          <p:nvPr>
            <p:ph type="title"/>
          </p:nvPr>
        </p:nvSpPr>
        <p:spPr/>
        <p:txBody>
          <a:bodyPr/>
          <a:lstStyle/>
          <a:p>
            <a:r>
              <a:rPr lang="en-US" dirty="0"/>
              <a:t>Cloud computing</a:t>
            </a:r>
          </a:p>
        </p:txBody>
      </p:sp>
      <p:pic>
        <p:nvPicPr>
          <p:cNvPr id="16386" name="Picture 2" descr="What is AWS all about?. Amazon web services are basically | by Yogita Kumar  | Medium">
            <a:extLst>
              <a:ext uri="{FF2B5EF4-FFF2-40B4-BE49-F238E27FC236}">
                <a16:creationId xmlns:a16="http://schemas.microsoft.com/office/drawing/2014/main" id="{51EFE40E-84F5-3A85-A786-EFC9DAE56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091" y="1599996"/>
            <a:ext cx="2228505" cy="13534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12DCF61-D0BF-6212-858D-D3F4EFA290DD}"/>
              </a:ext>
            </a:extLst>
          </p:cNvPr>
          <p:cNvSpPr txBox="1"/>
          <p:nvPr/>
        </p:nvSpPr>
        <p:spPr>
          <a:xfrm>
            <a:off x="4043782" y="1690688"/>
            <a:ext cx="8123511" cy="1077218"/>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rPr>
              <a:t>Dominant market share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Relevant services</a:t>
            </a:r>
            <a:r>
              <a:rPr kumimoji="0" lang="en-US" altLang="en-US" sz="1600" b="0" i="0" u="none" strike="noStrike" cap="none" normalizeH="0" baseline="0" dirty="0">
                <a:ln>
                  <a:noFill/>
                </a:ln>
                <a:solidFill>
                  <a:schemeClr val="tx1"/>
                </a:solidFill>
                <a:effectLst/>
              </a:rPr>
              <a:t>: EC2 (virtual machines), S3 (storage), Batch (job scheduler), SageMaker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Bioinformatics tools</a:t>
            </a:r>
            <a:r>
              <a:rPr kumimoji="0" lang="en-US" altLang="en-US" sz="1600" b="0" i="0" u="none" strike="noStrike" cap="none" normalizeH="0" baseline="0" dirty="0">
                <a:ln>
                  <a:noFill/>
                </a:ln>
                <a:solidFill>
                  <a:schemeClr val="tx1"/>
                </a:solidFill>
                <a:effectLst/>
              </a:rPr>
              <a:t>: Amazon Genomics CLI, pre-built AMIs (Amazon Machine Images)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rPr>
              <a:t>Good for</a:t>
            </a:r>
            <a:r>
              <a:rPr kumimoji="0" lang="en-US" altLang="en-US" sz="1600" b="0" i="0" u="none" strike="noStrike" cap="none" normalizeH="0" baseline="0" dirty="0">
                <a:ln>
                  <a:noFill/>
                </a:ln>
                <a:solidFill>
                  <a:schemeClr val="tx1"/>
                </a:solidFill>
                <a:effectLst/>
              </a:rPr>
              <a:t>: large-scale analyses, startups, if you have AWS credits</a:t>
            </a:r>
          </a:p>
        </p:txBody>
      </p:sp>
      <p:sp>
        <p:nvSpPr>
          <p:cNvPr id="11" name="TextBox 10">
            <a:extLst>
              <a:ext uri="{FF2B5EF4-FFF2-40B4-BE49-F238E27FC236}">
                <a16:creationId xmlns:a16="http://schemas.microsoft.com/office/drawing/2014/main" id="{7B15D27A-8812-F895-880B-6D31AB8CE133}"/>
              </a:ext>
            </a:extLst>
          </p:cNvPr>
          <p:cNvSpPr txBox="1"/>
          <p:nvPr/>
        </p:nvSpPr>
        <p:spPr>
          <a:xfrm>
            <a:off x="4043782" y="3398190"/>
            <a:ext cx="7975223" cy="1323439"/>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600" dirty="0"/>
              <a:t>Growing in bioinformatics </a:t>
            </a:r>
          </a:p>
          <a:p>
            <a:pPr marL="285750" lvl="0" indent="-285750" eaLnBrk="0" fontAlgn="base" hangingPunct="0">
              <a:spcBef>
                <a:spcPct val="0"/>
              </a:spcBef>
              <a:spcAft>
                <a:spcPct val="0"/>
              </a:spcAft>
              <a:buFont typeface="Arial" panose="020B0604020202020204" pitchFamily="34" charset="0"/>
              <a:buChar char="•"/>
            </a:pPr>
            <a:r>
              <a:rPr lang="en-US" altLang="en-US" sz="1600" b="1" dirty="0"/>
              <a:t>Relevant services</a:t>
            </a:r>
            <a:r>
              <a:rPr lang="en-US" altLang="en-US" sz="1600" dirty="0"/>
              <a:t>: Compute Engine (VMs), Cloud Storage, Vertex AI, </a:t>
            </a:r>
            <a:r>
              <a:rPr lang="en-US" altLang="en-US" sz="1600" dirty="0" err="1"/>
              <a:t>BigQuery</a:t>
            </a:r>
            <a:r>
              <a:rPr lang="en-US" altLang="en-US" sz="1600" dirty="0"/>
              <a:t> </a:t>
            </a:r>
          </a:p>
          <a:p>
            <a:pPr marL="285750" lvl="0" indent="-285750" eaLnBrk="0" fontAlgn="base" hangingPunct="0">
              <a:spcBef>
                <a:spcPct val="0"/>
              </a:spcBef>
              <a:spcAft>
                <a:spcPct val="0"/>
              </a:spcAft>
              <a:buFont typeface="Arial" panose="020B0604020202020204" pitchFamily="34" charset="0"/>
              <a:buChar char="•"/>
            </a:pPr>
            <a:r>
              <a:rPr lang="en-US" altLang="en-US" sz="1600" b="1" dirty="0"/>
              <a:t>Bioinformatics tools</a:t>
            </a:r>
            <a:r>
              <a:rPr lang="en-US" altLang="en-US" sz="1600" dirty="0"/>
              <a:t>: Terra (Google + Broad Institute partnership), </a:t>
            </a:r>
            <a:r>
              <a:rPr lang="en-US" altLang="en-US" sz="1600" dirty="0" err="1"/>
              <a:t>Nextflow</a:t>
            </a:r>
            <a:r>
              <a:rPr lang="en-US" altLang="en-US" sz="1600" dirty="0"/>
              <a:t> integration </a:t>
            </a:r>
          </a:p>
          <a:p>
            <a:pPr marL="285750" lvl="0" indent="-285750" eaLnBrk="0" fontAlgn="base" hangingPunct="0">
              <a:spcBef>
                <a:spcPct val="0"/>
              </a:spcBef>
              <a:spcAft>
                <a:spcPct val="0"/>
              </a:spcAft>
              <a:buFont typeface="Arial" panose="020B0604020202020204" pitchFamily="34" charset="0"/>
              <a:buChar char="•"/>
            </a:pPr>
            <a:r>
              <a:rPr lang="en-US" altLang="en-US" sz="1600" b="1" dirty="0"/>
              <a:t>Good for</a:t>
            </a:r>
            <a:r>
              <a:rPr lang="en-US" altLang="en-US" sz="1600" dirty="0"/>
              <a:t>: academic labs (often cheaper for academia), integrates well with genomics databases</a:t>
            </a:r>
          </a:p>
        </p:txBody>
      </p:sp>
      <p:pic>
        <p:nvPicPr>
          <p:cNvPr id="16391" name="Picture 7" descr="GCP Notes (I). Google Cloud Platform is a cloud… | by Ritchie Pulikottil |  Level Up Coding">
            <a:extLst>
              <a:ext uri="{FF2B5EF4-FFF2-40B4-BE49-F238E27FC236}">
                <a16:creationId xmlns:a16="http://schemas.microsoft.com/office/drawing/2014/main" id="{B7B7FB8A-4BA1-F941-5353-F32F253F6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720" y="2953479"/>
            <a:ext cx="3611245" cy="2031325"/>
          </a:xfrm>
          <a:prstGeom prst="rect">
            <a:avLst/>
          </a:prstGeom>
          <a:noFill/>
          <a:extLst>
            <a:ext uri="{909E8E84-426E-40DD-AFC4-6F175D3DCCD1}">
              <a14:hiddenFill xmlns:a14="http://schemas.microsoft.com/office/drawing/2010/main">
                <a:solidFill>
                  <a:srgbClr val="FFFFFF"/>
                </a:solidFill>
              </a14:hiddenFill>
            </a:ext>
          </a:extLst>
        </p:spPr>
      </p:pic>
      <p:pic>
        <p:nvPicPr>
          <p:cNvPr id="16393" name="Picture 9" descr="What is Microsoft Azure?. In today's digital age, businesses and… | by  Saira Gillani | Medium">
            <a:extLst>
              <a:ext uri="{FF2B5EF4-FFF2-40B4-BE49-F238E27FC236}">
                <a16:creationId xmlns:a16="http://schemas.microsoft.com/office/drawing/2014/main" id="{E19C1F98-D210-FB4C-BCF9-6D9A6420FF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213" y="5061726"/>
            <a:ext cx="2536258" cy="15891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5191418-E3DF-80E1-4408-BB1868303CCC}"/>
              </a:ext>
            </a:extLst>
          </p:cNvPr>
          <p:cNvSpPr txBox="1"/>
          <p:nvPr/>
        </p:nvSpPr>
        <p:spPr>
          <a:xfrm>
            <a:off x="4043782" y="5351913"/>
            <a:ext cx="7044348" cy="1077218"/>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600" dirty="0"/>
              <a:t>Enterprise-focused </a:t>
            </a:r>
          </a:p>
          <a:p>
            <a:pPr marL="285750" lvl="0" indent="-285750" eaLnBrk="0" fontAlgn="base" hangingPunct="0">
              <a:spcBef>
                <a:spcPct val="0"/>
              </a:spcBef>
              <a:spcAft>
                <a:spcPct val="0"/>
              </a:spcAft>
              <a:buFont typeface="Arial" panose="020B0604020202020204" pitchFamily="34" charset="0"/>
              <a:buChar char="•"/>
            </a:pPr>
            <a:r>
              <a:rPr lang="en-US" altLang="en-US" sz="1600" b="1" dirty="0"/>
              <a:t>Relevant services</a:t>
            </a:r>
            <a:r>
              <a:rPr lang="en-US" altLang="en-US" sz="1600" dirty="0"/>
              <a:t>: Virtual Machines, Blob Storage, Batch </a:t>
            </a:r>
          </a:p>
          <a:p>
            <a:pPr marL="285750" lvl="0" indent="-285750" eaLnBrk="0" fontAlgn="base" hangingPunct="0">
              <a:spcBef>
                <a:spcPct val="0"/>
              </a:spcBef>
              <a:spcAft>
                <a:spcPct val="0"/>
              </a:spcAft>
              <a:buFont typeface="Arial" panose="020B0604020202020204" pitchFamily="34" charset="0"/>
              <a:buChar char="•"/>
            </a:pPr>
            <a:r>
              <a:rPr lang="en-US" altLang="en-US" sz="1600" b="1" dirty="0"/>
              <a:t>Bioinformatics tools</a:t>
            </a:r>
            <a:r>
              <a:rPr lang="en-US" altLang="en-US" sz="1600" dirty="0"/>
              <a:t>: </a:t>
            </a:r>
            <a:r>
              <a:rPr lang="en-US" altLang="en-US" sz="1600" dirty="0" err="1"/>
              <a:t>CyVerse</a:t>
            </a:r>
            <a:r>
              <a:rPr lang="en-US" altLang="en-US" sz="1600" dirty="0"/>
              <a:t>, some institutional partnerships </a:t>
            </a:r>
          </a:p>
          <a:p>
            <a:pPr marL="285750" lvl="0" indent="-285750" eaLnBrk="0" fontAlgn="base" hangingPunct="0">
              <a:spcBef>
                <a:spcPct val="0"/>
              </a:spcBef>
              <a:spcAft>
                <a:spcPct val="0"/>
              </a:spcAft>
              <a:buFont typeface="Arial" panose="020B0604020202020204" pitchFamily="34" charset="0"/>
              <a:buChar char="•"/>
            </a:pPr>
            <a:r>
              <a:rPr lang="en-US" altLang="en-US" sz="1600" b="1" dirty="0"/>
              <a:t>Good for</a:t>
            </a:r>
            <a:r>
              <a:rPr lang="en-US" altLang="en-US" sz="1600" dirty="0"/>
              <a:t>: if your institution uses Azure</a:t>
            </a:r>
          </a:p>
        </p:txBody>
      </p:sp>
    </p:spTree>
    <p:extLst>
      <p:ext uri="{BB962C8B-B14F-4D97-AF65-F5344CB8AC3E}">
        <p14:creationId xmlns:p14="http://schemas.microsoft.com/office/powerpoint/2010/main" val="3854396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a:extLst>
              <a:ext uri="{FF2B5EF4-FFF2-40B4-BE49-F238E27FC236}">
                <a16:creationId xmlns:a16="http://schemas.microsoft.com/office/drawing/2014/main" id="{91C7F932-96B3-D52C-48A1-09DADF240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830" y="292404"/>
            <a:ext cx="11152340" cy="6273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945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2149</Words>
  <Application>Microsoft Macintosh PowerPoint</Application>
  <PresentationFormat>Widescreen</PresentationFormat>
  <Paragraphs>246</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Courier New</vt:lpstr>
      <vt:lpstr>Helvetica</vt:lpstr>
      <vt:lpstr>Helvetica Light Oblique</vt:lpstr>
      <vt:lpstr>Menlo</vt:lpstr>
      <vt:lpstr>Office Theme</vt:lpstr>
      <vt:lpstr>Bonus: Bioinformatics tools (GitHub, HPC, Cloud)</vt:lpstr>
      <vt:lpstr>PowerPoint Presentation</vt:lpstr>
      <vt:lpstr>Why Git &amp; GitHub</vt:lpstr>
      <vt:lpstr>Basics of Git &amp; GitHub</vt:lpstr>
      <vt:lpstr>Branches</vt:lpstr>
      <vt:lpstr>Collaborating with GitHub</vt:lpstr>
      <vt:lpstr>GitHub Desktop</vt:lpstr>
      <vt:lpstr>GitHub for Bioinformatics</vt:lpstr>
      <vt:lpstr>PowerPoint Presentation</vt:lpstr>
      <vt:lpstr>PowerPoint Presentation</vt:lpstr>
      <vt:lpstr>The bioinformatics data challenge</vt:lpstr>
      <vt:lpstr>What is an HPC?</vt:lpstr>
      <vt:lpstr>What is an HPC?</vt:lpstr>
      <vt:lpstr>What is an HPC?</vt:lpstr>
      <vt:lpstr>CPU vs. GPU</vt:lpstr>
      <vt:lpstr>CPU vs. GPU</vt:lpstr>
      <vt:lpstr>Node vs. core</vt:lpstr>
      <vt:lpstr>Node vs. core</vt:lpstr>
      <vt:lpstr>Node vs. core</vt:lpstr>
      <vt:lpstr>Node vs. core</vt:lpstr>
      <vt:lpstr>Node vs. core</vt:lpstr>
      <vt:lpstr>Node vs. core</vt:lpstr>
      <vt:lpstr>Memory vs. Storage</vt:lpstr>
      <vt:lpstr>Memory vs. Storage</vt:lpstr>
      <vt:lpstr>PowerPoint Presentation</vt:lpstr>
      <vt:lpstr>Cloud computing</vt:lpstr>
      <vt:lpstr>Cloud computing</vt:lpstr>
      <vt:lpstr>Cloud computing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4</cp:revision>
  <dcterms:created xsi:type="dcterms:W3CDTF">2026-06-03T20:59:31Z</dcterms:created>
  <dcterms:modified xsi:type="dcterms:W3CDTF">2026-06-04T15:35:45Z</dcterms:modified>
</cp:coreProperties>
</file>